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200" y="3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06466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students to the first practical/lab session of the Artificial Intelligence course. Introduce yourself and set expectations: this is a hands-on, 2-3 hour lab, not a lecture. Emphasize that by the end of today they will have written a working Python chatbot themselves. Briefly mention the session's philosophy: 'learn by doing' - most of the time should be spent typing and running code, not listening. Mention logistics: where to save files, whether Colab or Anaconda will be used, and how they should ask for help during the session.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nine-step roadmap. Point out that steps 1-3 are about setting up tools, steps 4-6 are core Python skills, and steps 7-9 are where the AI concept lives: turning simple rules into something that feels conversational. Tell students this is the same pattern they'll see all semester: environment -&gt; fundamentals -&gt; a small working system -&gt; discussion of its limits. Ask if anyone has used Python or Jupyter/Colab before, to gauge the room.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measurable outcomes - refer back to this slide at the end of the practical (slide 30) to check off what was actually achieved. Emphasize outcome 8: understanding WHY a rule-based chatbot can feel intelligent is as important as building it, because it sets up the rest of the AI course (search, knowledge representation, machine learning) as ways of overcoming rule-based limitations.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Quickly introduce each tool without going deep - full detail on Anaconda and Colab comes in the next few slides. Git/GitHub only need a one-sentence mention today: 'we will use these later in the course to submit and track lab work.' The right-hand diagram shows how the tools relate: Python is the language, an AI project is built in Python, Jupyter/Colab is where you write and run it, and Git/GitHub is how you save and share it.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'before we can build any AI system, what do we actually need on our computer?' Build up this list from their answers, then reveal the slide. Connect each bullet to future practicals - e.g., 'installing libraries' foreshadows installing scikit-learn or PyTorch later in the course. Stress the pull-quote: a good AI engineer is also a competent tool user, not just an algorithm designer.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Anaconda as 'Python plus a toolbox, in one installer.' Clarify the distinction between the Anaconda distribution and conda environments: an environment is an isolated sandbox so different projects can use different library versions without conflicting. Do not give OS-specific install commands here - point students to the official Anaconda download page appropriate to their own operating system. Mention that most of the named libraries will be formally introduced in later practicals; today we only need core Python.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live if possible: open colab.research.google.com, create a new notebook, type print('Hello') in a cell, press Shift+Enter to run it. Emphasize that Colab and local Jupyter feel almost identical to the student - the difference is where the code actually executes. If the lab has unreliable internet, recommend Anaconda/local Jupyter as the fallback.</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mock notebook on the left, mapping each visual element to the labelled list on the right. Stress the idea of 'state': variables created in one cell remain available in later cells until the kernel is restarted - this is different from running a plain .py script top to bottom. If projecting a real notebook, actually run the print statement live so students see In[]/Out[] numbering increment.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Live-demo these five steps in real time on the projector while students follow along on their own laptops. Common snag: students accidentally create a Google Doc instead of a Colab notebook - reassure them they must be on colab.research.google.com specifically. Confirm every student sees 'Hello, Artificial Intelligence!' printed before moving on; this is the checkpoint for the whole room being ready.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table to settle the 'which one do I install' question once and for all. If your lab computers already have Anaconda imaged on them, adjust the recommendation box accordingly - the table itself stays valid either way. Reassure students that skills transfer between the two: the Python code they write is identical, only where it runs differs.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slide from tools into the Python language itself. Keep this brisk - most students accept 'Python is the AI language' quickly; the goal is just to name the reasons so they can repeat them, not to debate language choice. If time is short this slide can be covered in under two minutes.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deliberately break indentation in Colab/Jupyter and observe the IndentationError - a controlled mistake here prevents confusion later. Reinforce that Python uses whitespace where other languages (C, Java) use braces, since some students may have prior exposure to those languages.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every student type and run this exact program themselves before moving on - this is the first hands-on checkpoint. Ask what happens if they forget a closing quotation mark (SyntaxError) so they recognise that error message later. Keep momentum high: this slide should take about five minutes including everyone running it.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that variables are how a chatbot will later remember the user's name or store their input. Run type() live to show Python's dynamic typing - no need to declare a type up front, unlike Java or C. Keep the four data types (str, int, float, bool) as the only ones needed for the rest of today's lab.</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pivot slide toward the chatbot: input() is the mechanism the chatbot will use to 'listen'. Demonstrate live and deliberately try int(input(...)) on non-numeric text to show a ValueError, previewing that user input can never fully be trusted - useful foreshadowing for the limitations discussion later in the lab.</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f-strings briefly with the older + concatenation style seen on slide 15 ("Hello, " + name + "!") - students should recognise both but prefer f-strings going forward. This formatting skill is used in every chatbot response for the rest of the lab, so make sure everyone can write one before moving on.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flowchart alongside the code so students see the two representations mean the same thing. This slide is a hinge point for the whole lab: the chatbot they build in the next section is literally this if/elif/else pattern wrapped around many more keyword checks. Make sure students can explain, in their own words, what 'fallback' (the else branch) means.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functions as 'giving a name to a piece of logic so we can reuse it.' Preview explicitly that the chatbot will be built as one function, chatbot_response(user_input), that gets called every time the user types something - this slide is the direct prerequisite for that design.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last new Python concept before building the chatbot. Make sure the 'in' operator for substring/membership checking is solid, since almost every rule in the upcoming chatbot code depends on writing 'if keyword in user_input:'. A for-loop is shown here only to check multiple keywords - reassure students that the final chatbot code will mostly use simple if/elif chains, not loops, to keep it beginner-friendly.</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Circulate the room during this exercise rather than lecturing. Common mistakes to watch for: forgetting the colon at the end of if/elif/else lines, mismatched indentation, and forgetting to actually call the function and print its result. This is the last checkpoint before rule-based chatbot logic is introduced, so confirm most students have a working greet_by_time() before proceeding.</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conceptual bridge from 'if statements' to 'AI'. Make the point explicitly: everything students just learned (if/elif/else, lists, the in operator, functions, f-strings) is ALL that a rule-based system needs. There is no learning, no statistics, no training data - just pre-written rules. Keep this framing in mind for the limitations discussion on slide 29.</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pipeline left to right, then immediately trace the worked example underneath so the abstract diagram becomes concrete. Point out '.lower()' specifically - ask students what would happen if we skipped it (answer: 'Hello' would not match a rule written for 'hello', since Python string comparison is case-sensitive). This sets up exactly the code they'll write in the next three slides.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type this exact function into their notebook and call it with a few test strings. Point out this is the smallest possible chatbot: one rule and one fallback. Confirm everyone gets the expected output before layering on more rules in the next slide - resist the urge to skip ahead.</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practical. Type it live, rule by rule, testing each new elif with a fresh input before adding the next one, so students see incremental growth rather than a wall of code appearing at once. Emphasize the design note on rule ordering - it directly foreshadows the 'brittleness' limitation discussed in slide 29 (e.g. what if a sentence matches two rules?).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loop is what turns a single function call into an actual back-and-forth conversation. Highlight 'while True' as an infinite loop that only exits via the explicit 'break' - ask students what would happen if the break were removed (answer: the loop would never stop, since the else branch never triggers an exit). Have every student run this and hold a short conversation with their own chatbot before moving on.</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two minutes to silently read this whole program top to bottom before running it, so they connect every line back to a concept from earlier in the lab: functions, elif chains, the in operator, string lowering, input/print, and while/break. This is the single artifact they should save as their Lab 1 deliverable (e.g. chatbot.py or the notebook cell).</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roughly fifteen minutes for this exercise. Circulate and encourage creative rule choices - this is where individual personality starts to show in otherwise identical starter code. Note which inputs from the test list students discover 'break' the chatbot (e.g. an input containing both 'hi' and 'bye') as a natural entry point into the limitations discussion on slide 29.</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conceptual slide of the whole practical. Facilitate as a discussion rather than lecturing: ask students to describe, in their own words, why they felt the chatbot was 'smart' during the previous exercise, then map each feeling onto the mechanical explanation on the right. The goal is for students to walk away able to say: 'apparent intelligence' can come from clever pattern matching, not necessarily understanding.</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earlier 'broken' test inputs students found during the extension exercise (slide 27) as live examples for the left-hand column. Be explicit that rule-based systems are not obsolete - they are still used in practice (e.g. simple IVR phone systems, form validation, safety interlocks) precisely because their behaviour is fully predictable and explainable, which is itself valuable. Frame this table as a preview map of the entire semester.</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returning explicitly to the Learning Outcomes on slide 3 and checking them off together as a class. Assign the lab deliverable shown in the homework card and confirm the submission deadline verbally (set by your own course schedule). Preview next week's practical briefly using the 'Coming Next' list, framing it as: 'we will now start replacing hand-written rules with smarter techniques.' Thank students for their participation in the first practical.</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930"/>
        </a:solidFill>
        <a:effectLst/>
      </p:bgPr>
    </p:bg>
    <p:spTree>
      <p:nvGrpSpPr>
        <p:cNvPr id="1" name=""/>
        <p:cNvGrpSpPr/>
        <p:nvPr/>
      </p:nvGrpSpPr>
      <p:grpSpPr>
        <a:xfrm>
          <a:off x="0" y="0"/>
          <a:ext cx="0" cy="0"/>
          <a:chOff x="0" y="0"/>
          <a:chExt cx="0" cy="0"/>
        </a:xfrm>
      </p:grpSpPr>
      <p:sp>
        <p:nvSpPr>
          <p:cNvPr id="2" name="Shape 0"/>
          <p:cNvSpPr/>
          <p:nvPr/>
        </p:nvSpPr>
        <p:spPr>
          <a:xfrm rot="1080000">
            <a:off x="8595360" y="-731520"/>
            <a:ext cx="4937760" cy="4937760"/>
          </a:xfrm>
          <a:prstGeom prst="roundRect">
            <a:avLst>
              <a:gd name="adj" fmla="val 22222"/>
            </a:avLst>
          </a:prstGeom>
          <a:solidFill>
            <a:srgbClr val="17325A"/>
          </a:solidFill>
          <a:ln/>
        </p:spPr>
      </p:sp>
      <p:sp>
        <p:nvSpPr>
          <p:cNvPr id="3" name="Shape 1"/>
          <p:cNvSpPr/>
          <p:nvPr/>
        </p:nvSpPr>
        <p:spPr>
          <a:xfrm rot="720000">
            <a:off x="9509760" y="3108960"/>
            <a:ext cx="3840480" cy="3840480"/>
          </a:xfrm>
          <a:prstGeom prst="roundRect">
            <a:avLst>
              <a:gd name="adj" fmla="val 23810"/>
            </a:avLst>
          </a:prstGeom>
          <a:solidFill>
            <a:srgbClr val="2E86AB"/>
          </a:solidFill>
          <a:ln/>
        </p:spPr>
      </p:sp>
      <p:sp>
        <p:nvSpPr>
          <p:cNvPr id="4" name="Shape 2"/>
          <p:cNvSpPr/>
          <p:nvPr/>
        </p:nvSpPr>
        <p:spPr>
          <a:xfrm>
            <a:off x="9418320" y="1005840"/>
            <a:ext cx="109728" cy="109728"/>
          </a:xfrm>
          <a:prstGeom prst="ellipse">
            <a:avLst/>
          </a:prstGeom>
          <a:solidFill>
            <a:srgbClr val="FFC857"/>
          </a:solidFill>
          <a:ln/>
        </p:spPr>
      </p:sp>
      <p:sp>
        <p:nvSpPr>
          <p:cNvPr id="5" name="Shape 3"/>
          <p:cNvSpPr/>
          <p:nvPr/>
        </p:nvSpPr>
        <p:spPr>
          <a:xfrm>
            <a:off x="10149840" y="1554480"/>
            <a:ext cx="109728" cy="109728"/>
          </a:xfrm>
          <a:prstGeom prst="ellipse">
            <a:avLst/>
          </a:prstGeom>
          <a:solidFill>
            <a:srgbClr val="FFC857"/>
          </a:solidFill>
          <a:ln/>
        </p:spPr>
      </p:sp>
      <p:sp>
        <p:nvSpPr>
          <p:cNvPr id="6" name="Shape 4"/>
          <p:cNvSpPr/>
          <p:nvPr/>
        </p:nvSpPr>
        <p:spPr>
          <a:xfrm>
            <a:off x="9052560" y="2103120"/>
            <a:ext cx="109728" cy="109728"/>
          </a:xfrm>
          <a:prstGeom prst="ellipse">
            <a:avLst/>
          </a:prstGeom>
          <a:solidFill>
            <a:srgbClr val="FFC857"/>
          </a:solidFill>
          <a:ln/>
        </p:spPr>
      </p:sp>
      <p:sp>
        <p:nvSpPr>
          <p:cNvPr id="7" name="Shape 5"/>
          <p:cNvSpPr/>
          <p:nvPr/>
        </p:nvSpPr>
        <p:spPr>
          <a:xfrm>
            <a:off x="10789920" y="2377440"/>
            <a:ext cx="109728" cy="109728"/>
          </a:xfrm>
          <a:prstGeom prst="ellipse">
            <a:avLst/>
          </a:prstGeom>
          <a:solidFill>
            <a:srgbClr val="FFC857"/>
          </a:solidFill>
          <a:ln/>
        </p:spPr>
      </p:sp>
      <p:sp>
        <p:nvSpPr>
          <p:cNvPr id="8" name="Shape 6"/>
          <p:cNvSpPr/>
          <p:nvPr/>
        </p:nvSpPr>
        <p:spPr>
          <a:xfrm>
            <a:off x="9692640" y="2926080"/>
            <a:ext cx="109728" cy="109728"/>
          </a:xfrm>
          <a:prstGeom prst="ellipse">
            <a:avLst/>
          </a:prstGeom>
          <a:solidFill>
            <a:srgbClr val="FFC857"/>
          </a:solidFill>
          <a:ln/>
        </p:spPr>
      </p:sp>
      <p:sp>
        <p:nvSpPr>
          <p:cNvPr id="9" name="Shape 7"/>
          <p:cNvSpPr/>
          <p:nvPr/>
        </p:nvSpPr>
        <p:spPr>
          <a:xfrm>
            <a:off x="11155680" y="1280160"/>
            <a:ext cx="109728" cy="109728"/>
          </a:xfrm>
          <a:prstGeom prst="ellipse">
            <a:avLst/>
          </a:prstGeom>
          <a:solidFill>
            <a:srgbClr val="FFC857"/>
          </a:solidFill>
          <a:ln/>
        </p:spPr>
      </p:sp>
      <p:sp>
        <p:nvSpPr>
          <p:cNvPr id="10" name="Shape 8"/>
          <p:cNvSpPr/>
          <p:nvPr/>
        </p:nvSpPr>
        <p:spPr>
          <a:xfrm>
            <a:off x="8778240" y="457200"/>
            <a:ext cx="109728" cy="109728"/>
          </a:xfrm>
          <a:prstGeom prst="ellipse">
            <a:avLst/>
          </a:prstGeom>
          <a:solidFill>
            <a:srgbClr val="FFC857"/>
          </a:solidFill>
          <a:ln/>
        </p:spPr>
      </p:sp>
      <p:sp>
        <p:nvSpPr>
          <p:cNvPr id="11" name="Text 9"/>
          <p:cNvSpPr txBox="1"/>
          <p:nvPr/>
        </p:nvSpPr>
        <p:spPr>
          <a:xfrm>
            <a:off x="9052560" y="3931920"/>
            <a:ext cx="2926080" cy="1097280"/>
          </a:xfrm>
          <a:prstGeom prst="rect">
            <a:avLst/>
          </a:prstGeom>
          <a:noFill/>
          <a:ln/>
        </p:spPr>
        <p:txBody>
          <a:bodyPr wrap="square" lIns="0" tIns="0" rIns="0" bIns="0" rtlCol="0" anchor="ctr"/>
          <a:lstStyle/>
          <a:p>
            <a:pPr marL="0" indent="0" algn="ctr">
              <a:buNone/>
            </a:pPr>
            <a:r>
              <a:rPr lang="en-US" sz="5400" b="1" dirty="0">
                <a:solidFill>
                  <a:srgbClr val="FFFFFF">
                    <a:alpha val="85000"/>
                  </a:srgbClr>
                </a:solidFill>
                <a:latin typeface="Courier New" pitchFamily="34" charset="0"/>
                <a:ea typeface="Courier New" pitchFamily="34" charset="-122"/>
                <a:cs typeface="Courier New" pitchFamily="34" charset="-120"/>
              </a:rPr>
              <a:t>&lt;/&gt;</a:t>
            </a:r>
            <a:endParaRPr lang="en-US" sz="5400" dirty="0"/>
          </a:p>
        </p:txBody>
      </p:sp>
      <p:sp>
        <p:nvSpPr>
          <p:cNvPr id="12" name="Text 10"/>
          <p:cNvSpPr txBox="1"/>
          <p:nvPr/>
        </p:nvSpPr>
        <p:spPr>
          <a:xfrm>
            <a:off x="640080" y="1371600"/>
            <a:ext cx="7498080" cy="365760"/>
          </a:xfrm>
          <a:prstGeom prst="rect">
            <a:avLst/>
          </a:prstGeom>
          <a:noFill/>
          <a:ln/>
        </p:spPr>
        <p:txBody>
          <a:bodyPr wrap="square" lIns="0" tIns="0" rIns="0" bIns="0" rtlCol="0" anchor="ctr"/>
          <a:lstStyle/>
          <a:p>
            <a:pPr marL="0" indent="0">
              <a:buNone/>
            </a:pPr>
            <a:r>
              <a:rPr lang="en-US" sz="1700" b="1" kern="0" spc="200" dirty="0">
                <a:solidFill>
                  <a:srgbClr val="FFC857"/>
                </a:solidFill>
                <a:latin typeface="Calibri" pitchFamily="34" charset="0"/>
                <a:ea typeface="Calibri" pitchFamily="34" charset="-122"/>
                <a:cs typeface="Calibri" pitchFamily="34" charset="-120"/>
              </a:rPr>
              <a:t>ARTIFICIAL INTELLIGENCE  •  BS COMPUTER SCIENCE  •  PRACTICAL / LAB 1</a:t>
            </a:r>
            <a:endParaRPr lang="en-US" sz="1700" dirty="0"/>
          </a:p>
        </p:txBody>
      </p:sp>
      <p:sp>
        <p:nvSpPr>
          <p:cNvPr id="13" name="Text 11"/>
          <p:cNvSpPr txBox="1"/>
          <p:nvPr/>
        </p:nvSpPr>
        <p:spPr>
          <a:xfrm>
            <a:off x="640080" y="1828800"/>
            <a:ext cx="7680960" cy="822960"/>
          </a:xfrm>
          <a:prstGeom prst="rect">
            <a:avLst/>
          </a:prstGeom>
          <a:noFill/>
          <a:ln/>
        </p:spPr>
        <p:txBody>
          <a:bodyPr wrap="square" lIns="0" tIns="0" rIns="0" bIns="0" rtlCol="0" anchor="ctr"/>
          <a:lstStyle/>
          <a:p>
            <a:pPr marL="0" indent="0">
              <a:buNone/>
            </a:pPr>
            <a:r>
              <a:rPr lang="en-US" sz="4300" b="1" dirty="0">
                <a:solidFill>
                  <a:srgbClr val="FFFFFF"/>
                </a:solidFill>
                <a:latin typeface="Cambria" pitchFamily="34" charset="0"/>
                <a:ea typeface="Cambria" pitchFamily="34" charset="-122"/>
                <a:cs typeface="Cambria" pitchFamily="34" charset="-120"/>
              </a:rPr>
              <a:t>AI Practical 1</a:t>
            </a:r>
            <a:endParaRPr lang="en-US" sz="4300" dirty="0"/>
          </a:p>
        </p:txBody>
      </p:sp>
      <p:sp>
        <p:nvSpPr>
          <p:cNvPr id="14" name="Text 12"/>
          <p:cNvSpPr txBox="1"/>
          <p:nvPr/>
        </p:nvSpPr>
        <p:spPr>
          <a:xfrm>
            <a:off x="640080" y="2606040"/>
            <a:ext cx="7589520" cy="1005840"/>
          </a:xfrm>
          <a:prstGeom prst="rect">
            <a:avLst/>
          </a:prstGeom>
          <a:noFill/>
          <a:ln/>
        </p:spPr>
        <p:txBody>
          <a:bodyPr wrap="square" lIns="0" tIns="0" rIns="0" bIns="0" rtlCol="0" anchor="ctr"/>
          <a:lstStyle/>
          <a:p>
            <a:pPr marL="0" indent="0">
              <a:buNone/>
            </a:pPr>
            <a:r>
              <a:rPr lang="en-US" sz="2700" dirty="0">
                <a:solidFill>
                  <a:srgbClr val="CADCFC"/>
                </a:solidFill>
                <a:latin typeface="Cambria" pitchFamily="34" charset="0"/>
                <a:ea typeface="Cambria" pitchFamily="34" charset="-122"/>
                <a:cs typeface="Cambria" pitchFamily="34" charset="-120"/>
              </a:rPr>
              <a:t>Development Environment, Python &amp; a Rule-Based Chatbot</a:t>
            </a:r>
            <a:endParaRPr lang="en-US" sz="2700" dirty="0"/>
          </a:p>
        </p:txBody>
      </p:sp>
      <p:sp>
        <p:nvSpPr>
          <p:cNvPr id="15" name="Shape 13"/>
          <p:cNvSpPr/>
          <p:nvPr/>
        </p:nvSpPr>
        <p:spPr>
          <a:xfrm>
            <a:off x="658368" y="3794760"/>
            <a:ext cx="2011680" cy="0"/>
          </a:xfrm>
          <a:prstGeom prst="line">
            <a:avLst/>
          </a:prstGeom>
          <a:noFill/>
          <a:ln w="31750">
            <a:solidFill>
              <a:srgbClr val="FFC857"/>
            </a:solidFill>
            <a:prstDash val="solid"/>
          </a:ln>
        </p:spPr>
      </p:sp>
      <p:sp>
        <p:nvSpPr>
          <p:cNvPr id="16" name="Text 14"/>
          <p:cNvSpPr txBox="1"/>
          <p:nvPr/>
        </p:nvSpPr>
        <p:spPr>
          <a:xfrm>
            <a:off x="640080" y="4023360"/>
            <a:ext cx="5486400" cy="365760"/>
          </a:xfrm>
          <a:prstGeom prst="rect">
            <a:avLst/>
          </a:prstGeom>
          <a:noFill/>
          <a:ln/>
        </p:spPr>
        <p:txBody>
          <a:bodyPr wrap="square" lIns="0" tIns="0" rIns="0" bIns="0" rtlCol="0" anchor="ctr"/>
          <a:lstStyle/>
          <a:p>
            <a:pPr marL="0" indent="0">
              <a:buNone/>
            </a:pPr>
            <a:r>
              <a:rPr lang="en-US" sz="1800" dirty="0">
                <a:solidFill>
                  <a:srgbClr val="9FB6D1"/>
                </a:solidFill>
                <a:latin typeface="Calibri" pitchFamily="34" charset="0"/>
                <a:ea typeface="Calibri" pitchFamily="34" charset="-122"/>
                <a:cs typeface="Calibri" pitchFamily="34" charset="-120"/>
              </a:rPr>
              <a:t>Instructor:  </a:t>
            </a:r>
            <a:r>
              <a:rPr lang="en-US" sz="1800" b="1" dirty="0">
                <a:solidFill>
                  <a:srgbClr val="FFFFFF"/>
                </a:solidFill>
                <a:latin typeface="Calibri" pitchFamily="34" charset="0"/>
                <a:ea typeface="Calibri" pitchFamily="34" charset="-122"/>
                <a:cs typeface="Calibri" pitchFamily="34" charset="-120"/>
              </a:rPr>
              <a:t>Dr. Ghulam Ali</a:t>
            </a:r>
            <a:endParaRPr lang="en-US" sz="1800" dirty="0"/>
          </a:p>
        </p:txBody>
      </p:sp>
      <p:sp>
        <p:nvSpPr>
          <p:cNvPr id="17" name="Text 15"/>
          <p:cNvSpPr txBox="1"/>
          <p:nvPr/>
        </p:nvSpPr>
        <p:spPr>
          <a:xfrm>
            <a:off x="640080" y="5760720"/>
            <a:ext cx="7680960" cy="640080"/>
          </a:xfrm>
          <a:prstGeom prst="rect">
            <a:avLst/>
          </a:prstGeom>
          <a:noFill/>
          <a:ln/>
        </p:spPr>
        <p:txBody>
          <a:bodyPr wrap="square" lIns="0" tIns="0" rIns="0" bIns="0" rtlCol="0" anchor="ctr"/>
          <a:lstStyle/>
          <a:p>
            <a:pPr marL="0" indent="0">
              <a:buNone/>
            </a:pPr>
            <a:r>
              <a:rPr lang="en-US" sz="1800" i="1" dirty="0">
                <a:solidFill>
                  <a:srgbClr val="9FB6D1"/>
                </a:solidFill>
                <a:latin typeface="Cambria" pitchFamily="34" charset="0"/>
                <a:ea typeface="Cambria" pitchFamily="34" charset="-122"/>
                <a:cs typeface="Cambria" pitchFamily="34" charset="-120"/>
              </a:rPr>
              <a:t>“Learn by doing — from your first line of Python to your first intelligent-looking program.”</a:t>
            </a:r>
            <a:endParaRPr lang="en-US" sz="1800" dirty="0"/>
          </a:p>
        </p:txBody>
      </p:sp>
      <p:sp>
        <p:nvSpPr>
          <p:cNvPr id="18" name="Text 16"/>
          <p:cNvSpPr txBox="1"/>
          <p:nvPr/>
        </p:nvSpPr>
        <p:spPr>
          <a:xfrm>
            <a:off x="548640" y="6455664"/>
            <a:ext cx="9418320" cy="292608"/>
          </a:xfrm>
          <a:prstGeom prst="rect">
            <a:avLst/>
          </a:prstGeom>
          <a:noFill/>
          <a:ln/>
        </p:spPr>
        <p:txBody>
          <a:bodyPr wrap="square" lIns="0" tIns="0" rIns="0" bIns="0" rtlCol="0" anchor="ctr"/>
          <a:lstStyle/>
          <a:p>
            <a:pPr marL="0" indent="0">
              <a:buNone/>
            </a:pPr>
            <a:r>
              <a:rPr lang="en-US" sz="1600" dirty="0">
                <a:solidFill>
                  <a:srgbClr val="5B6B79"/>
                </a:solidFill>
                <a:latin typeface="Calibri" pitchFamily="34" charset="0"/>
                <a:ea typeface="Calibri" pitchFamily="34" charset="-122"/>
                <a:cs typeface="Calibri" pitchFamily="34" charset="-120"/>
              </a:rPr>
              <a:t>AI Practical 1  •  Development Environment, Python &amp; Rule-Based Chatbot</a:t>
            </a:r>
            <a:endParaRPr lang="en-US" sz="1600" dirty="0"/>
          </a:p>
        </p:txBody>
      </p:sp>
      <p:sp>
        <p:nvSpPr>
          <p:cNvPr id="19" name="Text 17"/>
          <p:cNvSpPr txBox="1"/>
          <p:nvPr/>
        </p:nvSpPr>
        <p:spPr>
          <a:xfrm>
            <a:off x="11247120" y="6455664"/>
            <a:ext cx="457200" cy="292608"/>
          </a:xfrm>
          <a:prstGeom prst="rect">
            <a:avLst/>
          </a:prstGeom>
          <a:noFill/>
          <a:ln/>
        </p:spPr>
        <p:txBody>
          <a:bodyPr wrap="square" lIns="0" tIns="0" rIns="0" bIns="0" rtlCol="0" anchor="ctr"/>
          <a:lstStyle/>
          <a:p>
            <a:pPr marL="0" indent="0" algn="r">
              <a:buNone/>
            </a:pPr>
            <a:r>
              <a:rPr lang="en-US" sz="1600" dirty="0">
                <a:solidFill>
                  <a:srgbClr val="5B6B79"/>
                </a:solidFill>
                <a:latin typeface="Calibri" pitchFamily="34" charset="0"/>
                <a:ea typeface="Calibri" pitchFamily="34" charset="-122"/>
                <a:cs typeface="Calibri" pitchFamily="34" charset="-120"/>
              </a:rPr>
              <a:t>1</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0515600" cy="310896"/>
          </a:xfrm>
          <a:prstGeom prst="rect">
            <a:avLst/>
          </a:prstGeom>
          <a:noFill/>
          <a:ln/>
        </p:spPr>
        <p:txBody>
          <a:bodyPr wrap="square" lIns="0" tIns="0" rIns="0" bIns="0" rtlCol="0" anchor="ctr"/>
          <a:lstStyle/>
          <a:p>
            <a:pPr marL="0" indent="0">
              <a:buNone/>
            </a:pPr>
            <a:r>
              <a:rPr lang="en-US" sz="1600" b="1" kern="0" spc="200" dirty="0">
                <a:solidFill>
                  <a:srgbClr val="2E86AB"/>
                </a:solidFill>
                <a:latin typeface="Calibri" pitchFamily="34" charset="0"/>
                <a:ea typeface="Calibri" pitchFamily="34" charset="-122"/>
                <a:cs typeface="Calibri" pitchFamily="34" charset="-120"/>
              </a:rPr>
              <a:t>PRACTICAL ROADMAP</a:t>
            </a:r>
            <a:endParaRPr lang="en-US" sz="1600" dirty="0"/>
          </a:p>
        </p:txBody>
      </p:sp>
      <p:sp>
        <p:nvSpPr>
          <p:cNvPr id="3" name="Text 1"/>
          <p:cNvSpPr txBox="1"/>
          <p:nvPr/>
        </p:nvSpPr>
        <p:spPr>
          <a:xfrm>
            <a:off x="548640" y="603504"/>
            <a:ext cx="11064240" cy="731520"/>
          </a:xfrm>
          <a:prstGeom prst="rect">
            <a:avLst/>
          </a:prstGeom>
          <a:noFill/>
          <a:ln/>
        </p:spPr>
        <p:txBody>
          <a:bodyPr wrap="square" lIns="0" tIns="0" rIns="0" bIns="0" rtlCol="0" anchor="ctr"/>
          <a:lstStyle/>
          <a:p>
            <a:pPr marL="0" indent="0">
              <a:buNone/>
            </a:pPr>
            <a:r>
              <a:rPr lang="en-US" sz="3300" b="1" dirty="0">
                <a:solidFill>
                  <a:srgbClr val="142A45"/>
                </a:solidFill>
                <a:latin typeface="Cambria" pitchFamily="34" charset="0"/>
                <a:ea typeface="Cambria" pitchFamily="34" charset="-122"/>
                <a:cs typeface="Cambria" pitchFamily="34" charset="-120"/>
              </a:rPr>
              <a:t>What Will We Do Today?</a:t>
            </a:r>
            <a:endParaRPr lang="en-US" sz="3300" dirty="0"/>
          </a:p>
        </p:txBody>
      </p:sp>
      <p:sp>
        <p:nvSpPr>
          <p:cNvPr id="4" name="Text 2"/>
          <p:cNvSpPr txBox="1"/>
          <p:nvPr/>
        </p:nvSpPr>
        <p:spPr>
          <a:xfrm>
            <a:off x="548640" y="1234440"/>
            <a:ext cx="10789920" cy="365760"/>
          </a:xfrm>
          <a:prstGeom prst="rect">
            <a:avLst/>
          </a:prstGeom>
          <a:noFill/>
          <a:ln/>
        </p:spPr>
        <p:txBody>
          <a:bodyPr wrap="square" lIns="0" tIns="0" rIns="0" bIns="0" rtlCol="0" anchor="ctr"/>
          <a:lstStyle/>
          <a:p>
            <a:pPr marL="0" indent="0">
              <a:buNone/>
            </a:pPr>
            <a:r>
              <a:rPr lang="en-US" sz="1800" dirty="0">
                <a:solidFill>
                  <a:srgbClr val="5B6B79"/>
                </a:solidFill>
                <a:latin typeface="Calibri" pitchFamily="34" charset="0"/>
                <a:ea typeface="Calibri" pitchFamily="34" charset="-122"/>
                <a:cs typeface="Calibri" pitchFamily="34" charset="-120"/>
              </a:rPr>
              <a:t>A hands-on workflow — from environment setup to a working chatbot.</a:t>
            </a:r>
            <a:endParaRPr lang="en-US" sz="1800" dirty="0"/>
          </a:p>
        </p:txBody>
      </p:sp>
      <p:sp>
        <p:nvSpPr>
          <p:cNvPr id="5" name="Shape 3"/>
          <p:cNvSpPr/>
          <p:nvPr/>
        </p:nvSpPr>
        <p:spPr>
          <a:xfrm>
            <a:off x="548640" y="1874520"/>
            <a:ext cx="3517392" cy="1261872"/>
          </a:xfrm>
          <a:prstGeom prst="roundRect">
            <a:avLst>
              <a:gd name="adj" fmla="val 5797"/>
            </a:avLst>
          </a:prstGeom>
          <a:solidFill>
            <a:srgbClr val="FFFFFF"/>
          </a:solidFill>
          <a:ln w="12700">
            <a:solidFill>
              <a:srgbClr val="DDE3EA"/>
            </a:solidFill>
            <a:prstDash val="solid"/>
          </a:ln>
          <a:effectLst>
            <a:outerShdw blurRad="76200" dist="25400" dir="5400000" algn="bl" rotWithShape="0">
              <a:srgbClr val="142A45">
                <a:alpha val="12000"/>
              </a:srgbClr>
            </a:outerShdw>
          </a:effectLst>
        </p:spPr>
      </p:sp>
      <p:sp>
        <p:nvSpPr>
          <p:cNvPr id="6" name="Shape 4"/>
          <p:cNvSpPr/>
          <p:nvPr/>
        </p:nvSpPr>
        <p:spPr>
          <a:xfrm>
            <a:off x="749808" y="2057400"/>
            <a:ext cx="384048" cy="384048"/>
          </a:xfrm>
          <a:prstGeom prst="ellipse">
            <a:avLst/>
          </a:prstGeom>
          <a:solidFill>
            <a:srgbClr val="2E86AB"/>
          </a:solidFill>
          <a:ln/>
        </p:spPr>
      </p:sp>
      <p:sp>
        <p:nvSpPr>
          <p:cNvPr id="7" name="Text 5"/>
          <p:cNvSpPr txBox="1"/>
          <p:nvPr/>
        </p:nvSpPr>
        <p:spPr>
          <a:xfrm>
            <a:off x="749808" y="2057400"/>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6"/>
          <p:cNvSpPr txBox="1"/>
          <p:nvPr/>
        </p:nvSpPr>
        <p:spPr>
          <a:xfrm>
            <a:off x="749808" y="2560320"/>
            <a:ext cx="3115056" cy="438912"/>
          </a:xfrm>
          <a:prstGeom prst="rect">
            <a:avLst/>
          </a:prstGeom>
          <a:noFill/>
          <a:ln/>
        </p:spPr>
        <p:txBody>
          <a:bodyPr wrap="square" lIns="0" tIns="0" rIns="0" bIns="0" rtlCol="0" anchor="t"/>
          <a:lstStyle/>
          <a:p>
            <a:pPr marL="0" indent="0">
              <a:buNone/>
            </a:pPr>
            <a:r>
              <a:rPr lang="en-US" sz="1700" b="1" dirty="0">
                <a:solidFill>
                  <a:srgbClr val="1B2430"/>
                </a:solidFill>
                <a:latin typeface="Calibri" pitchFamily="34" charset="0"/>
                <a:ea typeface="Calibri" pitchFamily="34" charset="-122"/>
                <a:cs typeface="Calibri" pitchFamily="34" charset="-120"/>
              </a:rPr>
              <a:t>Set up the Python environment</a:t>
            </a:r>
            <a:endParaRPr lang="en-US" sz="1700" dirty="0"/>
          </a:p>
        </p:txBody>
      </p:sp>
      <p:sp>
        <p:nvSpPr>
          <p:cNvPr id="9" name="Shape 7"/>
          <p:cNvSpPr/>
          <p:nvPr/>
        </p:nvSpPr>
        <p:spPr>
          <a:xfrm>
            <a:off x="4322064" y="1874520"/>
            <a:ext cx="3517392" cy="1261872"/>
          </a:xfrm>
          <a:prstGeom prst="roundRect">
            <a:avLst>
              <a:gd name="adj" fmla="val 5797"/>
            </a:avLst>
          </a:prstGeom>
          <a:solidFill>
            <a:srgbClr val="FFFFFF"/>
          </a:solidFill>
          <a:ln w="12700">
            <a:solidFill>
              <a:srgbClr val="DDE3EA"/>
            </a:solidFill>
            <a:prstDash val="solid"/>
          </a:ln>
          <a:effectLst>
            <a:outerShdw blurRad="76200" dist="25400" dir="5400000" algn="bl" rotWithShape="0">
              <a:srgbClr val="142A45">
                <a:alpha val="12000"/>
              </a:srgbClr>
            </a:outerShdw>
          </a:effectLst>
        </p:spPr>
      </p:sp>
      <p:sp>
        <p:nvSpPr>
          <p:cNvPr id="10" name="Shape 8"/>
          <p:cNvSpPr/>
          <p:nvPr/>
        </p:nvSpPr>
        <p:spPr>
          <a:xfrm>
            <a:off x="4523232" y="2057400"/>
            <a:ext cx="384048" cy="384048"/>
          </a:xfrm>
          <a:prstGeom prst="ellipse">
            <a:avLst/>
          </a:prstGeom>
          <a:solidFill>
            <a:srgbClr val="2E86AB"/>
          </a:solidFill>
          <a:ln/>
        </p:spPr>
      </p:sp>
      <p:sp>
        <p:nvSpPr>
          <p:cNvPr id="11" name="Text 9"/>
          <p:cNvSpPr txBox="1"/>
          <p:nvPr/>
        </p:nvSpPr>
        <p:spPr>
          <a:xfrm>
            <a:off x="4523232" y="2057400"/>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10"/>
          <p:cNvSpPr txBox="1"/>
          <p:nvPr/>
        </p:nvSpPr>
        <p:spPr>
          <a:xfrm>
            <a:off x="4523232" y="2560320"/>
            <a:ext cx="3115056" cy="438912"/>
          </a:xfrm>
          <a:prstGeom prst="rect">
            <a:avLst/>
          </a:prstGeom>
          <a:noFill/>
          <a:ln/>
        </p:spPr>
        <p:txBody>
          <a:bodyPr wrap="square" lIns="0" tIns="0" rIns="0" bIns="0" rtlCol="0" anchor="t"/>
          <a:lstStyle/>
          <a:p>
            <a:pPr marL="0" indent="0">
              <a:buNone/>
            </a:pPr>
            <a:r>
              <a:rPr lang="en-US" sz="1700" b="1" dirty="0">
                <a:solidFill>
                  <a:srgbClr val="1B2430"/>
                </a:solidFill>
                <a:latin typeface="Calibri" pitchFamily="34" charset="0"/>
                <a:ea typeface="Calibri" pitchFamily="34" charset="-122"/>
                <a:cs typeface="Calibri" pitchFamily="34" charset="-120"/>
              </a:rPr>
              <a:t>Explore Jupyter Notebook / Google Colab</a:t>
            </a:r>
            <a:endParaRPr lang="en-US" sz="1700" dirty="0"/>
          </a:p>
        </p:txBody>
      </p:sp>
      <p:sp>
        <p:nvSpPr>
          <p:cNvPr id="13" name="Shape 11"/>
          <p:cNvSpPr/>
          <p:nvPr/>
        </p:nvSpPr>
        <p:spPr>
          <a:xfrm>
            <a:off x="8095488" y="1874520"/>
            <a:ext cx="3517392" cy="1261872"/>
          </a:xfrm>
          <a:prstGeom prst="roundRect">
            <a:avLst>
              <a:gd name="adj" fmla="val 5797"/>
            </a:avLst>
          </a:prstGeom>
          <a:solidFill>
            <a:srgbClr val="FFFFFF"/>
          </a:solidFill>
          <a:ln w="12700">
            <a:solidFill>
              <a:srgbClr val="DDE3EA"/>
            </a:solidFill>
            <a:prstDash val="solid"/>
          </a:ln>
          <a:effectLst>
            <a:outerShdw blurRad="76200" dist="25400" dir="5400000" algn="bl" rotWithShape="0">
              <a:srgbClr val="142A45">
                <a:alpha val="12000"/>
              </a:srgbClr>
            </a:outerShdw>
          </a:effectLst>
        </p:spPr>
      </p:sp>
      <p:sp>
        <p:nvSpPr>
          <p:cNvPr id="14" name="Shape 12"/>
          <p:cNvSpPr/>
          <p:nvPr/>
        </p:nvSpPr>
        <p:spPr>
          <a:xfrm>
            <a:off x="8296656" y="2057400"/>
            <a:ext cx="384048" cy="384048"/>
          </a:xfrm>
          <a:prstGeom prst="ellipse">
            <a:avLst/>
          </a:prstGeom>
          <a:solidFill>
            <a:srgbClr val="2E86AB"/>
          </a:solidFill>
          <a:ln/>
        </p:spPr>
      </p:sp>
      <p:sp>
        <p:nvSpPr>
          <p:cNvPr id="15" name="Text 13"/>
          <p:cNvSpPr txBox="1"/>
          <p:nvPr/>
        </p:nvSpPr>
        <p:spPr>
          <a:xfrm>
            <a:off x="8296656" y="2057400"/>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6" name="Text 14"/>
          <p:cNvSpPr txBox="1"/>
          <p:nvPr/>
        </p:nvSpPr>
        <p:spPr>
          <a:xfrm>
            <a:off x="8296656" y="2560320"/>
            <a:ext cx="3115056" cy="438912"/>
          </a:xfrm>
          <a:prstGeom prst="rect">
            <a:avLst/>
          </a:prstGeom>
          <a:noFill/>
          <a:ln/>
        </p:spPr>
        <p:txBody>
          <a:bodyPr wrap="square" lIns="0" tIns="0" rIns="0" bIns="0" rtlCol="0" anchor="t"/>
          <a:lstStyle/>
          <a:p>
            <a:pPr marL="0" indent="0">
              <a:buNone/>
            </a:pPr>
            <a:r>
              <a:rPr lang="en-US" sz="1700" b="1" dirty="0">
                <a:solidFill>
                  <a:srgbClr val="1B2430"/>
                </a:solidFill>
                <a:latin typeface="Calibri" pitchFamily="34" charset="0"/>
                <a:ea typeface="Calibri" pitchFamily="34" charset="-122"/>
                <a:cs typeface="Calibri" pitchFamily="34" charset="-120"/>
              </a:rPr>
              <a:t>Understand basic Python syntax</a:t>
            </a:r>
            <a:endParaRPr lang="en-US" sz="1700" dirty="0"/>
          </a:p>
        </p:txBody>
      </p:sp>
      <p:sp>
        <p:nvSpPr>
          <p:cNvPr id="17" name="Shape 15"/>
          <p:cNvSpPr/>
          <p:nvPr/>
        </p:nvSpPr>
        <p:spPr>
          <a:xfrm>
            <a:off x="548640" y="3392424"/>
            <a:ext cx="3517392" cy="1261872"/>
          </a:xfrm>
          <a:prstGeom prst="roundRect">
            <a:avLst>
              <a:gd name="adj" fmla="val 5797"/>
            </a:avLst>
          </a:prstGeom>
          <a:solidFill>
            <a:srgbClr val="FFFFFF"/>
          </a:solidFill>
          <a:ln w="12700">
            <a:solidFill>
              <a:srgbClr val="DDE3EA"/>
            </a:solidFill>
            <a:prstDash val="solid"/>
          </a:ln>
          <a:effectLst>
            <a:outerShdw blurRad="76200" dist="25400" dir="5400000" algn="bl" rotWithShape="0">
              <a:srgbClr val="142A45">
                <a:alpha val="12000"/>
              </a:srgbClr>
            </a:outerShdw>
          </a:effectLst>
        </p:spPr>
      </p:sp>
      <p:sp>
        <p:nvSpPr>
          <p:cNvPr id="18" name="Shape 16"/>
          <p:cNvSpPr/>
          <p:nvPr/>
        </p:nvSpPr>
        <p:spPr>
          <a:xfrm>
            <a:off x="749808" y="3575304"/>
            <a:ext cx="384048" cy="384048"/>
          </a:xfrm>
          <a:prstGeom prst="ellipse">
            <a:avLst/>
          </a:prstGeom>
          <a:solidFill>
            <a:srgbClr val="2E86AB"/>
          </a:solidFill>
          <a:ln/>
        </p:spPr>
      </p:sp>
      <p:sp>
        <p:nvSpPr>
          <p:cNvPr id="19" name="Text 17"/>
          <p:cNvSpPr txBox="1"/>
          <p:nvPr/>
        </p:nvSpPr>
        <p:spPr>
          <a:xfrm>
            <a:off x="749808" y="3575304"/>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0" name="Text 18"/>
          <p:cNvSpPr txBox="1"/>
          <p:nvPr/>
        </p:nvSpPr>
        <p:spPr>
          <a:xfrm>
            <a:off x="749808" y="4078224"/>
            <a:ext cx="3115056" cy="438912"/>
          </a:xfrm>
          <a:prstGeom prst="rect">
            <a:avLst/>
          </a:prstGeom>
          <a:noFill/>
          <a:ln/>
        </p:spPr>
        <p:txBody>
          <a:bodyPr wrap="square" lIns="0" tIns="0" rIns="0" bIns="0" rtlCol="0" anchor="t"/>
          <a:lstStyle/>
          <a:p>
            <a:pPr marL="0" indent="0">
              <a:buNone/>
            </a:pPr>
            <a:r>
              <a:rPr lang="en-US" sz="1700" b="1" dirty="0">
                <a:solidFill>
                  <a:srgbClr val="1B2430"/>
                </a:solidFill>
                <a:latin typeface="Calibri" pitchFamily="34" charset="0"/>
                <a:ea typeface="Calibri" pitchFamily="34" charset="-122"/>
                <a:cs typeface="Calibri" pitchFamily="34" charset="-120"/>
              </a:rPr>
              <a:t>Write our first Python program</a:t>
            </a:r>
            <a:endParaRPr lang="en-US" sz="1700" dirty="0"/>
          </a:p>
        </p:txBody>
      </p:sp>
      <p:sp>
        <p:nvSpPr>
          <p:cNvPr id="21" name="Shape 19"/>
          <p:cNvSpPr/>
          <p:nvPr/>
        </p:nvSpPr>
        <p:spPr>
          <a:xfrm>
            <a:off x="4322064" y="3392424"/>
            <a:ext cx="3517392" cy="1261872"/>
          </a:xfrm>
          <a:prstGeom prst="roundRect">
            <a:avLst>
              <a:gd name="adj" fmla="val 5797"/>
            </a:avLst>
          </a:prstGeom>
          <a:solidFill>
            <a:srgbClr val="FFFFFF"/>
          </a:solidFill>
          <a:ln w="12700">
            <a:solidFill>
              <a:srgbClr val="DDE3EA"/>
            </a:solidFill>
            <a:prstDash val="solid"/>
          </a:ln>
          <a:effectLst>
            <a:outerShdw blurRad="76200" dist="25400" dir="5400000" algn="bl" rotWithShape="0">
              <a:srgbClr val="142A45">
                <a:alpha val="12000"/>
              </a:srgbClr>
            </a:outerShdw>
          </a:effectLst>
        </p:spPr>
      </p:sp>
      <p:sp>
        <p:nvSpPr>
          <p:cNvPr id="22" name="Shape 20"/>
          <p:cNvSpPr/>
          <p:nvPr/>
        </p:nvSpPr>
        <p:spPr>
          <a:xfrm>
            <a:off x="4523232" y="3575304"/>
            <a:ext cx="384048" cy="384048"/>
          </a:xfrm>
          <a:prstGeom prst="ellipse">
            <a:avLst/>
          </a:prstGeom>
          <a:solidFill>
            <a:srgbClr val="2E86AB"/>
          </a:solidFill>
          <a:ln/>
        </p:spPr>
      </p:sp>
      <p:sp>
        <p:nvSpPr>
          <p:cNvPr id="23" name="Text 21"/>
          <p:cNvSpPr txBox="1"/>
          <p:nvPr/>
        </p:nvSpPr>
        <p:spPr>
          <a:xfrm>
            <a:off x="4523232" y="3575304"/>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4" name="Text 22"/>
          <p:cNvSpPr txBox="1"/>
          <p:nvPr/>
        </p:nvSpPr>
        <p:spPr>
          <a:xfrm>
            <a:off x="4523232" y="4078224"/>
            <a:ext cx="3115056" cy="438912"/>
          </a:xfrm>
          <a:prstGeom prst="rect">
            <a:avLst/>
          </a:prstGeom>
          <a:noFill/>
          <a:ln/>
        </p:spPr>
        <p:txBody>
          <a:bodyPr wrap="square" lIns="0" tIns="0" rIns="0" bIns="0" rtlCol="0" anchor="t"/>
          <a:lstStyle/>
          <a:p>
            <a:pPr marL="0" indent="0">
              <a:buNone/>
            </a:pPr>
            <a:r>
              <a:rPr lang="en-US" sz="1700" b="1" dirty="0">
                <a:solidFill>
                  <a:srgbClr val="1B2430"/>
                </a:solidFill>
                <a:latin typeface="Calibri" pitchFamily="34" charset="0"/>
                <a:ea typeface="Calibri" pitchFamily="34" charset="-122"/>
                <a:cs typeface="Calibri" pitchFamily="34" charset="-120"/>
              </a:rPr>
              <a:t>Use variables and user input</a:t>
            </a:r>
            <a:endParaRPr lang="en-US" sz="1700" dirty="0"/>
          </a:p>
        </p:txBody>
      </p:sp>
      <p:sp>
        <p:nvSpPr>
          <p:cNvPr id="25" name="Shape 23"/>
          <p:cNvSpPr/>
          <p:nvPr/>
        </p:nvSpPr>
        <p:spPr>
          <a:xfrm>
            <a:off x="8095488" y="3392424"/>
            <a:ext cx="3517392" cy="1261872"/>
          </a:xfrm>
          <a:prstGeom prst="roundRect">
            <a:avLst>
              <a:gd name="adj" fmla="val 5797"/>
            </a:avLst>
          </a:prstGeom>
          <a:solidFill>
            <a:srgbClr val="FFFFFF"/>
          </a:solidFill>
          <a:ln w="12700">
            <a:solidFill>
              <a:srgbClr val="DDE3EA"/>
            </a:solidFill>
            <a:prstDash val="solid"/>
          </a:ln>
          <a:effectLst>
            <a:outerShdw blurRad="76200" dist="25400" dir="5400000" algn="bl" rotWithShape="0">
              <a:srgbClr val="142A45">
                <a:alpha val="12000"/>
              </a:srgbClr>
            </a:outerShdw>
          </a:effectLst>
        </p:spPr>
      </p:sp>
      <p:sp>
        <p:nvSpPr>
          <p:cNvPr id="26" name="Shape 24"/>
          <p:cNvSpPr/>
          <p:nvPr/>
        </p:nvSpPr>
        <p:spPr>
          <a:xfrm>
            <a:off x="8296656" y="3575304"/>
            <a:ext cx="384048" cy="384048"/>
          </a:xfrm>
          <a:prstGeom prst="ellipse">
            <a:avLst/>
          </a:prstGeom>
          <a:solidFill>
            <a:srgbClr val="2E86AB"/>
          </a:solidFill>
          <a:ln/>
        </p:spPr>
      </p:sp>
      <p:sp>
        <p:nvSpPr>
          <p:cNvPr id="27" name="Text 25"/>
          <p:cNvSpPr txBox="1"/>
          <p:nvPr/>
        </p:nvSpPr>
        <p:spPr>
          <a:xfrm>
            <a:off x="8296656" y="3575304"/>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28" name="Text 26"/>
          <p:cNvSpPr txBox="1"/>
          <p:nvPr/>
        </p:nvSpPr>
        <p:spPr>
          <a:xfrm>
            <a:off x="8296656" y="4078224"/>
            <a:ext cx="3115056" cy="438912"/>
          </a:xfrm>
          <a:prstGeom prst="rect">
            <a:avLst/>
          </a:prstGeom>
          <a:noFill/>
          <a:ln/>
        </p:spPr>
        <p:txBody>
          <a:bodyPr wrap="square" lIns="0" tIns="0" rIns="0" bIns="0" rtlCol="0" anchor="t"/>
          <a:lstStyle/>
          <a:p>
            <a:pPr marL="0" indent="0">
              <a:buNone/>
            </a:pPr>
            <a:r>
              <a:rPr lang="en-US" sz="1700" b="1" dirty="0">
                <a:solidFill>
                  <a:srgbClr val="1B2430"/>
                </a:solidFill>
                <a:latin typeface="Calibri" pitchFamily="34" charset="0"/>
                <a:ea typeface="Calibri" pitchFamily="34" charset="-122"/>
                <a:cs typeface="Calibri" pitchFamily="34" charset="-120"/>
              </a:rPr>
              <a:t>Use conditions and functions</a:t>
            </a:r>
            <a:endParaRPr lang="en-US" sz="1700" dirty="0"/>
          </a:p>
        </p:txBody>
      </p:sp>
      <p:sp>
        <p:nvSpPr>
          <p:cNvPr id="29" name="Shape 27"/>
          <p:cNvSpPr/>
          <p:nvPr/>
        </p:nvSpPr>
        <p:spPr>
          <a:xfrm>
            <a:off x="548640" y="4910328"/>
            <a:ext cx="3517392" cy="1261872"/>
          </a:xfrm>
          <a:prstGeom prst="roundRect">
            <a:avLst>
              <a:gd name="adj" fmla="val 5797"/>
            </a:avLst>
          </a:prstGeom>
          <a:solidFill>
            <a:srgbClr val="FFFFFF"/>
          </a:solidFill>
          <a:ln w="12700">
            <a:solidFill>
              <a:srgbClr val="DDE3EA"/>
            </a:solidFill>
            <a:prstDash val="solid"/>
          </a:ln>
          <a:effectLst>
            <a:outerShdw blurRad="76200" dist="25400" dir="5400000" algn="bl" rotWithShape="0">
              <a:srgbClr val="142A45">
                <a:alpha val="12000"/>
              </a:srgbClr>
            </a:outerShdw>
          </a:effectLst>
        </p:spPr>
      </p:sp>
      <p:sp>
        <p:nvSpPr>
          <p:cNvPr id="30" name="Shape 28"/>
          <p:cNvSpPr/>
          <p:nvPr/>
        </p:nvSpPr>
        <p:spPr>
          <a:xfrm>
            <a:off x="749808" y="5093208"/>
            <a:ext cx="384048" cy="384048"/>
          </a:xfrm>
          <a:prstGeom prst="ellipse">
            <a:avLst/>
          </a:prstGeom>
          <a:solidFill>
            <a:srgbClr val="FFC857"/>
          </a:solidFill>
          <a:ln/>
        </p:spPr>
      </p:sp>
      <p:sp>
        <p:nvSpPr>
          <p:cNvPr id="31" name="Text 29"/>
          <p:cNvSpPr txBox="1"/>
          <p:nvPr/>
        </p:nvSpPr>
        <p:spPr>
          <a:xfrm>
            <a:off x="749808" y="5093208"/>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7</a:t>
            </a:r>
            <a:endParaRPr lang="en-US" sz="1600" dirty="0"/>
          </a:p>
        </p:txBody>
      </p:sp>
      <p:sp>
        <p:nvSpPr>
          <p:cNvPr id="32" name="Text 30"/>
          <p:cNvSpPr txBox="1"/>
          <p:nvPr/>
        </p:nvSpPr>
        <p:spPr>
          <a:xfrm>
            <a:off x="749808" y="5596128"/>
            <a:ext cx="3115056" cy="438912"/>
          </a:xfrm>
          <a:prstGeom prst="rect">
            <a:avLst/>
          </a:prstGeom>
          <a:noFill/>
          <a:ln/>
        </p:spPr>
        <p:txBody>
          <a:bodyPr wrap="square" lIns="0" tIns="0" rIns="0" bIns="0" rtlCol="0" anchor="t"/>
          <a:lstStyle/>
          <a:p>
            <a:pPr marL="0" indent="0">
              <a:buNone/>
            </a:pPr>
            <a:r>
              <a:rPr lang="en-US" sz="1700" b="1" dirty="0">
                <a:solidFill>
                  <a:srgbClr val="1B2430"/>
                </a:solidFill>
                <a:latin typeface="Calibri" pitchFamily="34" charset="0"/>
                <a:ea typeface="Calibri" pitchFamily="34" charset="-122"/>
                <a:cs typeface="Calibri" pitchFamily="34" charset="-120"/>
              </a:rPr>
              <a:t>Build a rule-based chatbot</a:t>
            </a:r>
            <a:endParaRPr lang="en-US" sz="1700" dirty="0"/>
          </a:p>
        </p:txBody>
      </p:sp>
      <p:sp>
        <p:nvSpPr>
          <p:cNvPr id="33" name="Shape 31"/>
          <p:cNvSpPr/>
          <p:nvPr/>
        </p:nvSpPr>
        <p:spPr>
          <a:xfrm>
            <a:off x="4322064" y="4910328"/>
            <a:ext cx="3517392" cy="1261872"/>
          </a:xfrm>
          <a:prstGeom prst="roundRect">
            <a:avLst>
              <a:gd name="adj" fmla="val 5797"/>
            </a:avLst>
          </a:prstGeom>
          <a:solidFill>
            <a:srgbClr val="FFFFFF"/>
          </a:solidFill>
          <a:ln w="12700">
            <a:solidFill>
              <a:srgbClr val="DDE3EA"/>
            </a:solidFill>
            <a:prstDash val="solid"/>
          </a:ln>
          <a:effectLst>
            <a:outerShdw blurRad="76200" dist="25400" dir="5400000" algn="bl" rotWithShape="0">
              <a:srgbClr val="142A45">
                <a:alpha val="12000"/>
              </a:srgbClr>
            </a:outerShdw>
          </a:effectLst>
        </p:spPr>
      </p:sp>
      <p:sp>
        <p:nvSpPr>
          <p:cNvPr id="34" name="Shape 32"/>
          <p:cNvSpPr/>
          <p:nvPr/>
        </p:nvSpPr>
        <p:spPr>
          <a:xfrm>
            <a:off x="4523232" y="5093208"/>
            <a:ext cx="384048" cy="384048"/>
          </a:xfrm>
          <a:prstGeom prst="ellipse">
            <a:avLst/>
          </a:prstGeom>
          <a:solidFill>
            <a:srgbClr val="FFC857"/>
          </a:solidFill>
          <a:ln/>
        </p:spPr>
      </p:sp>
      <p:sp>
        <p:nvSpPr>
          <p:cNvPr id="35" name="Text 33"/>
          <p:cNvSpPr txBox="1"/>
          <p:nvPr/>
        </p:nvSpPr>
        <p:spPr>
          <a:xfrm>
            <a:off x="4523232" y="5093208"/>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8</a:t>
            </a:r>
            <a:endParaRPr lang="en-US" sz="1600" dirty="0"/>
          </a:p>
        </p:txBody>
      </p:sp>
      <p:sp>
        <p:nvSpPr>
          <p:cNvPr id="36" name="Text 34"/>
          <p:cNvSpPr txBox="1"/>
          <p:nvPr/>
        </p:nvSpPr>
        <p:spPr>
          <a:xfrm>
            <a:off x="4523232" y="5596128"/>
            <a:ext cx="3115056" cy="438912"/>
          </a:xfrm>
          <a:prstGeom prst="rect">
            <a:avLst/>
          </a:prstGeom>
          <a:noFill/>
          <a:ln/>
        </p:spPr>
        <p:txBody>
          <a:bodyPr wrap="square" lIns="0" tIns="0" rIns="0" bIns="0" rtlCol="0" anchor="t"/>
          <a:lstStyle/>
          <a:p>
            <a:pPr marL="0" indent="0">
              <a:buNone/>
            </a:pPr>
            <a:r>
              <a:rPr lang="en-US" sz="1700" b="1" dirty="0">
                <a:solidFill>
                  <a:srgbClr val="1B2430"/>
                </a:solidFill>
                <a:latin typeface="Calibri" pitchFamily="34" charset="0"/>
                <a:ea typeface="Calibri" pitchFamily="34" charset="-122"/>
                <a:cs typeface="Calibri" pitchFamily="34" charset="-120"/>
              </a:rPr>
              <a:t>Test and extend the chatbot</a:t>
            </a:r>
            <a:endParaRPr lang="en-US" sz="1700" dirty="0"/>
          </a:p>
        </p:txBody>
      </p:sp>
      <p:sp>
        <p:nvSpPr>
          <p:cNvPr id="37" name="Shape 35"/>
          <p:cNvSpPr/>
          <p:nvPr/>
        </p:nvSpPr>
        <p:spPr>
          <a:xfrm>
            <a:off x="8095488" y="4910328"/>
            <a:ext cx="3517392" cy="1261872"/>
          </a:xfrm>
          <a:prstGeom prst="roundRect">
            <a:avLst>
              <a:gd name="adj" fmla="val 5797"/>
            </a:avLst>
          </a:prstGeom>
          <a:solidFill>
            <a:srgbClr val="FFFFFF"/>
          </a:solidFill>
          <a:ln w="12700">
            <a:solidFill>
              <a:srgbClr val="DDE3EA"/>
            </a:solidFill>
            <a:prstDash val="solid"/>
          </a:ln>
          <a:effectLst>
            <a:outerShdw blurRad="76200" dist="25400" dir="5400000" algn="bl" rotWithShape="0">
              <a:srgbClr val="142A45">
                <a:alpha val="12000"/>
              </a:srgbClr>
            </a:outerShdw>
          </a:effectLst>
        </p:spPr>
      </p:sp>
      <p:sp>
        <p:nvSpPr>
          <p:cNvPr id="38" name="Shape 36"/>
          <p:cNvSpPr/>
          <p:nvPr/>
        </p:nvSpPr>
        <p:spPr>
          <a:xfrm>
            <a:off x="8296656" y="5093208"/>
            <a:ext cx="384048" cy="384048"/>
          </a:xfrm>
          <a:prstGeom prst="ellipse">
            <a:avLst/>
          </a:prstGeom>
          <a:solidFill>
            <a:srgbClr val="FFC857"/>
          </a:solidFill>
          <a:ln/>
        </p:spPr>
      </p:sp>
      <p:sp>
        <p:nvSpPr>
          <p:cNvPr id="39" name="Text 37"/>
          <p:cNvSpPr txBox="1"/>
          <p:nvPr/>
        </p:nvSpPr>
        <p:spPr>
          <a:xfrm>
            <a:off x="8296656" y="5093208"/>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9</a:t>
            </a:r>
            <a:endParaRPr lang="en-US" sz="1600" dirty="0"/>
          </a:p>
        </p:txBody>
      </p:sp>
      <p:sp>
        <p:nvSpPr>
          <p:cNvPr id="40" name="Text 38"/>
          <p:cNvSpPr txBox="1"/>
          <p:nvPr/>
        </p:nvSpPr>
        <p:spPr>
          <a:xfrm>
            <a:off x="8296656" y="5596128"/>
            <a:ext cx="3115056" cy="438912"/>
          </a:xfrm>
          <a:prstGeom prst="rect">
            <a:avLst/>
          </a:prstGeom>
          <a:noFill/>
          <a:ln/>
        </p:spPr>
        <p:txBody>
          <a:bodyPr wrap="square" lIns="0" tIns="0" rIns="0" bIns="0" rtlCol="0" anchor="t"/>
          <a:lstStyle/>
          <a:p>
            <a:pPr marL="0" indent="0">
              <a:buNone/>
            </a:pPr>
            <a:r>
              <a:rPr lang="en-US" sz="1700" b="1" dirty="0">
                <a:solidFill>
                  <a:srgbClr val="1B2430"/>
                </a:solidFill>
                <a:latin typeface="Calibri" pitchFamily="34" charset="0"/>
                <a:ea typeface="Calibri" pitchFamily="34" charset="-122"/>
                <a:cs typeface="Calibri" pitchFamily="34" charset="-120"/>
              </a:rPr>
              <a:t>Understand why it appears “AI-like”</a:t>
            </a:r>
            <a:endParaRPr lang="en-US" sz="1700" dirty="0"/>
          </a:p>
        </p:txBody>
      </p:sp>
      <p:sp>
        <p:nvSpPr>
          <p:cNvPr id="41" name="Text 39"/>
          <p:cNvSpPr txBox="1"/>
          <p:nvPr/>
        </p:nvSpPr>
        <p:spPr>
          <a:xfrm>
            <a:off x="548640" y="6455664"/>
            <a:ext cx="9418320" cy="292608"/>
          </a:xfrm>
          <a:prstGeom prst="rect">
            <a:avLst/>
          </a:prstGeom>
          <a:noFill/>
          <a:ln/>
        </p:spPr>
        <p:txBody>
          <a:bodyPr wrap="square" lIns="0" tIns="0" rIns="0" bIns="0" rtlCol="0" anchor="ctr"/>
          <a:lstStyle/>
          <a:p>
            <a:pPr marL="0" indent="0">
              <a:buNone/>
            </a:pPr>
            <a:r>
              <a:rPr lang="en-US" sz="1600" dirty="0">
                <a:solidFill>
                  <a:srgbClr val="5B6B79"/>
                </a:solidFill>
                <a:latin typeface="Calibri" pitchFamily="34" charset="0"/>
                <a:ea typeface="Calibri" pitchFamily="34" charset="-122"/>
                <a:cs typeface="Calibri" pitchFamily="34" charset="-120"/>
              </a:rPr>
              <a:t>AI Practical 1  •  Development Environment, Python &amp; Rule-Based Chatbot</a:t>
            </a:r>
            <a:endParaRPr lang="en-US" sz="1600" dirty="0"/>
          </a:p>
        </p:txBody>
      </p:sp>
      <p:sp>
        <p:nvSpPr>
          <p:cNvPr id="42" name="Text 40"/>
          <p:cNvSpPr txBox="1"/>
          <p:nvPr/>
        </p:nvSpPr>
        <p:spPr>
          <a:xfrm>
            <a:off x="11247120" y="6455664"/>
            <a:ext cx="457200" cy="292608"/>
          </a:xfrm>
          <a:prstGeom prst="rect">
            <a:avLst/>
          </a:prstGeom>
          <a:noFill/>
          <a:ln/>
        </p:spPr>
        <p:txBody>
          <a:bodyPr wrap="square" lIns="0" tIns="0" rIns="0" bIns="0" rtlCol="0" anchor="ctr"/>
          <a:lstStyle/>
          <a:p>
            <a:pPr marL="0" indent="0" algn="r">
              <a:buNone/>
            </a:pPr>
            <a:r>
              <a:rPr lang="en-US" sz="1600" dirty="0">
                <a:solidFill>
                  <a:srgbClr val="5B6B79"/>
                </a:solidFill>
                <a:latin typeface="Calibri" pitchFamily="34" charset="0"/>
                <a:ea typeface="Calibri" pitchFamily="34" charset="-122"/>
                <a:cs typeface="Calibri" pitchFamily="34" charset="-120"/>
              </a:rPr>
              <a:t>2</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0515600" cy="310896"/>
          </a:xfrm>
          <a:prstGeom prst="rect">
            <a:avLst/>
          </a:prstGeom>
          <a:noFill/>
          <a:ln/>
        </p:spPr>
        <p:txBody>
          <a:bodyPr wrap="square" lIns="0" tIns="0" rIns="0" bIns="0" rtlCol="0" anchor="ctr"/>
          <a:lstStyle/>
          <a:p>
            <a:pPr marL="0" indent="0">
              <a:buNone/>
            </a:pPr>
            <a:r>
              <a:rPr lang="en-US" sz="1600" b="1" kern="0" spc="200" dirty="0">
                <a:solidFill>
                  <a:srgbClr val="2E86AB"/>
                </a:solidFill>
                <a:latin typeface="Calibri" pitchFamily="34" charset="0"/>
                <a:ea typeface="Calibri" pitchFamily="34" charset="-122"/>
                <a:cs typeface="Calibri" pitchFamily="34" charset="-120"/>
              </a:rPr>
              <a:t>PRACTICAL OBJECTIVES</a:t>
            </a:r>
            <a:endParaRPr lang="en-US" sz="1600" dirty="0"/>
          </a:p>
        </p:txBody>
      </p:sp>
      <p:sp>
        <p:nvSpPr>
          <p:cNvPr id="3" name="Text 1"/>
          <p:cNvSpPr txBox="1"/>
          <p:nvPr/>
        </p:nvSpPr>
        <p:spPr>
          <a:xfrm>
            <a:off x="548640" y="603504"/>
            <a:ext cx="11064240" cy="731520"/>
          </a:xfrm>
          <a:prstGeom prst="rect">
            <a:avLst/>
          </a:prstGeom>
          <a:noFill/>
          <a:ln/>
        </p:spPr>
        <p:txBody>
          <a:bodyPr wrap="square" lIns="0" tIns="0" rIns="0" bIns="0" rtlCol="0" anchor="ctr"/>
          <a:lstStyle/>
          <a:p>
            <a:pPr marL="0" indent="0">
              <a:buNone/>
            </a:pPr>
            <a:r>
              <a:rPr lang="en-US" sz="3300" b="1" dirty="0">
                <a:solidFill>
                  <a:srgbClr val="142A45"/>
                </a:solidFill>
                <a:latin typeface="Cambria" pitchFamily="34" charset="0"/>
                <a:ea typeface="Cambria" pitchFamily="34" charset="-122"/>
                <a:cs typeface="Cambria" pitchFamily="34" charset="-120"/>
              </a:rPr>
              <a:t>Learning Outcomes</a:t>
            </a:r>
            <a:endParaRPr lang="en-US" sz="3300" dirty="0"/>
          </a:p>
        </p:txBody>
      </p:sp>
      <p:sp>
        <p:nvSpPr>
          <p:cNvPr id="4" name="Text 2"/>
          <p:cNvSpPr txBox="1"/>
          <p:nvPr/>
        </p:nvSpPr>
        <p:spPr>
          <a:xfrm>
            <a:off x="548640" y="1234440"/>
            <a:ext cx="10789920" cy="365760"/>
          </a:xfrm>
          <a:prstGeom prst="rect">
            <a:avLst/>
          </a:prstGeom>
          <a:noFill/>
          <a:ln/>
        </p:spPr>
        <p:txBody>
          <a:bodyPr wrap="square" lIns="0" tIns="0" rIns="0" bIns="0" rtlCol="0" anchor="ctr"/>
          <a:lstStyle/>
          <a:p>
            <a:pPr marL="0" indent="0">
              <a:buNone/>
            </a:pPr>
            <a:r>
              <a:rPr lang="en-US" sz="1800" dirty="0">
                <a:solidFill>
                  <a:srgbClr val="5B6B79"/>
                </a:solidFill>
                <a:latin typeface="Calibri" pitchFamily="34" charset="0"/>
                <a:ea typeface="Calibri" pitchFamily="34" charset="-122"/>
                <a:cs typeface="Calibri" pitchFamily="34" charset="-120"/>
              </a:rPr>
              <a:t>By the end of this practical, you will be able to:</a:t>
            </a:r>
            <a:endParaRPr lang="en-US" sz="1800" dirty="0"/>
          </a:p>
        </p:txBody>
      </p:sp>
      <p:sp>
        <p:nvSpPr>
          <p:cNvPr id="5" name="Shape 3"/>
          <p:cNvSpPr/>
          <p:nvPr/>
        </p:nvSpPr>
        <p:spPr>
          <a:xfrm>
            <a:off x="548640" y="1828800"/>
            <a:ext cx="5349240" cy="4297680"/>
          </a:xfrm>
          <a:prstGeom prst="roundRect">
            <a:avLst>
              <a:gd name="adj" fmla="val 1702"/>
            </a:avLst>
          </a:prstGeom>
          <a:solidFill>
            <a:srgbClr val="FFFFFF"/>
          </a:solidFill>
          <a:ln w="12700">
            <a:solidFill>
              <a:srgbClr val="DDE3EA"/>
            </a:solidFill>
            <a:prstDash val="solid"/>
          </a:ln>
          <a:effectLst>
            <a:outerShdw blurRad="76200" dist="25400" dir="5400000" algn="bl" rotWithShape="0">
              <a:srgbClr val="142A45">
                <a:alpha val="12000"/>
              </a:srgbClr>
            </a:outerShdw>
          </a:effectLst>
        </p:spPr>
      </p:sp>
      <p:sp>
        <p:nvSpPr>
          <p:cNvPr id="6" name="Shape 4"/>
          <p:cNvSpPr/>
          <p:nvPr/>
        </p:nvSpPr>
        <p:spPr>
          <a:xfrm>
            <a:off x="6263640" y="1828800"/>
            <a:ext cx="5349240" cy="4297680"/>
          </a:xfrm>
          <a:prstGeom prst="roundRect">
            <a:avLst>
              <a:gd name="adj" fmla="val 1702"/>
            </a:avLst>
          </a:prstGeom>
          <a:solidFill>
            <a:srgbClr val="FFFFFF"/>
          </a:solidFill>
          <a:ln w="12700">
            <a:solidFill>
              <a:srgbClr val="DDE3EA"/>
            </a:solidFill>
            <a:prstDash val="solid"/>
          </a:ln>
          <a:effectLst>
            <a:outerShdw blurRad="76200" dist="25400" dir="5400000" algn="bl" rotWithShape="0">
              <a:srgbClr val="142A45">
                <a:alpha val="12000"/>
              </a:srgbClr>
            </a:outerShdw>
          </a:effectLst>
        </p:spPr>
      </p:sp>
      <p:sp>
        <p:nvSpPr>
          <p:cNvPr id="7" name="Shape 5"/>
          <p:cNvSpPr/>
          <p:nvPr/>
        </p:nvSpPr>
        <p:spPr>
          <a:xfrm>
            <a:off x="914400" y="2505456"/>
            <a:ext cx="274320" cy="274320"/>
          </a:xfrm>
          <a:prstGeom prst="ellipse">
            <a:avLst/>
          </a:prstGeom>
          <a:solidFill>
            <a:srgbClr val="2E86AB"/>
          </a:solidFill>
          <a:ln/>
        </p:spPr>
      </p:sp>
      <p:sp>
        <p:nvSpPr>
          <p:cNvPr id="8" name="Text 6"/>
          <p:cNvSpPr txBox="1"/>
          <p:nvPr/>
        </p:nvSpPr>
        <p:spPr>
          <a:xfrm>
            <a:off x="914400" y="2505456"/>
            <a:ext cx="274320" cy="27432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a:t>
            </a:r>
            <a:endParaRPr lang="en-US" sz="1700" dirty="0"/>
          </a:p>
        </p:txBody>
      </p:sp>
      <p:sp>
        <p:nvSpPr>
          <p:cNvPr id="9" name="Text 7"/>
          <p:cNvSpPr txBox="1"/>
          <p:nvPr/>
        </p:nvSpPr>
        <p:spPr>
          <a:xfrm>
            <a:off x="1325880" y="2148840"/>
            <a:ext cx="4297680" cy="987552"/>
          </a:xfrm>
          <a:prstGeom prst="rect">
            <a:avLst/>
          </a:prstGeom>
          <a:noFill/>
          <a:ln/>
        </p:spPr>
        <p:txBody>
          <a:bodyPr wrap="square" lIns="0" tIns="0" rIns="0" bIns="0" rtlCol="0" anchor="ctr"/>
          <a:lstStyle/>
          <a:p>
            <a:pPr marL="0" indent="0">
              <a:buNone/>
            </a:pPr>
            <a:r>
              <a:rPr lang="en-US" sz="1600" dirty="0">
                <a:solidFill>
                  <a:srgbClr val="1B2430"/>
                </a:solidFill>
                <a:latin typeface="Calibri" pitchFamily="34" charset="0"/>
                <a:ea typeface="Calibri" pitchFamily="34" charset="-122"/>
                <a:cs typeface="Calibri" pitchFamily="34" charset="-120"/>
              </a:rPr>
              <a:t>Set up an AI development environment</a:t>
            </a:r>
            <a:endParaRPr lang="en-US" sz="1600" dirty="0"/>
          </a:p>
        </p:txBody>
      </p:sp>
      <p:sp>
        <p:nvSpPr>
          <p:cNvPr id="10" name="Shape 8"/>
          <p:cNvSpPr/>
          <p:nvPr/>
        </p:nvSpPr>
        <p:spPr>
          <a:xfrm>
            <a:off x="914400" y="3493008"/>
            <a:ext cx="274320" cy="274320"/>
          </a:xfrm>
          <a:prstGeom prst="ellipse">
            <a:avLst/>
          </a:prstGeom>
          <a:solidFill>
            <a:srgbClr val="2E86AB"/>
          </a:solidFill>
          <a:ln/>
        </p:spPr>
      </p:sp>
      <p:sp>
        <p:nvSpPr>
          <p:cNvPr id="11" name="Text 9"/>
          <p:cNvSpPr txBox="1"/>
          <p:nvPr/>
        </p:nvSpPr>
        <p:spPr>
          <a:xfrm>
            <a:off x="914400" y="3493008"/>
            <a:ext cx="274320" cy="27432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a:t>
            </a:r>
            <a:endParaRPr lang="en-US" sz="1700" dirty="0"/>
          </a:p>
        </p:txBody>
      </p:sp>
      <p:sp>
        <p:nvSpPr>
          <p:cNvPr id="12" name="Text 10"/>
          <p:cNvSpPr txBox="1"/>
          <p:nvPr/>
        </p:nvSpPr>
        <p:spPr>
          <a:xfrm>
            <a:off x="1325880" y="3136392"/>
            <a:ext cx="4297680" cy="987552"/>
          </a:xfrm>
          <a:prstGeom prst="rect">
            <a:avLst/>
          </a:prstGeom>
          <a:noFill/>
          <a:ln/>
        </p:spPr>
        <p:txBody>
          <a:bodyPr wrap="square" lIns="0" tIns="0" rIns="0" bIns="0" rtlCol="0" anchor="ctr"/>
          <a:lstStyle/>
          <a:p>
            <a:pPr marL="0" indent="0">
              <a:buNone/>
            </a:pPr>
            <a:r>
              <a:rPr lang="en-US" sz="1600" dirty="0">
                <a:solidFill>
                  <a:srgbClr val="1B2430"/>
                </a:solidFill>
                <a:latin typeface="Calibri" pitchFamily="34" charset="0"/>
                <a:ea typeface="Calibri" pitchFamily="34" charset="-122"/>
                <a:cs typeface="Calibri" pitchFamily="34" charset="-120"/>
              </a:rPr>
              <a:t>Create and execute a Python program</a:t>
            </a:r>
            <a:endParaRPr lang="en-US" sz="1600" dirty="0"/>
          </a:p>
        </p:txBody>
      </p:sp>
      <p:sp>
        <p:nvSpPr>
          <p:cNvPr id="13" name="Shape 11"/>
          <p:cNvSpPr/>
          <p:nvPr/>
        </p:nvSpPr>
        <p:spPr>
          <a:xfrm>
            <a:off x="914400" y="4480560"/>
            <a:ext cx="274320" cy="274320"/>
          </a:xfrm>
          <a:prstGeom prst="ellipse">
            <a:avLst/>
          </a:prstGeom>
          <a:solidFill>
            <a:srgbClr val="2E86AB"/>
          </a:solidFill>
          <a:ln/>
        </p:spPr>
      </p:sp>
      <p:sp>
        <p:nvSpPr>
          <p:cNvPr id="14" name="Text 12"/>
          <p:cNvSpPr txBox="1"/>
          <p:nvPr/>
        </p:nvSpPr>
        <p:spPr>
          <a:xfrm>
            <a:off x="914400" y="4480560"/>
            <a:ext cx="274320" cy="27432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a:t>
            </a:r>
            <a:endParaRPr lang="en-US" sz="1700" dirty="0"/>
          </a:p>
        </p:txBody>
      </p:sp>
      <p:sp>
        <p:nvSpPr>
          <p:cNvPr id="15" name="Text 13"/>
          <p:cNvSpPr txBox="1"/>
          <p:nvPr/>
        </p:nvSpPr>
        <p:spPr>
          <a:xfrm>
            <a:off x="1325880" y="4123944"/>
            <a:ext cx="4297680" cy="987552"/>
          </a:xfrm>
          <a:prstGeom prst="rect">
            <a:avLst/>
          </a:prstGeom>
          <a:noFill/>
          <a:ln/>
        </p:spPr>
        <p:txBody>
          <a:bodyPr wrap="square" lIns="0" tIns="0" rIns="0" bIns="0" rtlCol="0" anchor="ctr"/>
          <a:lstStyle/>
          <a:p>
            <a:pPr marL="0" indent="0">
              <a:buNone/>
            </a:pPr>
            <a:r>
              <a:rPr lang="en-US" sz="1600" dirty="0">
                <a:solidFill>
                  <a:srgbClr val="1B2430"/>
                </a:solidFill>
                <a:latin typeface="Calibri" pitchFamily="34" charset="0"/>
                <a:ea typeface="Calibri" pitchFamily="34" charset="-122"/>
                <a:cs typeface="Calibri" pitchFamily="34" charset="-120"/>
              </a:rPr>
              <a:t>Use variables, strings, input and output</a:t>
            </a:r>
            <a:endParaRPr lang="en-US" sz="1600" dirty="0"/>
          </a:p>
        </p:txBody>
      </p:sp>
      <p:sp>
        <p:nvSpPr>
          <p:cNvPr id="16" name="Shape 14"/>
          <p:cNvSpPr/>
          <p:nvPr/>
        </p:nvSpPr>
        <p:spPr>
          <a:xfrm>
            <a:off x="914400" y="5468112"/>
            <a:ext cx="274320" cy="274320"/>
          </a:xfrm>
          <a:prstGeom prst="ellipse">
            <a:avLst/>
          </a:prstGeom>
          <a:solidFill>
            <a:srgbClr val="2E86AB"/>
          </a:solidFill>
          <a:ln/>
        </p:spPr>
      </p:sp>
      <p:sp>
        <p:nvSpPr>
          <p:cNvPr id="17" name="Text 15"/>
          <p:cNvSpPr txBox="1"/>
          <p:nvPr/>
        </p:nvSpPr>
        <p:spPr>
          <a:xfrm>
            <a:off x="914400" y="5468112"/>
            <a:ext cx="274320" cy="27432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a:t>
            </a:r>
            <a:endParaRPr lang="en-US" sz="1700" dirty="0"/>
          </a:p>
        </p:txBody>
      </p:sp>
      <p:sp>
        <p:nvSpPr>
          <p:cNvPr id="18" name="Text 16"/>
          <p:cNvSpPr txBox="1"/>
          <p:nvPr/>
        </p:nvSpPr>
        <p:spPr>
          <a:xfrm>
            <a:off x="1325880" y="5111496"/>
            <a:ext cx="4297680" cy="987552"/>
          </a:xfrm>
          <a:prstGeom prst="rect">
            <a:avLst/>
          </a:prstGeom>
          <a:noFill/>
          <a:ln/>
        </p:spPr>
        <p:txBody>
          <a:bodyPr wrap="square" lIns="0" tIns="0" rIns="0" bIns="0" rtlCol="0" anchor="ctr"/>
          <a:lstStyle/>
          <a:p>
            <a:pPr marL="0" indent="0">
              <a:buNone/>
            </a:pPr>
            <a:r>
              <a:rPr lang="en-US" sz="1600" dirty="0">
                <a:solidFill>
                  <a:srgbClr val="1B2430"/>
                </a:solidFill>
                <a:latin typeface="Calibri" pitchFamily="34" charset="0"/>
                <a:ea typeface="Calibri" pitchFamily="34" charset="-122"/>
                <a:cs typeface="Calibri" pitchFamily="34" charset="-120"/>
              </a:rPr>
              <a:t>Write conditional statements</a:t>
            </a:r>
            <a:endParaRPr lang="en-US" sz="1600" dirty="0"/>
          </a:p>
        </p:txBody>
      </p:sp>
      <p:sp>
        <p:nvSpPr>
          <p:cNvPr id="19" name="Shape 17"/>
          <p:cNvSpPr/>
          <p:nvPr/>
        </p:nvSpPr>
        <p:spPr>
          <a:xfrm>
            <a:off x="6629400" y="2505456"/>
            <a:ext cx="274320" cy="274320"/>
          </a:xfrm>
          <a:prstGeom prst="ellipse">
            <a:avLst/>
          </a:prstGeom>
          <a:solidFill>
            <a:srgbClr val="3F9142"/>
          </a:solidFill>
          <a:ln/>
        </p:spPr>
      </p:sp>
      <p:sp>
        <p:nvSpPr>
          <p:cNvPr id="20" name="Text 18"/>
          <p:cNvSpPr txBox="1"/>
          <p:nvPr/>
        </p:nvSpPr>
        <p:spPr>
          <a:xfrm>
            <a:off x="6629400" y="2505456"/>
            <a:ext cx="274320" cy="27432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a:t>
            </a:r>
            <a:endParaRPr lang="en-US" sz="1700" dirty="0"/>
          </a:p>
        </p:txBody>
      </p:sp>
      <p:sp>
        <p:nvSpPr>
          <p:cNvPr id="21" name="Text 19"/>
          <p:cNvSpPr txBox="1"/>
          <p:nvPr/>
        </p:nvSpPr>
        <p:spPr>
          <a:xfrm>
            <a:off x="7040880" y="2148840"/>
            <a:ext cx="4297680" cy="987552"/>
          </a:xfrm>
          <a:prstGeom prst="rect">
            <a:avLst/>
          </a:prstGeom>
          <a:noFill/>
          <a:ln/>
        </p:spPr>
        <p:txBody>
          <a:bodyPr wrap="square" lIns="0" tIns="0" rIns="0" bIns="0" rtlCol="0" anchor="ctr"/>
          <a:lstStyle/>
          <a:p>
            <a:pPr marL="0" indent="0">
              <a:buNone/>
            </a:pPr>
            <a:r>
              <a:rPr lang="en-US" sz="1600" dirty="0">
                <a:solidFill>
                  <a:srgbClr val="1B2430"/>
                </a:solidFill>
                <a:latin typeface="Calibri" pitchFamily="34" charset="0"/>
                <a:ea typeface="Calibri" pitchFamily="34" charset="-122"/>
                <a:cs typeface="Calibri" pitchFamily="34" charset="-120"/>
              </a:rPr>
              <a:t>Define and call functions</a:t>
            </a:r>
            <a:endParaRPr lang="en-US" sz="1600" dirty="0"/>
          </a:p>
        </p:txBody>
      </p:sp>
      <p:sp>
        <p:nvSpPr>
          <p:cNvPr id="22" name="Shape 20"/>
          <p:cNvSpPr/>
          <p:nvPr/>
        </p:nvSpPr>
        <p:spPr>
          <a:xfrm>
            <a:off x="6629400" y="3493008"/>
            <a:ext cx="274320" cy="274320"/>
          </a:xfrm>
          <a:prstGeom prst="ellipse">
            <a:avLst/>
          </a:prstGeom>
          <a:solidFill>
            <a:srgbClr val="3F9142"/>
          </a:solidFill>
          <a:ln/>
        </p:spPr>
      </p:sp>
      <p:sp>
        <p:nvSpPr>
          <p:cNvPr id="23" name="Text 21"/>
          <p:cNvSpPr txBox="1"/>
          <p:nvPr/>
        </p:nvSpPr>
        <p:spPr>
          <a:xfrm>
            <a:off x="6629400" y="3493008"/>
            <a:ext cx="274320" cy="27432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a:t>
            </a:r>
            <a:endParaRPr lang="en-US" sz="1700" dirty="0"/>
          </a:p>
        </p:txBody>
      </p:sp>
      <p:sp>
        <p:nvSpPr>
          <p:cNvPr id="24" name="Text 22"/>
          <p:cNvSpPr txBox="1"/>
          <p:nvPr/>
        </p:nvSpPr>
        <p:spPr>
          <a:xfrm>
            <a:off x="7040880" y="3136392"/>
            <a:ext cx="4297680" cy="987552"/>
          </a:xfrm>
          <a:prstGeom prst="rect">
            <a:avLst/>
          </a:prstGeom>
          <a:noFill/>
          <a:ln/>
        </p:spPr>
        <p:txBody>
          <a:bodyPr wrap="square" lIns="0" tIns="0" rIns="0" bIns="0" rtlCol="0" anchor="ctr"/>
          <a:lstStyle/>
          <a:p>
            <a:pPr marL="0" indent="0">
              <a:buNone/>
            </a:pPr>
            <a:r>
              <a:rPr lang="en-US" sz="1600" dirty="0">
                <a:solidFill>
                  <a:srgbClr val="1B2430"/>
                </a:solidFill>
                <a:latin typeface="Calibri" pitchFamily="34" charset="0"/>
                <a:ea typeface="Calibri" pitchFamily="34" charset="-122"/>
                <a:cs typeface="Calibri" pitchFamily="34" charset="-120"/>
              </a:rPr>
              <a:t>Implement simple rule-based decision logic</a:t>
            </a:r>
            <a:endParaRPr lang="en-US" sz="1600" dirty="0"/>
          </a:p>
        </p:txBody>
      </p:sp>
      <p:sp>
        <p:nvSpPr>
          <p:cNvPr id="25" name="Shape 23"/>
          <p:cNvSpPr/>
          <p:nvPr/>
        </p:nvSpPr>
        <p:spPr>
          <a:xfrm>
            <a:off x="6629400" y="4480560"/>
            <a:ext cx="274320" cy="274320"/>
          </a:xfrm>
          <a:prstGeom prst="ellipse">
            <a:avLst/>
          </a:prstGeom>
          <a:solidFill>
            <a:srgbClr val="3F9142"/>
          </a:solidFill>
          <a:ln/>
        </p:spPr>
      </p:sp>
      <p:sp>
        <p:nvSpPr>
          <p:cNvPr id="26" name="Text 24"/>
          <p:cNvSpPr txBox="1"/>
          <p:nvPr/>
        </p:nvSpPr>
        <p:spPr>
          <a:xfrm>
            <a:off x="6629400" y="4480560"/>
            <a:ext cx="274320" cy="27432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a:t>
            </a:r>
            <a:endParaRPr lang="en-US" sz="1700" dirty="0"/>
          </a:p>
        </p:txBody>
      </p:sp>
      <p:sp>
        <p:nvSpPr>
          <p:cNvPr id="27" name="Text 25"/>
          <p:cNvSpPr txBox="1"/>
          <p:nvPr/>
        </p:nvSpPr>
        <p:spPr>
          <a:xfrm>
            <a:off x="7040880" y="4123944"/>
            <a:ext cx="4297680" cy="987552"/>
          </a:xfrm>
          <a:prstGeom prst="rect">
            <a:avLst/>
          </a:prstGeom>
          <a:noFill/>
          <a:ln/>
        </p:spPr>
        <p:txBody>
          <a:bodyPr wrap="square" lIns="0" tIns="0" rIns="0" bIns="0" rtlCol="0" anchor="ctr"/>
          <a:lstStyle/>
          <a:p>
            <a:pPr marL="0" indent="0">
              <a:buNone/>
            </a:pPr>
            <a:r>
              <a:rPr lang="en-US" sz="1600" dirty="0">
                <a:solidFill>
                  <a:srgbClr val="1B2430"/>
                </a:solidFill>
                <a:latin typeface="Calibri" pitchFamily="34" charset="0"/>
                <a:ea typeface="Calibri" pitchFamily="34" charset="-122"/>
                <a:cs typeface="Calibri" pitchFamily="34" charset="-120"/>
              </a:rPr>
              <a:t>Build a basic rule-based chatbot</a:t>
            </a:r>
            <a:endParaRPr lang="en-US" sz="1600" dirty="0"/>
          </a:p>
        </p:txBody>
      </p:sp>
      <p:sp>
        <p:nvSpPr>
          <p:cNvPr id="28" name="Shape 26"/>
          <p:cNvSpPr/>
          <p:nvPr/>
        </p:nvSpPr>
        <p:spPr>
          <a:xfrm>
            <a:off x="6629400" y="5468112"/>
            <a:ext cx="274320" cy="274320"/>
          </a:xfrm>
          <a:prstGeom prst="ellipse">
            <a:avLst/>
          </a:prstGeom>
          <a:solidFill>
            <a:srgbClr val="3F9142"/>
          </a:solidFill>
          <a:ln/>
        </p:spPr>
      </p:sp>
      <p:sp>
        <p:nvSpPr>
          <p:cNvPr id="29" name="Text 27"/>
          <p:cNvSpPr txBox="1"/>
          <p:nvPr/>
        </p:nvSpPr>
        <p:spPr>
          <a:xfrm>
            <a:off x="6629400" y="5468112"/>
            <a:ext cx="274320" cy="27432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a:t>
            </a:r>
            <a:endParaRPr lang="en-US" sz="1700" dirty="0"/>
          </a:p>
        </p:txBody>
      </p:sp>
      <p:sp>
        <p:nvSpPr>
          <p:cNvPr id="30" name="Text 28"/>
          <p:cNvSpPr txBox="1"/>
          <p:nvPr/>
        </p:nvSpPr>
        <p:spPr>
          <a:xfrm>
            <a:off x="7040880" y="5111496"/>
            <a:ext cx="4297680" cy="987552"/>
          </a:xfrm>
          <a:prstGeom prst="rect">
            <a:avLst/>
          </a:prstGeom>
          <a:noFill/>
          <a:ln/>
        </p:spPr>
        <p:txBody>
          <a:bodyPr wrap="square" lIns="0" tIns="0" rIns="0" bIns="0" rtlCol="0" anchor="ctr"/>
          <a:lstStyle/>
          <a:p>
            <a:pPr marL="0" indent="0">
              <a:buNone/>
            </a:pPr>
            <a:r>
              <a:rPr lang="en-US" sz="1600" dirty="0">
                <a:solidFill>
                  <a:srgbClr val="1B2430"/>
                </a:solidFill>
                <a:latin typeface="Calibri" pitchFamily="34" charset="0"/>
                <a:ea typeface="Calibri" pitchFamily="34" charset="-122"/>
                <a:cs typeface="Calibri" pitchFamily="34" charset="-120"/>
              </a:rPr>
              <a:t>Explain why rule-based systems can seem intelligent, and name their limitations</a:t>
            </a:r>
            <a:endParaRPr lang="en-US" sz="1600" dirty="0"/>
          </a:p>
        </p:txBody>
      </p:sp>
      <p:sp>
        <p:nvSpPr>
          <p:cNvPr id="31" name="Text 29"/>
          <p:cNvSpPr txBox="1"/>
          <p:nvPr/>
        </p:nvSpPr>
        <p:spPr>
          <a:xfrm>
            <a:off x="548640" y="6455664"/>
            <a:ext cx="9418320" cy="292608"/>
          </a:xfrm>
          <a:prstGeom prst="rect">
            <a:avLst/>
          </a:prstGeom>
          <a:noFill/>
          <a:ln/>
        </p:spPr>
        <p:txBody>
          <a:bodyPr wrap="square" lIns="0" tIns="0" rIns="0" bIns="0" rtlCol="0" anchor="ctr"/>
          <a:lstStyle/>
          <a:p>
            <a:pPr marL="0" indent="0">
              <a:buNone/>
            </a:pPr>
            <a:r>
              <a:rPr lang="en-US" sz="1600" dirty="0">
                <a:solidFill>
                  <a:srgbClr val="5B6B79"/>
                </a:solidFill>
                <a:latin typeface="Calibri" pitchFamily="34" charset="0"/>
                <a:ea typeface="Calibri" pitchFamily="34" charset="-122"/>
                <a:cs typeface="Calibri" pitchFamily="34" charset="-120"/>
              </a:rPr>
              <a:t>AI Practical 1  •  Development Environment, Python &amp; Rule-Based Chatbot</a:t>
            </a:r>
            <a:endParaRPr lang="en-US" sz="1600" dirty="0"/>
          </a:p>
        </p:txBody>
      </p:sp>
      <p:sp>
        <p:nvSpPr>
          <p:cNvPr id="32" name="Text 30"/>
          <p:cNvSpPr txBox="1"/>
          <p:nvPr/>
        </p:nvSpPr>
        <p:spPr>
          <a:xfrm>
            <a:off x="11247120" y="6455664"/>
            <a:ext cx="457200" cy="292608"/>
          </a:xfrm>
          <a:prstGeom prst="rect">
            <a:avLst/>
          </a:prstGeom>
          <a:noFill/>
          <a:ln/>
        </p:spPr>
        <p:txBody>
          <a:bodyPr wrap="square" lIns="0" tIns="0" rIns="0" bIns="0" rtlCol="0" anchor="ctr"/>
          <a:lstStyle/>
          <a:p>
            <a:pPr marL="0" indent="0" algn="r">
              <a:buNone/>
            </a:pPr>
            <a:r>
              <a:rPr lang="en-US" sz="1600" dirty="0">
                <a:solidFill>
                  <a:srgbClr val="5B6B79"/>
                </a:solidFill>
                <a:latin typeface="Calibri" pitchFamily="34" charset="0"/>
                <a:ea typeface="Calibri" pitchFamily="34" charset="-122"/>
                <a:cs typeface="Calibri" pitchFamily="34" charset="-120"/>
              </a:rPr>
              <a:t>3</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0515600" cy="310896"/>
          </a:xfrm>
          <a:prstGeom prst="rect">
            <a:avLst/>
          </a:prstGeom>
          <a:noFill/>
          <a:ln/>
        </p:spPr>
        <p:txBody>
          <a:bodyPr wrap="square" lIns="0" tIns="0" rIns="0" bIns="0" rtlCol="0" anchor="ctr"/>
          <a:lstStyle/>
          <a:p>
            <a:pPr marL="0" indent="0">
              <a:buNone/>
            </a:pPr>
            <a:r>
              <a:rPr lang="en-US" sz="1600" b="1" kern="0" spc="200" dirty="0">
                <a:solidFill>
                  <a:srgbClr val="2E86AB"/>
                </a:solidFill>
                <a:latin typeface="Calibri" pitchFamily="34" charset="0"/>
                <a:ea typeface="Calibri" pitchFamily="34" charset="-122"/>
                <a:cs typeface="Calibri" pitchFamily="34" charset="-120"/>
              </a:rPr>
              <a:t>THE AI TOOLCHAIN</a:t>
            </a:r>
            <a:endParaRPr lang="en-US" sz="1600" dirty="0"/>
          </a:p>
        </p:txBody>
      </p:sp>
      <p:sp>
        <p:nvSpPr>
          <p:cNvPr id="3" name="Text 1"/>
          <p:cNvSpPr txBox="1"/>
          <p:nvPr/>
        </p:nvSpPr>
        <p:spPr>
          <a:xfrm>
            <a:off x="548640" y="603504"/>
            <a:ext cx="11064240" cy="731520"/>
          </a:xfrm>
          <a:prstGeom prst="rect">
            <a:avLst/>
          </a:prstGeom>
          <a:noFill/>
          <a:ln/>
        </p:spPr>
        <p:txBody>
          <a:bodyPr wrap="square" lIns="0" tIns="0" rIns="0" bIns="0" rtlCol="0" anchor="ctr"/>
          <a:lstStyle/>
          <a:p>
            <a:pPr marL="0" indent="0">
              <a:buNone/>
            </a:pPr>
            <a:r>
              <a:rPr lang="en-US" sz="3300" b="1" dirty="0">
                <a:solidFill>
                  <a:srgbClr val="142A45"/>
                </a:solidFill>
                <a:latin typeface="Cambria" pitchFamily="34" charset="0"/>
                <a:ea typeface="Cambria" pitchFamily="34" charset="-122"/>
                <a:cs typeface="Cambria" pitchFamily="34" charset="-120"/>
              </a:rPr>
              <a:t>Tools We Will Use</a:t>
            </a:r>
            <a:endParaRPr lang="en-US" sz="3300" dirty="0"/>
          </a:p>
        </p:txBody>
      </p:sp>
      <p:sp>
        <p:nvSpPr>
          <p:cNvPr id="4" name="Shape 2"/>
          <p:cNvSpPr/>
          <p:nvPr/>
        </p:nvSpPr>
        <p:spPr>
          <a:xfrm>
            <a:off x="548640" y="1417320"/>
            <a:ext cx="2313432" cy="1417320"/>
          </a:xfrm>
          <a:prstGeom prst="roundRect">
            <a:avLst>
              <a:gd name="adj" fmla="val 5161"/>
            </a:avLst>
          </a:prstGeom>
          <a:solidFill>
            <a:srgbClr val="FFFFFF"/>
          </a:solidFill>
          <a:ln w="12700">
            <a:solidFill>
              <a:srgbClr val="DDE3EA"/>
            </a:solidFill>
            <a:prstDash val="solid"/>
          </a:ln>
          <a:effectLst>
            <a:outerShdw blurRad="76200" dist="25400" dir="5400000" algn="bl" rotWithShape="0">
              <a:srgbClr val="142A45">
                <a:alpha val="12000"/>
              </a:srgbClr>
            </a:outerShdw>
          </a:effectLst>
        </p:spPr>
      </p:sp>
      <p:sp>
        <p:nvSpPr>
          <p:cNvPr id="5" name="Text 3"/>
          <p:cNvSpPr txBox="1"/>
          <p:nvPr/>
        </p:nvSpPr>
        <p:spPr>
          <a:xfrm>
            <a:off x="694944" y="1545336"/>
            <a:ext cx="2020824" cy="320040"/>
          </a:xfrm>
          <a:prstGeom prst="rect">
            <a:avLst/>
          </a:prstGeom>
          <a:noFill/>
          <a:ln/>
        </p:spPr>
        <p:txBody>
          <a:bodyPr wrap="square" lIns="0" tIns="0" rIns="0" bIns="0" rtlCol="0" anchor="ctr"/>
          <a:lstStyle/>
          <a:p>
            <a:pPr marL="0" indent="0">
              <a:buNone/>
            </a:pPr>
            <a:r>
              <a:rPr lang="en-US" sz="1800" b="1" dirty="0">
                <a:solidFill>
                  <a:srgbClr val="142A45"/>
                </a:solidFill>
                <a:latin typeface="Calibri" pitchFamily="34" charset="0"/>
                <a:ea typeface="Calibri" pitchFamily="34" charset="-122"/>
                <a:cs typeface="Calibri" pitchFamily="34" charset="-120"/>
              </a:rPr>
              <a:t>Python</a:t>
            </a:r>
            <a:endParaRPr lang="en-US" sz="1800" dirty="0"/>
          </a:p>
        </p:txBody>
      </p:sp>
      <p:sp>
        <p:nvSpPr>
          <p:cNvPr id="6" name="Text 4"/>
          <p:cNvSpPr txBox="1"/>
          <p:nvPr/>
        </p:nvSpPr>
        <p:spPr>
          <a:xfrm>
            <a:off x="694944" y="1874520"/>
            <a:ext cx="2020824" cy="850392"/>
          </a:xfrm>
          <a:prstGeom prst="rect">
            <a:avLst/>
          </a:prstGeom>
          <a:noFill/>
          <a:ln/>
        </p:spPr>
        <p:txBody>
          <a:bodyPr wrap="square" lIns="0" tIns="0" rIns="0" bIns="0" rtlCol="0" anchor="t"/>
          <a:lstStyle/>
          <a:p>
            <a:pPr marL="0" indent="0">
              <a:buNone/>
            </a:pPr>
            <a:r>
              <a:rPr lang="en-US" sz="1600" dirty="0">
                <a:solidFill>
                  <a:srgbClr val="5B6B79"/>
                </a:solidFill>
                <a:latin typeface="Calibri" pitchFamily="34" charset="0"/>
                <a:ea typeface="Calibri" pitchFamily="34" charset="-122"/>
                <a:cs typeface="Calibri" pitchFamily="34" charset="-120"/>
              </a:rPr>
              <a:t>The programming language we use to express AI logic.</a:t>
            </a:r>
            <a:endParaRPr lang="en-US" sz="1600" dirty="0"/>
          </a:p>
        </p:txBody>
      </p:sp>
      <p:sp>
        <p:nvSpPr>
          <p:cNvPr id="7" name="Shape 5"/>
          <p:cNvSpPr/>
          <p:nvPr/>
        </p:nvSpPr>
        <p:spPr>
          <a:xfrm>
            <a:off x="3118104" y="1417320"/>
            <a:ext cx="2313432" cy="1417320"/>
          </a:xfrm>
          <a:prstGeom prst="roundRect">
            <a:avLst>
              <a:gd name="adj" fmla="val 5161"/>
            </a:avLst>
          </a:prstGeom>
          <a:solidFill>
            <a:srgbClr val="FFFFFF"/>
          </a:solidFill>
          <a:ln w="12700">
            <a:solidFill>
              <a:srgbClr val="DDE3EA"/>
            </a:solidFill>
            <a:prstDash val="solid"/>
          </a:ln>
          <a:effectLst>
            <a:outerShdw blurRad="76200" dist="25400" dir="5400000" algn="bl" rotWithShape="0">
              <a:srgbClr val="142A45">
                <a:alpha val="12000"/>
              </a:srgbClr>
            </a:outerShdw>
          </a:effectLst>
        </p:spPr>
      </p:sp>
      <p:sp>
        <p:nvSpPr>
          <p:cNvPr id="8" name="Text 6"/>
          <p:cNvSpPr txBox="1"/>
          <p:nvPr/>
        </p:nvSpPr>
        <p:spPr>
          <a:xfrm>
            <a:off x="3264408" y="1545336"/>
            <a:ext cx="2020824" cy="320040"/>
          </a:xfrm>
          <a:prstGeom prst="rect">
            <a:avLst/>
          </a:prstGeom>
          <a:noFill/>
          <a:ln/>
        </p:spPr>
        <p:txBody>
          <a:bodyPr wrap="square" lIns="0" tIns="0" rIns="0" bIns="0" rtlCol="0" anchor="ctr"/>
          <a:lstStyle/>
          <a:p>
            <a:pPr marL="0" indent="0">
              <a:buNone/>
            </a:pPr>
            <a:r>
              <a:rPr lang="en-US" sz="1800" b="1" dirty="0">
                <a:solidFill>
                  <a:srgbClr val="142A45"/>
                </a:solidFill>
                <a:latin typeface="Calibri" pitchFamily="34" charset="0"/>
                <a:ea typeface="Calibri" pitchFamily="34" charset="-122"/>
                <a:cs typeface="Calibri" pitchFamily="34" charset="-120"/>
              </a:rPr>
              <a:t>Anaconda</a:t>
            </a:r>
            <a:endParaRPr lang="en-US" sz="1800" dirty="0"/>
          </a:p>
        </p:txBody>
      </p:sp>
      <p:sp>
        <p:nvSpPr>
          <p:cNvPr id="9" name="Text 7"/>
          <p:cNvSpPr txBox="1"/>
          <p:nvPr/>
        </p:nvSpPr>
        <p:spPr>
          <a:xfrm>
            <a:off x="3264408" y="1874520"/>
            <a:ext cx="2020824" cy="850392"/>
          </a:xfrm>
          <a:prstGeom prst="rect">
            <a:avLst/>
          </a:prstGeom>
          <a:noFill/>
          <a:ln/>
        </p:spPr>
        <p:txBody>
          <a:bodyPr wrap="square" lIns="0" tIns="0" rIns="0" bIns="0" rtlCol="0" anchor="t"/>
          <a:lstStyle/>
          <a:p>
            <a:pPr marL="0" indent="0">
              <a:buNone/>
            </a:pPr>
            <a:r>
              <a:rPr lang="en-US" sz="1600" dirty="0">
                <a:solidFill>
                  <a:srgbClr val="5B6B79"/>
                </a:solidFill>
                <a:latin typeface="Calibri" pitchFamily="34" charset="0"/>
                <a:ea typeface="Calibri" pitchFamily="34" charset="-122"/>
                <a:cs typeface="Calibri" pitchFamily="34" charset="-120"/>
              </a:rPr>
              <a:t>A distribution that manages Python + AI libraries locally.</a:t>
            </a:r>
            <a:endParaRPr lang="en-US" sz="1600" dirty="0"/>
          </a:p>
        </p:txBody>
      </p:sp>
      <p:sp>
        <p:nvSpPr>
          <p:cNvPr id="10" name="Shape 8"/>
          <p:cNvSpPr/>
          <p:nvPr/>
        </p:nvSpPr>
        <p:spPr>
          <a:xfrm>
            <a:off x="5687568" y="1417320"/>
            <a:ext cx="2313432" cy="1417320"/>
          </a:xfrm>
          <a:prstGeom prst="roundRect">
            <a:avLst>
              <a:gd name="adj" fmla="val 5161"/>
            </a:avLst>
          </a:prstGeom>
          <a:solidFill>
            <a:srgbClr val="FFFFFF"/>
          </a:solidFill>
          <a:ln w="12700">
            <a:solidFill>
              <a:srgbClr val="DDE3EA"/>
            </a:solidFill>
            <a:prstDash val="solid"/>
          </a:ln>
          <a:effectLst>
            <a:outerShdw blurRad="76200" dist="25400" dir="5400000" algn="bl" rotWithShape="0">
              <a:srgbClr val="142A45">
                <a:alpha val="12000"/>
              </a:srgbClr>
            </a:outerShdw>
          </a:effectLst>
        </p:spPr>
      </p:sp>
      <p:sp>
        <p:nvSpPr>
          <p:cNvPr id="11" name="Text 9"/>
          <p:cNvSpPr txBox="1"/>
          <p:nvPr/>
        </p:nvSpPr>
        <p:spPr>
          <a:xfrm>
            <a:off x="5833872" y="1545336"/>
            <a:ext cx="2020824" cy="320040"/>
          </a:xfrm>
          <a:prstGeom prst="rect">
            <a:avLst/>
          </a:prstGeom>
          <a:noFill/>
          <a:ln/>
        </p:spPr>
        <p:txBody>
          <a:bodyPr wrap="square" lIns="0" tIns="0" rIns="0" bIns="0" rtlCol="0" anchor="ctr"/>
          <a:lstStyle/>
          <a:p>
            <a:pPr marL="0" indent="0">
              <a:buNone/>
            </a:pPr>
            <a:r>
              <a:rPr lang="en-US" sz="1800" b="1" dirty="0">
                <a:solidFill>
                  <a:srgbClr val="142A45"/>
                </a:solidFill>
                <a:latin typeface="Calibri" pitchFamily="34" charset="0"/>
                <a:ea typeface="Calibri" pitchFamily="34" charset="-122"/>
                <a:cs typeface="Calibri" pitchFamily="34" charset="-120"/>
              </a:rPr>
              <a:t>Jupyter Notebook</a:t>
            </a:r>
            <a:endParaRPr lang="en-US" sz="1800" dirty="0"/>
          </a:p>
        </p:txBody>
      </p:sp>
      <p:sp>
        <p:nvSpPr>
          <p:cNvPr id="12" name="Text 10"/>
          <p:cNvSpPr txBox="1"/>
          <p:nvPr/>
        </p:nvSpPr>
        <p:spPr>
          <a:xfrm>
            <a:off x="5833872" y="1874520"/>
            <a:ext cx="2020824" cy="850392"/>
          </a:xfrm>
          <a:prstGeom prst="rect">
            <a:avLst/>
          </a:prstGeom>
          <a:noFill/>
          <a:ln/>
        </p:spPr>
        <p:txBody>
          <a:bodyPr wrap="square" lIns="0" tIns="0" rIns="0" bIns="0" rtlCol="0" anchor="t"/>
          <a:lstStyle/>
          <a:p>
            <a:pPr marL="0" indent="0">
              <a:buNone/>
            </a:pPr>
            <a:r>
              <a:rPr lang="en-US" sz="1600" dirty="0">
                <a:solidFill>
                  <a:srgbClr val="5B6B79"/>
                </a:solidFill>
                <a:latin typeface="Calibri" pitchFamily="34" charset="0"/>
                <a:ea typeface="Calibri" pitchFamily="34" charset="-122"/>
                <a:cs typeface="Calibri" pitchFamily="34" charset="-120"/>
              </a:rPr>
              <a:t>An interactive, cell-based way to write and run code.</a:t>
            </a:r>
            <a:endParaRPr lang="en-US" sz="1600" dirty="0"/>
          </a:p>
        </p:txBody>
      </p:sp>
      <p:sp>
        <p:nvSpPr>
          <p:cNvPr id="13" name="Shape 11"/>
          <p:cNvSpPr/>
          <p:nvPr/>
        </p:nvSpPr>
        <p:spPr>
          <a:xfrm>
            <a:off x="548640" y="3090672"/>
            <a:ext cx="2313432" cy="1417320"/>
          </a:xfrm>
          <a:prstGeom prst="roundRect">
            <a:avLst>
              <a:gd name="adj" fmla="val 5161"/>
            </a:avLst>
          </a:prstGeom>
          <a:solidFill>
            <a:srgbClr val="FFFFFF"/>
          </a:solidFill>
          <a:ln w="12700">
            <a:solidFill>
              <a:srgbClr val="DDE3EA"/>
            </a:solidFill>
            <a:prstDash val="solid"/>
          </a:ln>
          <a:effectLst>
            <a:outerShdw blurRad="76200" dist="25400" dir="5400000" algn="bl" rotWithShape="0">
              <a:srgbClr val="142A45">
                <a:alpha val="12000"/>
              </a:srgbClr>
            </a:outerShdw>
          </a:effectLst>
        </p:spPr>
      </p:sp>
      <p:sp>
        <p:nvSpPr>
          <p:cNvPr id="14" name="Text 12"/>
          <p:cNvSpPr txBox="1"/>
          <p:nvPr/>
        </p:nvSpPr>
        <p:spPr>
          <a:xfrm>
            <a:off x="694944" y="3218688"/>
            <a:ext cx="2020824" cy="320040"/>
          </a:xfrm>
          <a:prstGeom prst="rect">
            <a:avLst/>
          </a:prstGeom>
          <a:noFill/>
          <a:ln/>
        </p:spPr>
        <p:txBody>
          <a:bodyPr wrap="square" lIns="0" tIns="0" rIns="0" bIns="0" rtlCol="0" anchor="ctr"/>
          <a:lstStyle/>
          <a:p>
            <a:pPr marL="0" indent="0">
              <a:buNone/>
            </a:pPr>
            <a:r>
              <a:rPr lang="en-US" sz="1800" b="1" dirty="0">
                <a:solidFill>
                  <a:srgbClr val="142A45"/>
                </a:solidFill>
                <a:latin typeface="Calibri" pitchFamily="34" charset="0"/>
                <a:ea typeface="Calibri" pitchFamily="34" charset="-122"/>
                <a:cs typeface="Calibri" pitchFamily="34" charset="-120"/>
              </a:rPr>
              <a:t>Google Colab</a:t>
            </a:r>
            <a:endParaRPr lang="en-US" sz="1800" dirty="0"/>
          </a:p>
        </p:txBody>
      </p:sp>
      <p:sp>
        <p:nvSpPr>
          <p:cNvPr id="15" name="Text 13"/>
          <p:cNvSpPr txBox="1"/>
          <p:nvPr/>
        </p:nvSpPr>
        <p:spPr>
          <a:xfrm>
            <a:off x="694944" y="3547872"/>
            <a:ext cx="2020824" cy="850392"/>
          </a:xfrm>
          <a:prstGeom prst="rect">
            <a:avLst/>
          </a:prstGeom>
          <a:noFill/>
          <a:ln/>
        </p:spPr>
        <p:txBody>
          <a:bodyPr wrap="square" lIns="0" tIns="0" rIns="0" bIns="0" rtlCol="0" anchor="t"/>
          <a:lstStyle/>
          <a:p>
            <a:pPr marL="0" indent="0">
              <a:buNone/>
            </a:pPr>
            <a:r>
              <a:rPr lang="en-US" sz="1600" dirty="0">
                <a:solidFill>
                  <a:srgbClr val="5B6B79"/>
                </a:solidFill>
                <a:latin typeface="Calibri" pitchFamily="34" charset="0"/>
                <a:ea typeface="Calibri" pitchFamily="34" charset="-122"/>
                <a:cs typeface="Calibri" pitchFamily="34" charset="-120"/>
              </a:rPr>
              <a:t>A free, browser-based notebook — no installation needed.</a:t>
            </a:r>
            <a:endParaRPr lang="en-US" sz="1600" dirty="0"/>
          </a:p>
        </p:txBody>
      </p:sp>
      <p:sp>
        <p:nvSpPr>
          <p:cNvPr id="16" name="Shape 14"/>
          <p:cNvSpPr/>
          <p:nvPr/>
        </p:nvSpPr>
        <p:spPr>
          <a:xfrm>
            <a:off x="3118104" y="3090672"/>
            <a:ext cx="2313432" cy="1417320"/>
          </a:xfrm>
          <a:prstGeom prst="roundRect">
            <a:avLst>
              <a:gd name="adj" fmla="val 5161"/>
            </a:avLst>
          </a:prstGeom>
          <a:solidFill>
            <a:srgbClr val="FFFFFF"/>
          </a:solidFill>
          <a:ln w="12700">
            <a:solidFill>
              <a:srgbClr val="DDE3EA"/>
            </a:solidFill>
            <a:prstDash val="solid"/>
          </a:ln>
          <a:effectLst>
            <a:outerShdw blurRad="76200" dist="25400" dir="5400000" algn="bl" rotWithShape="0">
              <a:srgbClr val="142A45">
                <a:alpha val="12000"/>
              </a:srgbClr>
            </a:outerShdw>
          </a:effectLst>
        </p:spPr>
      </p:sp>
      <p:sp>
        <p:nvSpPr>
          <p:cNvPr id="17" name="Text 15"/>
          <p:cNvSpPr txBox="1"/>
          <p:nvPr/>
        </p:nvSpPr>
        <p:spPr>
          <a:xfrm>
            <a:off x="3264408" y="3218688"/>
            <a:ext cx="2020824" cy="320040"/>
          </a:xfrm>
          <a:prstGeom prst="rect">
            <a:avLst/>
          </a:prstGeom>
          <a:noFill/>
          <a:ln/>
        </p:spPr>
        <p:txBody>
          <a:bodyPr wrap="square" lIns="0" tIns="0" rIns="0" bIns="0" rtlCol="0" anchor="ctr"/>
          <a:lstStyle/>
          <a:p>
            <a:pPr marL="0" indent="0">
              <a:buNone/>
            </a:pPr>
            <a:r>
              <a:rPr lang="en-US" sz="1800" b="1" dirty="0">
                <a:solidFill>
                  <a:srgbClr val="142A45"/>
                </a:solidFill>
                <a:latin typeface="Calibri" pitchFamily="34" charset="0"/>
                <a:ea typeface="Calibri" pitchFamily="34" charset="-122"/>
                <a:cs typeface="Calibri" pitchFamily="34" charset="-120"/>
              </a:rPr>
              <a:t>Git</a:t>
            </a:r>
            <a:endParaRPr lang="en-US" sz="1800" dirty="0"/>
          </a:p>
        </p:txBody>
      </p:sp>
      <p:sp>
        <p:nvSpPr>
          <p:cNvPr id="18" name="Text 16"/>
          <p:cNvSpPr txBox="1"/>
          <p:nvPr/>
        </p:nvSpPr>
        <p:spPr>
          <a:xfrm>
            <a:off x="3264408" y="3547872"/>
            <a:ext cx="2020824" cy="850392"/>
          </a:xfrm>
          <a:prstGeom prst="rect">
            <a:avLst/>
          </a:prstGeom>
          <a:noFill/>
          <a:ln/>
        </p:spPr>
        <p:txBody>
          <a:bodyPr wrap="square" lIns="0" tIns="0" rIns="0" bIns="0" rtlCol="0" anchor="t"/>
          <a:lstStyle/>
          <a:p>
            <a:pPr marL="0" indent="0">
              <a:buNone/>
            </a:pPr>
            <a:r>
              <a:rPr lang="en-US" sz="1600" dirty="0">
                <a:solidFill>
                  <a:srgbClr val="5B6B79"/>
                </a:solidFill>
                <a:latin typeface="Calibri" pitchFamily="34" charset="0"/>
                <a:ea typeface="Calibri" pitchFamily="34" charset="-122"/>
                <a:cs typeface="Calibri" pitchFamily="34" charset="-120"/>
              </a:rPr>
              <a:t>Tracks changes to your code over time.</a:t>
            </a:r>
            <a:endParaRPr lang="en-US" sz="1600" dirty="0"/>
          </a:p>
        </p:txBody>
      </p:sp>
      <p:sp>
        <p:nvSpPr>
          <p:cNvPr id="19" name="Shape 17"/>
          <p:cNvSpPr/>
          <p:nvPr/>
        </p:nvSpPr>
        <p:spPr>
          <a:xfrm>
            <a:off x="5687568" y="3090672"/>
            <a:ext cx="2313432" cy="1417320"/>
          </a:xfrm>
          <a:prstGeom prst="roundRect">
            <a:avLst>
              <a:gd name="adj" fmla="val 5161"/>
            </a:avLst>
          </a:prstGeom>
          <a:solidFill>
            <a:srgbClr val="FFFFFF"/>
          </a:solidFill>
          <a:ln w="12700">
            <a:solidFill>
              <a:srgbClr val="DDE3EA"/>
            </a:solidFill>
            <a:prstDash val="solid"/>
          </a:ln>
          <a:effectLst>
            <a:outerShdw blurRad="76200" dist="25400" dir="5400000" algn="bl" rotWithShape="0">
              <a:srgbClr val="142A45">
                <a:alpha val="12000"/>
              </a:srgbClr>
            </a:outerShdw>
          </a:effectLst>
        </p:spPr>
      </p:sp>
      <p:sp>
        <p:nvSpPr>
          <p:cNvPr id="20" name="Text 18"/>
          <p:cNvSpPr txBox="1"/>
          <p:nvPr/>
        </p:nvSpPr>
        <p:spPr>
          <a:xfrm>
            <a:off x="5833872" y="3218688"/>
            <a:ext cx="2020824" cy="320040"/>
          </a:xfrm>
          <a:prstGeom prst="rect">
            <a:avLst/>
          </a:prstGeom>
          <a:noFill/>
          <a:ln/>
        </p:spPr>
        <p:txBody>
          <a:bodyPr wrap="square" lIns="0" tIns="0" rIns="0" bIns="0" rtlCol="0" anchor="ctr"/>
          <a:lstStyle/>
          <a:p>
            <a:pPr marL="0" indent="0">
              <a:buNone/>
            </a:pPr>
            <a:r>
              <a:rPr lang="en-US" sz="1800" b="1" dirty="0">
                <a:solidFill>
                  <a:srgbClr val="142A45"/>
                </a:solidFill>
                <a:latin typeface="Calibri" pitchFamily="34" charset="0"/>
                <a:ea typeface="Calibri" pitchFamily="34" charset="-122"/>
                <a:cs typeface="Calibri" pitchFamily="34" charset="-120"/>
              </a:rPr>
              <a:t>GitHub</a:t>
            </a:r>
            <a:endParaRPr lang="en-US" sz="1800" dirty="0"/>
          </a:p>
        </p:txBody>
      </p:sp>
      <p:sp>
        <p:nvSpPr>
          <p:cNvPr id="21" name="Text 19"/>
          <p:cNvSpPr txBox="1"/>
          <p:nvPr/>
        </p:nvSpPr>
        <p:spPr>
          <a:xfrm>
            <a:off x="5833872" y="3547872"/>
            <a:ext cx="2020824" cy="850392"/>
          </a:xfrm>
          <a:prstGeom prst="rect">
            <a:avLst/>
          </a:prstGeom>
          <a:noFill/>
          <a:ln/>
        </p:spPr>
        <p:txBody>
          <a:bodyPr wrap="square" lIns="0" tIns="0" rIns="0" bIns="0" rtlCol="0" anchor="t"/>
          <a:lstStyle/>
          <a:p>
            <a:pPr marL="0" indent="0">
              <a:buNone/>
            </a:pPr>
            <a:r>
              <a:rPr lang="en-US" sz="1600" dirty="0">
                <a:solidFill>
                  <a:srgbClr val="5B6B79"/>
                </a:solidFill>
                <a:latin typeface="Calibri" pitchFamily="34" charset="0"/>
                <a:ea typeface="Calibri" pitchFamily="34" charset="-122"/>
                <a:cs typeface="Calibri" pitchFamily="34" charset="-120"/>
              </a:rPr>
              <a:t>Stores and shares your code online (brief intro only).</a:t>
            </a:r>
            <a:endParaRPr lang="en-US" sz="1600" dirty="0"/>
          </a:p>
        </p:txBody>
      </p:sp>
      <p:sp>
        <p:nvSpPr>
          <p:cNvPr id="22" name="Text 20"/>
          <p:cNvSpPr txBox="1"/>
          <p:nvPr/>
        </p:nvSpPr>
        <p:spPr>
          <a:xfrm>
            <a:off x="8275320" y="1417320"/>
            <a:ext cx="3383280" cy="274320"/>
          </a:xfrm>
          <a:prstGeom prst="rect">
            <a:avLst/>
          </a:prstGeom>
          <a:noFill/>
          <a:ln/>
        </p:spPr>
        <p:txBody>
          <a:bodyPr wrap="square" lIns="0" tIns="0" rIns="0" bIns="0" rtlCol="0" anchor="ctr"/>
          <a:lstStyle/>
          <a:p>
            <a:pPr marL="0" indent="0">
              <a:buNone/>
            </a:pPr>
            <a:r>
              <a:rPr lang="en-US" sz="1600" b="1" kern="0" spc="150" dirty="0">
                <a:solidFill>
                  <a:srgbClr val="2E86AB"/>
                </a:solidFill>
                <a:latin typeface="Calibri" pitchFamily="34" charset="0"/>
                <a:ea typeface="Calibri" pitchFamily="34" charset="-122"/>
                <a:cs typeface="Calibri" pitchFamily="34" charset="-120"/>
              </a:rPr>
              <a:t>HOW THEY CONNECT</a:t>
            </a:r>
            <a:endParaRPr lang="en-US" sz="1600" dirty="0"/>
          </a:p>
        </p:txBody>
      </p:sp>
      <p:sp>
        <p:nvSpPr>
          <p:cNvPr id="23" name="Shape 21"/>
          <p:cNvSpPr/>
          <p:nvPr/>
        </p:nvSpPr>
        <p:spPr>
          <a:xfrm>
            <a:off x="8275320" y="1737360"/>
            <a:ext cx="3383280" cy="713232"/>
          </a:xfrm>
          <a:prstGeom prst="roundRect">
            <a:avLst>
              <a:gd name="adj" fmla="val 8974"/>
            </a:avLst>
          </a:prstGeom>
          <a:solidFill>
            <a:srgbClr val="142A45"/>
          </a:solidFill>
          <a:ln/>
        </p:spPr>
      </p:sp>
      <p:sp>
        <p:nvSpPr>
          <p:cNvPr id="24" name="Text 22"/>
          <p:cNvSpPr txBox="1"/>
          <p:nvPr/>
        </p:nvSpPr>
        <p:spPr>
          <a:xfrm>
            <a:off x="8385048" y="1737360"/>
            <a:ext cx="3163824" cy="71323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Python</a:t>
            </a:r>
            <a:endParaRPr lang="en-US" sz="1600" dirty="0"/>
          </a:p>
        </p:txBody>
      </p:sp>
      <p:sp>
        <p:nvSpPr>
          <p:cNvPr id="25" name="Text 23"/>
          <p:cNvSpPr txBox="1"/>
          <p:nvPr/>
        </p:nvSpPr>
        <p:spPr>
          <a:xfrm>
            <a:off x="8275320" y="2450592"/>
            <a:ext cx="3383280" cy="228600"/>
          </a:xfrm>
          <a:prstGeom prst="rect">
            <a:avLst/>
          </a:prstGeom>
          <a:noFill/>
          <a:ln/>
        </p:spPr>
        <p:txBody>
          <a:bodyPr wrap="square" lIns="0" tIns="0" rIns="0" bIns="0" rtlCol="0" anchor="ctr"/>
          <a:lstStyle/>
          <a:p>
            <a:pPr marL="0" indent="0" algn="ctr">
              <a:buNone/>
            </a:pPr>
            <a:r>
              <a:rPr lang="en-US" sz="1600" b="1" dirty="0">
                <a:solidFill>
                  <a:srgbClr val="2E86AB"/>
                </a:solidFill>
                <a:latin typeface="Calibri" pitchFamily="34" charset="0"/>
                <a:ea typeface="Calibri" pitchFamily="34" charset="-122"/>
                <a:cs typeface="Calibri" pitchFamily="34" charset="-120"/>
              </a:rPr>
              <a:t>↓</a:t>
            </a:r>
            <a:endParaRPr lang="en-US" sz="1600" dirty="0"/>
          </a:p>
        </p:txBody>
      </p:sp>
      <p:sp>
        <p:nvSpPr>
          <p:cNvPr id="26" name="Shape 24"/>
          <p:cNvSpPr/>
          <p:nvPr/>
        </p:nvSpPr>
        <p:spPr>
          <a:xfrm>
            <a:off x="8275320" y="2679192"/>
            <a:ext cx="3383280" cy="713232"/>
          </a:xfrm>
          <a:prstGeom prst="roundRect">
            <a:avLst>
              <a:gd name="adj" fmla="val 8974"/>
            </a:avLst>
          </a:prstGeom>
          <a:solidFill>
            <a:srgbClr val="142A45"/>
          </a:solidFill>
          <a:ln/>
        </p:spPr>
      </p:sp>
      <p:sp>
        <p:nvSpPr>
          <p:cNvPr id="27" name="Text 25"/>
          <p:cNvSpPr txBox="1"/>
          <p:nvPr/>
        </p:nvSpPr>
        <p:spPr>
          <a:xfrm>
            <a:off x="8385048" y="2679192"/>
            <a:ext cx="3163824" cy="71323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AI Development</a:t>
            </a:r>
            <a:endParaRPr lang="en-US" sz="1600" dirty="0"/>
          </a:p>
        </p:txBody>
      </p:sp>
      <p:sp>
        <p:nvSpPr>
          <p:cNvPr id="28" name="Text 26"/>
          <p:cNvSpPr txBox="1"/>
          <p:nvPr/>
        </p:nvSpPr>
        <p:spPr>
          <a:xfrm>
            <a:off x="8275320" y="3392424"/>
            <a:ext cx="3383280" cy="228600"/>
          </a:xfrm>
          <a:prstGeom prst="rect">
            <a:avLst/>
          </a:prstGeom>
          <a:noFill/>
          <a:ln/>
        </p:spPr>
        <p:txBody>
          <a:bodyPr wrap="square" lIns="0" tIns="0" rIns="0" bIns="0" rtlCol="0" anchor="ctr"/>
          <a:lstStyle/>
          <a:p>
            <a:pPr marL="0" indent="0" algn="ctr">
              <a:buNone/>
            </a:pPr>
            <a:r>
              <a:rPr lang="en-US" sz="1600" b="1" dirty="0">
                <a:solidFill>
                  <a:srgbClr val="2E86AB"/>
                </a:solidFill>
                <a:latin typeface="Calibri" pitchFamily="34" charset="0"/>
                <a:ea typeface="Calibri" pitchFamily="34" charset="-122"/>
                <a:cs typeface="Calibri" pitchFamily="34" charset="-120"/>
              </a:rPr>
              <a:t>↓</a:t>
            </a:r>
            <a:endParaRPr lang="en-US" sz="1600" dirty="0"/>
          </a:p>
        </p:txBody>
      </p:sp>
      <p:sp>
        <p:nvSpPr>
          <p:cNvPr id="29" name="Shape 27"/>
          <p:cNvSpPr/>
          <p:nvPr/>
        </p:nvSpPr>
        <p:spPr>
          <a:xfrm>
            <a:off x="8275320" y="3621024"/>
            <a:ext cx="3383280" cy="713232"/>
          </a:xfrm>
          <a:prstGeom prst="roundRect">
            <a:avLst>
              <a:gd name="adj" fmla="val 8974"/>
            </a:avLst>
          </a:prstGeom>
          <a:solidFill>
            <a:srgbClr val="142A45"/>
          </a:solidFill>
          <a:ln/>
        </p:spPr>
      </p:sp>
      <p:sp>
        <p:nvSpPr>
          <p:cNvPr id="30" name="Text 28"/>
          <p:cNvSpPr txBox="1"/>
          <p:nvPr/>
        </p:nvSpPr>
        <p:spPr>
          <a:xfrm>
            <a:off x="8385048" y="3621024"/>
            <a:ext cx="3163824" cy="71323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Jupyter / Colab</a:t>
            </a:r>
            <a:endParaRPr lang="en-US" sz="1600" dirty="0"/>
          </a:p>
        </p:txBody>
      </p:sp>
      <p:sp>
        <p:nvSpPr>
          <p:cNvPr id="31" name="Text 29"/>
          <p:cNvSpPr txBox="1"/>
          <p:nvPr/>
        </p:nvSpPr>
        <p:spPr>
          <a:xfrm>
            <a:off x="8275320" y="4334256"/>
            <a:ext cx="3383280" cy="228600"/>
          </a:xfrm>
          <a:prstGeom prst="rect">
            <a:avLst/>
          </a:prstGeom>
          <a:noFill/>
          <a:ln/>
        </p:spPr>
        <p:txBody>
          <a:bodyPr wrap="square" lIns="0" tIns="0" rIns="0" bIns="0" rtlCol="0" anchor="ctr"/>
          <a:lstStyle/>
          <a:p>
            <a:pPr marL="0" indent="0" algn="ctr">
              <a:buNone/>
            </a:pPr>
            <a:r>
              <a:rPr lang="en-US" sz="1600" b="1" dirty="0">
                <a:solidFill>
                  <a:srgbClr val="2E86AB"/>
                </a:solidFill>
                <a:latin typeface="Calibri" pitchFamily="34" charset="0"/>
                <a:ea typeface="Calibri" pitchFamily="34" charset="-122"/>
                <a:cs typeface="Calibri" pitchFamily="34" charset="-120"/>
              </a:rPr>
              <a:t>↓</a:t>
            </a:r>
            <a:endParaRPr lang="en-US" sz="1600" dirty="0"/>
          </a:p>
        </p:txBody>
      </p:sp>
      <p:sp>
        <p:nvSpPr>
          <p:cNvPr id="32" name="Shape 30"/>
          <p:cNvSpPr/>
          <p:nvPr/>
        </p:nvSpPr>
        <p:spPr>
          <a:xfrm>
            <a:off x="8275320" y="4562856"/>
            <a:ext cx="3383280" cy="713232"/>
          </a:xfrm>
          <a:prstGeom prst="roundRect">
            <a:avLst>
              <a:gd name="adj" fmla="val 8974"/>
            </a:avLst>
          </a:prstGeom>
          <a:solidFill>
            <a:srgbClr val="FFC857"/>
          </a:solidFill>
          <a:ln/>
        </p:spPr>
      </p:sp>
      <p:sp>
        <p:nvSpPr>
          <p:cNvPr id="33" name="Text 31"/>
          <p:cNvSpPr txBox="1"/>
          <p:nvPr/>
        </p:nvSpPr>
        <p:spPr>
          <a:xfrm>
            <a:off x="8385048" y="4562856"/>
            <a:ext cx="3163824" cy="713232"/>
          </a:xfrm>
          <a:prstGeom prst="rect">
            <a:avLst/>
          </a:prstGeom>
          <a:noFill/>
          <a:ln/>
        </p:spPr>
        <p:txBody>
          <a:bodyPr wrap="square" lIns="0" tIns="0" rIns="0" bIns="0" rtlCol="0" anchor="ctr"/>
          <a:lstStyle/>
          <a:p>
            <a:pPr marL="0" indent="0" algn="ctr">
              <a:buNone/>
            </a:pPr>
            <a:r>
              <a:rPr lang="en-US" sz="1600" b="1" dirty="0">
                <a:solidFill>
                  <a:srgbClr val="0B1930"/>
                </a:solidFill>
                <a:latin typeface="Calibri" pitchFamily="34" charset="0"/>
                <a:ea typeface="Calibri" pitchFamily="34" charset="-122"/>
                <a:cs typeface="Calibri" pitchFamily="34" charset="-120"/>
              </a:rPr>
              <a:t>Git / GitHub</a:t>
            </a:r>
            <a:endParaRPr lang="en-US" sz="1600" dirty="0"/>
          </a:p>
        </p:txBody>
      </p:sp>
      <p:sp>
        <p:nvSpPr>
          <p:cNvPr id="34" name="Text 32"/>
          <p:cNvSpPr txBox="1"/>
          <p:nvPr/>
        </p:nvSpPr>
        <p:spPr>
          <a:xfrm>
            <a:off x="548640" y="6455664"/>
            <a:ext cx="9418320" cy="292608"/>
          </a:xfrm>
          <a:prstGeom prst="rect">
            <a:avLst/>
          </a:prstGeom>
          <a:noFill/>
          <a:ln/>
        </p:spPr>
        <p:txBody>
          <a:bodyPr wrap="square" lIns="0" tIns="0" rIns="0" bIns="0" rtlCol="0" anchor="ctr"/>
          <a:lstStyle/>
          <a:p>
            <a:pPr marL="0" indent="0">
              <a:buNone/>
            </a:pPr>
            <a:r>
              <a:rPr lang="en-US" sz="1600" dirty="0">
                <a:solidFill>
                  <a:srgbClr val="5B6B79"/>
                </a:solidFill>
                <a:latin typeface="Calibri" pitchFamily="34" charset="0"/>
                <a:ea typeface="Calibri" pitchFamily="34" charset="-122"/>
                <a:cs typeface="Calibri" pitchFamily="34" charset="-120"/>
              </a:rPr>
              <a:t>AI Practical 1  •  Development Environment, Python &amp; Rule-Based Chatbot</a:t>
            </a:r>
            <a:endParaRPr lang="en-US" sz="1600" dirty="0"/>
          </a:p>
        </p:txBody>
      </p:sp>
      <p:sp>
        <p:nvSpPr>
          <p:cNvPr id="35" name="Text 33"/>
          <p:cNvSpPr txBox="1"/>
          <p:nvPr/>
        </p:nvSpPr>
        <p:spPr>
          <a:xfrm>
            <a:off x="11247120" y="6455664"/>
            <a:ext cx="457200" cy="292608"/>
          </a:xfrm>
          <a:prstGeom prst="rect">
            <a:avLst/>
          </a:prstGeom>
          <a:noFill/>
          <a:ln/>
        </p:spPr>
        <p:txBody>
          <a:bodyPr wrap="square" lIns="0" tIns="0" rIns="0" bIns="0" rtlCol="0" anchor="ctr"/>
          <a:lstStyle/>
          <a:p>
            <a:pPr marL="0" indent="0" algn="r">
              <a:buNone/>
            </a:pPr>
            <a:r>
              <a:rPr lang="en-US" sz="1600" dirty="0">
                <a:solidFill>
                  <a:srgbClr val="5B6B79"/>
                </a:solidFill>
                <a:latin typeface="Calibri" pitchFamily="34" charset="0"/>
                <a:ea typeface="Calibri" pitchFamily="34" charset="-122"/>
                <a:cs typeface="Calibri" pitchFamily="34" charset="-120"/>
              </a:rPr>
              <a:t>4</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0515600" cy="310896"/>
          </a:xfrm>
          <a:prstGeom prst="rect">
            <a:avLst/>
          </a:prstGeom>
          <a:noFill/>
          <a:ln/>
        </p:spPr>
        <p:txBody>
          <a:bodyPr wrap="square" lIns="0" tIns="0" rIns="0" bIns="0" rtlCol="0" anchor="ctr"/>
          <a:lstStyle/>
          <a:p>
            <a:pPr marL="0" indent="0">
              <a:buNone/>
            </a:pPr>
            <a:r>
              <a:rPr lang="en-US" sz="1600" b="1" kern="0" spc="200" dirty="0">
                <a:solidFill>
                  <a:srgbClr val="2E86AB"/>
                </a:solidFill>
                <a:latin typeface="Calibri" pitchFamily="34" charset="0"/>
                <a:ea typeface="Calibri" pitchFamily="34" charset="-122"/>
                <a:cs typeface="Calibri" pitchFamily="34" charset="-120"/>
              </a:rPr>
              <a:t>SECTION B — DEVELOPMENT ENVIRONMENT</a:t>
            </a:r>
            <a:endParaRPr lang="en-US" sz="1600" dirty="0"/>
          </a:p>
        </p:txBody>
      </p:sp>
      <p:sp>
        <p:nvSpPr>
          <p:cNvPr id="3" name="Text 1"/>
          <p:cNvSpPr txBox="1"/>
          <p:nvPr/>
        </p:nvSpPr>
        <p:spPr>
          <a:xfrm>
            <a:off x="548640" y="603504"/>
            <a:ext cx="11064240" cy="731520"/>
          </a:xfrm>
          <a:prstGeom prst="rect">
            <a:avLst/>
          </a:prstGeom>
          <a:noFill/>
          <a:ln/>
        </p:spPr>
        <p:txBody>
          <a:bodyPr wrap="square" lIns="0" tIns="0" rIns="0" bIns="0" rtlCol="0" anchor="ctr"/>
          <a:lstStyle/>
          <a:p>
            <a:pPr marL="0" indent="0">
              <a:buNone/>
            </a:pPr>
            <a:r>
              <a:rPr lang="en-US" sz="3300" b="1" dirty="0">
                <a:solidFill>
                  <a:srgbClr val="142A45"/>
                </a:solidFill>
                <a:latin typeface="Cambria" pitchFamily="34" charset="0"/>
                <a:ea typeface="Cambria" pitchFamily="34" charset="-122"/>
                <a:cs typeface="Cambria" pitchFamily="34" charset="-120"/>
              </a:rPr>
              <a:t>Why Do AI Students Need a Dev Environment?</a:t>
            </a:r>
            <a:endParaRPr lang="en-US" sz="3300" dirty="0"/>
          </a:p>
        </p:txBody>
      </p:sp>
      <p:sp>
        <p:nvSpPr>
          <p:cNvPr id="4" name="Shape 2"/>
          <p:cNvSpPr/>
          <p:nvPr/>
        </p:nvSpPr>
        <p:spPr>
          <a:xfrm>
            <a:off x="548640" y="1847088"/>
            <a:ext cx="310896" cy="310896"/>
          </a:xfrm>
          <a:prstGeom prst="ellipse">
            <a:avLst/>
          </a:prstGeom>
          <a:solidFill>
            <a:srgbClr val="2E86AB"/>
          </a:solidFill>
          <a:ln/>
        </p:spPr>
      </p:sp>
      <p:sp>
        <p:nvSpPr>
          <p:cNvPr id="5" name="Text 3"/>
          <p:cNvSpPr txBox="1"/>
          <p:nvPr/>
        </p:nvSpPr>
        <p:spPr>
          <a:xfrm>
            <a:off x="548640" y="1847088"/>
            <a:ext cx="310896" cy="310896"/>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6" name="Text 4"/>
          <p:cNvSpPr txBox="1"/>
          <p:nvPr/>
        </p:nvSpPr>
        <p:spPr>
          <a:xfrm>
            <a:off x="1005840" y="1691640"/>
            <a:ext cx="6492240" cy="603504"/>
          </a:xfrm>
          <a:prstGeom prst="rect">
            <a:avLst/>
          </a:prstGeom>
          <a:noFill/>
          <a:ln/>
        </p:spPr>
        <p:txBody>
          <a:bodyPr wrap="square" lIns="0" tIns="0" rIns="0" bIns="0" rtlCol="0" anchor="ctr"/>
          <a:lstStyle/>
          <a:p>
            <a:pPr marL="0" indent="0">
              <a:lnSpc>
                <a:spcPct val="108000"/>
              </a:lnSpc>
              <a:buNone/>
            </a:pPr>
            <a:r>
              <a:rPr lang="en-US" sz="1800" b="1" dirty="0">
                <a:solidFill>
                  <a:srgbClr val="1B2430"/>
                </a:solidFill>
                <a:latin typeface="Calibri" pitchFamily="34" charset="0"/>
                <a:ea typeface="Calibri" pitchFamily="34" charset="-122"/>
                <a:cs typeface="Calibri" pitchFamily="34" charset="-120"/>
              </a:rPr>
              <a:t>Writing code  </a:t>
            </a:r>
            <a:r>
              <a:rPr lang="en-US" sz="1600" dirty="0">
                <a:solidFill>
                  <a:srgbClr val="5B6B79"/>
                </a:solidFill>
                <a:latin typeface="Calibri" pitchFamily="34" charset="0"/>
                <a:ea typeface="Calibri" pitchFamily="34" charset="-122"/>
                <a:cs typeface="Calibri" pitchFamily="34" charset="-120"/>
              </a:rPr>
              <a:t>a place to author Python programs</a:t>
            </a:r>
            <a:endParaRPr lang="en-US" sz="1800" dirty="0"/>
          </a:p>
        </p:txBody>
      </p:sp>
      <p:sp>
        <p:nvSpPr>
          <p:cNvPr id="7" name="Shape 5"/>
          <p:cNvSpPr/>
          <p:nvPr/>
        </p:nvSpPr>
        <p:spPr>
          <a:xfrm>
            <a:off x="548640" y="2450592"/>
            <a:ext cx="310896" cy="310896"/>
          </a:xfrm>
          <a:prstGeom prst="ellipse">
            <a:avLst/>
          </a:prstGeom>
          <a:solidFill>
            <a:srgbClr val="2E86AB"/>
          </a:solidFill>
          <a:ln/>
        </p:spPr>
      </p:sp>
      <p:sp>
        <p:nvSpPr>
          <p:cNvPr id="8" name="Text 6"/>
          <p:cNvSpPr txBox="1"/>
          <p:nvPr/>
        </p:nvSpPr>
        <p:spPr>
          <a:xfrm>
            <a:off x="548640" y="2450592"/>
            <a:ext cx="310896" cy="310896"/>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9" name="Text 7"/>
          <p:cNvSpPr txBox="1"/>
          <p:nvPr/>
        </p:nvSpPr>
        <p:spPr>
          <a:xfrm>
            <a:off x="1005840" y="2295144"/>
            <a:ext cx="6492240" cy="603504"/>
          </a:xfrm>
          <a:prstGeom prst="rect">
            <a:avLst/>
          </a:prstGeom>
          <a:noFill/>
          <a:ln/>
        </p:spPr>
        <p:txBody>
          <a:bodyPr wrap="square" lIns="0" tIns="0" rIns="0" bIns="0" rtlCol="0" anchor="ctr"/>
          <a:lstStyle/>
          <a:p>
            <a:pPr marL="0" indent="0">
              <a:lnSpc>
                <a:spcPct val="108000"/>
              </a:lnSpc>
              <a:buNone/>
            </a:pPr>
            <a:r>
              <a:rPr lang="en-US" sz="1800" b="1" dirty="0">
                <a:solidFill>
                  <a:srgbClr val="1B2430"/>
                </a:solidFill>
                <a:latin typeface="Calibri" pitchFamily="34" charset="0"/>
                <a:ea typeface="Calibri" pitchFamily="34" charset="-122"/>
                <a:cs typeface="Calibri" pitchFamily="34" charset="-120"/>
              </a:rPr>
              <a:t>Running experiments  </a:t>
            </a:r>
            <a:r>
              <a:rPr lang="en-US" sz="1600" dirty="0">
                <a:solidFill>
                  <a:srgbClr val="5B6B79"/>
                </a:solidFill>
                <a:latin typeface="Calibri" pitchFamily="34" charset="0"/>
                <a:ea typeface="Calibri" pitchFamily="34" charset="-122"/>
                <a:cs typeface="Calibri" pitchFamily="34" charset="-120"/>
              </a:rPr>
              <a:t>executing and re-running AI logic quickly</a:t>
            </a:r>
            <a:endParaRPr lang="en-US" sz="1800" dirty="0"/>
          </a:p>
        </p:txBody>
      </p:sp>
      <p:sp>
        <p:nvSpPr>
          <p:cNvPr id="10" name="Shape 8"/>
          <p:cNvSpPr/>
          <p:nvPr/>
        </p:nvSpPr>
        <p:spPr>
          <a:xfrm>
            <a:off x="548640" y="3054096"/>
            <a:ext cx="310896" cy="310896"/>
          </a:xfrm>
          <a:prstGeom prst="ellipse">
            <a:avLst/>
          </a:prstGeom>
          <a:solidFill>
            <a:srgbClr val="2E86AB"/>
          </a:solidFill>
          <a:ln/>
        </p:spPr>
      </p:sp>
      <p:sp>
        <p:nvSpPr>
          <p:cNvPr id="11" name="Text 9"/>
          <p:cNvSpPr txBox="1"/>
          <p:nvPr/>
        </p:nvSpPr>
        <p:spPr>
          <a:xfrm>
            <a:off x="548640" y="3054096"/>
            <a:ext cx="310896" cy="310896"/>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12" name="Text 10"/>
          <p:cNvSpPr txBox="1"/>
          <p:nvPr/>
        </p:nvSpPr>
        <p:spPr>
          <a:xfrm>
            <a:off x="1005840" y="2898648"/>
            <a:ext cx="6492240" cy="603504"/>
          </a:xfrm>
          <a:prstGeom prst="rect">
            <a:avLst/>
          </a:prstGeom>
          <a:noFill/>
          <a:ln/>
        </p:spPr>
        <p:txBody>
          <a:bodyPr wrap="square" lIns="0" tIns="0" rIns="0" bIns="0" rtlCol="0" anchor="ctr"/>
          <a:lstStyle/>
          <a:p>
            <a:pPr marL="0" indent="0">
              <a:lnSpc>
                <a:spcPct val="108000"/>
              </a:lnSpc>
              <a:buNone/>
            </a:pPr>
            <a:r>
              <a:rPr lang="en-US" sz="1800" b="1" dirty="0">
                <a:solidFill>
                  <a:srgbClr val="1B2430"/>
                </a:solidFill>
                <a:latin typeface="Calibri" pitchFamily="34" charset="0"/>
                <a:ea typeface="Calibri" pitchFamily="34" charset="-122"/>
                <a:cs typeface="Calibri" pitchFamily="34" charset="-120"/>
              </a:rPr>
              <a:t>Installing libraries  </a:t>
            </a:r>
            <a:r>
              <a:rPr lang="en-US" sz="1600" dirty="0">
                <a:solidFill>
                  <a:srgbClr val="5B6B79"/>
                </a:solidFill>
                <a:latin typeface="Calibri" pitchFamily="34" charset="0"/>
                <a:ea typeface="Calibri" pitchFamily="34" charset="-122"/>
                <a:cs typeface="Calibri" pitchFamily="34" charset="-120"/>
              </a:rPr>
              <a:t>adding tools like NumPy, Pandas, scikit-learn</a:t>
            </a:r>
            <a:endParaRPr lang="en-US" sz="1800" dirty="0"/>
          </a:p>
        </p:txBody>
      </p:sp>
      <p:sp>
        <p:nvSpPr>
          <p:cNvPr id="13" name="Shape 11"/>
          <p:cNvSpPr/>
          <p:nvPr/>
        </p:nvSpPr>
        <p:spPr>
          <a:xfrm>
            <a:off x="548640" y="3657600"/>
            <a:ext cx="310896" cy="310896"/>
          </a:xfrm>
          <a:prstGeom prst="ellipse">
            <a:avLst/>
          </a:prstGeom>
          <a:solidFill>
            <a:srgbClr val="2E86AB"/>
          </a:solidFill>
          <a:ln/>
        </p:spPr>
      </p:sp>
      <p:sp>
        <p:nvSpPr>
          <p:cNvPr id="14" name="Text 12"/>
          <p:cNvSpPr txBox="1"/>
          <p:nvPr/>
        </p:nvSpPr>
        <p:spPr>
          <a:xfrm>
            <a:off x="548640" y="3657600"/>
            <a:ext cx="310896" cy="310896"/>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4</a:t>
            </a:r>
            <a:endParaRPr lang="en-US" sz="1700" dirty="0"/>
          </a:p>
        </p:txBody>
      </p:sp>
      <p:sp>
        <p:nvSpPr>
          <p:cNvPr id="15" name="Text 13"/>
          <p:cNvSpPr txBox="1"/>
          <p:nvPr/>
        </p:nvSpPr>
        <p:spPr>
          <a:xfrm>
            <a:off x="1005840" y="3502152"/>
            <a:ext cx="6492240" cy="603504"/>
          </a:xfrm>
          <a:prstGeom prst="rect">
            <a:avLst/>
          </a:prstGeom>
          <a:noFill/>
          <a:ln/>
        </p:spPr>
        <p:txBody>
          <a:bodyPr wrap="square" lIns="0" tIns="0" rIns="0" bIns="0" rtlCol="0" anchor="ctr"/>
          <a:lstStyle/>
          <a:p>
            <a:pPr marL="0" indent="0">
              <a:lnSpc>
                <a:spcPct val="108000"/>
              </a:lnSpc>
              <a:buNone/>
            </a:pPr>
            <a:r>
              <a:rPr lang="en-US" sz="1800" b="1" dirty="0">
                <a:solidFill>
                  <a:srgbClr val="1B2430"/>
                </a:solidFill>
                <a:latin typeface="Calibri" pitchFamily="34" charset="0"/>
                <a:ea typeface="Calibri" pitchFamily="34" charset="-122"/>
                <a:cs typeface="Calibri" pitchFamily="34" charset="-120"/>
              </a:rPr>
              <a:t>Managing notebooks  </a:t>
            </a:r>
            <a:r>
              <a:rPr lang="en-US" sz="1600" dirty="0">
                <a:solidFill>
                  <a:srgbClr val="5B6B79"/>
                </a:solidFill>
                <a:latin typeface="Calibri" pitchFamily="34" charset="0"/>
                <a:ea typeface="Calibri" pitchFamily="34" charset="-122"/>
                <a:cs typeface="Calibri" pitchFamily="34" charset="-120"/>
              </a:rPr>
              <a:t>organizing work into shareable files</a:t>
            </a:r>
            <a:endParaRPr lang="en-US" sz="1800" dirty="0"/>
          </a:p>
        </p:txBody>
      </p:sp>
      <p:sp>
        <p:nvSpPr>
          <p:cNvPr id="16" name="Shape 14"/>
          <p:cNvSpPr/>
          <p:nvPr/>
        </p:nvSpPr>
        <p:spPr>
          <a:xfrm>
            <a:off x="548640" y="4261104"/>
            <a:ext cx="310896" cy="310896"/>
          </a:xfrm>
          <a:prstGeom prst="ellipse">
            <a:avLst/>
          </a:prstGeom>
          <a:solidFill>
            <a:srgbClr val="2E86AB"/>
          </a:solidFill>
          <a:ln/>
        </p:spPr>
      </p:sp>
      <p:sp>
        <p:nvSpPr>
          <p:cNvPr id="17" name="Text 15"/>
          <p:cNvSpPr txBox="1"/>
          <p:nvPr/>
        </p:nvSpPr>
        <p:spPr>
          <a:xfrm>
            <a:off x="548640" y="4261104"/>
            <a:ext cx="310896" cy="310896"/>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5</a:t>
            </a:r>
            <a:endParaRPr lang="en-US" sz="1700" dirty="0"/>
          </a:p>
        </p:txBody>
      </p:sp>
      <p:sp>
        <p:nvSpPr>
          <p:cNvPr id="18" name="Text 16"/>
          <p:cNvSpPr txBox="1"/>
          <p:nvPr/>
        </p:nvSpPr>
        <p:spPr>
          <a:xfrm>
            <a:off x="1005840" y="4105656"/>
            <a:ext cx="6492240" cy="603504"/>
          </a:xfrm>
          <a:prstGeom prst="rect">
            <a:avLst/>
          </a:prstGeom>
          <a:noFill/>
          <a:ln/>
        </p:spPr>
        <p:txBody>
          <a:bodyPr wrap="square" lIns="0" tIns="0" rIns="0" bIns="0" rtlCol="0" anchor="ctr"/>
          <a:lstStyle/>
          <a:p>
            <a:pPr marL="0" indent="0">
              <a:lnSpc>
                <a:spcPct val="108000"/>
              </a:lnSpc>
              <a:buNone/>
            </a:pPr>
            <a:r>
              <a:rPr lang="en-US" sz="1800" b="1" dirty="0">
                <a:solidFill>
                  <a:srgbClr val="1B2430"/>
                </a:solidFill>
                <a:latin typeface="Calibri" pitchFamily="34" charset="0"/>
                <a:ea typeface="Calibri" pitchFamily="34" charset="-122"/>
                <a:cs typeface="Calibri" pitchFamily="34" charset="-120"/>
              </a:rPr>
              <a:t>Saving experiments  </a:t>
            </a:r>
            <a:r>
              <a:rPr lang="en-US" sz="1600" dirty="0">
                <a:solidFill>
                  <a:srgbClr val="5B6B79"/>
                </a:solidFill>
                <a:latin typeface="Calibri" pitchFamily="34" charset="0"/>
                <a:ea typeface="Calibri" pitchFamily="34" charset="-122"/>
                <a:cs typeface="Calibri" pitchFamily="34" charset="-120"/>
              </a:rPr>
              <a:t>keeping results for later comparison</a:t>
            </a:r>
            <a:endParaRPr lang="en-US" sz="1800" dirty="0"/>
          </a:p>
        </p:txBody>
      </p:sp>
      <p:sp>
        <p:nvSpPr>
          <p:cNvPr id="19" name="Shape 17"/>
          <p:cNvSpPr/>
          <p:nvPr/>
        </p:nvSpPr>
        <p:spPr>
          <a:xfrm>
            <a:off x="548640" y="4864608"/>
            <a:ext cx="310896" cy="310896"/>
          </a:xfrm>
          <a:prstGeom prst="ellipse">
            <a:avLst/>
          </a:prstGeom>
          <a:solidFill>
            <a:srgbClr val="2E86AB"/>
          </a:solidFill>
          <a:ln/>
        </p:spPr>
      </p:sp>
      <p:sp>
        <p:nvSpPr>
          <p:cNvPr id="20" name="Text 18"/>
          <p:cNvSpPr txBox="1"/>
          <p:nvPr/>
        </p:nvSpPr>
        <p:spPr>
          <a:xfrm>
            <a:off x="548640" y="4864608"/>
            <a:ext cx="310896" cy="310896"/>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6</a:t>
            </a:r>
            <a:endParaRPr lang="en-US" sz="1700" dirty="0"/>
          </a:p>
        </p:txBody>
      </p:sp>
      <p:sp>
        <p:nvSpPr>
          <p:cNvPr id="21" name="Text 19"/>
          <p:cNvSpPr txBox="1"/>
          <p:nvPr/>
        </p:nvSpPr>
        <p:spPr>
          <a:xfrm>
            <a:off x="1005840" y="4709160"/>
            <a:ext cx="6492240" cy="603504"/>
          </a:xfrm>
          <a:prstGeom prst="rect">
            <a:avLst/>
          </a:prstGeom>
          <a:noFill/>
          <a:ln/>
        </p:spPr>
        <p:txBody>
          <a:bodyPr wrap="square" lIns="0" tIns="0" rIns="0" bIns="0" rtlCol="0" anchor="ctr"/>
          <a:lstStyle/>
          <a:p>
            <a:pPr marL="0" indent="0">
              <a:lnSpc>
                <a:spcPct val="108000"/>
              </a:lnSpc>
              <a:buNone/>
            </a:pPr>
            <a:r>
              <a:rPr lang="en-US" sz="1800" b="1" dirty="0">
                <a:solidFill>
                  <a:srgbClr val="1B2430"/>
                </a:solidFill>
                <a:latin typeface="Calibri" pitchFamily="34" charset="0"/>
                <a:ea typeface="Calibri" pitchFamily="34" charset="-122"/>
                <a:cs typeface="Calibri" pitchFamily="34" charset="-120"/>
              </a:rPr>
              <a:t>Reproducing results  </a:t>
            </a:r>
            <a:r>
              <a:rPr lang="en-US" sz="1600" dirty="0">
                <a:solidFill>
                  <a:srgbClr val="5B6B79"/>
                </a:solidFill>
                <a:latin typeface="Calibri" pitchFamily="34" charset="0"/>
                <a:ea typeface="Calibri" pitchFamily="34" charset="-122"/>
                <a:cs typeface="Calibri" pitchFamily="34" charset="-120"/>
              </a:rPr>
              <a:t>getting the same output again, reliably</a:t>
            </a:r>
            <a:endParaRPr lang="en-US" sz="1800" dirty="0"/>
          </a:p>
        </p:txBody>
      </p:sp>
      <p:sp>
        <p:nvSpPr>
          <p:cNvPr id="22" name="Shape 20"/>
          <p:cNvSpPr/>
          <p:nvPr/>
        </p:nvSpPr>
        <p:spPr>
          <a:xfrm>
            <a:off x="548640" y="5468112"/>
            <a:ext cx="310896" cy="310896"/>
          </a:xfrm>
          <a:prstGeom prst="ellipse">
            <a:avLst/>
          </a:prstGeom>
          <a:solidFill>
            <a:srgbClr val="2E86AB"/>
          </a:solidFill>
          <a:ln/>
        </p:spPr>
      </p:sp>
      <p:sp>
        <p:nvSpPr>
          <p:cNvPr id="23" name="Text 21"/>
          <p:cNvSpPr txBox="1"/>
          <p:nvPr/>
        </p:nvSpPr>
        <p:spPr>
          <a:xfrm>
            <a:off x="548640" y="5468112"/>
            <a:ext cx="310896" cy="310896"/>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7</a:t>
            </a:r>
            <a:endParaRPr lang="en-US" sz="1700" dirty="0"/>
          </a:p>
        </p:txBody>
      </p:sp>
      <p:sp>
        <p:nvSpPr>
          <p:cNvPr id="24" name="Text 22"/>
          <p:cNvSpPr txBox="1"/>
          <p:nvPr/>
        </p:nvSpPr>
        <p:spPr>
          <a:xfrm>
            <a:off x="1005840" y="5312664"/>
            <a:ext cx="6492240" cy="603504"/>
          </a:xfrm>
          <a:prstGeom prst="rect">
            <a:avLst/>
          </a:prstGeom>
          <a:noFill/>
          <a:ln/>
        </p:spPr>
        <p:txBody>
          <a:bodyPr wrap="square" lIns="0" tIns="0" rIns="0" bIns="0" rtlCol="0" anchor="ctr"/>
          <a:lstStyle/>
          <a:p>
            <a:pPr marL="0" indent="0">
              <a:lnSpc>
                <a:spcPct val="108000"/>
              </a:lnSpc>
              <a:buNone/>
            </a:pPr>
            <a:r>
              <a:rPr lang="en-US" sz="1800" b="1" dirty="0">
                <a:solidFill>
                  <a:srgbClr val="1B2430"/>
                </a:solidFill>
                <a:latin typeface="Calibri" pitchFamily="34" charset="0"/>
                <a:ea typeface="Calibri" pitchFamily="34" charset="-122"/>
                <a:cs typeface="Calibri" pitchFamily="34" charset="-120"/>
              </a:rPr>
              <a:t>Version control  </a:t>
            </a:r>
            <a:r>
              <a:rPr lang="en-US" sz="1600" dirty="0">
                <a:solidFill>
                  <a:srgbClr val="5B6B79"/>
                </a:solidFill>
                <a:latin typeface="Calibri" pitchFamily="34" charset="0"/>
                <a:ea typeface="Calibri" pitchFamily="34" charset="-122"/>
                <a:cs typeface="Calibri" pitchFamily="34" charset="-120"/>
              </a:rPr>
              <a:t>tracking how code changes over time</a:t>
            </a:r>
            <a:endParaRPr lang="en-US" sz="1800" dirty="0"/>
          </a:p>
        </p:txBody>
      </p:sp>
      <p:sp>
        <p:nvSpPr>
          <p:cNvPr id="25" name="Shape 23"/>
          <p:cNvSpPr/>
          <p:nvPr/>
        </p:nvSpPr>
        <p:spPr>
          <a:xfrm>
            <a:off x="7818120" y="2011680"/>
            <a:ext cx="3794760" cy="3566160"/>
          </a:xfrm>
          <a:prstGeom prst="roundRect">
            <a:avLst>
              <a:gd name="adj" fmla="val 2051"/>
            </a:avLst>
          </a:prstGeom>
          <a:solidFill>
            <a:srgbClr val="142A45"/>
          </a:solidFill>
          <a:ln w="12700">
            <a:solidFill>
              <a:srgbClr val="DDE3EA"/>
            </a:solidFill>
            <a:prstDash val="solid"/>
          </a:ln>
          <a:effectLst>
            <a:outerShdw blurRad="76200" dist="25400" dir="5400000" algn="bl" rotWithShape="0">
              <a:srgbClr val="142A45">
                <a:alpha val="12000"/>
              </a:srgbClr>
            </a:outerShdw>
          </a:effectLst>
        </p:spPr>
      </p:sp>
      <p:sp>
        <p:nvSpPr>
          <p:cNvPr id="26" name="Text 24"/>
          <p:cNvSpPr txBox="1"/>
          <p:nvPr/>
        </p:nvSpPr>
        <p:spPr>
          <a:xfrm>
            <a:off x="7955280" y="2057400"/>
            <a:ext cx="914400" cy="914400"/>
          </a:xfrm>
          <a:prstGeom prst="rect">
            <a:avLst/>
          </a:prstGeom>
          <a:noFill/>
          <a:ln/>
        </p:spPr>
        <p:txBody>
          <a:bodyPr wrap="square" lIns="0" tIns="0" rIns="0" bIns="0" rtlCol="0" anchor="ctr"/>
          <a:lstStyle/>
          <a:p>
            <a:pPr marL="0" indent="0">
              <a:buNone/>
            </a:pPr>
            <a:r>
              <a:rPr lang="en-US" sz="6000" b="1" dirty="0">
                <a:solidFill>
                  <a:srgbClr val="FFC857"/>
                </a:solidFill>
                <a:latin typeface="Cambria" pitchFamily="34" charset="0"/>
                <a:ea typeface="Cambria" pitchFamily="34" charset="-122"/>
                <a:cs typeface="Cambria" pitchFamily="34" charset="-120"/>
              </a:rPr>
              <a:t>“</a:t>
            </a:r>
            <a:endParaRPr lang="en-US" sz="6000" dirty="0"/>
          </a:p>
        </p:txBody>
      </p:sp>
      <p:sp>
        <p:nvSpPr>
          <p:cNvPr id="27" name="Text 25"/>
          <p:cNvSpPr txBox="1"/>
          <p:nvPr/>
        </p:nvSpPr>
        <p:spPr>
          <a:xfrm>
            <a:off x="8183880" y="2697480"/>
            <a:ext cx="3246120" cy="2560320"/>
          </a:xfrm>
          <a:prstGeom prst="rect">
            <a:avLst/>
          </a:prstGeom>
          <a:noFill/>
          <a:ln/>
        </p:spPr>
        <p:txBody>
          <a:bodyPr wrap="square" lIns="0" tIns="0" rIns="0" bIns="0" rtlCol="0" anchor="t"/>
          <a:lstStyle/>
          <a:p>
            <a:pPr marL="0" indent="0">
              <a:buNone/>
            </a:pPr>
            <a:r>
              <a:rPr lang="en-US" sz="1900" i="1" dirty="0">
                <a:solidFill>
                  <a:srgbClr val="FFFFFF"/>
                </a:solidFill>
                <a:latin typeface="Cambria" pitchFamily="34" charset="0"/>
                <a:ea typeface="Cambria" pitchFamily="34" charset="-122"/>
                <a:cs typeface="Cambria" pitchFamily="34" charset="-120"/>
              </a:rPr>
              <a:t>AI is not only about algorithms; it also requires a reliable computational environment.</a:t>
            </a:r>
            <a:endParaRPr lang="en-US" sz="1900" dirty="0"/>
          </a:p>
        </p:txBody>
      </p:sp>
      <p:sp>
        <p:nvSpPr>
          <p:cNvPr id="28" name="Text 26"/>
          <p:cNvSpPr txBox="1"/>
          <p:nvPr/>
        </p:nvSpPr>
        <p:spPr>
          <a:xfrm>
            <a:off x="548640" y="6455664"/>
            <a:ext cx="9418320" cy="292608"/>
          </a:xfrm>
          <a:prstGeom prst="rect">
            <a:avLst/>
          </a:prstGeom>
          <a:noFill/>
          <a:ln/>
        </p:spPr>
        <p:txBody>
          <a:bodyPr wrap="square" lIns="0" tIns="0" rIns="0" bIns="0" rtlCol="0" anchor="ctr"/>
          <a:lstStyle/>
          <a:p>
            <a:pPr marL="0" indent="0">
              <a:buNone/>
            </a:pPr>
            <a:r>
              <a:rPr lang="en-US" sz="1600" dirty="0">
                <a:solidFill>
                  <a:srgbClr val="5B6B79"/>
                </a:solidFill>
                <a:latin typeface="Calibri" pitchFamily="34" charset="0"/>
                <a:ea typeface="Calibri" pitchFamily="34" charset="-122"/>
                <a:cs typeface="Calibri" pitchFamily="34" charset="-120"/>
              </a:rPr>
              <a:t>AI Practical 1  •  Development Environment, Python &amp; Rule-Based Chatbot</a:t>
            </a:r>
            <a:endParaRPr lang="en-US" sz="1600" dirty="0"/>
          </a:p>
        </p:txBody>
      </p:sp>
      <p:sp>
        <p:nvSpPr>
          <p:cNvPr id="29" name="Text 27"/>
          <p:cNvSpPr txBox="1"/>
          <p:nvPr/>
        </p:nvSpPr>
        <p:spPr>
          <a:xfrm>
            <a:off x="11247120" y="6455664"/>
            <a:ext cx="457200" cy="292608"/>
          </a:xfrm>
          <a:prstGeom prst="rect">
            <a:avLst/>
          </a:prstGeom>
          <a:noFill/>
          <a:ln/>
        </p:spPr>
        <p:txBody>
          <a:bodyPr wrap="square" lIns="0" tIns="0" rIns="0" bIns="0" rtlCol="0" anchor="ctr"/>
          <a:lstStyle/>
          <a:p>
            <a:pPr marL="0" indent="0" algn="r">
              <a:buNone/>
            </a:pPr>
            <a:r>
              <a:rPr lang="en-US" sz="1600" dirty="0">
                <a:solidFill>
                  <a:srgbClr val="5B6B79"/>
                </a:solidFill>
                <a:latin typeface="Calibri" pitchFamily="34" charset="0"/>
                <a:ea typeface="Calibri" pitchFamily="34" charset="-122"/>
                <a:cs typeface="Calibri" pitchFamily="34" charset="-120"/>
              </a:rPr>
              <a:t>5</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0515600" cy="310896"/>
          </a:xfrm>
          <a:prstGeom prst="rect">
            <a:avLst/>
          </a:prstGeom>
          <a:noFill/>
          <a:ln/>
        </p:spPr>
        <p:txBody>
          <a:bodyPr wrap="square" lIns="0" tIns="0" rIns="0" bIns="0" rtlCol="0" anchor="ctr"/>
          <a:lstStyle/>
          <a:p>
            <a:pPr marL="0" indent="0">
              <a:buNone/>
            </a:pPr>
            <a:r>
              <a:rPr lang="en-US" sz="1600" b="1" kern="0" spc="200" dirty="0">
                <a:solidFill>
                  <a:srgbClr val="2E86AB"/>
                </a:solidFill>
                <a:latin typeface="Calibri" pitchFamily="34" charset="0"/>
                <a:ea typeface="Calibri" pitchFamily="34" charset="-122"/>
                <a:cs typeface="Calibri" pitchFamily="34" charset="-120"/>
              </a:rPr>
              <a:t>SECTION B — DEVELOPMENT ENVIRONMENT</a:t>
            </a:r>
            <a:endParaRPr lang="en-US" sz="1600" dirty="0"/>
          </a:p>
        </p:txBody>
      </p:sp>
      <p:sp>
        <p:nvSpPr>
          <p:cNvPr id="3" name="Text 1"/>
          <p:cNvSpPr txBox="1"/>
          <p:nvPr/>
        </p:nvSpPr>
        <p:spPr>
          <a:xfrm>
            <a:off x="548640" y="603504"/>
            <a:ext cx="11064240" cy="731520"/>
          </a:xfrm>
          <a:prstGeom prst="rect">
            <a:avLst/>
          </a:prstGeom>
          <a:noFill/>
          <a:ln/>
        </p:spPr>
        <p:txBody>
          <a:bodyPr wrap="square" lIns="0" tIns="0" rIns="0" bIns="0" rtlCol="0" anchor="ctr"/>
          <a:lstStyle/>
          <a:p>
            <a:pPr marL="0" indent="0">
              <a:buNone/>
            </a:pPr>
            <a:r>
              <a:rPr lang="en-US" sz="3300" b="1" dirty="0">
                <a:solidFill>
                  <a:srgbClr val="142A45"/>
                </a:solidFill>
                <a:latin typeface="Cambria" pitchFamily="34" charset="0"/>
                <a:ea typeface="Cambria" pitchFamily="34" charset="-122"/>
                <a:cs typeface="Cambria" pitchFamily="34" charset="-120"/>
              </a:rPr>
              <a:t>Option 1: Anaconda</a:t>
            </a:r>
            <a:endParaRPr lang="en-US" sz="3300" dirty="0"/>
          </a:p>
        </p:txBody>
      </p:sp>
      <p:sp>
        <p:nvSpPr>
          <p:cNvPr id="4" name="Text 2"/>
          <p:cNvSpPr txBox="1"/>
          <p:nvPr/>
        </p:nvSpPr>
        <p:spPr>
          <a:xfrm>
            <a:off x="548640" y="1554480"/>
            <a:ext cx="6309360" cy="246888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1B2430"/>
                </a:solidFill>
                <a:latin typeface="Calibri" pitchFamily="34" charset="0"/>
                <a:ea typeface="Calibri" pitchFamily="34" charset="-122"/>
                <a:cs typeface="Calibri" pitchFamily="34" charset="-120"/>
              </a:rPr>
              <a:t>A free Python distribution built for data science and AI</a:t>
            </a:r>
            <a:endParaRPr lang="en-US" sz="1800" dirty="0"/>
          </a:p>
          <a:p>
            <a:pPr marL="342900" indent="-342900">
              <a:spcAft>
                <a:spcPts val="1000"/>
              </a:spcAft>
              <a:buSzPct val="100000"/>
              <a:buChar char="•"/>
            </a:pPr>
            <a:r>
              <a:rPr lang="en-US" sz="1800" dirty="0">
                <a:solidFill>
                  <a:srgbClr val="1B2430"/>
                </a:solidFill>
                <a:latin typeface="Calibri" pitchFamily="34" charset="0"/>
                <a:ea typeface="Calibri" pitchFamily="34" charset="-122"/>
                <a:cs typeface="Calibri" pitchFamily="34" charset="-120"/>
              </a:rPr>
              <a:t>Bundles Python with hundreds of pre-installed packages</a:t>
            </a:r>
            <a:endParaRPr lang="en-US" sz="1800" dirty="0"/>
          </a:p>
          <a:p>
            <a:pPr marL="342900" indent="-342900">
              <a:spcAft>
                <a:spcPts val="1000"/>
              </a:spcAft>
              <a:buSzPct val="100000"/>
              <a:buChar char="•"/>
            </a:pPr>
            <a:r>
              <a:rPr lang="en-US" sz="1800" dirty="0">
                <a:solidFill>
                  <a:srgbClr val="1B2430"/>
                </a:solidFill>
                <a:latin typeface="Calibri" pitchFamily="34" charset="0"/>
                <a:ea typeface="Calibri" pitchFamily="34" charset="-122"/>
                <a:cs typeface="Calibri" pitchFamily="34" charset="-120"/>
              </a:rPr>
              <a:t>Includes conda — a package and environment manager</a:t>
            </a:r>
            <a:endParaRPr lang="en-US" sz="1800" dirty="0"/>
          </a:p>
          <a:p>
            <a:pPr marL="342900" indent="-342900">
              <a:spcAft>
                <a:spcPts val="1000"/>
              </a:spcAft>
              <a:buSzPct val="100000"/>
              <a:buChar char="•"/>
            </a:pPr>
            <a:r>
              <a:rPr lang="en-US" sz="1800" dirty="0">
                <a:solidFill>
                  <a:srgbClr val="1B2430"/>
                </a:solidFill>
                <a:latin typeface="Calibri" pitchFamily="34" charset="0"/>
                <a:ea typeface="Calibri" pitchFamily="34" charset="-122"/>
                <a:cs typeface="Calibri" pitchFamily="34" charset="-120"/>
              </a:rPr>
              <a:t>Lets you create isolated environments per project</a:t>
            </a:r>
            <a:endParaRPr lang="en-US" sz="1800" dirty="0"/>
          </a:p>
          <a:p>
            <a:pPr marL="342900" indent="-342900">
              <a:spcAft>
                <a:spcPts val="1000"/>
              </a:spcAft>
              <a:buSzPct val="100000"/>
              <a:buChar char="•"/>
            </a:pPr>
            <a:r>
              <a:rPr lang="en-US" sz="1800" dirty="0">
                <a:solidFill>
                  <a:srgbClr val="1B2430"/>
                </a:solidFill>
                <a:latin typeface="Calibri" pitchFamily="34" charset="0"/>
                <a:ea typeface="Calibri" pitchFamily="34" charset="-122"/>
                <a:cs typeface="Calibri" pitchFamily="34" charset="-120"/>
              </a:rPr>
              <a:t>Installed once, used offline on your own machine</a:t>
            </a:r>
            <a:endParaRPr lang="en-US" sz="1800" dirty="0"/>
          </a:p>
        </p:txBody>
      </p:sp>
      <p:sp>
        <p:nvSpPr>
          <p:cNvPr id="5" name="Text 3"/>
          <p:cNvSpPr txBox="1"/>
          <p:nvPr/>
        </p:nvSpPr>
        <p:spPr>
          <a:xfrm>
            <a:off x="548640" y="4160520"/>
            <a:ext cx="6309360" cy="274320"/>
          </a:xfrm>
          <a:prstGeom prst="rect">
            <a:avLst/>
          </a:prstGeom>
          <a:noFill/>
          <a:ln/>
        </p:spPr>
        <p:txBody>
          <a:bodyPr wrap="square" lIns="0" tIns="0" rIns="0" bIns="0" rtlCol="0" anchor="ctr"/>
          <a:lstStyle/>
          <a:p>
            <a:pPr marL="0" indent="0">
              <a:buNone/>
            </a:pPr>
            <a:r>
              <a:rPr lang="en-US" sz="1600" b="1" kern="0" spc="100" dirty="0">
                <a:solidFill>
                  <a:srgbClr val="2E86AB"/>
                </a:solidFill>
                <a:latin typeface="Calibri" pitchFamily="34" charset="0"/>
                <a:ea typeface="Calibri" pitchFamily="34" charset="-122"/>
                <a:cs typeface="Calibri" pitchFamily="34" charset="-120"/>
              </a:rPr>
              <a:t>LIBRARIES YOU WILL MEET LATER IN THIS COURSE</a:t>
            </a:r>
            <a:endParaRPr lang="en-US" sz="1600" dirty="0"/>
          </a:p>
        </p:txBody>
      </p:sp>
      <p:sp>
        <p:nvSpPr>
          <p:cNvPr id="6" name="Shape 4"/>
          <p:cNvSpPr/>
          <p:nvPr/>
        </p:nvSpPr>
        <p:spPr>
          <a:xfrm>
            <a:off x="548640" y="4526280"/>
            <a:ext cx="658368" cy="384048"/>
          </a:xfrm>
          <a:prstGeom prst="roundRect">
            <a:avLst>
              <a:gd name="adj" fmla="val 50000"/>
            </a:avLst>
          </a:prstGeom>
          <a:solidFill>
            <a:srgbClr val="EAF0F6"/>
          </a:solidFill>
          <a:ln w="12700">
            <a:solidFill>
              <a:srgbClr val="DDE3EA"/>
            </a:solidFill>
            <a:prstDash val="solid"/>
          </a:ln>
        </p:spPr>
      </p:sp>
      <p:sp>
        <p:nvSpPr>
          <p:cNvPr id="7" name="Text 5"/>
          <p:cNvSpPr txBox="1"/>
          <p:nvPr/>
        </p:nvSpPr>
        <p:spPr>
          <a:xfrm>
            <a:off x="548640" y="4526280"/>
            <a:ext cx="658368" cy="384048"/>
          </a:xfrm>
          <a:prstGeom prst="rect">
            <a:avLst/>
          </a:prstGeom>
          <a:noFill/>
          <a:ln/>
        </p:spPr>
        <p:txBody>
          <a:bodyPr wrap="square" lIns="0" tIns="0" rIns="0" bIns="0" rtlCol="0" anchor="ctr"/>
          <a:lstStyle/>
          <a:p>
            <a:pPr marL="0" indent="0" algn="ctr">
              <a:buNone/>
            </a:pPr>
            <a:r>
              <a:rPr lang="en-US" sz="1600" b="1" dirty="0">
                <a:solidFill>
                  <a:srgbClr val="142A45"/>
                </a:solidFill>
                <a:latin typeface="Calibri" pitchFamily="34" charset="0"/>
                <a:ea typeface="Calibri" pitchFamily="34" charset="-122"/>
                <a:cs typeface="Calibri" pitchFamily="34" charset="-120"/>
              </a:rPr>
              <a:t>NumPy</a:t>
            </a:r>
            <a:endParaRPr lang="en-US" sz="1600" dirty="0"/>
          </a:p>
        </p:txBody>
      </p:sp>
      <p:sp>
        <p:nvSpPr>
          <p:cNvPr id="8" name="Shape 6"/>
          <p:cNvSpPr/>
          <p:nvPr/>
        </p:nvSpPr>
        <p:spPr>
          <a:xfrm>
            <a:off x="1353312" y="4526280"/>
            <a:ext cx="749808" cy="384048"/>
          </a:xfrm>
          <a:prstGeom prst="roundRect">
            <a:avLst>
              <a:gd name="adj" fmla="val 50000"/>
            </a:avLst>
          </a:prstGeom>
          <a:solidFill>
            <a:srgbClr val="EAF0F6"/>
          </a:solidFill>
          <a:ln w="12700">
            <a:solidFill>
              <a:srgbClr val="DDE3EA"/>
            </a:solidFill>
            <a:prstDash val="solid"/>
          </a:ln>
        </p:spPr>
      </p:sp>
      <p:sp>
        <p:nvSpPr>
          <p:cNvPr id="9" name="Text 7"/>
          <p:cNvSpPr txBox="1"/>
          <p:nvPr/>
        </p:nvSpPr>
        <p:spPr>
          <a:xfrm>
            <a:off x="1353312" y="4526280"/>
            <a:ext cx="749808" cy="384048"/>
          </a:xfrm>
          <a:prstGeom prst="rect">
            <a:avLst/>
          </a:prstGeom>
          <a:noFill/>
          <a:ln/>
        </p:spPr>
        <p:txBody>
          <a:bodyPr wrap="square" lIns="0" tIns="0" rIns="0" bIns="0" rtlCol="0" anchor="ctr"/>
          <a:lstStyle/>
          <a:p>
            <a:pPr marL="0" indent="0" algn="ctr">
              <a:buNone/>
            </a:pPr>
            <a:r>
              <a:rPr lang="en-US" sz="1600" b="1" dirty="0">
                <a:solidFill>
                  <a:srgbClr val="142A45"/>
                </a:solidFill>
                <a:latin typeface="Calibri" pitchFamily="34" charset="0"/>
                <a:ea typeface="Calibri" pitchFamily="34" charset="-122"/>
                <a:cs typeface="Calibri" pitchFamily="34" charset="-120"/>
              </a:rPr>
              <a:t>Pandas</a:t>
            </a:r>
            <a:endParaRPr lang="en-US" sz="1600" dirty="0"/>
          </a:p>
        </p:txBody>
      </p:sp>
      <p:sp>
        <p:nvSpPr>
          <p:cNvPr id="10" name="Shape 8"/>
          <p:cNvSpPr/>
          <p:nvPr/>
        </p:nvSpPr>
        <p:spPr>
          <a:xfrm>
            <a:off x="2249424" y="4526280"/>
            <a:ext cx="1115568" cy="384048"/>
          </a:xfrm>
          <a:prstGeom prst="roundRect">
            <a:avLst>
              <a:gd name="adj" fmla="val 50000"/>
            </a:avLst>
          </a:prstGeom>
          <a:solidFill>
            <a:srgbClr val="EAF0F6"/>
          </a:solidFill>
          <a:ln w="12700">
            <a:solidFill>
              <a:srgbClr val="DDE3EA"/>
            </a:solidFill>
            <a:prstDash val="solid"/>
          </a:ln>
        </p:spPr>
      </p:sp>
      <p:sp>
        <p:nvSpPr>
          <p:cNvPr id="11" name="Text 9"/>
          <p:cNvSpPr txBox="1"/>
          <p:nvPr/>
        </p:nvSpPr>
        <p:spPr>
          <a:xfrm>
            <a:off x="2249424" y="4526280"/>
            <a:ext cx="1115568" cy="384048"/>
          </a:xfrm>
          <a:prstGeom prst="rect">
            <a:avLst/>
          </a:prstGeom>
          <a:noFill/>
          <a:ln/>
        </p:spPr>
        <p:txBody>
          <a:bodyPr wrap="square" lIns="0" tIns="0" rIns="0" bIns="0" rtlCol="0" anchor="ctr"/>
          <a:lstStyle/>
          <a:p>
            <a:pPr marL="0" indent="0" algn="ctr">
              <a:buNone/>
            </a:pPr>
            <a:r>
              <a:rPr lang="en-US" sz="1600" b="1" dirty="0">
                <a:solidFill>
                  <a:srgbClr val="142A45"/>
                </a:solidFill>
                <a:latin typeface="Calibri" pitchFamily="34" charset="0"/>
                <a:ea typeface="Calibri" pitchFamily="34" charset="-122"/>
                <a:cs typeface="Calibri" pitchFamily="34" charset="-120"/>
              </a:rPr>
              <a:t>Matplotlib</a:t>
            </a:r>
            <a:endParaRPr lang="en-US" sz="1600" dirty="0"/>
          </a:p>
        </p:txBody>
      </p:sp>
      <p:sp>
        <p:nvSpPr>
          <p:cNvPr id="12" name="Shape 10"/>
          <p:cNvSpPr/>
          <p:nvPr/>
        </p:nvSpPr>
        <p:spPr>
          <a:xfrm>
            <a:off x="3511296" y="4526280"/>
            <a:ext cx="1298448" cy="384048"/>
          </a:xfrm>
          <a:prstGeom prst="roundRect">
            <a:avLst>
              <a:gd name="adj" fmla="val 50000"/>
            </a:avLst>
          </a:prstGeom>
          <a:solidFill>
            <a:srgbClr val="EAF0F6"/>
          </a:solidFill>
          <a:ln w="12700">
            <a:solidFill>
              <a:srgbClr val="DDE3EA"/>
            </a:solidFill>
            <a:prstDash val="solid"/>
          </a:ln>
        </p:spPr>
      </p:sp>
      <p:sp>
        <p:nvSpPr>
          <p:cNvPr id="13" name="Text 11"/>
          <p:cNvSpPr txBox="1"/>
          <p:nvPr/>
        </p:nvSpPr>
        <p:spPr>
          <a:xfrm>
            <a:off x="3511296" y="4526280"/>
            <a:ext cx="1298448" cy="384048"/>
          </a:xfrm>
          <a:prstGeom prst="rect">
            <a:avLst/>
          </a:prstGeom>
          <a:noFill/>
          <a:ln/>
        </p:spPr>
        <p:txBody>
          <a:bodyPr wrap="square" lIns="0" tIns="0" rIns="0" bIns="0" rtlCol="0" anchor="ctr"/>
          <a:lstStyle/>
          <a:p>
            <a:pPr marL="0" indent="0" algn="ctr">
              <a:buNone/>
            </a:pPr>
            <a:r>
              <a:rPr lang="en-US" sz="1600" b="1" dirty="0">
                <a:solidFill>
                  <a:srgbClr val="142A45"/>
                </a:solidFill>
                <a:latin typeface="Calibri" pitchFamily="34" charset="0"/>
                <a:ea typeface="Calibri" pitchFamily="34" charset="-122"/>
                <a:cs typeface="Calibri" pitchFamily="34" charset="-120"/>
              </a:rPr>
              <a:t>Scikit-learn</a:t>
            </a:r>
            <a:endParaRPr lang="en-US" sz="1600" dirty="0"/>
          </a:p>
        </p:txBody>
      </p:sp>
      <p:sp>
        <p:nvSpPr>
          <p:cNvPr id="14" name="Shape 12"/>
          <p:cNvSpPr/>
          <p:nvPr/>
        </p:nvSpPr>
        <p:spPr>
          <a:xfrm>
            <a:off x="4956048" y="4526280"/>
            <a:ext cx="2029968" cy="384048"/>
          </a:xfrm>
          <a:prstGeom prst="roundRect">
            <a:avLst>
              <a:gd name="adj" fmla="val 50000"/>
            </a:avLst>
          </a:prstGeom>
          <a:solidFill>
            <a:srgbClr val="EAF0F6"/>
          </a:solidFill>
          <a:ln w="12700">
            <a:solidFill>
              <a:srgbClr val="DDE3EA"/>
            </a:solidFill>
            <a:prstDash val="solid"/>
          </a:ln>
        </p:spPr>
      </p:sp>
      <p:sp>
        <p:nvSpPr>
          <p:cNvPr id="15" name="Text 13"/>
          <p:cNvSpPr txBox="1"/>
          <p:nvPr/>
        </p:nvSpPr>
        <p:spPr>
          <a:xfrm>
            <a:off x="4956048" y="4526280"/>
            <a:ext cx="2029968" cy="384048"/>
          </a:xfrm>
          <a:prstGeom prst="rect">
            <a:avLst/>
          </a:prstGeom>
          <a:noFill/>
          <a:ln/>
        </p:spPr>
        <p:txBody>
          <a:bodyPr wrap="square" lIns="0" tIns="0" rIns="0" bIns="0" rtlCol="0" anchor="ctr"/>
          <a:lstStyle/>
          <a:p>
            <a:pPr marL="0" indent="0" algn="ctr">
              <a:buNone/>
            </a:pPr>
            <a:r>
              <a:rPr lang="en-US" sz="1600" b="1" dirty="0">
                <a:solidFill>
                  <a:srgbClr val="142A45"/>
                </a:solidFill>
                <a:latin typeface="Calibri" pitchFamily="34" charset="0"/>
                <a:ea typeface="Calibri" pitchFamily="34" charset="-122"/>
                <a:cs typeface="Calibri" pitchFamily="34" charset="-120"/>
              </a:rPr>
              <a:t>PyTorch / TensorFlow</a:t>
            </a:r>
            <a:endParaRPr lang="en-US" sz="1600" dirty="0"/>
          </a:p>
        </p:txBody>
      </p:sp>
      <p:sp>
        <p:nvSpPr>
          <p:cNvPr id="16" name="Text 14"/>
          <p:cNvSpPr txBox="1"/>
          <p:nvPr/>
        </p:nvSpPr>
        <p:spPr>
          <a:xfrm>
            <a:off x="7315200" y="1554480"/>
            <a:ext cx="4297680" cy="274320"/>
          </a:xfrm>
          <a:prstGeom prst="rect">
            <a:avLst/>
          </a:prstGeom>
          <a:noFill/>
          <a:ln/>
        </p:spPr>
        <p:txBody>
          <a:bodyPr wrap="square" lIns="0" tIns="0" rIns="0" bIns="0" rtlCol="0" anchor="ctr"/>
          <a:lstStyle/>
          <a:p>
            <a:pPr marL="0" indent="0">
              <a:buNone/>
            </a:pPr>
            <a:r>
              <a:rPr lang="en-US" sz="1600" b="1" kern="0" spc="100" dirty="0">
                <a:solidFill>
                  <a:srgbClr val="2E86AB"/>
                </a:solidFill>
                <a:latin typeface="Calibri" pitchFamily="34" charset="0"/>
                <a:ea typeface="Calibri" pitchFamily="34" charset="-122"/>
                <a:cs typeface="Calibri" pitchFamily="34" charset="-120"/>
              </a:rPr>
              <a:t>CONCEPTUAL WORKFLOW</a:t>
            </a:r>
            <a:endParaRPr lang="en-US" sz="1600" dirty="0"/>
          </a:p>
        </p:txBody>
      </p:sp>
      <p:sp>
        <p:nvSpPr>
          <p:cNvPr id="17" name="Shape 15"/>
          <p:cNvSpPr/>
          <p:nvPr/>
        </p:nvSpPr>
        <p:spPr>
          <a:xfrm>
            <a:off x="7680960" y="1874520"/>
            <a:ext cx="3566160" cy="603504"/>
          </a:xfrm>
          <a:prstGeom prst="roundRect">
            <a:avLst>
              <a:gd name="adj" fmla="val 10606"/>
            </a:avLst>
          </a:prstGeom>
          <a:solidFill>
            <a:srgbClr val="142A45"/>
          </a:solidFill>
          <a:ln/>
        </p:spPr>
      </p:sp>
      <p:sp>
        <p:nvSpPr>
          <p:cNvPr id="18" name="Text 16"/>
          <p:cNvSpPr txBox="1"/>
          <p:nvPr/>
        </p:nvSpPr>
        <p:spPr>
          <a:xfrm>
            <a:off x="7790688" y="1874520"/>
            <a:ext cx="3346704" cy="603504"/>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Anaconda</a:t>
            </a:r>
            <a:endParaRPr lang="en-US" sz="1700" dirty="0"/>
          </a:p>
        </p:txBody>
      </p:sp>
      <p:sp>
        <p:nvSpPr>
          <p:cNvPr id="19" name="Text 17"/>
          <p:cNvSpPr txBox="1"/>
          <p:nvPr/>
        </p:nvSpPr>
        <p:spPr>
          <a:xfrm>
            <a:off x="7680960" y="2478024"/>
            <a:ext cx="3566160" cy="164592"/>
          </a:xfrm>
          <a:prstGeom prst="rect">
            <a:avLst/>
          </a:prstGeom>
          <a:noFill/>
          <a:ln/>
        </p:spPr>
        <p:txBody>
          <a:bodyPr wrap="square" lIns="0" tIns="0" rIns="0" bIns="0" rtlCol="0" anchor="ctr"/>
          <a:lstStyle/>
          <a:p>
            <a:pPr marL="0" indent="0" algn="ctr">
              <a:buNone/>
            </a:pPr>
            <a:r>
              <a:rPr lang="en-US" sz="1600" b="1" dirty="0">
                <a:solidFill>
                  <a:srgbClr val="2E86AB"/>
                </a:solidFill>
                <a:latin typeface="Calibri" pitchFamily="34" charset="0"/>
                <a:ea typeface="Calibri" pitchFamily="34" charset="-122"/>
                <a:cs typeface="Calibri" pitchFamily="34" charset="-120"/>
              </a:rPr>
              <a:t>↓</a:t>
            </a:r>
            <a:endParaRPr lang="en-US" sz="1600" dirty="0"/>
          </a:p>
        </p:txBody>
      </p:sp>
      <p:sp>
        <p:nvSpPr>
          <p:cNvPr id="20" name="Shape 18"/>
          <p:cNvSpPr/>
          <p:nvPr/>
        </p:nvSpPr>
        <p:spPr>
          <a:xfrm>
            <a:off x="7680960" y="2642616"/>
            <a:ext cx="3566160" cy="603504"/>
          </a:xfrm>
          <a:prstGeom prst="roundRect">
            <a:avLst>
              <a:gd name="adj" fmla="val 10606"/>
            </a:avLst>
          </a:prstGeom>
          <a:solidFill>
            <a:srgbClr val="142A45"/>
          </a:solidFill>
          <a:ln/>
        </p:spPr>
      </p:sp>
      <p:sp>
        <p:nvSpPr>
          <p:cNvPr id="21" name="Text 19"/>
          <p:cNvSpPr txBox="1"/>
          <p:nvPr/>
        </p:nvSpPr>
        <p:spPr>
          <a:xfrm>
            <a:off x="7790688" y="2642616"/>
            <a:ext cx="3346704" cy="603504"/>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Environment</a:t>
            </a:r>
            <a:endParaRPr lang="en-US" sz="1700" dirty="0"/>
          </a:p>
        </p:txBody>
      </p:sp>
      <p:sp>
        <p:nvSpPr>
          <p:cNvPr id="22" name="Text 20"/>
          <p:cNvSpPr txBox="1"/>
          <p:nvPr/>
        </p:nvSpPr>
        <p:spPr>
          <a:xfrm>
            <a:off x="7680960" y="3246120"/>
            <a:ext cx="3566160" cy="164592"/>
          </a:xfrm>
          <a:prstGeom prst="rect">
            <a:avLst/>
          </a:prstGeom>
          <a:noFill/>
          <a:ln/>
        </p:spPr>
        <p:txBody>
          <a:bodyPr wrap="square" lIns="0" tIns="0" rIns="0" bIns="0" rtlCol="0" anchor="ctr"/>
          <a:lstStyle/>
          <a:p>
            <a:pPr marL="0" indent="0" algn="ctr">
              <a:buNone/>
            </a:pPr>
            <a:r>
              <a:rPr lang="en-US" sz="1600" b="1" dirty="0">
                <a:solidFill>
                  <a:srgbClr val="2E86AB"/>
                </a:solidFill>
                <a:latin typeface="Calibri" pitchFamily="34" charset="0"/>
                <a:ea typeface="Calibri" pitchFamily="34" charset="-122"/>
                <a:cs typeface="Calibri" pitchFamily="34" charset="-120"/>
              </a:rPr>
              <a:t>↓</a:t>
            </a:r>
            <a:endParaRPr lang="en-US" sz="1600" dirty="0"/>
          </a:p>
        </p:txBody>
      </p:sp>
      <p:sp>
        <p:nvSpPr>
          <p:cNvPr id="23" name="Shape 21"/>
          <p:cNvSpPr/>
          <p:nvPr/>
        </p:nvSpPr>
        <p:spPr>
          <a:xfrm>
            <a:off x="7680960" y="3410712"/>
            <a:ext cx="3566160" cy="603504"/>
          </a:xfrm>
          <a:prstGeom prst="roundRect">
            <a:avLst>
              <a:gd name="adj" fmla="val 10606"/>
            </a:avLst>
          </a:prstGeom>
          <a:solidFill>
            <a:srgbClr val="142A45"/>
          </a:solidFill>
          <a:ln/>
        </p:spPr>
      </p:sp>
      <p:sp>
        <p:nvSpPr>
          <p:cNvPr id="24" name="Text 22"/>
          <p:cNvSpPr txBox="1"/>
          <p:nvPr/>
        </p:nvSpPr>
        <p:spPr>
          <a:xfrm>
            <a:off x="7790688" y="3410712"/>
            <a:ext cx="3346704" cy="603504"/>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Python</a:t>
            </a:r>
            <a:endParaRPr lang="en-US" sz="1700" dirty="0"/>
          </a:p>
        </p:txBody>
      </p:sp>
      <p:sp>
        <p:nvSpPr>
          <p:cNvPr id="25" name="Text 23"/>
          <p:cNvSpPr txBox="1"/>
          <p:nvPr/>
        </p:nvSpPr>
        <p:spPr>
          <a:xfrm>
            <a:off x="7680960" y="4014216"/>
            <a:ext cx="3566160" cy="164592"/>
          </a:xfrm>
          <a:prstGeom prst="rect">
            <a:avLst/>
          </a:prstGeom>
          <a:noFill/>
          <a:ln/>
        </p:spPr>
        <p:txBody>
          <a:bodyPr wrap="square" lIns="0" tIns="0" rIns="0" bIns="0" rtlCol="0" anchor="ctr"/>
          <a:lstStyle/>
          <a:p>
            <a:pPr marL="0" indent="0" algn="ctr">
              <a:buNone/>
            </a:pPr>
            <a:r>
              <a:rPr lang="en-US" sz="1600" b="1" dirty="0">
                <a:solidFill>
                  <a:srgbClr val="2E86AB"/>
                </a:solidFill>
                <a:latin typeface="Calibri" pitchFamily="34" charset="0"/>
                <a:ea typeface="Calibri" pitchFamily="34" charset="-122"/>
                <a:cs typeface="Calibri" pitchFamily="34" charset="-120"/>
              </a:rPr>
              <a:t>↓</a:t>
            </a:r>
            <a:endParaRPr lang="en-US" sz="1600" dirty="0"/>
          </a:p>
        </p:txBody>
      </p:sp>
      <p:sp>
        <p:nvSpPr>
          <p:cNvPr id="26" name="Shape 24"/>
          <p:cNvSpPr/>
          <p:nvPr/>
        </p:nvSpPr>
        <p:spPr>
          <a:xfrm>
            <a:off x="7680960" y="4178808"/>
            <a:ext cx="3566160" cy="603504"/>
          </a:xfrm>
          <a:prstGeom prst="roundRect">
            <a:avLst>
              <a:gd name="adj" fmla="val 10606"/>
            </a:avLst>
          </a:prstGeom>
          <a:solidFill>
            <a:srgbClr val="142A45"/>
          </a:solidFill>
          <a:ln/>
        </p:spPr>
      </p:sp>
      <p:sp>
        <p:nvSpPr>
          <p:cNvPr id="27" name="Text 25"/>
          <p:cNvSpPr txBox="1"/>
          <p:nvPr/>
        </p:nvSpPr>
        <p:spPr>
          <a:xfrm>
            <a:off x="7790688" y="4178808"/>
            <a:ext cx="3346704" cy="603504"/>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Libraries</a:t>
            </a:r>
            <a:endParaRPr lang="en-US" sz="1700" dirty="0"/>
          </a:p>
        </p:txBody>
      </p:sp>
      <p:sp>
        <p:nvSpPr>
          <p:cNvPr id="28" name="Text 26"/>
          <p:cNvSpPr txBox="1"/>
          <p:nvPr/>
        </p:nvSpPr>
        <p:spPr>
          <a:xfrm>
            <a:off x="7680960" y="4782312"/>
            <a:ext cx="3566160" cy="164592"/>
          </a:xfrm>
          <a:prstGeom prst="rect">
            <a:avLst/>
          </a:prstGeom>
          <a:noFill/>
          <a:ln/>
        </p:spPr>
        <p:txBody>
          <a:bodyPr wrap="square" lIns="0" tIns="0" rIns="0" bIns="0" rtlCol="0" anchor="ctr"/>
          <a:lstStyle/>
          <a:p>
            <a:pPr marL="0" indent="0" algn="ctr">
              <a:buNone/>
            </a:pPr>
            <a:r>
              <a:rPr lang="en-US" sz="1600" b="1" dirty="0">
                <a:solidFill>
                  <a:srgbClr val="2E86AB"/>
                </a:solidFill>
                <a:latin typeface="Calibri" pitchFamily="34" charset="0"/>
                <a:ea typeface="Calibri" pitchFamily="34" charset="-122"/>
                <a:cs typeface="Calibri" pitchFamily="34" charset="-120"/>
              </a:rPr>
              <a:t>↓</a:t>
            </a:r>
            <a:endParaRPr lang="en-US" sz="1600" dirty="0"/>
          </a:p>
        </p:txBody>
      </p:sp>
      <p:sp>
        <p:nvSpPr>
          <p:cNvPr id="29" name="Shape 27"/>
          <p:cNvSpPr/>
          <p:nvPr/>
        </p:nvSpPr>
        <p:spPr>
          <a:xfrm>
            <a:off x="7680960" y="4946904"/>
            <a:ext cx="3566160" cy="603504"/>
          </a:xfrm>
          <a:prstGeom prst="roundRect">
            <a:avLst>
              <a:gd name="adj" fmla="val 10606"/>
            </a:avLst>
          </a:prstGeom>
          <a:solidFill>
            <a:srgbClr val="FFC857"/>
          </a:solidFill>
          <a:ln/>
        </p:spPr>
      </p:sp>
      <p:sp>
        <p:nvSpPr>
          <p:cNvPr id="30" name="Text 28"/>
          <p:cNvSpPr txBox="1"/>
          <p:nvPr/>
        </p:nvSpPr>
        <p:spPr>
          <a:xfrm>
            <a:off x="7790688" y="4946904"/>
            <a:ext cx="3346704" cy="603504"/>
          </a:xfrm>
          <a:prstGeom prst="rect">
            <a:avLst/>
          </a:prstGeom>
          <a:noFill/>
          <a:ln/>
        </p:spPr>
        <p:txBody>
          <a:bodyPr wrap="square" lIns="0" tIns="0" rIns="0" bIns="0" rtlCol="0" anchor="ctr"/>
          <a:lstStyle/>
          <a:p>
            <a:pPr marL="0" indent="0" algn="ctr">
              <a:buNone/>
            </a:pPr>
            <a:r>
              <a:rPr lang="en-US" sz="1700" b="1" dirty="0">
                <a:solidFill>
                  <a:srgbClr val="0B1930"/>
                </a:solidFill>
                <a:latin typeface="Calibri" pitchFamily="34" charset="0"/>
                <a:ea typeface="Calibri" pitchFamily="34" charset="-122"/>
                <a:cs typeface="Calibri" pitchFamily="34" charset="-120"/>
              </a:rPr>
              <a:t>AI Programs</a:t>
            </a:r>
            <a:endParaRPr lang="en-US" sz="1700" dirty="0"/>
          </a:p>
        </p:txBody>
      </p:sp>
      <p:sp>
        <p:nvSpPr>
          <p:cNvPr id="31" name="Text 29"/>
          <p:cNvSpPr txBox="1"/>
          <p:nvPr/>
        </p:nvSpPr>
        <p:spPr>
          <a:xfrm>
            <a:off x="548640" y="6455664"/>
            <a:ext cx="9418320" cy="292608"/>
          </a:xfrm>
          <a:prstGeom prst="rect">
            <a:avLst/>
          </a:prstGeom>
          <a:noFill/>
          <a:ln/>
        </p:spPr>
        <p:txBody>
          <a:bodyPr wrap="square" lIns="0" tIns="0" rIns="0" bIns="0" rtlCol="0" anchor="ctr"/>
          <a:lstStyle/>
          <a:p>
            <a:pPr marL="0" indent="0">
              <a:buNone/>
            </a:pPr>
            <a:r>
              <a:rPr lang="en-US" sz="1600" dirty="0">
                <a:solidFill>
                  <a:srgbClr val="5B6B79"/>
                </a:solidFill>
                <a:latin typeface="Calibri" pitchFamily="34" charset="0"/>
                <a:ea typeface="Calibri" pitchFamily="34" charset="-122"/>
                <a:cs typeface="Calibri" pitchFamily="34" charset="-120"/>
              </a:rPr>
              <a:t>AI Practical 1  •  Development Environment, Python &amp; Rule-Based Chatbot</a:t>
            </a:r>
            <a:endParaRPr lang="en-US" sz="1600" dirty="0"/>
          </a:p>
        </p:txBody>
      </p:sp>
      <p:sp>
        <p:nvSpPr>
          <p:cNvPr id="32" name="Text 30"/>
          <p:cNvSpPr txBox="1"/>
          <p:nvPr/>
        </p:nvSpPr>
        <p:spPr>
          <a:xfrm>
            <a:off x="11247120" y="6455664"/>
            <a:ext cx="457200" cy="292608"/>
          </a:xfrm>
          <a:prstGeom prst="rect">
            <a:avLst/>
          </a:prstGeom>
          <a:noFill/>
          <a:ln/>
        </p:spPr>
        <p:txBody>
          <a:bodyPr wrap="square" lIns="0" tIns="0" rIns="0" bIns="0" rtlCol="0" anchor="ctr"/>
          <a:lstStyle/>
          <a:p>
            <a:pPr marL="0" indent="0" algn="r">
              <a:buNone/>
            </a:pPr>
            <a:r>
              <a:rPr lang="en-US" sz="1600" dirty="0">
                <a:solidFill>
                  <a:srgbClr val="5B6B79"/>
                </a:solidFill>
                <a:latin typeface="Calibri" pitchFamily="34" charset="0"/>
                <a:ea typeface="Calibri" pitchFamily="34" charset="-122"/>
                <a:cs typeface="Calibri" pitchFamily="34" charset="-120"/>
              </a:rPr>
              <a:t>6</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0515600" cy="310896"/>
          </a:xfrm>
          <a:prstGeom prst="rect">
            <a:avLst/>
          </a:prstGeom>
          <a:noFill/>
          <a:ln/>
        </p:spPr>
        <p:txBody>
          <a:bodyPr wrap="square" lIns="0" tIns="0" rIns="0" bIns="0" rtlCol="0" anchor="ctr"/>
          <a:lstStyle/>
          <a:p>
            <a:pPr marL="0" indent="0">
              <a:buNone/>
            </a:pPr>
            <a:r>
              <a:rPr lang="en-US" sz="1600" b="1" kern="0" spc="200" dirty="0">
                <a:solidFill>
                  <a:srgbClr val="2E86AB"/>
                </a:solidFill>
                <a:latin typeface="Calibri" pitchFamily="34" charset="0"/>
                <a:ea typeface="Calibri" pitchFamily="34" charset="-122"/>
                <a:cs typeface="Calibri" pitchFamily="34" charset="-120"/>
              </a:rPr>
              <a:t>SECTION B — DEVELOPMENT ENVIRONMENT</a:t>
            </a:r>
            <a:endParaRPr lang="en-US" sz="1600" dirty="0"/>
          </a:p>
        </p:txBody>
      </p:sp>
      <p:sp>
        <p:nvSpPr>
          <p:cNvPr id="3" name="Text 1"/>
          <p:cNvSpPr txBox="1"/>
          <p:nvPr/>
        </p:nvSpPr>
        <p:spPr>
          <a:xfrm>
            <a:off x="548640" y="603504"/>
            <a:ext cx="11064240" cy="731520"/>
          </a:xfrm>
          <a:prstGeom prst="rect">
            <a:avLst/>
          </a:prstGeom>
          <a:noFill/>
          <a:ln/>
        </p:spPr>
        <p:txBody>
          <a:bodyPr wrap="square" lIns="0" tIns="0" rIns="0" bIns="0" rtlCol="0" anchor="ctr"/>
          <a:lstStyle/>
          <a:p>
            <a:pPr marL="0" indent="0">
              <a:buNone/>
            </a:pPr>
            <a:r>
              <a:rPr lang="en-US" sz="3300" b="1" dirty="0">
                <a:solidFill>
                  <a:srgbClr val="142A45"/>
                </a:solidFill>
                <a:latin typeface="Cambria" pitchFamily="34" charset="0"/>
                <a:ea typeface="Cambria" pitchFamily="34" charset="-122"/>
                <a:cs typeface="Cambria" pitchFamily="34" charset="-120"/>
              </a:rPr>
              <a:t>Option 2: Google Colab</a:t>
            </a:r>
            <a:endParaRPr lang="en-US" sz="3300" dirty="0"/>
          </a:p>
        </p:txBody>
      </p:sp>
      <p:sp>
        <p:nvSpPr>
          <p:cNvPr id="4" name="Text 2"/>
          <p:cNvSpPr txBox="1"/>
          <p:nvPr/>
        </p:nvSpPr>
        <p:spPr>
          <a:xfrm>
            <a:off x="548640" y="1554480"/>
            <a:ext cx="6309360" cy="27432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1B2430"/>
                </a:solidFill>
                <a:latin typeface="Calibri" pitchFamily="34" charset="0"/>
                <a:ea typeface="Calibri" pitchFamily="34" charset="-122"/>
                <a:cs typeface="Calibri" pitchFamily="34" charset="-120"/>
              </a:rPr>
              <a:t>A free, browser-based Python environment by Google</a:t>
            </a:r>
            <a:endParaRPr lang="en-US" sz="1800" dirty="0"/>
          </a:p>
          <a:p>
            <a:pPr marL="342900" indent="-342900">
              <a:spcAft>
                <a:spcPts val="1000"/>
              </a:spcAft>
              <a:buSzPct val="100000"/>
              <a:buChar char="•"/>
            </a:pPr>
            <a:r>
              <a:rPr lang="en-US" sz="1800" dirty="0">
                <a:solidFill>
                  <a:srgbClr val="1B2430"/>
                </a:solidFill>
                <a:latin typeface="Calibri" pitchFamily="34" charset="0"/>
                <a:ea typeface="Calibri" pitchFamily="34" charset="-122"/>
                <a:cs typeface="Calibri" pitchFamily="34" charset="-120"/>
              </a:rPr>
              <a:t>No local installation required — runs in the cloud</a:t>
            </a:r>
            <a:endParaRPr lang="en-US" sz="1800" dirty="0"/>
          </a:p>
          <a:p>
            <a:pPr marL="342900" indent="-342900">
              <a:spcAft>
                <a:spcPts val="1000"/>
              </a:spcAft>
              <a:buSzPct val="100000"/>
              <a:buChar char="•"/>
            </a:pPr>
            <a:r>
              <a:rPr lang="en-US" sz="1800" dirty="0">
                <a:solidFill>
                  <a:srgbClr val="1B2430"/>
                </a:solidFill>
                <a:latin typeface="Calibri" pitchFamily="34" charset="0"/>
                <a:ea typeface="Calibri" pitchFamily="34" charset="-122"/>
                <a:cs typeface="Calibri" pitchFamily="34" charset="-120"/>
              </a:rPr>
              <a:t>Jupyter Notebook-style interface (cells you can run individually)</a:t>
            </a:r>
            <a:endParaRPr lang="en-US" sz="1800" dirty="0"/>
          </a:p>
          <a:p>
            <a:pPr marL="342900" indent="-342900">
              <a:spcAft>
                <a:spcPts val="1000"/>
              </a:spcAft>
              <a:buSzPct val="100000"/>
              <a:buChar char="•"/>
            </a:pPr>
            <a:r>
              <a:rPr lang="en-US" sz="1800" dirty="0">
                <a:solidFill>
                  <a:srgbClr val="1B2430"/>
                </a:solidFill>
                <a:latin typeface="Calibri" pitchFamily="34" charset="0"/>
                <a:ea typeface="Calibri" pitchFamily="34" charset="-122"/>
                <a:cs typeface="Calibri" pitchFamily="34" charset="-120"/>
              </a:rPr>
              <a:t>Great for quick AI experiments and sharing work</a:t>
            </a:r>
            <a:endParaRPr lang="en-US" sz="1800" dirty="0"/>
          </a:p>
          <a:p>
            <a:pPr marL="342900" indent="-342900">
              <a:spcAft>
                <a:spcPts val="1000"/>
              </a:spcAft>
              <a:buSzPct val="100000"/>
              <a:buChar char="•"/>
            </a:pPr>
            <a:r>
              <a:rPr lang="en-US" sz="1800" dirty="0">
                <a:solidFill>
                  <a:srgbClr val="1B2430"/>
                </a:solidFill>
                <a:latin typeface="Calibri" pitchFamily="34" charset="0"/>
                <a:ea typeface="Calibri" pitchFamily="34" charset="-122"/>
                <a:cs typeface="Calibri" pitchFamily="34" charset="-120"/>
              </a:rPr>
              <a:t>Optional GPU access, useful in later AI/ML practicals</a:t>
            </a:r>
            <a:endParaRPr lang="en-US" sz="1800" dirty="0"/>
          </a:p>
        </p:txBody>
      </p:sp>
      <p:sp>
        <p:nvSpPr>
          <p:cNvPr id="5" name="Shape 3"/>
          <p:cNvSpPr/>
          <p:nvPr/>
        </p:nvSpPr>
        <p:spPr>
          <a:xfrm>
            <a:off x="548640" y="4434840"/>
            <a:ext cx="6309360" cy="1234440"/>
          </a:xfrm>
          <a:prstGeom prst="roundRect">
            <a:avLst>
              <a:gd name="adj" fmla="val 5926"/>
            </a:avLst>
          </a:prstGeom>
          <a:solidFill>
            <a:srgbClr val="EAF0F6"/>
          </a:solidFill>
          <a:ln w="12700">
            <a:solidFill>
              <a:srgbClr val="DDE3EA"/>
            </a:solidFill>
            <a:prstDash val="solid"/>
          </a:ln>
          <a:effectLst>
            <a:outerShdw blurRad="76200" dist="25400" dir="5400000" algn="bl" rotWithShape="0">
              <a:srgbClr val="142A45">
                <a:alpha val="12000"/>
              </a:srgbClr>
            </a:outerShdw>
          </a:effectLst>
        </p:spPr>
      </p:sp>
      <p:sp>
        <p:nvSpPr>
          <p:cNvPr id="6" name="Text 4"/>
          <p:cNvSpPr txBox="1"/>
          <p:nvPr/>
        </p:nvSpPr>
        <p:spPr>
          <a:xfrm>
            <a:off x="777240" y="4553712"/>
            <a:ext cx="5852160" cy="1005840"/>
          </a:xfrm>
          <a:prstGeom prst="rect">
            <a:avLst/>
          </a:prstGeom>
          <a:noFill/>
          <a:ln/>
        </p:spPr>
        <p:txBody>
          <a:bodyPr wrap="square" lIns="0" tIns="0" rIns="0" bIns="0" rtlCol="0" anchor="t"/>
          <a:lstStyle/>
          <a:p>
            <a:pPr marL="0" indent="0">
              <a:buNone/>
            </a:pPr>
            <a:r>
              <a:rPr lang="en-US" sz="1700" b="1" dirty="0">
                <a:solidFill>
                  <a:srgbClr val="142A45"/>
                </a:solidFill>
                <a:latin typeface="Calibri" pitchFamily="34" charset="0"/>
                <a:ea typeface="Calibri" pitchFamily="34" charset="-122"/>
                <a:cs typeface="Calibri" pitchFamily="34" charset="-120"/>
              </a:rPr>
              <a:t>Local Jupyter</a:t>
            </a:r>
            <a:r>
              <a:rPr lang="en-US" sz="1600" dirty="0">
                <a:solidFill>
                  <a:srgbClr val="5B6B79"/>
                </a:solidFill>
                <a:latin typeface="Calibri" pitchFamily="34" charset="0"/>
                <a:ea typeface="Calibri" pitchFamily="34" charset="-122"/>
                <a:cs typeface="Calibri" pitchFamily="34" charset="-120"/>
              </a:rPr>
              <a:t>  runs on your machine, works offline, uses your own hardware.
</a:t>
            </a:r>
            <a:r>
              <a:rPr lang="en-US" sz="1700" b="1" dirty="0">
                <a:solidFill>
                  <a:srgbClr val="142A45"/>
                </a:solidFill>
                <a:latin typeface="Calibri" pitchFamily="34" charset="0"/>
                <a:ea typeface="Calibri" pitchFamily="34" charset="-122"/>
                <a:cs typeface="Calibri" pitchFamily="34" charset="-120"/>
              </a:rPr>
              <a:t>Google Colab</a:t>
            </a:r>
            <a:r>
              <a:rPr lang="en-US" sz="1600" dirty="0">
                <a:solidFill>
                  <a:srgbClr val="5B6B79"/>
                </a:solidFill>
                <a:latin typeface="Calibri" pitchFamily="34" charset="0"/>
                <a:ea typeface="Calibri" pitchFamily="34" charset="-122"/>
                <a:cs typeface="Calibri" pitchFamily="34" charset="-120"/>
              </a:rPr>
              <a:t>  runs on Google's servers, needs internet, nothing to install.</a:t>
            </a:r>
            <a:endParaRPr lang="en-US" sz="1700" dirty="0"/>
          </a:p>
        </p:txBody>
      </p:sp>
      <p:sp>
        <p:nvSpPr>
          <p:cNvPr id="7" name="Text 5"/>
          <p:cNvSpPr txBox="1"/>
          <p:nvPr/>
        </p:nvSpPr>
        <p:spPr>
          <a:xfrm>
            <a:off x="7315200" y="1554480"/>
            <a:ext cx="4297680" cy="274320"/>
          </a:xfrm>
          <a:prstGeom prst="rect">
            <a:avLst/>
          </a:prstGeom>
          <a:noFill/>
          <a:ln/>
        </p:spPr>
        <p:txBody>
          <a:bodyPr wrap="square" lIns="0" tIns="0" rIns="0" bIns="0" rtlCol="0" anchor="ctr"/>
          <a:lstStyle/>
          <a:p>
            <a:pPr marL="0" indent="0">
              <a:buNone/>
            </a:pPr>
            <a:r>
              <a:rPr lang="en-US" sz="1600" b="1" kern="0" spc="100" dirty="0">
                <a:solidFill>
                  <a:srgbClr val="2E86AB"/>
                </a:solidFill>
                <a:latin typeface="Calibri" pitchFamily="34" charset="0"/>
                <a:ea typeface="Calibri" pitchFamily="34" charset="-122"/>
                <a:cs typeface="Calibri" pitchFamily="34" charset="-120"/>
              </a:rPr>
              <a:t>HOW A CELL RUNS</a:t>
            </a:r>
            <a:endParaRPr lang="en-US" sz="1600" dirty="0"/>
          </a:p>
        </p:txBody>
      </p:sp>
      <p:sp>
        <p:nvSpPr>
          <p:cNvPr id="8" name="Shape 6"/>
          <p:cNvSpPr/>
          <p:nvPr/>
        </p:nvSpPr>
        <p:spPr>
          <a:xfrm>
            <a:off x="7680960" y="1874520"/>
            <a:ext cx="3566160" cy="685800"/>
          </a:xfrm>
          <a:prstGeom prst="roundRect">
            <a:avLst>
              <a:gd name="adj" fmla="val 9333"/>
            </a:avLst>
          </a:prstGeom>
          <a:solidFill>
            <a:srgbClr val="142A45"/>
          </a:solidFill>
          <a:ln/>
        </p:spPr>
      </p:sp>
      <p:sp>
        <p:nvSpPr>
          <p:cNvPr id="9" name="Text 7"/>
          <p:cNvSpPr txBox="1"/>
          <p:nvPr/>
        </p:nvSpPr>
        <p:spPr>
          <a:xfrm>
            <a:off x="7790688" y="1874520"/>
            <a:ext cx="3346704" cy="68580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Notebook</a:t>
            </a:r>
            <a:endParaRPr lang="en-US" sz="1700" dirty="0"/>
          </a:p>
        </p:txBody>
      </p:sp>
      <p:sp>
        <p:nvSpPr>
          <p:cNvPr id="10" name="Text 8"/>
          <p:cNvSpPr txBox="1"/>
          <p:nvPr/>
        </p:nvSpPr>
        <p:spPr>
          <a:xfrm>
            <a:off x="7680960" y="2560320"/>
            <a:ext cx="3566160" cy="201168"/>
          </a:xfrm>
          <a:prstGeom prst="rect">
            <a:avLst/>
          </a:prstGeom>
          <a:noFill/>
          <a:ln/>
        </p:spPr>
        <p:txBody>
          <a:bodyPr wrap="square" lIns="0" tIns="0" rIns="0" bIns="0" rtlCol="0" anchor="ctr"/>
          <a:lstStyle/>
          <a:p>
            <a:pPr marL="0" indent="0" algn="ctr">
              <a:buNone/>
            </a:pPr>
            <a:r>
              <a:rPr lang="en-US" sz="1600" b="1" dirty="0">
                <a:solidFill>
                  <a:srgbClr val="2E86AB"/>
                </a:solidFill>
                <a:latin typeface="Calibri" pitchFamily="34" charset="0"/>
                <a:ea typeface="Calibri" pitchFamily="34" charset="-122"/>
                <a:cs typeface="Calibri" pitchFamily="34" charset="-120"/>
              </a:rPr>
              <a:t>↓</a:t>
            </a:r>
            <a:endParaRPr lang="en-US" sz="1600" dirty="0"/>
          </a:p>
        </p:txBody>
      </p:sp>
      <p:sp>
        <p:nvSpPr>
          <p:cNvPr id="11" name="Shape 9"/>
          <p:cNvSpPr/>
          <p:nvPr/>
        </p:nvSpPr>
        <p:spPr>
          <a:xfrm>
            <a:off x="7680960" y="2761488"/>
            <a:ext cx="3566160" cy="685800"/>
          </a:xfrm>
          <a:prstGeom prst="roundRect">
            <a:avLst>
              <a:gd name="adj" fmla="val 9333"/>
            </a:avLst>
          </a:prstGeom>
          <a:solidFill>
            <a:srgbClr val="142A45"/>
          </a:solidFill>
          <a:ln/>
        </p:spPr>
      </p:sp>
      <p:sp>
        <p:nvSpPr>
          <p:cNvPr id="12" name="Text 10"/>
          <p:cNvSpPr txBox="1"/>
          <p:nvPr/>
        </p:nvSpPr>
        <p:spPr>
          <a:xfrm>
            <a:off x="7790688" y="2761488"/>
            <a:ext cx="3346704" cy="68580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Code Cell</a:t>
            </a:r>
            <a:endParaRPr lang="en-US" sz="1700" dirty="0"/>
          </a:p>
        </p:txBody>
      </p:sp>
      <p:sp>
        <p:nvSpPr>
          <p:cNvPr id="13" name="Text 11"/>
          <p:cNvSpPr txBox="1"/>
          <p:nvPr/>
        </p:nvSpPr>
        <p:spPr>
          <a:xfrm>
            <a:off x="7680960" y="3447288"/>
            <a:ext cx="3566160" cy="201168"/>
          </a:xfrm>
          <a:prstGeom prst="rect">
            <a:avLst/>
          </a:prstGeom>
          <a:noFill/>
          <a:ln/>
        </p:spPr>
        <p:txBody>
          <a:bodyPr wrap="square" lIns="0" tIns="0" rIns="0" bIns="0" rtlCol="0" anchor="ctr"/>
          <a:lstStyle/>
          <a:p>
            <a:pPr marL="0" indent="0" algn="ctr">
              <a:buNone/>
            </a:pPr>
            <a:r>
              <a:rPr lang="en-US" sz="1600" b="1" dirty="0">
                <a:solidFill>
                  <a:srgbClr val="2E86AB"/>
                </a:solidFill>
                <a:latin typeface="Calibri" pitchFamily="34" charset="0"/>
                <a:ea typeface="Calibri" pitchFamily="34" charset="-122"/>
                <a:cs typeface="Calibri" pitchFamily="34" charset="-120"/>
              </a:rPr>
              <a:t>↓</a:t>
            </a:r>
            <a:endParaRPr lang="en-US" sz="1600" dirty="0"/>
          </a:p>
        </p:txBody>
      </p:sp>
      <p:sp>
        <p:nvSpPr>
          <p:cNvPr id="14" name="Shape 12"/>
          <p:cNvSpPr/>
          <p:nvPr/>
        </p:nvSpPr>
        <p:spPr>
          <a:xfrm>
            <a:off x="7680960" y="3648456"/>
            <a:ext cx="3566160" cy="685800"/>
          </a:xfrm>
          <a:prstGeom prst="roundRect">
            <a:avLst>
              <a:gd name="adj" fmla="val 9333"/>
            </a:avLst>
          </a:prstGeom>
          <a:solidFill>
            <a:srgbClr val="142A45"/>
          </a:solidFill>
          <a:ln/>
        </p:spPr>
      </p:sp>
      <p:sp>
        <p:nvSpPr>
          <p:cNvPr id="15" name="Text 13"/>
          <p:cNvSpPr txBox="1"/>
          <p:nvPr/>
        </p:nvSpPr>
        <p:spPr>
          <a:xfrm>
            <a:off x="7790688" y="3648456"/>
            <a:ext cx="3346704" cy="68580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Run</a:t>
            </a:r>
            <a:endParaRPr lang="en-US" sz="1700" dirty="0"/>
          </a:p>
        </p:txBody>
      </p:sp>
      <p:sp>
        <p:nvSpPr>
          <p:cNvPr id="16" name="Text 14"/>
          <p:cNvSpPr txBox="1"/>
          <p:nvPr/>
        </p:nvSpPr>
        <p:spPr>
          <a:xfrm>
            <a:off x="7680960" y="4334256"/>
            <a:ext cx="3566160" cy="201168"/>
          </a:xfrm>
          <a:prstGeom prst="rect">
            <a:avLst/>
          </a:prstGeom>
          <a:noFill/>
          <a:ln/>
        </p:spPr>
        <p:txBody>
          <a:bodyPr wrap="square" lIns="0" tIns="0" rIns="0" bIns="0" rtlCol="0" anchor="ctr"/>
          <a:lstStyle/>
          <a:p>
            <a:pPr marL="0" indent="0" algn="ctr">
              <a:buNone/>
            </a:pPr>
            <a:r>
              <a:rPr lang="en-US" sz="1600" b="1" dirty="0">
                <a:solidFill>
                  <a:srgbClr val="2E86AB"/>
                </a:solidFill>
                <a:latin typeface="Calibri" pitchFamily="34" charset="0"/>
                <a:ea typeface="Calibri" pitchFamily="34" charset="-122"/>
                <a:cs typeface="Calibri" pitchFamily="34" charset="-120"/>
              </a:rPr>
              <a:t>↓</a:t>
            </a:r>
            <a:endParaRPr lang="en-US" sz="1600" dirty="0"/>
          </a:p>
        </p:txBody>
      </p:sp>
      <p:sp>
        <p:nvSpPr>
          <p:cNvPr id="17" name="Shape 15"/>
          <p:cNvSpPr/>
          <p:nvPr/>
        </p:nvSpPr>
        <p:spPr>
          <a:xfrm>
            <a:off x="7680960" y="4535424"/>
            <a:ext cx="3566160" cy="685800"/>
          </a:xfrm>
          <a:prstGeom prst="roundRect">
            <a:avLst>
              <a:gd name="adj" fmla="val 9333"/>
            </a:avLst>
          </a:prstGeom>
          <a:solidFill>
            <a:srgbClr val="FFC857"/>
          </a:solidFill>
          <a:ln/>
        </p:spPr>
      </p:sp>
      <p:sp>
        <p:nvSpPr>
          <p:cNvPr id="18" name="Text 16"/>
          <p:cNvSpPr txBox="1"/>
          <p:nvPr/>
        </p:nvSpPr>
        <p:spPr>
          <a:xfrm>
            <a:off x="7790688" y="4535424"/>
            <a:ext cx="3346704" cy="685800"/>
          </a:xfrm>
          <a:prstGeom prst="rect">
            <a:avLst/>
          </a:prstGeom>
          <a:noFill/>
          <a:ln/>
        </p:spPr>
        <p:txBody>
          <a:bodyPr wrap="square" lIns="0" tIns="0" rIns="0" bIns="0" rtlCol="0" anchor="ctr"/>
          <a:lstStyle/>
          <a:p>
            <a:pPr marL="0" indent="0" algn="ctr">
              <a:buNone/>
            </a:pPr>
            <a:r>
              <a:rPr lang="en-US" sz="1700" b="1" dirty="0">
                <a:solidFill>
                  <a:srgbClr val="0B1930"/>
                </a:solidFill>
                <a:latin typeface="Calibri" pitchFamily="34" charset="0"/>
                <a:ea typeface="Calibri" pitchFamily="34" charset="-122"/>
                <a:cs typeface="Calibri" pitchFamily="34" charset="-120"/>
              </a:rPr>
              <a:t>Output</a:t>
            </a:r>
            <a:endParaRPr lang="en-US" sz="1700" dirty="0"/>
          </a:p>
        </p:txBody>
      </p:sp>
      <p:sp>
        <p:nvSpPr>
          <p:cNvPr id="19" name="Text 17"/>
          <p:cNvSpPr txBox="1"/>
          <p:nvPr/>
        </p:nvSpPr>
        <p:spPr>
          <a:xfrm>
            <a:off x="548640" y="6455664"/>
            <a:ext cx="9418320" cy="292608"/>
          </a:xfrm>
          <a:prstGeom prst="rect">
            <a:avLst/>
          </a:prstGeom>
          <a:noFill/>
          <a:ln/>
        </p:spPr>
        <p:txBody>
          <a:bodyPr wrap="square" lIns="0" tIns="0" rIns="0" bIns="0" rtlCol="0" anchor="ctr"/>
          <a:lstStyle/>
          <a:p>
            <a:pPr marL="0" indent="0">
              <a:buNone/>
            </a:pPr>
            <a:r>
              <a:rPr lang="en-US" sz="1600" dirty="0">
                <a:solidFill>
                  <a:srgbClr val="5B6B79"/>
                </a:solidFill>
                <a:latin typeface="Calibri" pitchFamily="34" charset="0"/>
                <a:ea typeface="Calibri" pitchFamily="34" charset="-122"/>
                <a:cs typeface="Calibri" pitchFamily="34" charset="-120"/>
              </a:rPr>
              <a:t>AI Practical 1  •  Development Environment, Python &amp; Rule-Based Chatbot</a:t>
            </a:r>
            <a:endParaRPr lang="en-US" sz="1600" dirty="0"/>
          </a:p>
        </p:txBody>
      </p:sp>
      <p:sp>
        <p:nvSpPr>
          <p:cNvPr id="20" name="Text 18"/>
          <p:cNvSpPr txBox="1"/>
          <p:nvPr/>
        </p:nvSpPr>
        <p:spPr>
          <a:xfrm>
            <a:off x="11247120" y="6455664"/>
            <a:ext cx="457200" cy="292608"/>
          </a:xfrm>
          <a:prstGeom prst="rect">
            <a:avLst/>
          </a:prstGeom>
          <a:noFill/>
          <a:ln/>
        </p:spPr>
        <p:txBody>
          <a:bodyPr wrap="square" lIns="0" tIns="0" rIns="0" bIns="0" rtlCol="0" anchor="ctr"/>
          <a:lstStyle/>
          <a:p>
            <a:pPr marL="0" indent="0" algn="r">
              <a:buNone/>
            </a:pPr>
            <a:r>
              <a:rPr lang="en-US" sz="1600" dirty="0">
                <a:solidFill>
                  <a:srgbClr val="5B6B79"/>
                </a:solidFill>
                <a:latin typeface="Calibri" pitchFamily="34" charset="0"/>
                <a:ea typeface="Calibri" pitchFamily="34" charset="-122"/>
                <a:cs typeface="Calibri" pitchFamily="34" charset="-120"/>
              </a:rPr>
              <a:t>7</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0515600" cy="310896"/>
          </a:xfrm>
          <a:prstGeom prst="rect">
            <a:avLst/>
          </a:prstGeom>
          <a:noFill/>
          <a:ln/>
        </p:spPr>
        <p:txBody>
          <a:bodyPr wrap="square" lIns="0" tIns="0" rIns="0" bIns="0" rtlCol="0" anchor="ctr"/>
          <a:lstStyle/>
          <a:p>
            <a:pPr marL="0" indent="0">
              <a:buNone/>
            </a:pPr>
            <a:r>
              <a:rPr lang="en-US" sz="1600" b="1" kern="0" spc="200" dirty="0">
                <a:solidFill>
                  <a:srgbClr val="2E86AB"/>
                </a:solidFill>
                <a:latin typeface="Calibri" pitchFamily="34" charset="0"/>
                <a:ea typeface="Calibri" pitchFamily="34" charset="-122"/>
                <a:cs typeface="Calibri" pitchFamily="34" charset="-120"/>
              </a:rPr>
              <a:t>SECTION B — DEVELOPMENT ENVIRONMENT</a:t>
            </a:r>
            <a:endParaRPr lang="en-US" sz="1600" dirty="0"/>
          </a:p>
        </p:txBody>
      </p:sp>
      <p:sp>
        <p:nvSpPr>
          <p:cNvPr id="3" name="Text 1"/>
          <p:cNvSpPr txBox="1"/>
          <p:nvPr/>
        </p:nvSpPr>
        <p:spPr>
          <a:xfrm>
            <a:off x="548640" y="603504"/>
            <a:ext cx="11064240" cy="731520"/>
          </a:xfrm>
          <a:prstGeom prst="rect">
            <a:avLst/>
          </a:prstGeom>
          <a:noFill/>
          <a:ln/>
        </p:spPr>
        <p:txBody>
          <a:bodyPr wrap="square" lIns="0" tIns="0" rIns="0" bIns="0" rtlCol="0" anchor="ctr"/>
          <a:lstStyle/>
          <a:p>
            <a:pPr marL="0" indent="0">
              <a:buNone/>
            </a:pPr>
            <a:r>
              <a:rPr lang="en-US" sz="3300" b="1" dirty="0">
                <a:solidFill>
                  <a:srgbClr val="142A45"/>
                </a:solidFill>
                <a:latin typeface="Cambria" pitchFamily="34" charset="0"/>
                <a:ea typeface="Cambria" pitchFamily="34" charset="-122"/>
                <a:cs typeface="Cambria" pitchFamily="34" charset="-120"/>
              </a:rPr>
              <a:t>Jupyter Notebook Interface</a:t>
            </a:r>
            <a:endParaRPr lang="en-US" sz="3300" dirty="0"/>
          </a:p>
        </p:txBody>
      </p:sp>
      <p:sp>
        <p:nvSpPr>
          <p:cNvPr id="4" name="Shape 2"/>
          <p:cNvSpPr/>
          <p:nvPr/>
        </p:nvSpPr>
        <p:spPr>
          <a:xfrm>
            <a:off x="548640" y="1508760"/>
            <a:ext cx="6492240" cy="4572000"/>
          </a:xfrm>
          <a:prstGeom prst="roundRect">
            <a:avLst>
              <a:gd name="adj" fmla="val 1600"/>
            </a:avLst>
          </a:prstGeom>
          <a:solidFill>
            <a:srgbClr val="FFFFFF"/>
          </a:solidFill>
          <a:ln w="12700">
            <a:solidFill>
              <a:srgbClr val="DDE3EA"/>
            </a:solidFill>
            <a:prstDash val="solid"/>
          </a:ln>
          <a:effectLst>
            <a:outerShdw blurRad="76200" dist="25400" dir="5400000" algn="bl" rotWithShape="0">
              <a:srgbClr val="142A45">
                <a:alpha val="12000"/>
              </a:srgbClr>
            </a:outerShdw>
          </a:effectLst>
        </p:spPr>
      </p:sp>
      <p:sp>
        <p:nvSpPr>
          <p:cNvPr id="5" name="Shape 3"/>
          <p:cNvSpPr/>
          <p:nvPr/>
        </p:nvSpPr>
        <p:spPr>
          <a:xfrm>
            <a:off x="548640" y="1508760"/>
            <a:ext cx="6492240" cy="365760"/>
          </a:xfrm>
          <a:prstGeom prst="rect">
            <a:avLst/>
          </a:prstGeom>
          <a:solidFill>
            <a:srgbClr val="E9EDF2"/>
          </a:solidFill>
          <a:ln/>
        </p:spPr>
      </p:sp>
      <p:sp>
        <p:nvSpPr>
          <p:cNvPr id="6" name="Shape 4"/>
          <p:cNvSpPr/>
          <p:nvPr/>
        </p:nvSpPr>
        <p:spPr>
          <a:xfrm>
            <a:off x="694944" y="1627632"/>
            <a:ext cx="128016" cy="128016"/>
          </a:xfrm>
          <a:prstGeom prst="ellipse">
            <a:avLst/>
          </a:prstGeom>
          <a:solidFill>
            <a:srgbClr val="E5645B"/>
          </a:solidFill>
          <a:ln/>
        </p:spPr>
      </p:sp>
      <p:sp>
        <p:nvSpPr>
          <p:cNvPr id="7" name="Shape 5"/>
          <p:cNvSpPr/>
          <p:nvPr/>
        </p:nvSpPr>
        <p:spPr>
          <a:xfrm>
            <a:off x="896112" y="1627632"/>
            <a:ext cx="128016" cy="128016"/>
          </a:xfrm>
          <a:prstGeom prst="ellipse">
            <a:avLst/>
          </a:prstGeom>
          <a:solidFill>
            <a:srgbClr val="F2C85B"/>
          </a:solidFill>
          <a:ln/>
        </p:spPr>
      </p:sp>
      <p:sp>
        <p:nvSpPr>
          <p:cNvPr id="8" name="Shape 6"/>
          <p:cNvSpPr/>
          <p:nvPr/>
        </p:nvSpPr>
        <p:spPr>
          <a:xfrm>
            <a:off x="1097280" y="1627632"/>
            <a:ext cx="128016" cy="128016"/>
          </a:xfrm>
          <a:prstGeom prst="ellipse">
            <a:avLst/>
          </a:prstGeom>
          <a:solidFill>
            <a:srgbClr val="5CC97A"/>
          </a:solidFill>
          <a:ln/>
        </p:spPr>
      </p:sp>
      <p:sp>
        <p:nvSpPr>
          <p:cNvPr id="9" name="Text 7"/>
          <p:cNvSpPr txBox="1"/>
          <p:nvPr/>
        </p:nvSpPr>
        <p:spPr>
          <a:xfrm>
            <a:off x="1463040" y="1508760"/>
            <a:ext cx="5394960" cy="365760"/>
          </a:xfrm>
          <a:prstGeom prst="rect">
            <a:avLst/>
          </a:prstGeom>
          <a:noFill/>
          <a:ln/>
        </p:spPr>
        <p:txBody>
          <a:bodyPr wrap="square" lIns="0" tIns="0" rIns="0" bIns="0" rtlCol="0" anchor="ctr"/>
          <a:lstStyle/>
          <a:p>
            <a:pPr marL="0" indent="0">
              <a:buNone/>
            </a:pPr>
            <a:r>
              <a:rPr lang="en-US" sz="1600" dirty="0">
                <a:solidFill>
                  <a:srgbClr val="5B6B79"/>
                </a:solidFill>
                <a:latin typeface="Calibri" pitchFamily="34" charset="0"/>
                <a:ea typeface="Calibri" pitchFamily="34" charset="-122"/>
                <a:cs typeface="Calibri" pitchFamily="34" charset="-120"/>
              </a:rPr>
              <a:t>lab1_chatbot.ipynb  —  Jupyter Notebook</a:t>
            </a:r>
            <a:endParaRPr lang="en-US" sz="1600" dirty="0"/>
          </a:p>
        </p:txBody>
      </p:sp>
      <p:sp>
        <p:nvSpPr>
          <p:cNvPr id="10" name="Shape 8"/>
          <p:cNvSpPr/>
          <p:nvPr/>
        </p:nvSpPr>
        <p:spPr>
          <a:xfrm>
            <a:off x="777240" y="2011680"/>
            <a:ext cx="6035040" cy="621792"/>
          </a:xfrm>
          <a:prstGeom prst="rect">
            <a:avLst/>
          </a:prstGeom>
          <a:solidFill>
            <a:srgbClr val="FBFBFB"/>
          </a:solidFill>
          <a:ln w="12700">
            <a:solidFill>
              <a:srgbClr val="DDE3EA"/>
            </a:solidFill>
            <a:prstDash val="solid"/>
          </a:ln>
        </p:spPr>
      </p:sp>
      <p:sp>
        <p:nvSpPr>
          <p:cNvPr id="11" name="Text 9"/>
          <p:cNvSpPr txBox="1"/>
          <p:nvPr/>
        </p:nvSpPr>
        <p:spPr>
          <a:xfrm>
            <a:off x="914400" y="2011680"/>
            <a:ext cx="5760720" cy="621792"/>
          </a:xfrm>
          <a:prstGeom prst="rect">
            <a:avLst/>
          </a:prstGeom>
          <a:noFill/>
          <a:ln/>
        </p:spPr>
        <p:txBody>
          <a:bodyPr wrap="square" lIns="0" tIns="0" rIns="0" bIns="0" rtlCol="0" anchor="ctr"/>
          <a:lstStyle/>
          <a:p>
            <a:pPr marL="0" indent="0">
              <a:buNone/>
            </a:pPr>
            <a:r>
              <a:rPr lang="en-US" sz="1600" i="1" dirty="0">
                <a:solidFill>
                  <a:srgbClr val="142A45"/>
                </a:solidFill>
                <a:latin typeface="Calibri" pitchFamily="34" charset="0"/>
                <a:ea typeface="Calibri" pitchFamily="34" charset="-122"/>
                <a:cs typeface="Calibri" pitchFamily="34" charset="-120"/>
              </a:rPr>
              <a:t># Lab 1: My First AI Program</a:t>
            </a:r>
            <a:endParaRPr lang="en-US" sz="1600" dirty="0"/>
          </a:p>
        </p:txBody>
      </p:sp>
      <p:sp>
        <p:nvSpPr>
          <p:cNvPr id="12" name="Shape 10"/>
          <p:cNvSpPr/>
          <p:nvPr/>
        </p:nvSpPr>
        <p:spPr>
          <a:xfrm>
            <a:off x="777240" y="2743200"/>
            <a:ext cx="6035040" cy="960120"/>
          </a:xfrm>
          <a:prstGeom prst="rect">
            <a:avLst/>
          </a:prstGeom>
          <a:solidFill>
            <a:srgbClr val="0D1B2E"/>
          </a:solidFill>
          <a:ln/>
        </p:spPr>
      </p:sp>
      <p:sp>
        <p:nvSpPr>
          <p:cNvPr id="13" name="Text 11"/>
          <p:cNvSpPr txBox="1"/>
          <p:nvPr/>
        </p:nvSpPr>
        <p:spPr>
          <a:xfrm>
            <a:off x="841248" y="2807208"/>
            <a:ext cx="1051560" cy="365760"/>
          </a:xfrm>
          <a:prstGeom prst="rect">
            <a:avLst/>
          </a:prstGeom>
          <a:noFill/>
          <a:ln/>
        </p:spPr>
        <p:txBody>
          <a:bodyPr wrap="square" lIns="0" tIns="0" rIns="0" bIns="0" rtlCol="0" anchor="ctr"/>
          <a:lstStyle/>
          <a:p>
            <a:pPr marL="0" indent="0">
              <a:buNone/>
            </a:pPr>
            <a:r>
              <a:rPr lang="en-US" sz="1600" dirty="0">
                <a:solidFill>
                  <a:srgbClr val="8FA9C4"/>
                </a:solidFill>
                <a:latin typeface="Courier New" pitchFamily="34" charset="0"/>
                <a:ea typeface="Courier New" pitchFamily="34" charset="-122"/>
                <a:cs typeface="Courier New" pitchFamily="34" charset="-120"/>
              </a:rPr>
              <a:t>In [1]:</a:t>
            </a:r>
            <a:endParaRPr lang="en-US" sz="1600" dirty="0"/>
          </a:p>
        </p:txBody>
      </p:sp>
      <p:sp>
        <p:nvSpPr>
          <p:cNvPr id="14" name="Text 12"/>
          <p:cNvSpPr txBox="1"/>
          <p:nvPr/>
        </p:nvSpPr>
        <p:spPr>
          <a:xfrm>
            <a:off x="1920240" y="2807208"/>
            <a:ext cx="4800600" cy="822960"/>
          </a:xfrm>
          <a:prstGeom prst="rect">
            <a:avLst/>
          </a:prstGeom>
          <a:noFill/>
          <a:ln/>
        </p:spPr>
        <p:txBody>
          <a:bodyPr wrap="square" lIns="0" tIns="0" rIns="0" bIns="0" rtlCol="0" anchor="t"/>
          <a:lstStyle/>
          <a:p>
            <a:pPr marL="0" indent="0">
              <a:lnSpc>
                <a:spcPct val="105000"/>
              </a:lnSpc>
              <a:buNone/>
            </a:pPr>
            <a:r>
              <a:rPr lang="en-US" sz="1600" dirty="0">
                <a:solidFill>
                  <a:srgbClr val="E8EEF4"/>
                </a:solidFill>
                <a:latin typeface="Courier New" pitchFamily="34" charset="0"/>
                <a:ea typeface="Courier New" pitchFamily="34" charset="-122"/>
                <a:cs typeface="Courier New" pitchFamily="34" charset="-120"/>
              </a:rPr>
              <a:t>print("Hello,</a:t>
            </a:r>
            <a:endParaRPr lang="en-US" sz="1600" dirty="0"/>
          </a:p>
          <a:p>
            <a:pPr marL="0" indent="0">
              <a:lnSpc>
                <a:spcPct val="105000"/>
              </a:lnSpc>
              <a:buNone/>
            </a:pPr>
            <a:r>
              <a:rPr lang="en-US" sz="1600" dirty="0">
                <a:solidFill>
                  <a:srgbClr val="E8EEF4"/>
                </a:solidFill>
                <a:latin typeface="Courier New" pitchFamily="34" charset="0"/>
                <a:ea typeface="Courier New" pitchFamily="34" charset="-122"/>
                <a:cs typeface="Courier New" pitchFamily="34" charset="-120"/>
              </a:rPr>
              <a:t>Artificial Intelligence!")</a:t>
            </a:r>
            <a:endParaRPr lang="en-US" sz="1600" dirty="0"/>
          </a:p>
        </p:txBody>
      </p:sp>
      <p:sp>
        <p:nvSpPr>
          <p:cNvPr id="15" name="Text 13"/>
          <p:cNvSpPr txBox="1"/>
          <p:nvPr/>
        </p:nvSpPr>
        <p:spPr>
          <a:xfrm>
            <a:off x="841248" y="3840480"/>
            <a:ext cx="1051560" cy="365760"/>
          </a:xfrm>
          <a:prstGeom prst="rect">
            <a:avLst/>
          </a:prstGeom>
          <a:noFill/>
          <a:ln/>
        </p:spPr>
        <p:txBody>
          <a:bodyPr wrap="square" lIns="0" tIns="0" rIns="0" bIns="0" rtlCol="0" anchor="ctr"/>
          <a:lstStyle/>
          <a:p>
            <a:pPr marL="0" indent="0">
              <a:buNone/>
            </a:pPr>
            <a:r>
              <a:rPr lang="en-US" sz="1600" dirty="0">
                <a:solidFill>
                  <a:srgbClr val="5B6B79"/>
                </a:solidFill>
                <a:latin typeface="Courier New" pitchFamily="34" charset="0"/>
                <a:ea typeface="Courier New" pitchFamily="34" charset="-122"/>
                <a:cs typeface="Courier New" pitchFamily="34" charset="-120"/>
              </a:rPr>
              <a:t>Out [1]:</a:t>
            </a:r>
            <a:endParaRPr lang="en-US" sz="1600" dirty="0"/>
          </a:p>
        </p:txBody>
      </p:sp>
      <p:sp>
        <p:nvSpPr>
          <p:cNvPr id="16" name="Text 14"/>
          <p:cNvSpPr txBox="1"/>
          <p:nvPr/>
        </p:nvSpPr>
        <p:spPr>
          <a:xfrm>
            <a:off x="1920240" y="3840480"/>
            <a:ext cx="4800600" cy="365760"/>
          </a:xfrm>
          <a:prstGeom prst="rect">
            <a:avLst/>
          </a:prstGeom>
          <a:noFill/>
          <a:ln/>
        </p:spPr>
        <p:txBody>
          <a:bodyPr wrap="square" lIns="0" tIns="0" rIns="0" bIns="0" rtlCol="0" anchor="ctr"/>
          <a:lstStyle/>
          <a:p>
            <a:pPr marL="0" indent="0">
              <a:buNone/>
            </a:pPr>
            <a:r>
              <a:rPr lang="en-US" sz="1600" dirty="0">
                <a:solidFill>
                  <a:srgbClr val="234A2B"/>
                </a:solidFill>
                <a:latin typeface="Courier New" pitchFamily="34" charset="0"/>
                <a:ea typeface="Courier New" pitchFamily="34" charset="-122"/>
                <a:cs typeface="Courier New" pitchFamily="34" charset="-120"/>
              </a:rPr>
              <a:t>Hello, Artificial</a:t>
            </a:r>
            <a:endParaRPr lang="en-US" sz="1600" dirty="0"/>
          </a:p>
        </p:txBody>
      </p:sp>
      <p:sp>
        <p:nvSpPr>
          <p:cNvPr id="17" name="Text 15"/>
          <p:cNvSpPr txBox="1"/>
          <p:nvPr/>
        </p:nvSpPr>
        <p:spPr>
          <a:xfrm>
            <a:off x="1920240" y="4160520"/>
            <a:ext cx="4800600" cy="320040"/>
          </a:xfrm>
          <a:prstGeom prst="rect">
            <a:avLst/>
          </a:prstGeom>
          <a:noFill/>
          <a:ln/>
        </p:spPr>
        <p:txBody>
          <a:bodyPr wrap="square" lIns="0" tIns="0" rIns="0" bIns="0" rtlCol="0" anchor="ctr"/>
          <a:lstStyle/>
          <a:p>
            <a:pPr marL="0" indent="0">
              <a:buNone/>
            </a:pPr>
            <a:r>
              <a:rPr lang="en-US" sz="1600" dirty="0">
                <a:solidFill>
                  <a:srgbClr val="234A2B"/>
                </a:solidFill>
                <a:latin typeface="Courier New" pitchFamily="34" charset="0"/>
                <a:ea typeface="Courier New" pitchFamily="34" charset="-122"/>
                <a:cs typeface="Courier New" pitchFamily="34" charset="-120"/>
              </a:rPr>
              <a:t>Intelligence!</a:t>
            </a:r>
            <a:endParaRPr lang="en-US" sz="1600" dirty="0"/>
          </a:p>
        </p:txBody>
      </p:sp>
      <p:sp>
        <p:nvSpPr>
          <p:cNvPr id="18" name="Shape 16"/>
          <p:cNvSpPr/>
          <p:nvPr/>
        </p:nvSpPr>
        <p:spPr>
          <a:xfrm>
            <a:off x="777240" y="4617720"/>
            <a:ext cx="6035040" cy="0"/>
          </a:xfrm>
          <a:prstGeom prst="line">
            <a:avLst/>
          </a:prstGeom>
          <a:noFill/>
          <a:ln w="12700">
            <a:solidFill>
              <a:srgbClr val="DDE3EA"/>
            </a:solidFill>
            <a:prstDash val="solid"/>
          </a:ln>
        </p:spPr>
      </p:sp>
      <p:sp>
        <p:nvSpPr>
          <p:cNvPr id="19" name="Text 17"/>
          <p:cNvSpPr txBox="1"/>
          <p:nvPr/>
        </p:nvSpPr>
        <p:spPr>
          <a:xfrm>
            <a:off x="822960" y="4736592"/>
            <a:ext cx="5943600" cy="320040"/>
          </a:xfrm>
          <a:prstGeom prst="rect">
            <a:avLst/>
          </a:prstGeom>
          <a:noFill/>
          <a:ln/>
        </p:spPr>
        <p:txBody>
          <a:bodyPr wrap="square" lIns="0" tIns="0" rIns="0" bIns="0" rtlCol="0" anchor="ctr"/>
          <a:lstStyle/>
          <a:p>
            <a:pPr marL="0" indent="0">
              <a:buNone/>
            </a:pPr>
            <a:r>
              <a:rPr lang="en-US" sz="1600" dirty="0">
                <a:solidFill>
                  <a:srgbClr val="5B6B79"/>
                </a:solidFill>
                <a:latin typeface="Calibri" pitchFamily="34" charset="0"/>
                <a:ea typeface="Calibri" pitchFamily="34" charset="-122"/>
                <a:cs typeface="Calibri" pitchFamily="34" charset="-120"/>
              </a:rPr>
              <a:t>Kernel: Python 3   ● Idle</a:t>
            </a:r>
            <a:endParaRPr lang="en-US" sz="1600" dirty="0"/>
          </a:p>
        </p:txBody>
      </p:sp>
      <p:sp>
        <p:nvSpPr>
          <p:cNvPr id="20" name="Text 18"/>
          <p:cNvSpPr txBox="1"/>
          <p:nvPr/>
        </p:nvSpPr>
        <p:spPr>
          <a:xfrm>
            <a:off x="822960" y="5056632"/>
            <a:ext cx="5943600" cy="320040"/>
          </a:xfrm>
          <a:prstGeom prst="rect">
            <a:avLst/>
          </a:prstGeom>
          <a:noFill/>
          <a:ln/>
        </p:spPr>
        <p:txBody>
          <a:bodyPr wrap="square" lIns="0" tIns="0" rIns="0" bIns="0" rtlCol="0" anchor="ctr"/>
          <a:lstStyle/>
          <a:p>
            <a:pPr marL="0" indent="0">
              <a:buNone/>
            </a:pPr>
            <a:r>
              <a:rPr lang="en-US" sz="1600" dirty="0">
                <a:solidFill>
                  <a:srgbClr val="5B6B79"/>
                </a:solidFill>
                <a:latin typeface="Calibri" pitchFamily="34" charset="0"/>
                <a:ea typeface="Calibri" pitchFamily="34" charset="-122"/>
                <a:cs typeface="Calibri" pitchFamily="34" charset="-120"/>
              </a:rPr>
              <a:t>Variables: none yet</a:t>
            </a:r>
            <a:endParaRPr lang="en-US" sz="1600" dirty="0"/>
          </a:p>
        </p:txBody>
      </p:sp>
      <p:sp>
        <p:nvSpPr>
          <p:cNvPr id="21" name="Shape 19"/>
          <p:cNvSpPr/>
          <p:nvPr/>
        </p:nvSpPr>
        <p:spPr>
          <a:xfrm>
            <a:off x="7360920" y="1810512"/>
            <a:ext cx="310896" cy="310896"/>
          </a:xfrm>
          <a:prstGeom prst="ellipse">
            <a:avLst/>
          </a:prstGeom>
          <a:solidFill>
            <a:srgbClr val="2E86AB"/>
          </a:solidFill>
          <a:ln/>
        </p:spPr>
      </p:sp>
      <p:sp>
        <p:nvSpPr>
          <p:cNvPr id="22" name="Text 20"/>
          <p:cNvSpPr txBox="1"/>
          <p:nvPr/>
        </p:nvSpPr>
        <p:spPr>
          <a:xfrm>
            <a:off x="7360920" y="1810512"/>
            <a:ext cx="310896" cy="310896"/>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23" name="Text 21"/>
          <p:cNvSpPr txBox="1"/>
          <p:nvPr/>
        </p:nvSpPr>
        <p:spPr>
          <a:xfrm>
            <a:off x="7818120" y="1600200"/>
            <a:ext cx="3840480" cy="713232"/>
          </a:xfrm>
          <a:prstGeom prst="rect">
            <a:avLst/>
          </a:prstGeom>
          <a:noFill/>
          <a:ln/>
        </p:spPr>
        <p:txBody>
          <a:bodyPr wrap="square" lIns="0" tIns="0" rIns="0" bIns="0" rtlCol="0" anchor="ctr"/>
          <a:lstStyle/>
          <a:p>
            <a:pPr marL="0" indent="0">
              <a:lnSpc>
                <a:spcPct val="108000"/>
              </a:lnSpc>
              <a:buNone/>
            </a:pPr>
            <a:r>
              <a:rPr lang="en-US" sz="1600" b="1" dirty="0">
                <a:solidFill>
                  <a:srgbClr val="1B2430"/>
                </a:solidFill>
                <a:latin typeface="Calibri" pitchFamily="34" charset="0"/>
                <a:ea typeface="Calibri" pitchFamily="34" charset="-122"/>
                <a:cs typeface="Calibri" pitchFamily="34" charset="-120"/>
              </a:rPr>
              <a:t>Notebook  </a:t>
            </a:r>
            <a:r>
              <a:rPr lang="en-US" sz="1600" dirty="0">
                <a:solidFill>
                  <a:srgbClr val="5B6B79"/>
                </a:solidFill>
                <a:latin typeface="Calibri" pitchFamily="34" charset="0"/>
                <a:ea typeface="Calibri" pitchFamily="34" charset="-122"/>
                <a:cs typeface="Calibri" pitchFamily="34" charset="-120"/>
              </a:rPr>
              <a:t> — the .ipynb file holding all your cells</a:t>
            </a:r>
            <a:endParaRPr lang="en-US" sz="1600" dirty="0"/>
          </a:p>
        </p:txBody>
      </p:sp>
      <p:sp>
        <p:nvSpPr>
          <p:cNvPr id="24" name="Shape 22"/>
          <p:cNvSpPr/>
          <p:nvPr/>
        </p:nvSpPr>
        <p:spPr>
          <a:xfrm>
            <a:off x="7360920" y="2523744"/>
            <a:ext cx="310896" cy="310896"/>
          </a:xfrm>
          <a:prstGeom prst="ellipse">
            <a:avLst/>
          </a:prstGeom>
          <a:solidFill>
            <a:srgbClr val="2E86AB"/>
          </a:solidFill>
          <a:ln/>
        </p:spPr>
      </p:sp>
      <p:sp>
        <p:nvSpPr>
          <p:cNvPr id="25" name="Text 23"/>
          <p:cNvSpPr txBox="1"/>
          <p:nvPr/>
        </p:nvSpPr>
        <p:spPr>
          <a:xfrm>
            <a:off x="7360920" y="2523744"/>
            <a:ext cx="310896" cy="310896"/>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26" name="Text 24"/>
          <p:cNvSpPr txBox="1"/>
          <p:nvPr/>
        </p:nvSpPr>
        <p:spPr>
          <a:xfrm>
            <a:off x="7818120" y="2313432"/>
            <a:ext cx="3840480" cy="713232"/>
          </a:xfrm>
          <a:prstGeom prst="rect">
            <a:avLst/>
          </a:prstGeom>
          <a:noFill/>
          <a:ln/>
        </p:spPr>
        <p:txBody>
          <a:bodyPr wrap="square" lIns="0" tIns="0" rIns="0" bIns="0" rtlCol="0" anchor="ctr"/>
          <a:lstStyle/>
          <a:p>
            <a:pPr marL="0" indent="0">
              <a:lnSpc>
                <a:spcPct val="108000"/>
              </a:lnSpc>
              <a:buNone/>
            </a:pPr>
            <a:r>
              <a:rPr lang="en-US" sz="1600" b="1" dirty="0">
                <a:solidFill>
                  <a:srgbClr val="1B2430"/>
                </a:solidFill>
                <a:latin typeface="Calibri" pitchFamily="34" charset="0"/>
                <a:ea typeface="Calibri" pitchFamily="34" charset="-122"/>
                <a:cs typeface="Calibri" pitchFamily="34" charset="-120"/>
              </a:rPr>
              <a:t>Code cell  </a:t>
            </a:r>
            <a:r>
              <a:rPr lang="en-US" sz="1600" dirty="0">
                <a:solidFill>
                  <a:srgbClr val="5B6B79"/>
                </a:solidFill>
                <a:latin typeface="Calibri" pitchFamily="34" charset="0"/>
                <a:ea typeface="Calibri" pitchFamily="34" charset="-122"/>
                <a:cs typeface="Calibri" pitchFamily="34" charset="-120"/>
              </a:rPr>
              <a:t> — editable block where you write Python</a:t>
            </a:r>
            <a:endParaRPr lang="en-US" sz="1600" dirty="0"/>
          </a:p>
        </p:txBody>
      </p:sp>
      <p:sp>
        <p:nvSpPr>
          <p:cNvPr id="27" name="Shape 25"/>
          <p:cNvSpPr/>
          <p:nvPr/>
        </p:nvSpPr>
        <p:spPr>
          <a:xfrm>
            <a:off x="7360920" y="3236976"/>
            <a:ext cx="310896" cy="310896"/>
          </a:xfrm>
          <a:prstGeom prst="ellipse">
            <a:avLst/>
          </a:prstGeom>
          <a:solidFill>
            <a:srgbClr val="2E86AB"/>
          </a:solidFill>
          <a:ln/>
        </p:spPr>
      </p:sp>
      <p:sp>
        <p:nvSpPr>
          <p:cNvPr id="28" name="Text 26"/>
          <p:cNvSpPr txBox="1"/>
          <p:nvPr/>
        </p:nvSpPr>
        <p:spPr>
          <a:xfrm>
            <a:off x="7360920" y="3236976"/>
            <a:ext cx="310896" cy="310896"/>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29" name="Text 27"/>
          <p:cNvSpPr txBox="1"/>
          <p:nvPr/>
        </p:nvSpPr>
        <p:spPr>
          <a:xfrm>
            <a:off x="7818120" y="3026664"/>
            <a:ext cx="3840480" cy="713232"/>
          </a:xfrm>
          <a:prstGeom prst="rect">
            <a:avLst/>
          </a:prstGeom>
          <a:noFill/>
          <a:ln/>
        </p:spPr>
        <p:txBody>
          <a:bodyPr wrap="square" lIns="0" tIns="0" rIns="0" bIns="0" rtlCol="0" anchor="ctr"/>
          <a:lstStyle/>
          <a:p>
            <a:pPr marL="0" indent="0">
              <a:lnSpc>
                <a:spcPct val="108000"/>
              </a:lnSpc>
              <a:buNone/>
            </a:pPr>
            <a:r>
              <a:rPr lang="en-US" sz="1600" b="1" dirty="0">
                <a:solidFill>
                  <a:srgbClr val="1B2430"/>
                </a:solidFill>
                <a:latin typeface="Calibri" pitchFamily="34" charset="0"/>
                <a:ea typeface="Calibri" pitchFamily="34" charset="-122"/>
                <a:cs typeface="Calibri" pitchFamily="34" charset="-120"/>
              </a:rPr>
              <a:t>Markdown cell  </a:t>
            </a:r>
            <a:r>
              <a:rPr lang="en-US" sz="1600" dirty="0">
                <a:solidFill>
                  <a:srgbClr val="5B6B79"/>
                </a:solidFill>
                <a:latin typeface="Calibri" pitchFamily="34" charset="0"/>
                <a:ea typeface="Calibri" pitchFamily="34" charset="-122"/>
                <a:cs typeface="Calibri" pitchFamily="34" charset="-120"/>
              </a:rPr>
              <a:t> — formatted text for notes and headings</a:t>
            </a:r>
            <a:endParaRPr lang="en-US" sz="1600" dirty="0"/>
          </a:p>
        </p:txBody>
      </p:sp>
      <p:sp>
        <p:nvSpPr>
          <p:cNvPr id="30" name="Shape 28"/>
          <p:cNvSpPr/>
          <p:nvPr/>
        </p:nvSpPr>
        <p:spPr>
          <a:xfrm>
            <a:off x="7360920" y="3950208"/>
            <a:ext cx="310896" cy="310896"/>
          </a:xfrm>
          <a:prstGeom prst="ellipse">
            <a:avLst/>
          </a:prstGeom>
          <a:solidFill>
            <a:srgbClr val="2E86AB"/>
          </a:solidFill>
          <a:ln/>
        </p:spPr>
      </p:sp>
      <p:sp>
        <p:nvSpPr>
          <p:cNvPr id="31" name="Text 29"/>
          <p:cNvSpPr txBox="1"/>
          <p:nvPr/>
        </p:nvSpPr>
        <p:spPr>
          <a:xfrm>
            <a:off x="7360920" y="3950208"/>
            <a:ext cx="310896" cy="310896"/>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4</a:t>
            </a:r>
            <a:endParaRPr lang="en-US" sz="1700" dirty="0"/>
          </a:p>
        </p:txBody>
      </p:sp>
      <p:sp>
        <p:nvSpPr>
          <p:cNvPr id="32" name="Text 30"/>
          <p:cNvSpPr txBox="1"/>
          <p:nvPr/>
        </p:nvSpPr>
        <p:spPr>
          <a:xfrm>
            <a:off x="7818120" y="3739896"/>
            <a:ext cx="3840480" cy="713232"/>
          </a:xfrm>
          <a:prstGeom prst="rect">
            <a:avLst/>
          </a:prstGeom>
          <a:noFill/>
          <a:ln/>
        </p:spPr>
        <p:txBody>
          <a:bodyPr wrap="square" lIns="0" tIns="0" rIns="0" bIns="0" rtlCol="0" anchor="ctr"/>
          <a:lstStyle/>
          <a:p>
            <a:pPr marL="0" indent="0">
              <a:lnSpc>
                <a:spcPct val="108000"/>
              </a:lnSpc>
              <a:buNone/>
            </a:pPr>
            <a:r>
              <a:rPr lang="en-US" sz="1600" b="1" dirty="0">
                <a:solidFill>
                  <a:srgbClr val="1B2430"/>
                </a:solidFill>
                <a:latin typeface="Calibri" pitchFamily="34" charset="0"/>
                <a:ea typeface="Calibri" pitchFamily="34" charset="-122"/>
                <a:cs typeface="Calibri" pitchFamily="34" charset="-120"/>
              </a:rPr>
              <a:t>Run button / Shift+Enter  </a:t>
            </a:r>
            <a:r>
              <a:rPr lang="en-US" sz="1600" dirty="0">
                <a:solidFill>
                  <a:srgbClr val="5B6B79"/>
                </a:solidFill>
                <a:latin typeface="Calibri" pitchFamily="34" charset="0"/>
                <a:ea typeface="Calibri" pitchFamily="34" charset="-122"/>
                <a:cs typeface="Calibri" pitchFamily="34" charset="-120"/>
              </a:rPr>
              <a:t> — executes the current cell</a:t>
            </a:r>
            <a:endParaRPr lang="en-US" sz="1600" dirty="0"/>
          </a:p>
        </p:txBody>
      </p:sp>
      <p:sp>
        <p:nvSpPr>
          <p:cNvPr id="33" name="Shape 31"/>
          <p:cNvSpPr/>
          <p:nvPr/>
        </p:nvSpPr>
        <p:spPr>
          <a:xfrm>
            <a:off x="7360920" y="4663440"/>
            <a:ext cx="310896" cy="310896"/>
          </a:xfrm>
          <a:prstGeom prst="ellipse">
            <a:avLst/>
          </a:prstGeom>
          <a:solidFill>
            <a:srgbClr val="2E86AB"/>
          </a:solidFill>
          <a:ln/>
        </p:spPr>
      </p:sp>
      <p:sp>
        <p:nvSpPr>
          <p:cNvPr id="34" name="Text 32"/>
          <p:cNvSpPr txBox="1"/>
          <p:nvPr/>
        </p:nvSpPr>
        <p:spPr>
          <a:xfrm>
            <a:off x="7360920" y="4663440"/>
            <a:ext cx="310896" cy="310896"/>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5</a:t>
            </a:r>
            <a:endParaRPr lang="en-US" sz="1700" dirty="0"/>
          </a:p>
        </p:txBody>
      </p:sp>
      <p:sp>
        <p:nvSpPr>
          <p:cNvPr id="35" name="Text 33"/>
          <p:cNvSpPr txBox="1"/>
          <p:nvPr/>
        </p:nvSpPr>
        <p:spPr>
          <a:xfrm>
            <a:off x="7818120" y="4453128"/>
            <a:ext cx="3840480" cy="713232"/>
          </a:xfrm>
          <a:prstGeom prst="rect">
            <a:avLst/>
          </a:prstGeom>
          <a:noFill/>
          <a:ln/>
        </p:spPr>
        <p:txBody>
          <a:bodyPr wrap="square" lIns="0" tIns="0" rIns="0" bIns="0" rtlCol="0" anchor="ctr"/>
          <a:lstStyle/>
          <a:p>
            <a:pPr marL="0" indent="0">
              <a:lnSpc>
                <a:spcPct val="108000"/>
              </a:lnSpc>
              <a:buNone/>
            </a:pPr>
            <a:r>
              <a:rPr lang="en-US" sz="1600" b="1" dirty="0">
                <a:solidFill>
                  <a:srgbClr val="1B2430"/>
                </a:solidFill>
                <a:latin typeface="Calibri" pitchFamily="34" charset="0"/>
                <a:ea typeface="Calibri" pitchFamily="34" charset="-122"/>
                <a:cs typeface="Calibri" pitchFamily="34" charset="-120"/>
              </a:rPr>
              <a:t>Kernel / runtime  </a:t>
            </a:r>
            <a:r>
              <a:rPr lang="en-US" sz="1600" dirty="0">
                <a:solidFill>
                  <a:srgbClr val="5B6B79"/>
                </a:solidFill>
                <a:latin typeface="Calibri" pitchFamily="34" charset="0"/>
                <a:ea typeface="Calibri" pitchFamily="34" charset="-122"/>
                <a:cs typeface="Calibri" pitchFamily="34" charset="-120"/>
              </a:rPr>
              <a:t> — the Python process running your code</a:t>
            </a:r>
            <a:endParaRPr lang="en-US" sz="1600" dirty="0"/>
          </a:p>
        </p:txBody>
      </p:sp>
      <p:sp>
        <p:nvSpPr>
          <p:cNvPr id="36" name="Shape 34"/>
          <p:cNvSpPr/>
          <p:nvPr/>
        </p:nvSpPr>
        <p:spPr>
          <a:xfrm>
            <a:off x="7360920" y="5376672"/>
            <a:ext cx="310896" cy="310896"/>
          </a:xfrm>
          <a:prstGeom prst="ellipse">
            <a:avLst/>
          </a:prstGeom>
          <a:solidFill>
            <a:srgbClr val="2E86AB"/>
          </a:solidFill>
          <a:ln/>
        </p:spPr>
      </p:sp>
      <p:sp>
        <p:nvSpPr>
          <p:cNvPr id="37" name="Text 35"/>
          <p:cNvSpPr txBox="1"/>
          <p:nvPr/>
        </p:nvSpPr>
        <p:spPr>
          <a:xfrm>
            <a:off x="7360920" y="5376672"/>
            <a:ext cx="310896" cy="310896"/>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6</a:t>
            </a:r>
            <a:endParaRPr lang="en-US" sz="1700" dirty="0"/>
          </a:p>
        </p:txBody>
      </p:sp>
      <p:sp>
        <p:nvSpPr>
          <p:cNvPr id="38" name="Text 36"/>
          <p:cNvSpPr txBox="1"/>
          <p:nvPr/>
        </p:nvSpPr>
        <p:spPr>
          <a:xfrm>
            <a:off x="7818120" y="5166360"/>
            <a:ext cx="3840480" cy="713232"/>
          </a:xfrm>
          <a:prstGeom prst="rect">
            <a:avLst/>
          </a:prstGeom>
          <a:noFill/>
          <a:ln/>
        </p:spPr>
        <p:txBody>
          <a:bodyPr wrap="square" lIns="0" tIns="0" rIns="0" bIns="0" rtlCol="0" anchor="ctr"/>
          <a:lstStyle/>
          <a:p>
            <a:pPr marL="0" indent="0">
              <a:lnSpc>
                <a:spcPct val="108000"/>
              </a:lnSpc>
              <a:buNone/>
            </a:pPr>
            <a:r>
              <a:rPr lang="en-US" sz="1600" b="1" dirty="0">
                <a:solidFill>
                  <a:srgbClr val="1B2430"/>
                </a:solidFill>
                <a:latin typeface="Calibri" pitchFamily="34" charset="0"/>
                <a:ea typeface="Calibri" pitchFamily="34" charset="-122"/>
                <a:cs typeface="Calibri" pitchFamily="34" charset="-120"/>
              </a:rPr>
              <a:t>Output  </a:t>
            </a:r>
            <a:r>
              <a:rPr lang="en-US" sz="1600" dirty="0">
                <a:solidFill>
                  <a:srgbClr val="5B6B79"/>
                </a:solidFill>
                <a:latin typeface="Calibri" pitchFamily="34" charset="0"/>
                <a:ea typeface="Calibri" pitchFamily="34" charset="-122"/>
                <a:cs typeface="Calibri" pitchFamily="34" charset="-120"/>
              </a:rPr>
              <a:t> — what the cell prints or returns</a:t>
            </a:r>
            <a:endParaRPr lang="en-US" sz="1600" dirty="0"/>
          </a:p>
        </p:txBody>
      </p:sp>
      <p:sp>
        <p:nvSpPr>
          <p:cNvPr id="39" name="Text 37"/>
          <p:cNvSpPr txBox="1"/>
          <p:nvPr/>
        </p:nvSpPr>
        <p:spPr>
          <a:xfrm>
            <a:off x="548640" y="6455664"/>
            <a:ext cx="9418320" cy="292608"/>
          </a:xfrm>
          <a:prstGeom prst="rect">
            <a:avLst/>
          </a:prstGeom>
          <a:noFill/>
          <a:ln/>
        </p:spPr>
        <p:txBody>
          <a:bodyPr wrap="square" lIns="0" tIns="0" rIns="0" bIns="0" rtlCol="0" anchor="ctr"/>
          <a:lstStyle/>
          <a:p>
            <a:pPr marL="0" indent="0">
              <a:buNone/>
            </a:pPr>
            <a:r>
              <a:rPr lang="en-US" sz="1600" dirty="0">
                <a:solidFill>
                  <a:srgbClr val="5B6B79"/>
                </a:solidFill>
                <a:latin typeface="Calibri" pitchFamily="34" charset="0"/>
                <a:ea typeface="Calibri" pitchFamily="34" charset="-122"/>
                <a:cs typeface="Calibri" pitchFamily="34" charset="-120"/>
              </a:rPr>
              <a:t>AI Practical 1  •  Development Environment, Python &amp; Rule-Based Chatbot</a:t>
            </a:r>
            <a:endParaRPr lang="en-US" sz="1600" dirty="0"/>
          </a:p>
        </p:txBody>
      </p:sp>
      <p:sp>
        <p:nvSpPr>
          <p:cNvPr id="40" name="Text 38"/>
          <p:cNvSpPr txBox="1"/>
          <p:nvPr/>
        </p:nvSpPr>
        <p:spPr>
          <a:xfrm>
            <a:off x="11247120" y="6455664"/>
            <a:ext cx="457200" cy="292608"/>
          </a:xfrm>
          <a:prstGeom prst="rect">
            <a:avLst/>
          </a:prstGeom>
          <a:noFill/>
          <a:ln/>
        </p:spPr>
        <p:txBody>
          <a:bodyPr wrap="square" lIns="0" tIns="0" rIns="0" bIns="0" rtlCol="0" anchor="ctr"/>
          <a:lstStyle/>
          <a:p>
            <a:pPr marL="0" indent="0" algn="r">
              <a:buNone/>
            </a:pPr>
            <a:r>
              <a:rPr lang="en-US" sz="1600" dirty="0">
                <a:solidFill>
                  <a:srgbClr val="5B6B79"/>
                </a:solidFill>
                <a:latin typeface="Calibri" pitchFamily="34" charset="0"/>
                <a:ea typeface="Calibri" pitchFamily="34" charset="-122"/>
                <a:cs typeface="Calibri" pitchFamily="34" charset="-120"/>
              </a:rPr>
              <a:t>8</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0515600" cy="310896"/>
          </a:xfrm>
          <a:prstGeom prst="rect">
            <a:avLst/>
          </a:prstGeom>
          <a:noFill/>
          <a:ln/>
        </p:spPr>
        <p:txBody>
          <a:bodyPr wrap="square" lIns="0" tIns="0" rIns="0" bIns="0" rtlCol="0" anchor="ctr"/>
          <a:lstStyle/>
          <a:p>
            <a:pPr marL="0" indent="0">
              <a:buNone/>
            </a:pPr>
            <a:r>
              <a:rPr lang="en-US" sz="1600" b="1" kern="0" spc="200" dirty="0">
                <a:solidFill>
                  <a:srgbClr val="2E86AB"/>
                </a:solidFill>
                <a:latin typeface="Calibri" pitchFamily="34" charset="0"/>
                <a:ea typeface="Calibri" pitchFamily="34" charset="-122"/>
                <a:cs typeface="Calibri" pitchFamily="34" charset="-120"/>
              </a:rPr>
              <a:t>SECTION B — DEVELOPMENT ENVIRONMENT</a:t>
            </a:r>
            <a:endParaRPr lang="en-US" sz="1600" dirty="0"/>
          </a:p>
        </p:txBody>
      </p:sp>
      <p:sp>
        <p:nvSpPr>
          <p:cNvPr id="3" name="Text 1"/>
          <p:cNvSpPr txBox="1"/>
          <p:nvPr/>
        </p:nvSpPr>
        <p:spPr>
          <a:xfrm>
            <a:off x="548640" y="603504"/>
            <a:ext cx="11064240" cy="731520"/>
          </a:xfrm>
          <a:prstGeom prst="rect">
            <a:avLst/>
          </a:prstGeom>
          <a:noFill/>
          <a:ln/>
        </p:spPr>
        <p:txBody>
          <a:bodyPr wrap="square" lIns="0" tIns="0" rIns="0" bIns="0" rtlCol="0" anchor="ctr"/>
          <a:lstStyle/>
          <a:p>
            <a:pPr marL="0" indent="0">
              <a:buNone/>
            </a:pPr>
            <a:r>
              <a:rPr lang="en-US" sz="3300" b="1" dirty="0">
                <a:solidFill>
                  <a:srgbClr val="142A45"/>
                </a:solidFill>
                <a:latin typeface="Cambria" pitchFamily="34" charset="0"/>
                <a:ea typeface="Cambria" pitchFamily="34" charset="-122"/>
                <a:cs typeface="Cambria" pitchFamily="34" charset="-120"/>
              </a:rPr>
              <a:t>Setting Up Google Colab — Step by Step</a:t>
            </a:r>
            <a:endParaRPr lang="en-US" sz="3300" dirty="0"/>
          </a:p>
        </p:txBody>
      </p:sp>
      <p:sp>
        <p:nvSpPr>
          <p:cNvPr id="4" name="Shape 2"/>
          <p:cNvSpPr/>
          <p:nvPr/>
        </p:nvSpPr>
        <p:spPr>
          <a:xfrm>
            <a:off x="548640" y="1764792"/>
            <a:ext cx="402336" cy="402336"/>
          </a:xfrm>
          <a:prstGeom prst="ellipse">
            <a:avLst/>
          </a:prstGeom>
          <a:solidFill>
            <a:srgbClr val="2E86AB"/>
          </a:solidFill>
          <a:ln/>
        </p:spPr>
      </p:sp>
      <p:sp>
        <p:nvSpPr>
          <p:cNvPr id="5" name="Text 3"/>
          <p:cNvSpPr txBox="1"/>
          <p:nvPr/>
        </p:nvSpPr>
        <p:spPr>
          <a:xfrm>
            <a:off x="548640" y="1764792"/>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097280" y="1691640"/>
            <a:ext cx="5394960" cy="704088"/>
          </a:xfrm>
          <a:prstGeom prst="rect">
            <a:avLst/>
          </a:prstGeom>
          <a:noFill/>
          <a:ln/>
        </p:spPr>
        <p:txBody>
          <a:bodyPr wrap="square" lIns="0" tIns="0" rIns="0" bIns="0" rtlCol="0" anchor="ctr"/>
          <a:lstStyle/>
          <a:p>
            <a:pPr marL="0" indent="0">
              <a:buNone/>
            </a:pPr>
            <a:r>
              <a:rPr lang="en-US" sz="1900" b="1" dirty="0">
                <a:solidFill>
                  <a:srgbClr val="1B2430"/>
                </a:solidFill>
                <a:latin typeface="Calibri" pitchFamily="34" charset="0"/>
                <a:ea typeface="Calibri" pitchFamily="34" charset="-122"/>
                <a:cs typeface="Calibri" pitchFamily="34" charset="-120"/>
              </a:rPr>
              <a:t>Open Colab  </a:t>
            </a:r>
            <a:r>
              <a:rPr lang="en-US" sz="1600" dirty="0">
                <a:solidFill>
                  <a:srgbClr val="5B6B79"/>
                </a:solidFill>
                <a:latin typeface="Calibri" pitchFamily="34" charset="0"/>
                <a:ea typeface="Calibri" pitchFamily="34" charset="-122"/>
                <a:cs typeface="Calibri" pitchFamily="34" charset="-120"/>
              </a:rPr>
              <a:t>Go to colab.research.google.com in any browser.</a:t>
            </a:r>
            <a:endParaRPr lang="en-US" sz="1900" dirty="0"/>
          </a:p>
        </p:txBody>
      </p:sp>
      <p:sp>
        <p:nvSpPr>
          <p:cNvPr id="7" name="Shape 5"/>
          <p:cNvSpPr/>
          <p:nvPr/>
        </p:nvSpPr>
        <p:spPr>
          <a:xfrm>
            <a:off x="749808" y="2148840"/>
            <a:ext cx="0" cy="768096"/>
          </a:xfrm>
          <a:prstGeom prst="line">
            <a:avLst/>
          </a:prstGeom>
          <a:noFill/>
          <a:ln w="19050">
            <a:solidFill>
              <a:srgbClr val="DDE3EA"/>
            </a:solidFill>
            <a:prstDash val="dash"/>
          </a:ln>
        </p:spPr>
      </p:sp>
      <p:sp>
        <p:nvSpPr>
          <p:cNvPr id="8" name="Shape 6"/>
          <p:cNvSpPr/>
          <p:nvPr/>
        </p:nvSpPr>
        <p:spPr>
          <a:xfrm>
            <a:off x="548640" y="2606040"/>
            <a:ext cx="402336" cy="402336"/>
          </a:xfrm>
          <a:prstGeom prst="ellipse">
            <a:avLst/>
          </a:prstGeom>
          <a:solidFill>
            <a:srgbClr val="142A45"/>
          </a:solidFill>
          <a:ln/>
        </p:spPr>
      </p:sp>
      <p:sp>
        <p:nvSpPr>
          <p:cNvPr id="9" name="Text 7"/>
          <p:cNvSpPr txBox="1"/>
          <p:nvPr/>
        </p:nvSpPr>
        <p:spPr>
          <a:xfrm>
            <a:off x="548640" y="2606040"/>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0" name="Text 8"/>
          <p:cNvSpPr txBox="1"/>
          <p:nvPr/>
        </p:nvSpPr>
        <p:spPr>
          <a:xfrm>
            <a:off x="1097280" y="2532888"/>
            <a:ext cx="5394960" cy="704088"/>
          </a:xfrm>
          <a:prstGeom prst="rect">
            <a:avLst/>
          </a:prstGeom>
          <a:noFill/>
          <a:ln/>
        </p:spPr>
        <p:txBody>
          <a:bodyPr wrap="square" lIns="0" tIns="0" rIns="0" bIns="0" rtlCol="0" anchor="ctr"/>
          <a:lstStyle/>
          <a:p>
            <a:pPr marL="0" indent="0">
              <a:buNone/>
            </a:pPr>
            <a:r>
              <a:rPr lang="en-US" sz="1900" b="1" dirty="0">
                <a:solidFill>
                  <a:srgbClr val="1B2430"/>
                </a:solidFill>
                <a:latin typeface="Calibri" pitchFamily="34" charset="0"/>
                <a:ea typeface="Calibri" pitchFamily="34" charset="-122"/>
                <a:cs typeface="Calibri" pitchFamily="34" charset="-120"/>
              </a:rPr>
              <a:t>Sign in  </a:t>
            </a:r>
            <a:r>
              <a:rPr lang="en-US" sz="1600" dirty="0">
                <a:solidFill>
                  <a:srgbClr val="5B6B79"/>
                </a:solidFill>
                <a:latin typeface="Calibri" pitchFamily="34" charset="0"/>
                <a:ea typeface="Calibri" pitchFamily="34" charset="-122"/>
                <a:cs typeface="Calibri" pitchFamily="34" charset="-120"/>
              </a:rPr>
              <a:t>Log in with a Google account (create one if needed).</a:t>
            </a:r>
            <a:endParaRPr lang="en-US" sz="1900" dirty="0"/>
          </a:p>
        </p:txBody>
      </p:sp>
      <p:sp>
        <p:nvSpPr>
          <p:cNvPr id="11" name="Shape 9"/>
          <p:cNvSpPr/>
          <p:nvPr/>
        </p:nvSpPr>
        <p:spPr>
          <a:xfrm>
            <a:off x="749808" y="2990088"/>
            <a:ext cx="0" cy="768096"/>
          </a:xfrm>
          <a:prstGeom prst="line">
            <a:avLst/>
          </a:prstGeom>
          <a:noFill/>
          <a:ln w="19050">
            <a:solidFill>
              <a:srgbClr val="DDE3EA"/>
            </a:solidFill>
            <a:prstDash val="dash"/>
          </a:ln>
        </p:spPr>
      </p:sp>
      <p:sp>
        <p:nvSpPr>
          <p:cNvPr id="12" name="Shape 10"/>
          <p:cNvSpPr/>
          <p:nvPr/>
        </p:nvSpPr>
        <p:spPr>
          <a:xfrm>
            <a:off x="548640" y="3447288"/>
            <a:ext cx="402336" cy="402336"/>
          </a:xfrm>
          <a:prstGeom prst="ellipse">
            <a:avLst/>
          </a:prstGeom>
          <a:solidFill>
            <a:srgbClr val="2E86AB"/>
          </a:solidFill>
          <a:ln/>
        </p:spPr>
      </p:sp>
      <p:sp>
        <p:nvSpPr>
          <p:cNvPr id="13" name="Text 11"/>
          <p:cNvSpPr txBox="1"/>
          <p:nvPr/>
        </p:nvSpPr>
        <p:spPr>
          <a:xfrm>
            <a:off x="548640" y="3447288"/>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4" name="Text 12"/>
          <p:cNvSpPr txBox="1"/>
          <p:nvPr/>
        </p:nvSpPr>
        <p:spPr>
          <a:xfrm>
            <a:off x="1097280" y="3374136"/>
            <a:ext cx="5394960" cy="704088"/>
          </a:xfrm>
          <a:prstGeom prst="rect">
            <a:avLst/>
          </a:prstGeom>
          <a:noFill/>
          <a:ln/>
        </p:spPr>
        <p:txBody>
          <a:bodyPr wrap="square" lIns="0" tIns="0" rIns="0" bIns="0" rtlCol="0" anchor="ctr"/>
          <a:lstStyle/>
          <a:p>
            <a:pPr marL="0" indent="0">
              <a:buNone/>
            </a:pPr>
            <a:r>
              <a:rPr lang="en-US" sz="1900" b="1" dirty="0">
                <a:solidFill>
                  <a:srgbClr val="1B2430"/>
                </a:solidFill>
                <a:latin typeface="Calibri" pitchFamily="34" charset="0"/>
                <a:ea typeface="Calibri" pitchFamily="34" charset="-122"/>
                <a:cs typeface="Calibri" pitchFamily="34" charset="-120"/>
              </a:rPr>
              <a:t>New notebook  </a:t>
            </a:r>
            <a:r>
              <a:rPr lang="en-US" sz="1600" dirty="0">
                <a:solidFill>
                  <a:srgbClr val="5B6B79"/>
                </a:solidFill>
                <a:latin typeface="Calibri" pitchFamily="34" charset="0"/>
                <a:ea typeface="Calibri" pitchFamily="34" charset="-122"/>
                <a:cs typeface="Calibri" pitchFamily="34" charset="-120"/>
              </a:rPr>
              <a:t>Click “New Notebook” to get a blank .ipynb file.</a:t>
            </a:r>
            <a:endParaRPr lang="en-US" sz="1900" dirty="0"/>
          </a:p>
        </p:txBody>
      </p:sp>
      <p:sp>
        <p:nvSpPr>
          <p:cNvPr id="15" name="Shape 13"/>
          <p:cNvSpPr/>
          <p:nvPr/>
        </p:nvSpPr>
        <p:spPr>
          <a:xfrm>
            <a:off x="749808" y="3831336"/>
            <a:ext cx="0" cy="768096"/>
          </a:xfrm>
          <a:prstGeom prst="line">
            <a:avLst/>
          </a:prstGeom>
          <a:noFill/>
          <a:ln w="19050">
            <a:solidFill>
              <a:srgbClr val="DDE3EA"/>
            </a:solidFill>
            <a:prstDash val="dash"/>
          </a:ln>
        </p:spPr>
      </p:sp>
      <p:sp>
        <p:nvSpPr>
          <p:cNvPr id="16" name="Shape 14"/>
          <p:cNvSpPr/>
          <p:nvPr/>
        </p:nvSpPr>
        <p:spPr>
          <a:xfrm>
            <a:off x="548640" y="4288536"/>
            <a:ext cx="402336" cy="402336"/>
          </a:xfrm>
          <a:prstGeom prst="ellipse">
            <a:avLst/>
          </a:prstGeom>
          <a:solidFill>
            <a:srgbClr val="142A45"/>
          </a:solidFill>
          <a:ln/>
        </p:spPr>
      </p:sp>
      <p:sp>
        <p:nvSpPr>
          <p:cNvPr id="17" name="Text 15"/>
          <p:cNvSpPr txBox="1"/>
          <p:nvPr/>
        </p:nvSpPr>
        <p:spPr>
          <a:xfrm>
            <a:off x="548640" y="4288536"/>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8" name="Text 16"/>
          <p:cNvSpPr txBox="1"/>
          <p:nvPr/>
        </p:nvSpPr>
        <p:spPr>
          <a:xfrm>
            <a:off x="1097280" y="4215384"/>
            <a:ext cx="5394960" cy="704088"/>
          </a:xfrm>
          <a:prstGeom prst="rect">
            <a:avLst/>
          </a:prstGeom>
          <a:noFill/>
          <a:ln/>
        </p:spPr>
        <p:txBody>
          <a:bodyPr wrap="square" lIns="0" tIns="0" rIns="0" bIns="0" rtlCol="0" anchor="ctr"/>
          <a:lstStyle/>
          <a:p>
            <a:pPr marL="0" indent="0">
              <a:buNone/>
            </a:pPr>
            <a:r>
              <a:rPr lang="en-US" sz="1900" b="1" dirty="0">
                <a:solidFill>
                  <a:srgbClr val="1B2430"/>
                </a:solidFill>
                <a:latin typeface="Calibri" pitchFamily="34" charset="0"/>
                <a:ea typeface="Calibri" pitchFamily="34" charset="-122"/>
                <a:cs typeface="Calibri" pitchFamily="34" charset="-120"/>
              </a:rPr>
              <a:t>Rename it  </a:t>
            </a:r>
            <a:r>
              <a:rPr lang="en-US" sz="1600" dirty="0">
                <a:solidFill>
                  <a:srgbClr val="5B6B79"/>
                </a:solidFill>
                <a:latin typeface="Calibri" pitchFamily="34" charset="0"/>
                <a:ea typeface="Calibri" pitchFamily="34" charset="-122"/>
                <a:cs typeface="Calibri" pitchFamily="34" charset="-120"/>
              </a:rPr>
              <a:t>Click the title and rename to lab1_chatbot.ipynb.</a:t>
            </a:r>
            <a:endParaRPr lang="en-US" sz="1900" dirty="0"/>
          </a:p>
        </p:txBody>
      </p:sp>
      <p:sp>
        <p:nvSpPr>
          <p:cNvPr id="19" name="Shape 17"/>
          <p:cNvSpPr/>
          <p:nvPr/>
        </p:nvSpPr>
        <p:spPr>
          <a:xfrm>
            <a:off x="749808" y="4672584"/>
            <a:ext cx="0" cy="768096"/>
          </a:xfrm>
          <a:prstGeom prst="line">
            <a:avLst/>
          </a:prstGeom>
          <a:noFill/>
          <a:ln w="19050">
            <a:solidFill>
              <a:srgbClr val="DDE3EA"/>
            </a:solidFill>
            <a:prstDash val="dash"/>
          </a:ln>
        </p:spPr>
      </p:sp>
      <p:sp>
        <p:nvSpPr>
          <p:cNvPr id="20" name="Shape 18"/>
          <p:cNvSpPr/>
          <p:nvPr/>
        </p:nvSpPr>
        <p:spPr>
          <a:xfrm>
            <a:off x="548640" y="5129784"/>
            <a:ext cx="402336" cy="402336"/>
          </a:xfrm>
          <a:prstGeom prst="ellipse">
            <a:avLst/>
          </a:prstGeom>
          <a:solidFill>
            <a:srgbClr val="2E86AB"/>
          </a:solidFill>
          <a:ln/>
        </p:spPr>
      </p:sp>
      <p:sp>
        <p:nvSpPr>
          <p:cNvPr id="21" name="Text 19"/>
          <p:cNvSpPr txBox="1"/>
          <p:nvPr/>
        </p:nvSpPr>
        <p:spPr>
          <a:xfrm>
            <a:off x="548640" y="5129784"/>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2" name="Text 20"/>
          <p:cNvSpPr txBox="1"/>
          <p:nvPr/>
        </p:nvSpPr>
        <p:spPr>
          <a:xfrm>
            <a:off x="1097280" y="5056632"/>
            <a:ext cx="5394960" cy="704088"/>
          </a:xfrm>
          <a:prstGeom prst="rect">
            <a:avLst/>
          </a:prstGeom>
          <a:noFill/>
          <a:ln/>
        </p:spPr>
        <p:txBody>
          <a:bodyPr wrap="square" lIns="0" tIns="0" rIns="0" bIns="0" rtlCol="0" anchor="ctr"/>
          <a:lstStyle/>
          <a:p>
            <a:pPr marL="0" indent="0">
              <a:buNone/>
            </a:pPr>
            <a:r>
              <a:rPr lang="en-US" sz="1900" b="1" dirty="0">
                <a:solidFill>
                  <a:srgbClr val="1B2430"/>
                </a:solidFill>
                <a:latin typeface="Calibri" pitchFamily="34" charset="0"/>
                <a:ea typeface="Calibri" pitchFamily="34" charset="-122"/>
                <a:cs typeface="Calibri" pitchFamily="34" charset="-120"/>
              </a:rPr>
              <a:t>Run your first cell  </a:t>
            </a:r>
            <a:r>
              <a:rPr lang="en-US" sz="1600" dirty="0">
                <a:solidFill>
                  <a:srgbClr val="5B6B79"/>
                </a:solidFill>
                <a:latin typeface="Calibri" pitchFamily="34" charset="0"/>
                <a:ea typeface="Calibri" pitchFamily="34" charset="-122"/>
                <a:cs typeface="Calibri" pitchFamily="34" charset="-120"/>
              </a:rPr>
              <a:t>Type a print statement and press Shift+Enter.</a:t>
            </a:r>
            <a:endParaRPr lang="en-US" sz="1900" dirty="0"/>
          </a:p>
        </p:txBody>
      </p:sp>
      <p:sp>
        <p:nvSpPr>
          <p:cNvPr id="23" name="Shape 21"/>
          <p:cNvSpPr/>
          <p:nvPr/>
        </p:nvSpPr>
        <p:spPr>
          <a:xfrm>
            <a:off x="6720840" y="1691640"/>
            <a:ext cx="4892040" cy="4160520"/>
          </a:xfrm>
          <a:prstGeom prst="roundRect">
            <a:avLst>
              <a:gd name="adj" fmla="val 1758"/>
            </a:avLst>
          </a:prstGeom>
          <a:solidFill>
            <a:srgbClr val="FFFFFF"/>
          </a:solidFill>
          <a:ln w="12700">
            <a:solidFill>
              <a:srgbClr val="DDE3EA"/>
            </a:solidFill>
            <a:prstDash val="solid"/>
          </a:ln>
          <a:effectLst>
            <a:outerShdw blurRad="76200" dist="25400" dir="5400000" algn="bl" rotWithShape="0">
              <a:srgbClr val="142A45">
                <a:alpha val="12000"/>
              </a:srgbClr>
            </a:outerShdw>
          </a:effectLst>
        </p:spPr>
      </p:sp>
      <p:sp>
        <p:nvSpPr>
          <p:cNvPr id="24" name="Shape 22"/>
          <p:cNvSpPr/>
          <p:nvPr/>
        </p:nvSpPr>
        <p:spPr>
          <a:xfrm>
            <a:off x="6720840" y="1691640"/>
            <a:ext cx="4892040" cy="384048"/>
          </a:xfrm>
          <a:prstGeom prst="rect">
            <a:avLst/>
          </a:prstGeom>
          <a:solidFill>
            <a:srgbClr val="E9EDF2"/>
          </a:solidFill>
          <a:ln/>
        </p:spPr>
      </p:sp>
      <p:sp>
        <p:nvSpPr>
          <p:cNvPr id="25" name="Text 23"/>
          <p:cNvSpPr txBox="1"/>
          <p:nvPr/>
        </p:nvSpPr>
        <p:spPr>
          <a:xfrm>
            <a:off x="6903720" y="1691640"/>
            <a:ext cx="4526280" cy="384048"/>
          </a:xfrm>
          <a:prstGeom prst="rect">
            <a:avLst/>
          </a:prstGeom>
          <a:noFill/>
          <a:ln/>
        </p:spPr>
        <p:txBody>
          <a:bodyPr wrap="square" lIns="0" tIns="0" rIns="0" bIns="0" rtlCol="0" anchor="ctr"/>
          <a:lstStyle/>
          <a:p>
            <a:pPr marL="0" indent="0">
              <a:buNone/>
            </a:pPr>
            <a:r>
              <a:rPr lang="en-US" sz="1600" dirty="0">
                <a:solidFill>
                  <a:srgbClr val="5B6B79"/>
                </a:solidFill>
                <a:latin typeface="Calibri" pitchFamily="34" charset="0"/>
                <a:ea typeface="Calibri" pitchFamily="34" charset="-122"/>
                <a:cs typeface="Calibri" pitchFamily="34" charset="-120"/>
              </a:rPr>
              <a:t>colab.research.google.com</a:t>
            </a:r>
            <a:endParaRPr lang="en-US" sz="1600" dirty="0"/>
          </a:p>
        </p:txBody>
      </p:sp>
      <p:sp>
        <p:nvSpPr>
          <p:cNvPr id="26" name="Shape 24"/>
          <p:cNvSpPr/>
          <p:nvPr/>
        </p:nvSpPr>
        <p:spPr>
          <a:xfrm>
            <a:off x="6949440" y="2240280"/>
            <a:ext cx="4434840" cy="411480"/>
          </a:xfrm>
          <a:prstGeom prst="roundRect">
            <a:avLst>
              <a:gd name="adj" fmla="val 13333"/>
            </a:avLst>
          </a:prstGeom>
          <a:solidFill>
            <a:srgbClr val="2E86AB"/>
          </a:solidFill>
          <a:ln/>
        </p:spPr>
      </p:sp>
      <p:sp>
        <p:nvSpPr>
          <p:cNvPr id="27" name="Text 25"/>
          <p:cNvSpPr txBox="1"/>
          <p:nvPr/>
        </p:nvSpPr>
        <p:spPr>
          <a:xfrm>
            <a:off x="6949440" y="2240280"/>
            <a:ext cx="443484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 New Notebook</a:t>
            </a:r>
            <a:endParaRPr lang="en-US" sz="1600" dirty="0"/>
          </a:p>
        </p:txBody>
      </p:sp>
      <p:sp>
        <p:nvSpPr>
          <p:cNvPr id="28" name="Shape 26"/>
          <p:cNvSpPr/>
          <p:nvPr/>
        </p:nvSpPr>
        <p:spPr>
          <a:xfrm>
            <a:off x="6949440" y="2880360"/>
            <a:ext cx="4434840" cy="365760"/>
          </a:xfrm>
          <a:prstGeom prst="rect">
            <a:avLst/>
          </a:prstGeom>
          <a:solidFill>
            <a:srgbClr val="FBFBFB"/>
          </a:solidFill>
          <a:ln w="12700">
            <a:solidFill>
              <a:srgbClr val="DDE3EA"/>
            </a:solidFill>
            <a:prstDash val="solid"/>
          </a:ln>
        </p:spPr>
      </p:sp>
      <p:sp>
        <p:nvSpPr>
          <p:cNvPr id="29" name="Text 27"/>
          <p:cNvSpPr txBox="1"/>
          <p:nvPr/>
        </p:nvSpPr>
        <p:spPr>
          <a:xfrm>
            <a:off x="7086600" y="2880360"/>
            <a:ext cx="4160520" cy="365760"/>
          </a:xfrm>
          <a:prstGeom prst="rect">
            <a:avLst/>
          </a:prstGeom>
          <a:noFill/>
          <a:ln/>
        </p:spPr>
        <p:txBody>
          <a:bodyPr wrap="square" lIns="0" tIns="0" rIns="0" bIns="0" rtlCol="0" anchor="ctr"/>
          <a:lstStyle/>
          <a:p>
            <a:pPr marL="0" indent="0">
              <a:buNone/>
            </a:pPr>
            <a:r>
              <a:rPr lang="en-US" sz="1600" i="1" dirty="0">
                <a:solidFill>
                  <a:srgbClr val="142A45"/>
                </a:solidFill>
                <a:latin typeface="Calibri" pitchFamily="34" charset="0"/>
                <a:ea typeface="Calibri" pitchFamily="34" charset="-122"/>
                <a:cs typeface="Calibri" pitchFamily="34" charset="-120"/>
              </a:rPr>
              <a:t>lab1_chatbot.ipynb</a:t>
            </a:r>
            <a:endParaRPr lang="en-US" sz="1600" dirty="0"/>
          </a:p>
        </p:txBody>
      </p:sp>
      <p:sp>
        <p:nvSpPr>
          <p:cNvPr id="30" name="Shape 28"/>
          <p:cNvSpPr/>
          <p:nvPr/>
        </p:nvSpPr>
        <p:spPr>
          <a:xfrm>
            <a:off x="6949440" y="3383280"/>
            <a:ext cx="4434840" cy="960120"/>
          </a:xfrm>
          <a:prstGeom prst="rect">
            <a:avLst/>
          </a:prstGeom>
          <a:solidFill>
            <a:srgbClr val="0D1B2E"/>
          </a:solidFill>
          <a:ln/>
        </p:spPr>
      </p:sp>
      <p:sp>
        <p:nvSpPr>
          <p:cNvPr id="31" name="Text 29"/>
          <p:cNvSpPr txBox="1"/>
          <p:nvPr/>
        </p:nvSpPr>
        <p:spPr>
          <a:xfrm>
            <a:off x="7086600" y="3383280"/>
            <a:ext cx="4160520" cy="960120"/>
          </a:xfrm>
          <a:prstGeom prst="rect">
            <a:avLst/>
          </a:prstGeom>
          <a:noFill/>
          <a:ln/>
        </p:spPr>
        <p:txBody>
          <a:bodyPr wrap="square" lIns="0" tIns="0" rIns="0" bIns="0" rtlCol="0" anchor="ctr"/>
          <a:lstStyle/>
          <a:p>
            <a:pPr marL="0" indent="0">
              <a:lnSpc>
                <a:spcPct val="105000"/>
              </a:lnSpc>
              <a:buNone/>
            </a:pPr>
            <a:r>
              <a:rPr lang="en-US" sz="1600" dirty="0">
                <a:solidFill>
                  <a:srgbClr val="E8EEF4"/>
                </a:solidFill>
                <a:latin typeface="Courier New" pitchFamily="34" charset="0"/>
                <a:ea typeface="Courier New" pitchFamily="34" charset="-122"/>
                <a:cs typeface="Courier New" pitchFamily="34" charset="-120"/>
              </a:rPr>
              <a:t>print("Hello,</a:t>
            </a:r>
            <a:endParaRPr lang="en-US" sz="1600" dirty="0"/>
          </a:p>
          <a:p>
            <a:pPr marL="0" indent="0">
              <a:lnSpc>
                <a:spcPct val="105000"/>
              </a:lnSpc>
              <a:buNone/>
            </a:pPr>
            <a:r>
              <a:rPr lang="en-US" sz="1600" dirty="0">
                <a:solidFill>
                  <a:srgbClr val="E8EEF4"/>
                </a:solidFill>
                <a:latin typeface="Courier New" pitchFamily="34" charset="0"/>
                <a:ea typeface="Courier New" pitchFamily="34" charset="-122"/>
                <a:cs typeface="Courier New" pitchFamily="34" charset="-120"/>
              </a:rPr>
              <a:t>Artificial Intelligence!")</a:t>
            </a:r>
            <a:endParaRPr lang="en-US" sz="1600" dirty="0"/>
          </a:p>
        </p:txBody>
      </p:sp>
      <p:sp>
        <p:nvSpPr>
          <p:cNvPr id="32" name="Shape 30"/>
          <p:cNvSpPr/>
          <p:nvPr/>
        </p:nvSpPr>
        <p:spPr>
          <a:xfrm>
            <a:off x="6949440" y="4480560"/>
            <a:ext cx="1371600" cy="384048"/>
          </a:xfrm>
          <a:prstGeom prst="roundRect">
            <a:avLst>
              <a:gd name="adj" fmla="val 14286"/>
            </a:avLst>
          </a:prstGeom>
          <a:solidFill>
            <a:srgbClr val="FFC857"/>
          </a:solidFill>
          <a:ln/>
        </p:spPr>
      </p:sp>
      <p:sp>
        <p:nvSpPr>
          <p:cNvPr id="33" name="Text 31"/>
          <p:cNvSpPr txBox="1"/>
          <p:nvPr/>
        </p:nvSpPr>
        <p:spPr>
          <a:xfrm>
            <a:off x="6949440" y="4480560"/>
            <a:ext cx="1371600" cy="384048"/>
          </a:xfrm>
          <a:prstGeom prst="rect">
            <a:avLst/>
          </a:prstGeom>
          <a:noFill/>
          <a:ln/>
        </p:spPr>
        <p:txBody>
          <a:bodyPr wrap="square" lIns="0" tIns="0" rIns="0" bIns="0" rtlCol="0" anchor="ctr"/>
          <a:lstStyle/>
          <a:p>
            <a:pPr marL="0" indent="0" algn="ctr">
              <a:buNone/>
            </a:pPr>
            <a:r>
              <a:rPr lang="en-US" sz="1600" b="1" dirty="0">
                <a:solidFill>
                  <a:srgbClr val="0B1930"/>
                </a:solidFill>
                <a:latin typeface="Calibri" pitchFamily="34" charset="0"/>
                <a:ea typeface="Calibri" pitchFamily="34" charset="-122"/>
                <a:cs typeface="Calibri" pitchFamily="34" charset="-120"/>
              </a:rPr>
              <a:t>▶ Run</a:t>
            </a:r>
            <a:endParaRPr lang="en-US" sz="1600" dirty="0"/>
          </a:p>
        </p:txBody>
      </p:sp>
      <p:sp>
        <p:nvSpPr>
          <p:cNvPr id="34" name="Text 32"/>
          <p:cNvSpPr txBox="1"/>
          <p:nvPr/>
        </p:nvSpPr>
        <p:spPr>
          <a:xfrm>
            <a:off x="8458200" y="4480560"/>
            <a:ext cx="1828800" cy="384048"/>
          </a:xfrm>
          <a:prstGeom prst="rect">
            <a:avLst/>
          </a:prstGeom>
          <a:noFill/>
          <a:ln/>
        </p:spPr>
        <p:txBody>
          <a:bodyPr wrap="square" lIns="0" tIns="0" rIns="0" bIns="0" rtlCol="0" anchor="ctr"/>
          <a:lstStyle/>
          <a:p>
            <a:pPr marL="0" indent="0">
              <a:buNone/>
            </a:pPr>
            <a:r>
              <a:rPr lang="en-US" sz="1600" i="1" dirty="0">
                <a:solidFill>
                  <a:srgbClr val="5B6B79"/>
                </a:solidFill>
                <a:latin typeface="Calibri" pitchFamily="34" charset="0"/>
                <a:ea typeface="Calibri" pitchFamily="34" charset="-122"/>
                <a:cs typeface="Calibri" pitchFamily="34" charset="-120"/>
              </a:rPr>
              <a:t>Shift + Enter</a:t>
            </a:r>
            <a:endParaRPr lang="en-US" sz="1600" dirty="0"/>
          </a:p>
        </p:txBody>
      </p:sp>
      <p:sp>
        <p:nvSpPr>
          <p:cNvPr id="35" name="Shape 33"/>
          <p:cNvSpPr/>
          <p:nvPr/>
        </p:nvSpPr>
        <p:spPr>
          <a:xfrm>
            <a:off x="6949440" y="5001768"/>
            <a:ext cx="4434840" cy="822960"/>
          </a:xfrm>
          <a:prstGeom prst="roundRect">
            <a:avLst>
              <a:gd name="adj" fmla="val 6667"/>
            </a:avLst>
          </a:prstGeom>
          <a:solidFill>
            <a:srgbClr val="EAF3EC"/>
          </a:solidFill>
          <a:ln w="12700">
            <a:solidFill>
              <a:srgbClr val="BFDFC8"/>
            </a:solidFill>
            <a:prstDash val="solid"/>
          </a:ln>
        </p:spPr>
      </p:sp>
      <p:sp>
        <p:nvSpPr>
          <p:cNvPr id="36" name="Text 34"/>
          <p:cNvSpPr txBox="1"/>
          <p:nvPr/>
        </p:nvSpPr>
        <p:spPr>
          <a:xfrm>
            <a:off x="7086600" y="5074920"/>
            <a:ext cx="4160520" cy="274320"/>
          </a:xfrm>
          <a:prstGeom prst="rect">
            <a:avLst/>
          </a:prstGeom>
          <a:noFill/>
          <a:ln/>
        </p:spPr>
        <p:txBody>
          <a:bodyPr wrap="square" lIns="0" tIns="0" rIns="0" bIns="0" rtlCol="0" anchor="ctr"/>
          <a:lstStyle/>
          <a:p>
            <a:pPr marL="0" indent="0">
              <a:buNone/>
            </a:pPr>
            <a:r>
              <a:rPr lang="en-US" sz="1600" b="1" kern="0" spc="100" dirty="0">
                <a:solidFill>
                  <a:srgbClr val="3F9142"/>
                </a:solidFill>
                <a:latin typeface="Calibri" pitchFamily="34" charset="0"/>
                <a:ea typeface="Calibri" pitchFamily="34" charset="-122"/>
                <a:cs typeface="Calibri" pitchFamily="34" charset="-120"/>
              </a:rPr>
              <a:t>OUTPUT</a:t>
            </a:r>
            <a:endParaRPr lang="en-US" sz="1600" dirty="0"/>
          </a:p>
        </p:txBody>
      </p:sp>
      <p:sp>
        <p:nvSpPr>
          <p:cNvPr id="37" name="Text 35"/>
          <p:cNvSpPr txBox="1"/>
          <p:nvPr/>
        </p:nvSpPr>
        <p:spPr>
          <a:xfrm>
            <a:off x="7086600" y="5367528"/>
            <a:ext cx="4160520" cy="365760"/>
          </a:xfrm>
          <a:prstGeom prst="rect">
            <a:avLst/>
          </a:prstGeom>
          <a:noFill/>
          <a:ln/>
        </p:spPr>
        <p:txBody>
          <a:bodyPr wrap="square" lIns="0" tIns="0" rIns="0" bIns="0" rtlCol="0" anchor="t"/>
          <a:lstStyle/>
          <a:p>
            <a:pPr marL="0" indent="0">
              <a:lnSpc>
                <a:spcPct val="104000"/>
              </a:lnSpc>
              <a:buNone/>
            </a:pPr>
            <a:r>
              <a:rPr lang="en-US" sz="1600" dirty="0">
                <a:solidFill>
                  <a:srgbClr val="234A2B"/>
                </a:solidFill>
                <a:latin typeface="Courier New" pitchFamily="34" charset="0"/>
                <a:ea typeface="Courier New" pitchFamily="34" charset="-122"/>
                <a:cs typeface="Courier New" pitchFamily="34" charset="-120"/>
              </a:rPr>
              <a:t>Hello, Artificial Intelligence!</a:t>
            </a:r>
            <a:endParaRPr lang="en-US" sz="1600" dirty="0"/>
          </a:p>
        </p:txBody>
      </p:sp>
      <p:sp>
        <p:nvSpPr>
          <p:cNvPr id="38" name="Text 36"/>
          <p:cNvSpPr txBox="1"/>
          <p:nvPr/>
        </p:nvSpPr>
        <p:spPr>
          <a:xfrm>
            <a:off x="548640" y="6455664"/>
            <a:ext cx="9418320" cy="292608"/>
          </a:xfrm>
          <a:prstGeom prst="rect">
            <a:avLst/>
          </a:prstGeom>
          <a:noFill/>
          <a:ln/>
        </p:spPr>
        <p:txBody>
          <a:bodyPr wrap="square" lIns="0" tIns="0" rIns="0" bIns="0" rtlCol="0" anchor="ctr"/>
          <a:lstStyle/>
          <a:p>
            <a:pPr marL="0" indent="0">
              <a:buNone/>
            </a:pPr>
            <a:r>
              <a:rPr lang="en-US" sz="1600" dirty="0">
                <a:solidFill>
                  <a:srgbClr val="5B6B79"/>
                </a:solidFill>
                <a:latin typeface="Calibri" pitchFamily="34" charset="0"/>
                <a:ea typeface="Calibri" pitchFamily="34" charset="-122"/>
                <a:cs typeface="Calibri" pitchFamily="34" charset="-120"/>
              </a:rPr>
              <a:t>AI Practical 1  •  Development Environment, Python &amp; Rule-Based Chatbot</a:t>
            </a:r>
            <a:endParaRPr lang="en-US" sz="1600" dirty="0"/>
          </a:p>
        </p:txBody>
      </p:sp>
      <p:sp>
        <p:nvSpPr>
          <p:cNvPr id="39" name="Text 37"/>
          <p:cNvSpPr txBox="1"/>
          <p:nvPr/>
        </p:nvSpPr>
        <p:spPr>
          <a:xfrm>
            <a:off x="11247120" y="6455664"/>
            <a:ext cx="457200" cy="292608"/>
          </a:xfrm>
          <a:prstGeom prst="rect">
            <a:avLst/>
          </a:prstGeom>
          <a:noFill/>
          <a:ln/>
        </p:spPr>
        <p:txBody>
          <a:bodyPr wrap="square" lIns="0" tIns="0" rIns="0" bIns="0" rtlCol="0" anchor="ctr"/>
          <a:lstStyle/>
          <a:p>
            <a:pPr marL="0" indent="0" algn="r">
              <a:buNone/>
            </a:pPr>
            <a:r>
              <a:rPr lang="en-US" sz="1600" dirty="0">
                <a:solidFill>
                  <a:srgbClr val="5B6B79"/>
                </a:solidFill>
                <a:latin typeface="Calibri" pitchFamily="34" charset="0"/>
                <a:ea typeface="Calibri" pitchFamily="34" charset="-122"/>
                <a:cs typeface="Calibri" pitchFamily="34" charset="-120"/>
              </a:rPr>
              <a:t>9</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A"/>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0515600" cy="310896"/>
          </a:xfrm>
          <a:prstGeom prst="rect">
            <a:avLst/>
          </a:prstGeom>
          <a:noFill/>
          <a:ln/>
        </p:spPr>
        <p:txBody>
          <a:bodyPr wrap="square" lIns="0" tIns="0" rIns="0" bIns="0" rtlCol="0" anchor="ctr"/>
          <a:lstStyle/>
          <a:p>
            <a:pPr marL="0" indent="0">
              <a:buNone/>
            </a:pPr>
            <a:r>
              <a:rPr lang="en-US" sz="1600" b="1" kern="0" spc="200" dirty="0">
                <a:solidFill>
                  <a:srgbClr val="2E86AB"/>
                </a:solidFill>
                <a:latin typeface="Calibri" pitchFamily="34" charset="0"/>
                <a:ea typeface="Calibri" pitchFamily="34" charset="-122"/>
                <a:cs typeface="Calibri" pitchFamily="34" charset="-120"/>
              </a:rPr>
              <a:t>SECTION B — DEVELOPMENT ENVIRONMENT</a:t>
            </a:r>
            <a:endParaRPr lang="en-US" sz="1600" dirty="0"/>
          </a:p>
        </p:txBody>
      </p:sp>
      <p:sp>
        <p:nvSpPr>
          <p:cNvPr id="3" name="Text 1"/>
          <p:cNvSpPr txBox="1"/>
          <p:nvPr/>
        </p:nvSpPr>
        <p:spPr>
          <a:xfrm>
            <a:off x="548640" y="603504"/>
            <a:ext cx="11064240" cy="731520"/>
          </a:xfrm>
          <a:prstGeom prst="rect">
            <a:avLst/>
          </a:prstGeom>
          <a:noFill/>
          <a:ln/>
        </p:spPr>
        <p:txBody>
          <a:bodyPr wrap="square" lIns="0" tIns="0" rIns="0" bIns="0" rtlCol="0" anchor="ctr"/>
          <a:lstStyle/>
          <a:p>
            <a:pPr marL="0" indent="0">
              <a:buNone/>
            </a:pPr>
            <a:r>
              <a:rPr lang="en-US" sz="3300" b="1" dirty="0">
                <a:solidFill>
                  <a:srgbClr val="142A45"/>
                </a:solidFill>
                <a:latin typeface="Cambria" pitchFamily="34" charset="0"/>
                <a:ea typeface="Cambria" pitchFamily="34" charset="-122"/>
                <a:cs typeface="Cambria" pitchFamily="34" charset="-120"/>
              </a:rPr>
              <a:t>Anaconda vs. Google Colab — Which to Use?</a:t>
            </a:r>
            <a:endParaRPr lang="en-US" sz="3300" dirty="0"/>
          </a:p>
        </p:txBody>
      </p:sp>
      <p:sp>
        <p:nvSpPr>
          <p:cNvPr id="4" name="Text 2"/>
          <p:cNvSpPr txBox="1"/>
          <p:nvPr/>
        </p:nvSpPr>
        <p:spPr>
          <a:xfrm>
            <a:off x="548640" y="1234440"/>
            <a:ext cx="10789920" cy="320040"/>
          </a:xfrm>
          <a:prstGeom prst="rect">
            <a:avLst/>
          </a:prstGeom>
          <a:noFill/>
          <a:ln/>
        </p:spPr>
        <p:txBody>
          <a:bodyPr wrap="square" lIns="0" tIns="0" rIns="0" bIns="0" rtlCol="0" anchor="ctr"/>
          <a:lstStyle/>
          <a:p>
            <a:pPr marL="0" indent="0">
              <a:buNone/>
            </a:pPr>
            <a:r>
              <a:rPr lang="en-US" sz="1700" dirty="0">
                <a:solidFill>
                  <a:srgbClr val="5B6B79"/>
                </a:solidFill>
                <a:latin typeface="Calibri" pitchFamily="34" charset="0"/>
                <a:ea typeface="Calibri" pitchFamily="34" charset="-122"/>
                <a:cs typeface="Calibri" pitchFamily="34" charset="-120"/>
              </a:rPr>
              <a:t>Both are valid. This practical uses whichever your instructor selects for the lab.</a:t>
            </a:r>
            <a:endParaRPr lang="en-US" sz="17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64240" cy="3291840"/>
        </p:xfrm>
        <a:graphic>
          <a:graphicData uri="http://schemas.openxmlformats.org/drawingml/2006/table">
            <a:tbl>
              <a:tblPr/>
              <a:tblGrid>
                <a:gridCol w="2743200">
                  <a:extLst>
                    <a:ext uri="{9D8B030D-6E8A-4147-A177-3AD203B41FA5}">
                      <a16:colId xmlns:a16="http://schemas.microsoft.com/office/drawing/2014/main" val="20000"/>
                    </a:ext>
                  </a:extLst>
                </a:gridCol>
                <a:gridCol w="4160520">
                  <a:extLst>
                    <a:ext uri="{9D8B030D-6E8A-4147-A177-3AD203B41FA5}">
                      <a16:colId xmlns:a16="http://schemas.microsoft.com/office/drawing/2014/main" val="20001"/>
                    </a:ext>
                  </a:extLst>
                </a:gridCol>
                <a:gridCol w="4160520">
                  <a:extLst>
                    <a:ext uri="{9D8B030D-6E8A-4147-A177-3AD203B41FA5}">
                      <a16:colId xmlns:a16="http://schemas.microsoft.com/office/drawing/2014/main" val="20002"/>
                    </a:ext>
                  </a:extLst>
                </a:gridCol>
              </a:tblGrid>
              <a:tr h="548640">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Feature</a:t>
                      </a:r>
                      <a:endParaRPr lang="en-US" sz="1600" dirty="0">
                        <a:latin typeface="Calibri" charset="0"/>
                        <a:ea typeface="Calibri" charset="0"/>
                        <a:cs typeface="Calibri" charset="0"/>
                      </a:endParaRPr>
                    </a:p>
                  </a:txBody>
                  <a:tcPr marL="45720" marR="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142A45"/>
                    </a:solidFill>
                  </a:tcPr>
                </a:tc>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Anaconda (local)</a:t>
                      </a:r>
                      <a:endParaRPr lang="en-US" sz="1600" dirty="0">
                        <a:latin typeface="Calibri" charset="0"/>
                        <a:ea typeface="Calibri" charset="0"/>
                        <a:cs typeface="Calibri" charset="0"/>
                      </a:endParaRPr>
                    </a:p>
                  </a:txBody>
                  <a:tcPr marL="45720" marR="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142A45"/>
                    </a:solidFill>
                  </a:tcPr>
                </a:tc>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Google Colab (cloud)</a:t>
                      </a:r>
                      <a:endParaRPr lang="en-US" sz="1600" dirty="0">
                        <a:latin typeface="Calibri" charset="0"/>
                        <a:ea typeface="Calibri" charset="0"/>
                        <a:cs typeface="Calibri" charset="0"/>
                      </a:endParaRPr>
                    </a:p>
                  </a:txBody>
                  <a:tcPr marL="45720" marR="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142A45"/>
                    </a:solidFill>
                  </a:tcPr>
                </a:tc>
                <a:extLst>
                  <a:ext uri="{0D108BD9-81ED-4DB2-BD59-A6C34878D82A}">
                    <a16:rowId xmlns:a16="http://schemas.microsoft.com/office/drawing/2014/main" val="10000"/>
                  </a:ext>
                </a:extLst>
              </a:tr>
              <a:tr h="548640">
                <a:tc>
                  <a:txBody>
                    <a:bodyPr/>
                    <a:lstStyle/>
                    <a:p>
                      <a:pPr marL="0" indent="0" algn="l">
                        <a:buNone/>
                      </a:pPr>
                      <a:r>
                        <a:rPr lang="en-US" sz="1600" b="1" dirty="0">
                          <a:solidFill>
                            <a:srgbClr val="1B2430"/>
                          </a:solidFill>
                          <a:latin typeface="Calibri" pitchFamily="34" charset="0"/>
                          <a:ea typeface="Calibri" pitchFamily="34" charset="-122"/>
                          <a:cs typeface="Calibri" pitchFamily="34" charset="-120"/>
                        </a:rPr>
                        <a:t>Installation</a:t>
                      </a:r>
                      <a:endParaRPr lang="en-US" sz="1600" dirty="0">
                        <a:latin typeface="Calibri" charset="0"/>
                        <a:ea typeface="Calibri" charset="0"/>
                        <a:cs typeface="Calibri" charset="0"/>
                      </a:endParaRPr>
                    </a:p>
                  </a:txBody>
                  <a:tcPr marL="45720" marR="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2430"/>
                          </a:solidFill>
                          <a:latin typeface="Calibri" pitchFamily="34" charset="0"/>
                          <a:ea typeface="Calibri" pitchFamily="34" charset="-122"/>
                          <a:cs typeface="Calibri" pitchFamily="34" charset="-120"/>
                        </a:rPr>
                        <a:t>Required, one-time setup</a:t>
                      </a:r>
                      <a:endParaRPr lang="en-US" sz="1600" dirty="0">
                        <a:latin typeface="Calibri" charset="0"/>
                        <a:ea typeface="Calibri" charset="0"/>
                        <a:cs typeface="Calibri" charset="0"/>
                      </a:endParaRPr>
                    </a:p>
                  </a:txBody>
                  <a:tcPr marL="45720" marR="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2430"/>
                          </a:solidFill>
                          <a:latin typeface="Calibri" pitchFamily="34" charset="0"/>
                          <a:ea typeface="Calibri" pitchFamily="34" charset="-122"/>
                          <a:cs typeface="Calibri" pitchFamily="34" charset="-120"/>
                        </a:rPr>
                        <a:t>None — just open a browser</a:t>
                      </a:r>
                      <a:endParaRPr lang="en-US" sz="1600" dirty="0">
                        <a:latin typeface="Calibri" charset="0"/>
                        <a:ea typeface="Calibri" charset="0"/>
                        <a:cs typeface="Calibri" charset="0"/>
                      </a:endParaRPr>
                    </a:p>
                  </a:txBody>
                  <a:tcPr marL="45720" marR="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l">
                        <a:buNone/>
                      </a:pPr>
                      <a:r>
                        <a:rPr lang="en-US" sz="1600" b="1" dirty="0">
                          <a:solidFill>
                            <a:srgbClr val="1B2430"/>
                          </a:solidFill>
                          <a:latin typeface="Calibri" pitchFamily="34" charset="0"/>
                          <a:ea typeface="Calibri" pitchFamily="34" charset="-122"/>
                          <a:cs typeface="Calibri" pitchFamily="34" charset="-120"/>
                        </a:rPr>
                        <a:t>Internet needed</a:t>
                      </a:r>
                      <a:endParaRPr lang="en-US" sz="1600" dirty="0">
                        <a:latin typeface="Calibri" charset="0"/>
                        <a:ea typeface="Calibri" charset="0"/>
                        <a:cs typeface="Calibri" charset="0"/>
                      </a:endParaRPr>
                    </a:p>
                  </a:txBody>
                  <a:tcPr marL="45720" marR="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EEF2F6"/>
                    </a:solidFill>
                  </a:tcPr>
                </a:tc>
                <a:tc>
                  <a:txBody>
                    <a:bodyPr/>
                    <a:lstStyle/>
                    <a:p>
                      <a:pPr marL="0" indent="0" algn="l">
                        <a:buNone/>
                      </a:pPr>
                      <a:r>
                        <a:rPr lang="en-US" sz="1600" dirty="0">
                          <a:solidFill>
                            <a:srgbClr val="1B2430"/>
                          </a:solidFill>
                          <a:latin typeface="Calibri" pitchFamily="34" charset="0"/>
                          <a:ea typeface="Calibri" pitchFamily="34" charset="-122"/>
                          <a:cs typeface="Calibri" pitchFamily="34" charset="-120"/>
                        </a:rPr>
                        <a:t>No, works offline</a:t>
                      </a:r>
                      <a:endParaRPr lang="en-US" sz="1600" dirty="0">
                        <a:latin typeface="Calibri" charset="0"/>
                        <a:ea typeface="Calibri" charset="0"/>
                        <a:cs typeface="Calibri" charset="0"/>
                      </a:endParaRPr>
                    </a:p>
                  </a:txBody>
                  <a:tcPr marL="45720" marR="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EEF2F6"/>
                    </a:solidFill>
                  </a:tcPr>
                </a:tc>
                <a:tc>
                  <a:txBody>
                    <a:bodyPr/>
                    <a:lstStyle/>
                    <a:p>
                      <a:pPr marL="0" indent="0" algn="l">
                        <a:buNone/>
                      </a:pPr>
                      <a:r>
                        <a:rPr lang="en-US" sz="1600" dirty="0">
                          <a:solidFill>
                            <a:srgbClr val="1B2430"/>
                          </a:solidFill>
                          <a:latin typeface="Calibri" pitchFamily="34" charset="0"/>
                          <a:ea typeface="Calibri" pitchFamily="34" charset="-122"/>
                          <a:cs typeface="Calibri" pitchFamily="34" charset="-120"/>
                        </a:rPr>
                        <a:t>Yes, always online</a:t>
                      </a:r>
                      <a:endParaRPr lang="en-US" sz="1600" dirty="0">
                        <a:latin typeface="Calibri" charset="0"/>
                        <a:ea typeface="Calibri" charset="0"/>
                        <a:cs typeface="Calibri" charset="0"/>
                      </a:endParaRPr>
                    </a:p>
                  </a:txBody>
                  <a:tcPr marL="45720" marR="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EEF2F6"/>
                    </a:solidFill>
                  </a:tcPr>
                </a:tc>
                <a:extLst>
                  <a:ext uri="{0D108BD9-81ED-4DB2-BD59-A6C34878D82A}">
                    <a16:rowId xmlns:a16="http://schemas.microsoft.com/office/drawing/2014/main" val="10002"/>
                  </a:ext>
                </a:extLst>
              </a:tr>
              <a:tr h="548640">
                <a:tc>
                  <a:txBody>
                    <a:bodyPr/>
                    <a:lstStyle/>
                    <a:p>
                      <a:pPr marL="0" indent="0" algn="l">
                        <a:buNone/>
                      </a:pPr>
                      <a:r>
                        <a:rPr lang="en-US" sz="1600" b="1" dirty="0">
                          <a:solidFill>
                            <a:srgbClr val="1B2430"/>
                          </a:solidFill>
                          <a:latin typeface="Calibri" pitchFamily="34" charset="0"/>
                          <a:ea typeface="Calibri" pitchFamily="34" charset="-122"/>
                          <a:cs typeface="Calibri" pitchFamily="34" charset="-120"/>
                        </a:rPr>
                        <a:t>Hardware used</a:t>
                      </a:r>
                      <a:endParaRPr lang="en-US" sz="1600" dirty="0">
                        <a:latin typeface="Calibri" charset="0"/>
                        <a:ea typeface="Calibri" charset="0"/>
                        <a:cs typeface="Calibri" charset="0"/>
                      </a:endParaRPr>
                    </a:p>
                  </a:txBody>
                  <a:tcPr marL="45720" marR="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2430"/>
                          </a:solidFill>
                          <a:latin typeface="Calibri" pitchFamily="34" charset="0"/>
                          <a:ea typeface="Calibri" pitchFamily="34" charset="-122"/>
                          <a:cs typeface="Calibri" pitchFamily="34" charset="-120"/>
                        </a:rPr>
                        <a:t>Your own computer</a:t>
                      </a:r>
                      <a:endParaRPr lang="en-US" sz="1600" dirty="0">
                        <a:latin typeface="Calibri" charset="0"/>
                        <a:ea typeface="Calibri" charset="0"/>
                        <a:cs typeface="Calibri" charset="0"/>
                      </a:endParaRPr>
                    </a:p>
                  </a:txBody>
                  <a:tcPr marL="45720" marR="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2430"/>
                          </a:solidFill>
                          <a:latin typeface="Calibri" pitchFamily="34" charset="0"/>
                          <a:ea typeface="Calibri" pitchFamily="34" charset="-122"/>
                          <a:cs typeface="Calibri" pitchFamily="34" charset="-120"/>
                        </a:rPr>
                        <a:t>Google's servers (GPU optional)</a:t>
                      </a:r>
                      <a:endParaRPr lang="en-US" sz="1600" dirty="0">
                        <a:latin typeface="Calibri" charset="0"/>
                        <a:ea typeface="Calibri" charset="0"/>
                        <a:cs typeface="Calibri" charset="0"/>
                      </a:endParaRPr>
                    </a:p>
                  </a:txBody>
                  <a:tcPr marL="45720" marR="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lgn="l">
                        <a:buNone/>
                      </a:pPr>
                      <a:r>
                        <a:rPr lang="en-US" sz="1600" b="1" dirty="0">
                          <a:solidFill>
                            <a:srgbClr val="1B2430"/>
                          </a:solidFill>
                          <a:latin typeface="Calibri" pitchFamily="34" charset="0"/>
                          <a:ea typeface="Calibri" pitchFamily="34" charset="-122"/>
                          <a:cs typeface="Calibri" pitchFamily="34" charset="-120"/>
                        </a:rPr>
                        <a:t>Best for</a:t>
                      </a:r>
                      <a:endParaRPr lang="en-US" sz="1600" dirty="0">
                        <a:latin typeface="Calibri" charset="0"/>
                        <a:ea typeface="Calibri" charset="0"/>
                        <a:cs typeface="Calibri" charset="0"/>
                      </a:endParaRPr>
                    </a:p>
                  </a:txBody>
                  <a:tcPr marL="45720" marR="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EEF2F6"/>
                    </a:solidFill>
                  </a:tcPr>
                </a:tc>
                <a:tc>
                  <a:txBody>
                    <a:bodyPr/>
                    <a:lstStyle/>
                    <a:p>
                      <a:pPr marL="0" indent="0" algn="l">
                        <a:buNone/>
                      </a:pPr>
                      <a:r>
                        <a:rPr lang="en-US" sz="1600" dirty="0">
                          <a:solidFill>
                            <a:srgbClr val="1B2430"/>
                          </a:solidFill>
                          <a:latin typeface="Calibri" pitchFamily="34" charset="0"/>
                          <a:ea typeface="Calibri" pitchFamily="34" charset="-122"/>
                          <a:cs typeface="Calibri" pitchFamily="34" charset="-120"/>
                        </a:rPr>
                        <a:t>Full control, larger local projects</a:t>
                      </a:r>
                      <a:endParaRPr lang="en-US" sz="1600" dirty="0">
                        <a:latin typeface="Calibri" charset="0"/>
                        <a:ea typeface="Calibri" charset="0"/>
                        <a:cs typeface="Calibri" charset="0"/>
                      </a:endParaRPr>
                    </a:p>
                  </a:txBody>
                  <a:tcPr marL="45720" marR="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EEF2F6"/>
                    </a:solidFill>
                  </a:tcPr>
                </a:tc>
                <a:tc>
                  <a:txBody>
                    <a:bodyPr/>
                    <a:lstStyle/>
                    <a:p>
                      <a:pPr marL="0" indent="0" algn="l">
                        <a:buNone/>
                      </a:pPr>
                      <a:r>
                        <a:rPr lang="en-US" sz="1600" dirty="0">
                          <a:solidFill>
                            <a:srgbClr val="1B2430"/>
                          </a:solidFill>
                          <a:latin typeface="Calibri" pitchFamily="34" charset="0"/>
                          <a:ea typeface="Calibri" pitchFamily="34" charset="-122"/>
                          <a:cs typeface="Calibri" pitchFamily="34" charset="-120"/>
                        </a:rPr>
                        <a:t>Quick starts, easy sharing</a:t>
                      </a:r>
                      <a:endParaRPr lang="en-US" sz="1600" dirty="0">
                        <a:latin typeface="Calibri" charset="0"/>
                        <a:ea typeface="Calibri" charset="0"/>
                        <a:cs typeface="Calibri" charset="0"/>
                      </a:endParaRPr>
                    </a:p>
                  </a:txBody>
                  <a:tcPr marL="45720" marR="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EEF2F6"/>
                    </a:solidFill>
                  </a:tcPr>
                </a:tc>
                <a:extLst>
                  <a:ext uri="{0D108BD9-81ED-4DB2-BD59-A6C34878D82A}">
                    <a16:rowId xmlns:a16="http://schemas.microsoft.com/office/drawing/2014/main" val="10004"/>
                  </a:ext>
                </a:extLst>
              </a:tr>
              <a:tr h="548640">
                <a:tc>
                  <a:txBody>
                    <a:bodyPr/>
                    <a:lstStyle/>
                    <a:p>
                      <a:pPr marL="0" indent="0" algn="l">
                        <a:buNone/>
                      </a:pPr>
                      <a:r>
                        <a:rPr lang="en-US" sz="1600" b="1" dirty="0">
                          <a:solidFill>
                            <a:srgbClr val="1B2430"/>
                          </a:solidFill>
                          <a:latin typeface="Calibri" pitchFamily="34" charset="0"/>
                          <a:ea typeface="Calibri" pitchFamily="34" charset="-122"/>
                          <a:cs typeface="Calibri" pitchFamily="34" charset="-120"/>
                        </a:rPr>
                        <a:t>Setup time today</a:t>
                      </a:r>
                      <a:endParaRPr lang="en-US" sz="1600" dirty="0">
                        <a:latin typeface="Calibri" charset="0"/>
                        <a:ea typeface="Calibri" charset="0"/>
                        <a:cs typeface="Calibri" charset="0"/>
                      </a:endParaRPr>
                    </a:p>
                  </a:txBody>
                  <a:tcPr marL="45720" marR="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2430"/>
                          </a:solidFill>
                          <a:latin typeface="Calibri" pitchFamily="34" charset="0"/>
                          <a:ea typeface="Calibri" pitchFamily="34" charset="-122"/>
                          <a:cs typeface="Calibri" pitchFamily="34" charset="-120"/>
                        </a:rPr>
                        <a:t>Longer</a:t>
                      </a:r>
                      <a:endParaRPr lang="en-US" sz="1600" dirty="0">
                        <a:latin typeface="Calibri" charset="0"/>
                        <a:ea typeface="Calibri" charset="0"/>
                        <a:cs typeface="Calibri" charset="0"/>
                      </a:endParaRPr>
                    </a:p>
                  </a:txBody>
                  <a:tcPr marL="45720" marR="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2430"/>
                          </a:solidFill>
                          <a:latin typeface="Calibri" pitchFamily="34" charset="0"/>
                          <a:ea typeface="Calibri" pitchFamily="34" charset="-122"/>
                          <a:cs typeface="Calibri" pitchFamily="34" charset="-120"/>
                        </a:rPr>
                        <a:t>Under two minutes</a:t>
                      </a:r>
                      <a:endParaRPr lang="en-US" sz="1600" dirty="0">
                        <a:latin typeface="Calibri" charset="0"/>
                        <a:ea typeface="Calibri" charset="0"/>
                        <a:cs typeface="Calibri" charset="0"/>
                      </a:endParaRPr>
                    </a:p>
                  </a:txBody>
                  <a:tcPr marL="45720" marR="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Shape 3"/>
          <p:cNvSpPr/>
          <p:nvPr/>
        </p:nvSpPr>
        <p:spPr>
          <a:xfrm>
            <a:off x="548640" y="5349240"/>
            <a:ext cx="11064240" cy="868680"/>
          </a:xfrm>
          <a:prstGeom prst="roundRect">
            <a:avLst>
              <a:gd name="adj" fmla="val 8421"/>
            </a:avLst>
          </a:prstGeom>
          <a:solidFill>
            <a:srgbClr val="FFF7E6"/>
          </a:solidFill>
          <a:ln w="12700">
            <a:solidFill>
              <a:srgbClr val="F2D98C"/>
            </a:solidFill>
            <a:prstDash val="solid"/>
          </a:ln>
          <a:effectLst>
            <a:outerShdw blurRad="76200" dist="25400" dir="5400000" algn="bl" rotWithShape="0">
              <a:srgbClr val="142A45">
                <a:alpha val="12000"/>
              </a:srgbClr>
            </a:outerShdw>
          </a:effectLst>
        </p:spPr>
      </p:sp>
      <p:sp>
        <p:nvSpPr>
          <p:cNvPr id="7" name="Text 4"/>
          <p:cNvSpPr txBox="1"/>
          <p:nvPr/>
        </p:nvSpPr>
        <p:spPr>
          <a:xfrm>
            <a:off x="777240" y="5349240"/>
            <a:ext cx="10607040" cy="868680"/>
          </a:xfrm>
          <a:prstGeom prst="rect">
            <a:avLst/>
          </a:prstGeom>
          <a:noFill/>
          <a:ln/>
        </p:spPr>
        <p:txBody>
          <a:bodyPr wrap="square" lIns="0" tIns="0" rIns="0" bIns="0" rtlCol="0" anchor="ctr"/>
          <a:lstStyle/>
          <a:p>
            <a:pPr marL="0" indent="0">
              <a:buNone/>
            </a:pPr>
            <a:r>
              <a:rPr lang="en-US" sz="1700" b="1" dirty="0">
                <a:solidFill>
                  <a:srgbClr val="142A45"/>
                </a:solidFill>
                <a:latin typeface="Calibri" pitchFamily="34" charset="0"/>
                <a:ea typeface="Calibri" pitchFamily="34" charset="-122"/>
                <a:cs typeface="Calibri" pitchFamily="34" charset="-120"/>
              </a:rPr>
              <a:t>Recommendation for this course:  </a:t>
            </a:r>
            <a:r>
              <a:rPr lang="en-US" sz="1600" dirty="0">
                <a:solidFill>
                  <a:srgbClr val="1B2430"/>
                </a:solidFill>
                <a:latin typeface="Calibri" pitchFamily="34" charset="0"/>
                <a:ea typeface="Calibri" pitchFamily="34" charset="-122"/>
                <a:cs typeface="Calibri" pitchFamily="34" charset="-120"/>
              </a:rPr>
              <a:t>Google Colab is recommended for these practicals — it removes setup friction so we can focus on AI concepts. Anaconda remains a strong choice for your own projects outside class.</a:t>
            </a:r>
            <a:endParaRPr lang="en-US" sz="1700" dirty="0"/>
          </a:p>
        </p:txBody>
      </p:sp>
      <p:sp>
        <p:nvSpPr>
          <p:cNvPr id="8" name="Text 5"/>
          <p:cNvSpPr txBox="1"/>
          <p:nvPr/>
        </p:nvSpPr>
        <p:spPr>
          <a:xfrm>
            <a:off x="548640" y="6455664"/>
            <a:ext cx="9418320" cy="292608"/>
          </a:xfrm>
          <a:prstGeom prst="rect">
            <a:avLst/>
          </a:prstGeom>
          <a:noFill/>
          <a:ln/>
        </p:spPr>
        <p:txBody>
          <a:bodyPr wrap="square" lIns="0" tIns="0" rIns="0" bIns="0" rtlCol="0" anchor="ctr"/>
          <a:lstStyle/>
          <a:p>
            <a:pPr marL="0" indent="0">
              <a:buNone/>
            </a:pPr>
            <a:r>
              <a:rPr lang="en-US" sz="1600" dirty="0">
                <a:solidFill>
                  <a:srgbClr val="5B6B79"/>
                </a:solidFill>
                <a:latin typeface="Calibri" pitchFamily="34" charset="0"/>
                <a:ea typeface="Calibri" pitchFamily="34" charset="-122"/>
                <a:cs typeface="Calibri" pitchFamily="34" charset="-120"/>
              </a:rPr>
              <a:t>AI Practical 1  •  Development Environment, Python &amp; Rule-Based Chatbot</a:t>
            </a:r>
            <a:endParaRPr lang="en-US" sz="1600" dirty="0"/>
          </a:p>
        </p:txBody>
      </p:sp>
      <p:sp>
        <p:nvSpPr>
          <p:cNvPr id="9" name="Text 6"/>
          <p:cNvSpPr txBox="1"/>
          <p:nvPr/>
        </p:nvSpPr>
        <p:spPr>
          <a:xfrm>
            <a:off x="11247120" y="6455664"/>
            <a:ext cx="457200" cy="292608"/>
          </a:xfrm>
          <a:prstGeom prst="rect">
            <a:avLst/>
          </a:prstGeom>
          <a:noFill/>
          <a:ln/>
        </p:spPr>
        <p:txBody>
          <a:bodyPr wrap="square" lIns="0" tIns="0" rIns="0" bIns="0" rtlCol="0" anchor="ctr"/>
          <a:lstStyle/>
          <a:p>
            <a:pPr marL="0" indent="0" algn="r">
              <a:buNone/>
            </a:pPr>
            <a:r>
              <a:rPr lang="en-US" sz="1600" dirty="0">
                <a:solidFill>
                  <a:srgbClr val="5B6B79"/>
                </a:solidFill>
                <a:latin typeface="Calibri" pitchFamily="34" charset="0"/>
                <a:ea typeface="Calibri" pitchFamily="34" charset="-122"/>
                <a:cs typeface="Calibri" pitchFamily="34" charset="-120"/>
              </a:rPr>
              <a:t>10</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A"/>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0515600" cy="310896"/>
          </a:xfrm>
          <a:prstGeom prst="rect">
            <a:avLst/>
          </a:prstGeom>
          <a:noFill/>
          <a:ln/>
        </p:spPr>
        <p:txBody>
          <a:bodyPr wrap="square" lIns="0" tIns="0" rIns="0" bIns="0" rtlCol="0" anchor="ctr"/>
          <a:lstStyle/>
          <a:p>
            <a:pPr marL="0" indent="0">
              <a:buNone/>
            </a:pPr>
            <a:r>
              <a:rPr lang="en-US" sz="1600" b="1" kern="0" spc="200" dirty="0">
                <a:solidFill>
                  <a:srgbClr val="2E86AB"/>
                </a:solidFill>
                <a:latin typeface="Calibri" pitchFamily="34" charset="0"/>
                <a:ea typeface="Calibri" pitchFamily="34" charset="-122"/>
                <a:cs typeface="Calibri" pitchFamily="34" charset="-120"/>
              </a:rPr>
              <a:t>SECTION C — PYTHON FUNDAMENTALS</a:t>
            </a:r>
            <a:endParaRPr lang="en-US" sz="1600" dirty="0"/>
          </a:p>
        </p:txBody>
      </p:sp>
      <p:sp>
        <p:nvSpPr>
          <p:cNvPr id="3" name="Text 1"/>
          <p:cNvSpPr txBox="1"/>
          <p:nvPr/>
        </p:nvSpPr>
        <p:spPr>
          <a:xfrm>
            <a:off x="548640" y="603504"/>
            <a:ext cx="11064240" cy="731520"/>
          </a:xfrm>
          <a:prstGeom prst="rect">
            <a:avLst/>
          </a:prstGeom>
          <a:noFill/>
          <a:ln/>
        </p:spPr>
        <p:txBody>
          <a:bodyPr wrap="square" lIns="0" tIns="0" rIns="0" bIns="0" rtlCol="0" anchor="ctr"/>
          <a:lstStyle/>
          <a:p>
            <a:pPr marL="0" indent="0">
              <a:buNone/>
            </a:pPr>
            <a:r>
              <a:rPr lang="en-US" sz="3300" b="1" dirty="0">
                <a:solidFill>
                  <a:srgbClr val="142A45"/>
                </a:solidFill>
                <a:latin typeface="Cambria" pitchFamily="34" charset="0"/>
                <a:ea typeface="Cambria" pitchFamily="34" charset="-122"/>
                <a:cs typeface="Cambria" pitchFamily="34" charset="-120"/>
              </a:rPr>
              <a:t>Why Python for Artificial Intelligence?</a:t>
            </a:r>
            <a:endParaRPr lang="en-US" sz="3300" dirty="0"/>
          </a:p>
        </p:txBody>
      </p:sp>
      <p:sp>
        <p:nvSpPr>
          <p:cNvPr id="4" name="Shape 2"/>
          <p:cNvSpPr/>
          <p:nvPr/>
        </p:nvSpPr>
        <p:spPr>
          <a:xfrm>
            <a:off x="548640" y="2002536"/>
            <a:ext cx="310896" cy="310896"/>
          </a:xfrm>
          <a:prstGeom prst="ellipse">
            <a:avLst/>
          </a:prstGeom>
          <a:solidFill>
            <a:srgbClr val="2E86AB"/>
          </a:solidFill>
          <a:ln/>
        </p:spPr>
      </p:sp>
      <p:sp>
        <p:nvSpPr>
          <p:cNvPr id="5" name="Text 3"/>
          <p:cNvSpPr txBox="1"/>
          <p:nvPr/>
        </p:nvSpPr>
        <p:spPr>
          <a:xfrm>
            <a:off x="548640" y="2002536"/>
            <a:ext cx="310896" cy="310896"/>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6" name="Text 4"/>
          <p:cNvSpPr txBox="1"/>
          <p:nvPr/>
        </p:nvSpPr>
        <p:spPr>
          <a:xfrm>
            <a:off x="1005840" y="1737360"/>
            <a:ext cx="6309360" cy="822960"/>
          </a:xfrm>
          <a:prstGeom prst="rect">
            <a:avLst/>
          </a:prstGeom>
          <a:noFill/>
          <a:ln/>
        </p:spPr>
        <p:txBody>
          <a:bodyPr wrap="square" lIns="0" tIns="0" rIns="0" bIns="0" rtlCol="0" anchor="ctr"/>
          <a:lstStyle/>
          <a:p>
            <a:pPr marL="0" indent="0">
              <a:lnSpc>
                <a:spcPct val="108000"/>
              </a:lnSpc>
              <a:buNone/>
            </a:pPr>
            <a:r>
              <a:rPr lang="en-US" sz="1900" b="1" dirty="0">
                <a:solidFill>
                  <a:srgbClr val="1B2430"/>
                </a:solidFill>
                <a:latin typeface="Calibri" pitchFamily="34" charset="0"/>
                <a:ea typeface="Calibri" pitchFamily="34" charset="-122"/>
                <a:cs typeface="Calibri" pitchFamily="34" charset="-120"/>
              </a:rPr>
              <a:t>Readable, simple syntax  </a:t>
            </a:r>
            <a:r>
              <a:rPr lang="en-US" sz="1600" dirty="0">
                <a:solidFill>
                  <a:srgbClr val="5B6B79"/>
                </a:solidFill>
                <a:latin typeface="Calibri" pitchFamily="34" charset="0"/>
                <a:ea typeface="Calibri" pitchFamily="34" charset="-122"/>
                <a:cs typeface="Calibri" pitchFamily="34" charset="-120"/>
              </a:rPr>
              <a:t>close to plain English, easy to learn quickly</a:t>
            </a:r>
            <a:endParaRPr lang="en-US" sz="1900" dirty="0"/>
          </a:p>
        </p:txBody>
      </p:sp>
      <p:sp>
        <p:nvSpPr>
          <p:cNvPr id="7" name="Shape 5"/>
          <p:cNvSpPr/>
          <p:nvPr/>
        </p:nvSpPr>
        <p:spPr>
          <a:xfrm>
            <a:off x="548640" y="2825496"/>
            <a:ext cx="310896" cy="310896"/>
          </a:xfrm>
          <a:prstGeom prst="ellipse">
            <a:avLst/>
          </a:prstGeom>
          <a:solidFill>
            <a:srgbClr val="2E86AB"/>
          </a:solidFill>
          <a:ln/>
        </p:spPr>
      </p:sp>
      <p:sp>
        <p:nvSpPr>
          <p:cNvPr id="8" name="Text 6"/>
          <p:cNvSpPr txBox="1"/>
          <p:nvPr/>
        </p:nvSpPr>
        <p:spPr>
          <a:xfrm>
            <a:off x="548640" y="2825496"/>
            <a:ext cx="310896" cy="310896"/>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9" name="Text 7"/>
          <p:cNvSpPr txBox="1"/>
          <p:nvPr/>
        </p:nvSpPr>
        <p:spPr>
          <a:xfrm>
            <a:off x="1005840" y="2560320"/>
            <a:ext cx="6309360" cy="822960"/>
          </a:xfrm>
          <a:prstGeom prst="rect">
            <a:avLst/>
          </a:prstGeom>
          <a:noFill/>
          <a:ln/>
        </p:spPr>
        <p:txBody>
          <a:bodyPr wrap="square" lIns="0" tIns="0" rIns="0" bIns="0" rtlCol="0" anchor="ctr"/>
          <a:lstStyle/>
          <a:p>
            <a:pPr marL="0" indent="0">
              <a:lnSpc>
                <a:spcPct val="108000"/>
              </a:lnSpc>
              <a:buNone/>
            </a:pPr>
            <a:r>
              <a:rPr lang="en-US" sz="1900" b="1" dirty="0">
                <a:solidFill>
                  <a:srgbClr val="1B2430"/>
                </a:solidFill>
                <a:latin typeface="Calibri" pitchFamily="34" charset="0"/>
                <a:ea typeface="Calibri" pitchFamily="34" charset="-122"/>
                <a:cs typeface="Calibri" pitchFamily="34" charset="-120"/>
              </a:rPr>
              <a:t>Huge AI/ML library ecosystem  </a:t>
            </a:r>
            <a:r>
              <a:rPr lang="en-US" sz="1600" dirty="0">
                <a:solidFill>
                  <a:srgbClr val="5B6B79"/>
                </a:solidFill>
                <a:latin typeface="Calibri" pitchFamily="34" charset="0"/>
                <a:ea typeface="Calibri" pitchFamily="34" charset="-122"/>
                <a:cs typeface="Calibri" pitchFamily="34" charset="-120"/>
              </a:rPr>
              <a:t>NumPy, Pandas, scikit-learn, PyTorch, TensorFlow</a:t>
            </a:r>
            <a:endParaRPr lang="en-US" sz="1900" dirty="0"/>
          </a:p>
        </p:txBody>
      </p:sp>
      <p:sp>
        <p:nvSpPr>
          <p:cNvPr id="10" name="Shape 8"/>
          <p:cNvSpPr/>
          <p:nvPr/>
        </p:nvSpPr>
        <p:spPr>
          <a:xfrm>
            <a:off x="548640" y="3648456"/>
            <a:ext cx="310896" cy="310896"/>
          </a:xfrm>
          <a:prstGeom prst="ellipse">
            <a:avLst/>
          </a:prstGeom>
          <a:solidFill>
            <a:srgbClr val="2E86AB"/>
          </a:solidFill>
          <a:ln/>
        </p:spPr>
      </p:sp>
      <p:sp>
        <p:nvSpPr>
          <p:cNvPr id="11" name="Text 9"/>
          <p:cNvSpPr txBox="1"/>
          <p:nvPr/>
        </p:nvSpPr>
        <p:spPr>
          <a:xfrm>
            <a:off x="548640" y="3648456"/>
            <a:ext cx="310896" cy="310896"/>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12" name="Text 10"/>
          <p:cNvSpPr txBox="1"/>
          <p:nvPr/>
        </p:nvSpPr>
        <p:spPr>
          <a:xfrm>
            <a:off x="1005840" y="3383280"/>
            <a:ext cx="6309360" cy="822960"/>
          </a:xfrm>
          <a:prstGeom prst="rect">
            <a:avLst/>
          </a:prstGeom>
          <a:noFill/>
          <a:ln/>
        </p:spPr>
        <p:txBody>
          <a:bodyPr wrap="square" lIns="0" tIns="0" rIns="0" bIns="0" rtlCol="0" anchor="ctr"/>
          <a:lstStyle/>
          <a:p>
            <a:pPr marL="0" indent="0">
              <a:lnSpc>
                <a:spcPct val="108000"/>
              </a:lnSpc>
              <a:buNone/>
            </a:pPr>
            <a:r>
              <a:rPr lang="en-US" sz="1900" b="1" dirty="0">
                <a:solidFill>
                  <a:srgbClr val="1B2430"/>
                </a:solidFill>
                <a:latin typeface="Calibri" pitchFamily="34" charset="0"/>
                <a:ea typeface="Calibri" pitchFamily="34" charset="-122"/>
                <a:cs typeface="Calibri" pitchFamily="34" charset="-120"/>
              </a:rPr>
              <a:t>Large community &amp; documentation  </a:t>
            </a:r>
            <a:r>
              <a:rPr lang="en-US" sz="1600" dirty="0">
                <a:solidFill>
                  <a:srgbClr val="5B6B79"/>
                </a:solidFill>
                <a:latin typeface="Calibri" pitchFamily="34" charset="0"/>
                <a:ea typeface="Calibri" pitchFamily="34" charset="-122"/>
                <a:cs typeface="Calibri" pitchFamily="34" charset="-120"/>
              </a:rPr>
              <a:t>answers and examples are easy to find</a:t>
            </a:r>
            <a:endParaRPr lang="en-US" sz="1900" dirty="0"/>
          </a:p>
        </p:txBody>
      </p:sp>
      <p:sp>
        <p:nvSpPr>
          <p:cNvPr id="13" name="Shape 11"/>
          <p:cNvSpPr/>
          <p:nvPr/>
        </p:nvSpPr>
        <p:spPr>
          <a:xfrm>
            <a:off x="548640" y="4471416"/>
            <a:ext cx="310896" cy="310896"/>
          </a:xfrm>
          <a:prstGeom prst="ellipse">
            <a:avLst/>
          </a:prstGeom>
          <a:solidFill>
            <a:srgbClr val="2E86AB"/>
          </a:solidFill>
          <a:ln/>
        </p:spPr>
      </p:sp>
      <p:sp>
        <p:nvSpPr>
          <p:cNvPr id="14" name="Text 12"/>
          <p:cNvSpPr txBox="1"/>
          <p:nvPr/>
        </p:nvSpPr>
        <p:spPr>
          <a:xfrm>
            <a:off x="548640" y="4471416"/>
            <a:ext cx="310896" cy="310896"/>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4</a:t>
            </a:r>
            <a:endParaRPr lang="en-US" sz="1700" dirty="0"/>
          </a:p>
        </p:txBody>
      </p:sp>
      <p:sp>
        <p:nvSpPr>
          <p:cNvPr id="15" name="Text 13"/>
          <p:cNvSpPr txBox="1"/>
          <p:nvPr/>
        </p:nvSpPr>
        <p:spPr>
          <a:xfrm>
            <a:off x="1005840" y="4206240"/>
            <a:ext cx="6309360" cy="822960"/>
          </a:xfrm>
          <a:prstGeom prst="rect">
            <a:avLst/>
          </a:prstGeom>
          <a:noFill/>
          <a:ln/>
        </p:spPr>
        <p:txBody>
          <a:bodyPr wrap="square" lIns="0" tIns="0" rIns="0" bIns="0" rtlCol="0" anchor="ctr"/>
          <a:lstStyle/>
          <a:p>
            <a:pPr marL="0" indent="0">
              <a:lnSpc>
                <a:spcPct val="108000"/>
              </a:lnSpc>
              <a:buNone/>
            </a:pPr>
            <a:r>
              <a:rPr lang="en-US" sz="1900" b="1" dirty="0">
                <a:solidFill>
                  <a:srgbClr val="1B2430"/>
                </a:solidFill>
                <a:latin typeface="Calibri" pitchFamily="34" charset="0"/>
                <a:ea typeface="Calibri" pitchFamily="34" charset="-122"/>
                <a:cs typeface="Calibri" pitchFamily="34" charset="-120"/>
              </a:rPr>
              <a:t>Used across industry and research  </a:t>
            </a:r>
            <a:r>
              <a:rPr lang="en-US" sz="1600" dirty="0">
                <a:solidFill>
                  <a:srgbClr val="5B6B79"/>
                </a:solidFill>
                <a:latin typeface="Calibri" pitchFamily="34" charset="0"/>
                <a:ea typeface="Calibri" pitchFamily="34" charset="-122"/>
                <a:cs typeface="Calibri" pitchFamily="34" charset="-120"/>
              </a:rPr>
              <a:t>the de-facto language of modern AI</a:t>
            </a:r>
            <a:endParaRPr lang="en-US" sz="1900" dirty="0"/>
          </a:p>
        </p:txBody>
      </p:sp>
      <p:sp>
        <p:nvSpPr>
          <p:cNvPr id="16" name="Shape 14"/>
          <p:cNvSpPr/>
          <p:nvPr/>
        </p:nvSpPr>
        <p:spPr>
          <a:xfrm>
            <a:off x="548640" y="5294376"/>
            <a:ext cx="310896" cy="310896"/>
          </a:xfrm>
          <a:prstGeom prst="ellipse">
            <a:avLst/>
          </a:prstGeom>
          <a:solidFill>
            <a:srgbClr val="2E86AB"/>
          </a:solidFill>
          <a:ln/>
        </p:spPr>
      </p:sp>
      <p:sp>
        <p:nvSpPr>
          <p:cNvPr id="17" name="Text 15"/>
          <p:cNvSpPr txBox="1"/>
          <p:nvPr/>
        </p:nvSpPr>
        <p:spPr>
          <a:xfrm>
            <a:off x="548640" y="5294376"/>
            <a:ext cx="310896" cy="310896"/>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5</a:t>
            </a:r>
            <a:endParaRPr lang="en-US" sz="1700" dirty="0"/>
          </a:p>
        </p:txBody>
      </p:sp>
      <p:sp>
        <p:nvSpPr>
          <p:cNvPr id="18" name="Text 16"/>
          <p:cNvSpPr txBox="1"/>
          <p:nvPr/>
        </p:nvSpPr>
        <p:spPr>
          <a:xfrm>
            <a:off x="1005840" y="5029200"/>
            <a:ext cx="6309360" cy="822960"/>
          </a:xfrm>
          <a:prstGeom prst="rect">
            <a:avLst/>
          </a:prstGeom>
          <a:noFill/>
          <a:ln/>
        </p:spPr>
        <p:txBody>
          <a:bodyPr wrap="square" lIns="0" tIns="0" rIns="0" bIns="0" rtlCol="0" anchor="ctr"/>
          <a:lstStyle/>
          <a:p>
            <a:pPr marL="0" indent="0">
              <a:lnSpc>
                <a:spcPct val="108000"/>
              </a:lnSpc>
              <a:buNone/>
            </a:pPr>
            <a:r>
              <a:rPr lang="en-US" sz="1900" b="1" dirty="0">
                <a:solidFill>
                  <a:srgbClr val="1B2430"/>
                </a:solidFill>
                <a:latin typeface="Calibri" pitchFamily="34" charset="0"/>
                <a:ea typeface="Calibri" pitchFamily="34" charset="-122"/>
                <a:cs typeface="Calibri" pitchFamily="34" charset="-120"/>
              </a:rPr>
              <a:t>Fast to prototype in  </a:t>
            </a:r>
            <a:r>
              <a:rPr lang="en-US" sz="1600" dirty="0">
                <a:solidFill>
                  <a:srgbClr val="5B6B79"/>
                </a:solidFill>
                <a:latin typeface="Calibri" pitchFamily="34" charset="0"/>
                <a:ea typeface="Calibri" pitchFamily="34" charset="-122"/>
                <a:cs typeface="Calibri" pitchFamily="34" charset="-120"/>
              </a:rPr>
              <a:t>test an idea in minutes, not hours</a:t>
            </a:r>
            <a:endParaRPr lang="en-US" sz="1900" dirty="0"/>
          </a:p>
        </p:txBody>
      </p:sp>
      <p:sp>
        <p:nvSpPr>
          <p:cNvPr id="19" name="Shape 17"/>
          <p:cNvSpPr/>
          <p:nvPr/>
        </p:nvSpPr>
        <p:spPr>
          <a:xfrm>
            <a:off x="7589520" y="1737360"/>
            <a:ext cx="4023360" cy="4023360"/>
          </a:xfrm>
          <a:prstGeom prst="roundRect">
            <a:avLst>
              <a:gd name="adj" fmla="val 1818"/>
            </a:avLst>
          </a:prstGeom>
          <a:solidFill>
            <a:srgbClr val="142A45"/>
          </a:solidFill>
          <a:ln w="12700">
            <a:solidFill>
              <a:srgbClr val="DDE3EA"/>
            </a:solidFill>
            <a:prstDash val="solid"/>
          </a:ln>
          <a:effectLst>
            <a:outerShdw blurRad="76200" dist="25400" dir="5400000" algn="bl" rotWithShape="0">
              <a:srgbClr val="142A45">
                <a:alpha val="12000"/>
              </a:srgbClr>
            </a:outerShdw>
          </a:effectLst>
        </p:spPr>
      </p:sp>
      <p:sp>
        <p:nvSpPr>
          <p:cNvPr id="20" name="Text 18"/>
          <p:cNvSpPr txBox="1"/>
          <p:nvPr/>
        </p:nvSpPr>
        <p:spPr>
          <a:xfrm>
            <a:off x="7818120" y="1920240"/>
            <a:ext cx="3566160" cy="274320"/>
          </a:xfrm>
          <a:prstGeom prst="rect">
            <a:avLst/>
          </a:prstGeom>
          <a:noFill/>
          <a:ln/>
        </p:spPr>
        <p:txBody>
          <a:bodyPr wrap="square" lIns="0" tIns="0" rIns="0" bIns="0" rtlCol="0" anchor="ctr"/>
          <a:lstStyle/>
          <a:p>
            <a:pPr marL="0" indent="0">
              <a:buNone/>
            </a:pPr>
            <a:r>
              <a:rPr lang="en-US" sz="1600" b="1" kern="0" spc="150" dirty="0">
                <a:solidFill>
                  <a:srgbClr val="FFC857"/>
                </a:solidFill>
                <a:latin typeface="Calibri" pitchFamily="34" charset="0"/>
                <a:ea typeface="Calibri" pitchFamily="34" charset="-122"/>
                <a:cs typeface="Calibri" pitchFamily="34" charset="-120"/>
              </a:rPr>
              <a:t>PYTHON IN ONE LINE</a:t>
            </a:r>
            <a:endParaRPr lang="en-US" sz="1600" dirty="0"/>
          </a:p>
        </p:txBody>
      </p:sp>
      <p:sp>
        <p:nvSpPr>
          <p:cNvPr id="21" name="Shape 19"/>
          <p:cNvSpPr/>
          <p:nvPr/>
        </p:nvSpPr>
        <p:spPr>
          <a:xfrm>
            <a:off x="7818120" y="2331720"/>
            <a:ext cx="3566160" cy="914400"/>
          </a:xfrm>
          <a:prstGeom prst="roundRect">
            <a:avLst>
              <a:gd name="adj" fmla="val 6000"/>
            </a:avLst>
          </a:prstGeom>
          <a:solidFill>
            <a:srgbClr val="0D1B2E"/>
          </a:solidFill>
          <a:ln/>
        </p:spPr>
      </p:sp>
      <p:sp>
        <p:nvSpPr>
          <p:cNvPr id="22" name="Text 20"/>
          <p:cNvSpPr txBox="1"/>
          <p:nvPr/>
        </p:nvSpPr>
        <p:spPr>
          <a:xfrm>
            <a:off x="7955280" y="2331720"/>
            <a:ext cx="3291840" cy="914400"/>
          </a:xfrm>
          <a:prstGeom prst="rect">
            <a:avLst/>
          </a:prstGeom>
          <a:noFill/>
          <a:ln/>
        </p:spPr>
        <p:txBody>
          <a:bodyPr wrap="square" lIns="0" tIns="0" rIns="0" bIns="0" rtlCol="0" anchor="ctr"/>
          <a:lstStyle/>
          <a:p>
            <a:pPr marL="0" indent="0">
              <a:buNone/>
            </a:pPr>
            <a:r>
              <a:rPr lang="en-US" sz="1800" dirty="0">
                <a:solidFill>
                  <a:srgbClr val="E8EEF4"/>
                </a:solidFill>
                <a:latin typeface="Courier New" pitchFamily="34" charset="0"/>
                <a:ea typeface="Courier New" pitchFamily="34" charset="-122"/>
                <a:cs typeface="Courier New" pitchFamily="34" charset="-120"/>
              </a:rPr>
              <a:t>print("AI starts here")</a:t>
            </a:r>
            <a:endParaRPr lang="en-US" sz="1800" dirty="0"/>
          </a:p>
        </p:txBody>
      </p:sp>
      <p:sp>
        <p:nvSpPr>
          <p:cNvPr id="23" name="Text 21"/>
          <p:cNvSpPr txBox="1"/>
          <p:nvPr/>
        </p:nvSpPr>
        <p:spPr>
          <a:xfrm>
            <a:off x="7818120" y="3429000"/>
            <a:ext cx="3566160" cy="2103120"/>
          </a:xfrm>
          <a:prstGeom prst="rect">
            <a:avLst/>
          </a:prstGeom>
          <a:noFill/>
          <a:ln/>
        </p:spPr>
        <p:txBody>
          <a:bodyPr wrap="square" lIns="0" tIns="0" rIns="0" bIns="0" rtlCol="0" anchor="t"/>
          <a:lstStyle/>
          <a:p>
            <a:pPr marL="0" indent="0">
              <a:buNone/>
            </a:pPr>
            <a:r>
              <a:rPr lang="en-US" sz="1700" dirty="0">
                <a:solidFill>
                  <a:srgbClr val="CADCFC"/>
                </a:solidFill>
                <a:latin typeface="Calibri" pitchFamily="34" charset="0"/>
                <a:ea typeface="Calibri" pitchFamily="34" charset="-122"/>
                <a:cs typeface="Calibri" pitchFamily="34" charset="-120"/>
              </a:rPr>
              <a:t>No compiling, no boilerplate — write one line and see a result immediately. That short feedback loop is why Python dominates AI experimentation.</a:t>
            </a:r>
            <a:endParaRPr lang="en-US" sz="1700" dirty="0"/>
          </a:p>
        </p:txBody>
      </p:sp>
      <p:sp>
        <p:nvSpPr>
          <p:cNvPr id="24" name="Text 22"/>
          <p:cNvSpPr txBox="1"/>
          <p:nvPr/>
        </p:nvSpPr>
        <p:spPr>
          <a:xfrm>
            <a:off x="548640" y="6455664"/>
            <a:ext cx="9418320" cy="292608"/>
          </a:xfrm>
          <a:prstGeom prst="rect">
            <a:avLst/>
          </a:prstGeom>
          <a:noFill/>
          <a:ln/>
        </p:spPr>
        <p:txBody>
          <a:bodyPr wrap="square" lIns="0" tIns="0" rIns="0" bIns="0" rtlCol="0" anchor="ctr"/>
          <a:lstStyle/>
          <a:p>
            <a:pPr marL="0" indent="0">
              <a:buNone/>
            </a:pPr>
            <a:r>
              <a:rPr lang="en-US" sz="1600" dirty="0">
                <a:solidFill>
                  <a:srgbClr val="5B6B79"/>
                </a:solidFill>
                <a:latin typeface="Calibri" pitchFamily="34" charset="0"/>
                <a:ea typeface="Calibri" pitchFamily="34" charset="-122"/>
                <a:cs typeface="Calibri" pitchFamily="34" charset="-120"/>
              </a:rPr>
              <a:t>AI Practical 1  •  Development Environment, Python &amp; Rule-Based Chatbot</a:t>
            </a:r>
            <a:endParaRPr lang="en-US" sz="1600" dirty="0"/>
          </a:p>
        </p:txBody>
      </p:sp>
      <p:sp>
        <p:nvSpPr>
          <p:cNvPr id="25" name="Text 23"/>
          <p:cNvSpPr txBox="1"/>
          <p:nvPr/>
        </p:nvSpPr>
        <p:spPr>
          <a:xfrm>
            <a:off x="11247120" y="6455664"/>
            <a:ext cx="457200" cy="292608"/>
          </a:xfrm>
          <a:prstGeom prst="rect">
            <a:avLst/>
          </a:prstGeom>
          <a:noFill/>
          <a:ln/>
        </p:spPr>
        <p:txBody>
          <a:bodyPr wrap="square" lIns="0" tIns="0" rIns="0" bIns="0" rtlCol="0" anchor="ctr"/>
          <a:lstStyle/>
          <a:p>
            <a:pPr marL="0" indent="0" algn="r">
              <a:buNone/>
            </a:pPr>
            <a:r>
              <a:rPr lang="en-US" sz="1600" dirty="0">
                <a:solidFill>
                  <a:srgbClr val="5B6B79"/>
                </a:solidFill>
                <a:latin typeface="Calibri" pitchFamily="34" charset="0"/>
                <a:ea typeface="Calibri" pitchFamily="34" charset="-122"/>
                <a:cs typeface="Calibri" pitchFamily="34" charset="-120"/>
              </a:rPr>
              <a:t>11</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A"/>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0515600" cy="310896"/>
          </a:xfrm>
          <a:prstGeom prst="rect">
            <a:avLst/>
          </a:prstGeom>
          <a:noFill/>
          <a:ln/>
        </p:spPr>
        <p:txBody>
          <a:bodyPr wrap="square" lIns="0" tIns="0" rIns="0" bIns="0" rtlCol="0" anchor="ctr"/>
          <a:lstStyle/>
          <a:p>
            <a:pPr marL="0" indent="0">
              <a:buNone/>
            </a:pPr>
            <a:r>
              <a:rPr lang="en-US" sz="1600" b="1" kern="0" spc="200" dirty="0">
                <a:solidFill>
                  <a:srgbClr val="2E86AB"/>
                </a:solidFill>
                <a:latin typeface="Calibri" pitchFamily="34" charset="0"/>
                <a:ea typeface="Calibri" pitchFamily="34" charset="-122"/>
                <a:cs typeface="Calibri" pitchFamily="34" charset="-120"/>
              </a:rPr>
              <a:t>SECTION C — PYTHON FUNDAMENTALS</a:t>
            </a:r>
            <a:endParaRPr lang="en-US" sz="1600" dirty="0"/>
          </a:p>
        </p:txBody>
      </p:sp>
      <p:sp>
        <p:nvSpPr>
          <p:cNvPr id="3" name="Text 1"/>
          <p:cNvSpPr txBox="1"/>
          <p:nvPr/>
        </p:nvSpPr>
        <p:spPr>
          <a:xfrm>
            <a:off x="548640" y="603504"/>
            <a:ext cx="11064240" cy="731520"/>
          </a:xfrm>
          <a:prstGeom prst="rect">
            <a:avLst/>
          </a:prstGeom>
          <a:noFill/>
          <a:ln/>
        </p:spPr>
        <p:txBody>
          <a:bodyPr wrap="square" lIns="0" tIns="0" rIns="0" bIns="0" rtlCol="0" anchor="ctr"/>
          <a:lstStyle/>
          <a:p>
            <a:pPr marL="0" indent="0">
              <a:buNone/>
            </a:pPr>
            <a:r>
              <a:rPr lang="en-US" sz="3300" b="1" dirty="0">
                <a:solidFill>
                  <a:srgbClr val="142A45"/>
                </a:solidFill>
                <a:latin typeface="Cambria" pitchFamily="34" charset="0"/>
                <a:ea typeface="Cambria" pitchFamily="34" charset="-122"/>
                <a:cs typeface="Cambria" pitchFamily="34" charset="-120"/>
              </a:rPr>
              <a:t>Python Syntax Basics</a:t>
            </a:r>
            <a:endParaRPr lang="en-US" sz="3300" dirty="0"/>
          </a:p>
        </p:txBody>
      </p:sp>
      <p:sp>
        <p:nvSpPr>
          <p:cNvPr id="4" name="Text 2"/>
          <p:cNvSpPr txBox="1"/>
          <p:nvPr/>
        </p:nvSpPr>
        <p:spPr>
          <a:xfrm>
            <a:off x="548640" y="1691640"/>
            <a:ext cx="5394960" cy="2377440"/>
          </a:xfrm>
          <a:prstGeom prst="rect">
            <a:avLst/>
          </a:prstGeom>
          <a:noFill/>
          <a:ln/>
        </p:spPr>
        <p:txBody>
          <a:bodyPr wrap="square" lIns="0" tIns="0" rIns="0" bIns="0" rtlCol="0" anchor="t"/>
          <a:lstStyle/>
          <a:p>
            <a:pPr marL="342900" indent="-342900">
              <a:spcAft>
                <a:spcPts val="1200"/>
              </a:spcAft>
              <a:buSzPct val="100000"/>
              <a:buChar char="•"/>
            </a:pPr>
            <a:r>
              <a:rPr lang="en-US" sz="1900" dirty="0">
                <a:solidFill>
                  <a:srgbClr val="1B2430"/>
                </a:solidFill>
                <a:latin typeface="Calibri" pitchFamily="34" charset="0"/>
                <a:ea typeface="Calibri" pitchFamily="34" charset="-122"/>
                <a:cs typeface="Calibri" pitchFamily="34" charset="-120"/>
              </a:rPr>
              <a:t>Indentation defines blocks — no curly braces { }</a:t>
            </a:r>
            <a:endParaRPr lang="en-US" sz="1900" dirty="0"/>
          </a:p>
          <a:p>
            <a:pPr marL="342900" indent="-342900">
              <a:spcAft>
                <a:spcPts val="1200"/>
              </a:spcAft>
              <a:buSzPct val="100000"/>
              <a:buChar char="•"/>
            </a:pPr>
            <a:r>
              <a:rPr lang="en-US" sz="1900" dirty="0">
                <a:solidFill>
                  <a:srgbClr val="1B2430"/>
                </a:solidFill>
                <a:latin typeface="Calibri" pitchFamily="34" charset="0"/>
                <a:ea typeface="Calibri" pitchFamily="34" charset="-122"/>
                <a:cs typeface="Calibri" pitchFamily="34" charset="-120"/>
              </a:rPr>
              <a:t>Comments start with #  and are ignored when run</a:t>
            </a:r>
            <a:endParaRPr lang="en-US" sz="1900" dirty="0"/>
          </a:p>
          <a:p>
            <a:pPr marL="342900" indent="-342900">
              <a:spcAft>
                <a:spcPts val="1200"/>
              </a:spcAft>
              <a:buSzPct val="100000"/>
              <a:buChar char="•"/>
            </a:pPr>
            <a:r>
              <a:rPr lang="en-US" sz="1900" dirty="0">
                <a:solidFill>
                  <a:srgbClr val="1B2430"/>
                </a:solidFill>
                <a:latin typeface="Calibri" pitchFamily="34" charset="0"/>
                <a:ea typeface="Calibri" pitchFamily="34" charset="-122"/>
                <a:cs typeface="Calibri" pitchFamily="34" charset="-120"/>
              </a:rPr>
              <a:t>Statements typically end with a new line, not a semicolon</a:t>
            </a:r>
            <a:endParaRPr lang="en-US" sz="1900" dirty="0"/>
          </a:p>
          <a:p>
            <a:pPr marL="342900" indent="-342900">
              <a:spcAft>
                <a:spcPts val="1200"/>
              </a:spcAft>
              <a:buSzPct val="100000"/>
              <a:buChar char="•"/>
            </a:pPr>
            <a:r>
              <a:rPr lang="en-US" sz="1900" dirty="0">
                <a:solidFill>
                  <a:srgbClr val="1B2430"/>
                </a:solidFill>
                <a:latin typeface="Calibri" pitchFamily="34" charset="0"/>
                <a:ea typeface="Calibri" pitchFamily="34" charset="-122"/>
                <a:cs typeface="Calibri" pitchFamily="34" charset="-120"/>
              </a:rPr>
              <a:t>Python is case-sensitive: Name and name are different</a:t>
            </a:r>
            <a:endParaRPr lang="en-US" sz="1900" dirty="0"/>
          </a:p>
        </p:txBody>
      </p:sp>
      <p:sp>
        <p:nvSpPr>
          <p:cNvPr id="5" name="Text 3"/>
          <p:cNvSpPr txBox="1"/>
          <p:nvPr/>
        </p:nvSpPr>
        <p:spPr>
          <a:xfrm>
            <a:off x="6263640" y="1417320"/>
            <a:ext cx="2468880" cy="274320"/>
          </a:xfrm>
          <a:prstGeom prst="rect">
            <a:avLst/>
          </a:prstGeom>
          <a:noFill/>
          <a:ln/>
        </p:spPr>
        <p:txBody>
          <a:bodyPr wrap="square" lIns="0" tIns="0" rIns="0" bIns="0" rtlCol="0" anchor="ctr"/>
          <a:lstStyle/>
          <a:p>
            <a:pPr marL="0" indent="0">
              <a:buNone/>
            </a:pPr>
            <a:r>
              <a:rPr lang="en-US" sz="1600" b="1" kern="0" spc="150" dirty="0">
                <a:solidFill>
                  <a:srgbClr val="3F9142"/>
                </a:solidFill>
                <a:latin typeface="Calibri" pitchFamily="34" charset="0"/>
                <a:ea typeface="Calibri" pitchFamily="34" charset="-122"/>
                <a:cs typeface="Calibri" pitchFamily="34" charset="-120"/>
              </a:rPr>
              <a:t>CORRECT</a:t>
            </a:r>
            <a:endParaRPr lang="en-US" sz="1600" dirty="0"/>
          </a:p>
        </p:txBody>
      </p:sp>
      <p:sp>
        <p:nvSpPr>
          <p:cNvPr id="6" name="Shape 4"/>
          <p:cNvSpPr/>
          <p:nvPr/>
        </p:nvSpPr>
        <p:spPr>
          <a:xfrm>
            <a:off x="6263640" y="1737360"/>
            <a:ext cx="5349240" cy="1600200"/>
          </a:xfrm>
          <a:prstGeom prst="roundRect">
            <a:avLst>
              <a:gd name="adj" fmla="val 4571"/>
            </a:avLst>
          </a:prstGeom>
          <a:solidFill>
            <a:srgbClr val="0D1B2E"/>
          </a:solidFill>
          <a:ln/>
        </p:spPr>
      </p:sp>
      <p:sp>
        <p:nvSpPr>
          <p:cNvPr id="7" name="Shape 5"/>
          <p:cNvSpPr/>
          <p:nvPr/>
        </p:nvSpPr>
        <p:spPr>
          <a:xfrm>
            <a:off x="6428232" y="1865376"/>
            <a:ext cx="109728" cy="109728"/>
          </a:xfrm>
          <a:prstGeom prst="ellipse">
            <a:avLst/>
          </a:prstGeom>
          <a:solidFill>
            <a:srgbClr val="E5645B"/>
          </a:solidFill>
          <a:ln/>
        </p:spPr>
      </p:sp>
      <p:sp>
        <p:nvSpPr>
          <p:cNvPr id="8" name="Shape 6"/>
          <p:cNvSpPr/>
          <p:nvPr/>
        </p:nvSpPr>
        <p:spPr>
          <a:xfrm>
            <a:off x="6629400" y="1865376"/>
            <a:ext cx="109728" cy="109728"/>
          </a:xfrm>
          <a:prstGeom prst="ellipse">
            <a:avLst/>
          </a:prstGeom>
          <a:solidFill>
            <a:srgbClr val="F2C85B"/>
          </a:solidFill>
          <a:ln/>
        </p:spPr>
      </p:sp>
      <p:sp>
        <p:nvSpPr>
          <p:cNvPr id="9" name="Shape 7"/>
          <p:cNvSpPr/>
          <p:nvPr/>
        </p:nvSpPr>
        <p:spPr>
          <a:xfrm>
            <a:off x="6830568" y="1865376"/>
            <a:ext cx="109728" cy="109728"/>
          </a:xfrm>
          <a:prstGeom prst="ellipse">
            <a:avLst/>
          </a:prstGeom>
          <a:solidFill>
            <a:srgbClr val="5CC97A"/>
          </a:solidFill>
          <a:ln/>
        </p:spPr>
      </p:sp>
      <p:sp>
        <p:nvSpPr>
          <p:cNvPr id="10" name="Text 8"/>
          <p:cNvSpPr txBox="1"/>
          <p:nvPr/>
        </p:nvSpPr>
        <p:spPr>
          <a:xfrm>
            <a:off x="6464808" y="2066544"/>
            <a:ext cx="4983480" cy="1179576"/>
          </a:xfrm>
          <a:prstGeom prst="rect">
            <a:avLst/>
          </a:prstGeom>
          <a:noFill/>
          <a:ln/>
        </p:spPr>
        <p:txBody>
          <a:bodyPr wrap="square" lIns="0" tIns="0" rIns="0" bIns="0" rtlCol="0" anchor="t"/>
          <a:lstStyle/>
          <a:p>
            <a:pPr marL="0" indent="0">
              <a:lnSpc>
                <a:spcPct val="104000"/>
              </a:lnSpc>
              <a:buNone/>
            </a:pPr>
            <a:r>
              <a:rPr lang="en-US" sz="1800" dirty="0">
                <a:solidFill>
                  <a:srgbClr val="E8EEF4"/>
                </a:solidFill>
                <a:latin typeface="Courier New" pitchFamily="34" charset="0"/>
                <a:ea typeface="Courier New" pitchFamily="34" charset="-122"/>
                <a:cs typeface="Courier New" pitchFamily="34" charset="-120"/>
              </a:rPr>
              <a:t>if age &gt;= 18:</a:t>
            </a:r>
            <a:endParaRPr lang="en-US" sz="1800" dirty="0"/>
          </a:p>
          <a:p>
            <a:pPr marL="0" indent="0">
              <a:lnSpc>
                <a:spcPct val="104000"/>
              </a:lnSpc>
              <a:buNone/>
            </a:pPr>
            <a:r>
              <a:rPr lang="en-US" sz="1800" dirty="0">
                <a:solidFill>
                  <a:srgbClr val="E8EEF4"/>
                </a:solidFill>
                <a:latin typeface="Courier New" pitchFamily="34" charset="0"/>
                <a:ea typeface="Courier New" pitchFamily="34" charset="-122"/>
                <a:cs typeface="Courier New" pitchFamily="34" charset="-120"/>
              </a:rPr>
              <a:t>    print("Adult")</a:t>
            </a:r>
            <a:endParaRPr lang="en-US" sz="1800" dirty="0"/>
          </a:p>
          <a:p>
            <a:pPr marL="0" indent="0">
              <a:lnSpc>
                <a:spcPct val="104000"/>
              </a:lnSpc>
              <a:buNone/>
            </a:pPr>
            <a:r>
              <a:rPr lang="en-US" sz="1800" dirty="0">
                <a:solidFill>
                  <a:srgbClr val="E8EEF4"/>
                </a:solidFill>
                <a:latin typeface="Courier New" pitchFamily="34" charset="0"/>
                <a:ea typeface="Courier New" pitchFamily="34" charset="-122"/>
                <a:cs typeface="Courier New" pitchFamily="34" charset="-120"/>
              </a:rPr>
              <a:t>else:</a:t>
            </a:r>
            <a:endParaRPr lang="en-US" sz="1800" dirty="0"/>
          </a:p>
          <a:p>
            <a:pPr marL="0" indent="0">
              <a:lnSpc>
                <a:spcPct val="104000"/>
              </a:lnSpc>
              <a:buNone/>
            </a:pPr>
            <a:r>
              <a:rPr lang="en-US" sz="1800" dirty="0">
                <a:solidFill>
                  <a:srgbClr val="E8EEF4"/>
                </a:solidFill>
                <a:latin typeface="Courier New" pitchFamily="34" charset="0"/>
                <a:ea typeface="Courier New" pitchFamily="34" charset="-122"/>
                <a:cs typeface="Courier New" pitchFamily="34" charset="-120"/>
              </a:rPr>
              <a:t>    print("Minor")</a:t>
            </a:r>
            <a:endParaRPr lang="en-US" sz="1800" dirty="0"/>
          </a:p>
        </p:txBody>
      </p:sp>
      <p:sp>
        <p:nvSpPr>
          <p:cNvPr id="11" name="Text 9"/>
          <p:cNvSpPr txBox="1"/>
          <p:nvPr/>
        </p:nvSpPr>
        <p:spPr>
          <a:xfrm>
            <a:off x="6263640" y="3520440"/>
            <a:ext cx="5303520" cy="274320"/>
          </a:xfrm>
          <a:prstGeom prst="rect">
            <a:avLst/>
          </a:prstGeom>
          <a:noFill/>
          <a:ln/>
        </p:spPr>
        <p:txBody>
          <a:bodyPr wrap="square" lIns="0" tIns="0" rIns="0" bIns="0" rtlCol="0" anchor="ctr"/>
          <a:lstStyle/>
          <a:p>
            <a:pPr marL="0" indent="0">
              <a:buNone/>
            </a:pPr>
            <a:r>
              <a:rPr lang="en-US" sz="1600" b="1" kern="0" spc="100" dirty="0">
                <a:solidFill>
                  <a:srgbClr val="C0392B"/>
                </a:solidFill>
                <a:latin typeface="Calibri" pitchFamily="34" charset="0"/>
                <a:ea typeface="Calibri" pitchFamily="34" charset="-122"/>
                <a:cs typeface="Calibri" pitchFamily="34" charset="-120"/>
              </a:rPr>
              <a:t>INCORRECT — INDENTATION ERROR</a:t>
            </a:r>
            <a:endParaRPr lang="en-US" sz="1600" dirty="0"/>
          </a:p>
        </p:txBody>
      </p:sp>
      <p:sp>
        <p:nvSpPr>
          <p:cNvPr id="12" name="Shape 10"/>
          <p:cNvSpPr/>
          <p:nvPr/>
        </p:nvSpPr>
        <p:spPr>
          <a:xfrm>
            <a:off x="6263640" y="3840480"/>
            <a:ext cx="5349240" cy="1600200"/>
          </a:xfrm>
          <a:prstGeom prst="roundRect">
            <a:avLst>
              <a:gd name="adj" fmla="val 4571"/>
            </a:avLst>
          </a:prstGeom>
          <a:solidFill>
            <a:srgbClr val="0D1B2E"/>
          </a:solidFill>
          <a:ln/>
        </p:spPr>
      </p:sp>
      <p:sp>
        <p:nvSpPr>
          <p:cNvPr id="13" name="Shape 11"/>
          <p:cNvSpPr/>
          <p:nvPr/>
        </p:nvSpPr>
        <p:spPr>
          <a:xfrm>
            <a:off x="6428232" y="3968496"/>
            <a:ext cx="109728" cy="109728"/>
          </a:xfrm>
          <a:prstGeom prst="ellipse">
            <a:avLst/>
          </a:prstGeom>
          <a:solidFill>
            <a:srgbClr val="E5645B"/>
          </a:solidFill>
          <a:ln/>
        </p:spPr>
      </p:sp>
      <p:sp>
        <p:nvSpPr>
          <p:cNvPr id="14" name="Shape 12"/>
          <p:cNvSpPr/>
          <p:nvPr/>
        </p:nvSpPr>
        <p:spPr>
          <a:xfrm>
            <a:off x="6629400" y="3968496"/>
            <a:ext cx="109728" cy="109728"/>
          </a:xfrm>
          <a:prstGeom prst="ellipse">
            <a:avLst/>
          </a:prstGeom>
          <a:solidFill>
            <a:srgbClr val="F2C85B"/>
          </a:solidFill>
          <a:ln/>
        </p:spPr>
      </p:sp>
      <p:sp>
        <p:nvSpPr>
          <p:cNvPr id="15" name="Shape 13"/>
          <p:cNvSpPr/>
          <p:nvPr/>
        </p:nvSpPr>
        <p:spPr>
          <a:xfrm>
            <a:off x="6830568" y="3968496"/>
            <a:ext cx="109728" cy="109728"/>
          </a:xfrm>
          <a:prstGeom prst="ellipse">
            <a:avLst/>
          </a:prstGeom>
          <a:solidFill>
            <a:srgbClr val="5CC97A"/>
          </a:solidFill>
          <a:ln/>
        </p:spPr>
      </p:sp>
      <p:sp>
        <p:nvSpPr>
          <p:cNvPr id="16" name="Text 14"/>
          <p:cNvSpPr txBox="1"/>
          <p:nvPr/>
        </p:nvSpPr>
        <p:spPr>
          <a:xfrm>
            <a:off x="6464808" y="4169664"/>
            <a:ext cx="4983480" cy="1179576"/>
          </a:xfrm>
          <a:prstGeom prst="rect">
            <a:avLst/>
          </a:prstGeom>
          <a:noFill/>
          <a:ln/>
        </p:spPr>
        <p:txBody>
          <a:bodyPr wrap="square" lIns="0" tIns="0" rIns="0" bIns="0" rtlCol="0" anchor="t"/>
          <a:lstStyle/>
          <a:p>
            <a:pPr marL="0" indent="0">
              <a:lnSpc>
                <a:spcPct val="104000"/>
              </a:lnSpc>
              <a:buNone/>
            </a:pPr>
            <a:r>
              <a:rPr lang="en-US" sz="1800" dirty="0">
                <a:solidFill>
                  <a:srgbClr val="E8EEF4"/>
                </a:solidFill>
                <a:latin typeface="Courier New" pitchFamily="34" charset="0"/>
                <a:ea typeface="Courier New" pitchFamily="34" charset="-122"/>
                <a:cs typeface="Courier New" pitchFamily="34" charset="-120"/>
              </a:rPr>
              <a:t>if age &gt;= 18:</a:t>
            </a:r>
            <a:endParaRPr lang="en-US" sz="1800" dirty="0"/>
          </a:p>
          <a:p>
            <a:pPr marL="0" indent="0">
              <a:lnSpc>
                <a:spcPct val="104000"/>
              </a:lnSpc>
              <a:buNone/>
            </a:pPr>
            <a:r>
              <a:rPr lang="en-US" sz="1800" dirty="0">
                <a:solidFill>
                  <a:srgbClr val="E8EEF4"/>
                </a:solidFill>
                <a:latin typeface="Courier New" pitchFamily="34" charset="0"/>
                <a:ea typeface="Courier New" pitchFamily="34" charset="-122"/>
                <a:cs typeface="Courier New" pitchFamily="34" charset="-120"/>
              </a:rPr>
              <a:t>print("Adult")</a:t>
            </a:r>
            <a:endParaRPr lang="en-US" sz="1800" dirty="0"/>
          </a:p>
          <a:p>
            <a:pPr marL="0" indent="0">
              <a:lnSpc>
                <a:spcPct val="104000"/>
              </a:lnSpc>
              <a:buNone/>
            </a:pPr>
            <a:r>
              <a:rPr lang="en-US" sz="1800" dirty="0">
                <a:solidFill>
                  <a:srgbClr val="8FD694"/>
                </a:solidFill>
                <a:latin typeface="Courier New" pitchFamily="34" charset="0"/>
                <a:ea typeface="Courier New" pitchFamily="34" charset="-122"/>
                <a:cs typeface="Courier New" pitchFamily="34" charset="-120"/>
              </a:rPr>
              <a:t># missing indentation before print</a:t>
            </a:r>
            <a:endParaRPr lang="en-US" sz="1800" dirty="0"/>
          </a:p>
          <a:p>
            <a:pPr marL="0" indent="0">
              <a:lnSpc>
                <a:spcPct val="104000"/>
              </a:lnSpc>
              <a:buNone/>
            </a:pPr>
            <a:r>
              <a:rPr lang="en-US" sz="1800" dirty="0">
                <a:solidFill>
                  <a:srgbClr val="8FD694"/>
                </a:solidFill>
                <a:latin typeface="Courier New" pitchFamily="34" charset="0"/>
                <a:ea typeface="Courier New" pitchFamily="34" charset="-122"/>
                <a:cs typeface="Courier New" pitchFamily="34" charset="-120"/>
              </a:rPr>
              <a:t># → IndentationError</a:t>
            </a:r>
            <a:endParaRPr lang="en-US" sz="1800" dirty="0"/>
          </a:p>
        </p:txBody>
      </p:sp>
      <p:sp>
        <p:nvSpPr>
          <p:cNvPr id="17" name="Text 15"/>
          <p:cNvSpPr txBox="1"/>
          <p:nvPr/>
        </p:nvSpPr>
        <p:spPr>
          <a:xfrm>
            <a:off x="548640" y="6455664"/>
            <a:ext cx="9418320" cy="292608"/>
          </a:xfrm>
          <a:prstGeom prst="rect">
            <a:avLst/>
          </a:prstGeom>
          <a:noFill/>
          <a:ln/>
        </p:spPr>
        <p:txBody>
          <a:bodyPr wrap="square" lIns="0" tIns="0" rIns="0" bIns="0" rtlCol="0" anchor="ctr"/>
          <a:lstStyle/>
          <a:p>
            <a:pPr marL="0" indent="0">
              <a:buNone/>
            </a:pPr>
            <a:r>
              <a:rPr lang="en-US" sz="1600" dirty="0">
                <a:solidFill>
                  <a:srgbClr val="5B6B79"/>
                </a:solidFill>
                <a:latin typeface="Calibri" pitchFamily="34" charset="0"/>
                <a:ea typeface="Calibri" pitchFamily="34" charset="-122"/>
                <a:cs typeface="Calibri" pitchFamily="34" charset="-120"/>
              </a:rPr>
              <a:t>AI Practical 1  •  Development Environment, Python &amp; Rule-Based Chatbot</a:t>
            </a:r>
            <a:endParaRPr lang="en-US" sz="1600" dirty="0"/>
          </a:p>
        </p:txBody>
      </p:sp>
      <p:sp>
        <p:nvSpPr>
          <p:cNvPr id="18" name="Text 16"/>
          <p:cNvSpPr txBox="1"/>
          <p:nvPr/>
        </p:nvSpPr>
        <p:spPr>
          <a:xfrm>
            <a:off x="11247120" y="6455664"/>
            <a:ext cx="457200" cy="292608"/>
          </a:xfrm>
          <a:prstGeom prst="rect">
            <a:avLst/>
          </a:prstGeom>
          <a:noFill/>
          <a:ln/>
        </p:spPr>
        <p:txBody>
          <a:bodyPr wrap="square" lIns="0" tIns="0" rIns="0" bIns="0" rtlCol="0" anchor="ctr"/>
          <a:lstStyle/>
          <a:p>
            <a:pPr marL="0" indent="0" algn="r">
              <a:buNone/>
            </a:pPr>
            <a:r>
              <a:rPr lang="en-US" sz="1600" dirty="0">
                <a:solidFill>
                  <a:srgbClr val="5B6B79"/>
                </a:solidFill>
                <a:latin typeface="Calibri" pitchFamily="34" charset="0"/>
                <a:ea typeface="Calibri" pitchFamily="34" charset="-122"/>
                <a:cs typeface="Calibri" pitchFamily="34" charset="-120"/>
              </a:rPr>
              <a:t>12</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A"/>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0515600" cy="310896"/>
          </a:xfrm>
          <a:prstGeom prst="rect">
            <a:avLst/>
          </a:prstGeom>
          <a:noFill/>
          <a:ln/>
        </p:spPr>
        <p:txBody>
          <a:bodyPr wrap="square" lIns="0" tIns="0" rIns="0" bIns="0" rtlCol="0" anchor="ctr"/>
          <a:lstStyle/>
          <a:p>
            <a:pPr marL="0" indent="0">
              <a:buNone/>
            </a:pPr>
            <a:r>
              <a:rPr lang="en-US" sz="1600" b="1" kern="0" spc="200" dirty="0">
                <a:solidFill>
                  <a:srgbClr val="2E86AB"/>
                </a:solidFill>
                <a:latin typeface="Calibri" pitchFamily="34" charset="0"/>
                <a:ea typeface="Calibri" pitchFamily="34" charset="-122"/>
                <a:cs typeface="Calibri" pitchFamily="34" charset="-120"/>
              </a:rPr>
              <a:t>SECTION C — PYTHON FUNDAMENTALS</a:t>
            </a:r>
            <a:endParaRPr lang="en-US" sz="1600" dirty="0"/>
          </a:p>
        </p:txBody>
      </p:sp>
      <p:sp>
        <p:nvSpPr>
          <p:cNvPr id="3" name="Text 1"/>
          <p:cNvSpPr txBox="1"/>
          <p:nvPr/>
        </p:nvSpPr>
        <p:spPr>
          <a:xfrm>
            <a:off x="548640" y="603504"/>
            <a:ext cx="11064240" cy="731520"/>
          </a:xfrm>
          <a:prstGeom prst="rect">
            <a:avLst/>
          </a:prstGeom>
          <a:noFill/>
          <a:ln/>
        </p:spPr>
        <p:txBody>
          <a:bodyPr wrap="square" lIns="0" tIns="0" rIns="0" bIns="0" rtlCol="0" anchor="ctr"/>
          <a:lstStyle/>
          <a:p>
            <a:pPr marL="0" indent="0">
              <a:buNone/>
            </a:pPr>
            <a:r>
              <a:rPr lang="en-US" sz="3300" b="1" dirty="0">
                <a:solidFill>
                  <a:srgbClr val="142A45"/>
                </a:solidFill>
                <a:latin typeface="Cambria" pitchFamily="34" charset="0"/>
                <a:ea typeface="Cambria" pitchFamily="34" charset="-122"/>
                <a:cs typeface="Cambria" pitchFamily="34" charset="-120"/>
              </a:rPr>
              <a:t>Your First Python Program</a:t>
            </a:r>
            <a:endParaRPr lang="en-US" sz="3300" dirty="0"/>
          </a:p>
        </p:txBody>
      </p:sp>
      <p:sp>
        <p:nvSpPr>
          <p:cNvPr id="4" name="Text 2"/>
          <p:cNvSpPr txBox="1"/>
          <p:nvPr/>
        </p:nvSpPr>
        <p:spPr>
          <a:xfrm>
            <a:off x="548640" y="1234440"/>
            <a:ext cx="10789920" cy="320040"/>
          </a:xfrm>
          <a:prstGeom prst="rect">
            <a:avLst/>
          </a:prstGeom>
          <a:noFill/>
          <a:ln/>
        </p:spPr>
        <p:txBody>
          <a:bodyPr wrap="square" lIns="0" tIns="0" rIns="0" bIns="0" rtlCol="0" anchor="ctr"/>
          <a:lstStyle/>
          <a:p>
            <a:pPr marL="0" indent="0">
              <a:buNone/>
            </a:pPr>
            <a:r>
              <a:rPr lang="en-US" sz="1700" dirty="0">
                <a:solidFill>
                  <a:srgbClr val="5B6B79"/>
                </a:solidFill>
                <a:latin typeface="Calibri" pitchFamily="34" charset="0"/>
                <a:ea typeface="Calibri" pitchFamily="34" charset="-122"/>
                <a:cs typeface="Calibri" pitchFamily="34" charset="-120"/>
              </a:rPr>
              <a:t>Every programmer's tradition — make the computer say hello.</a:t>
            </a:r>
            <a:endParaRPr lang="en-US" sz="1700" dirty="0"/>
          </a:p>
        </p:txBody>
      </p:sp>
      <p:sp>
        <p:nvSpPr>
          <p:cNvPr id="5" name="Shape 3"/>
          <p:cNvSpPr/>
          <p:nvPr/>
        </p:nvSpPr>
        <p:spPr>
          <a:xfrm>
            <a:off x="548640" y="1783080"/>
            <a:ext cx="6400800" cy="1920240"/>
          </a:xfrm>
          <a:prstGeom prst="roundRect">
            <a:avLst>
              <a:gd name="adj" fmla="val 3810"/>
            </a:avLst>
          </a:prstGeom>
          <a:solidFill>
            <a:srgbClr val="0D1B2E"/>
          </a:solidFill>
          <a:ln/>
        </p:spPr>
      </p:sp>
      <p:sp>
        <p:nvSpPr>
          <p:cNvPr id="6" name="Shape 4"/>
          <p:cNvSpPr/>
          <p:nvPr/>
        </p:nvSpPr>
        <p:spPr>
          <a:xfrm>
            <a:off x="713232" y="1911096"/>
            <a:ext cx="109728" cy="109728"/>
          </a:xfrm>
          <a:prstGeom prst="ellipse">
            <a:avLst/>
          </a:prstGeom>
          <a:solidFill>
            <a:srgbClr val="E5645B"/>
          </a:solidFill>
          <a:ln/>
        </p:spPr>
      </p:sp>
      <p:sp>
        <p:nvSpPr>
          <p:cNvPr id="7" name="Shape 5"/>
          <p:cNvSpPr/>
          <p:nvPr/>
        </p:nvSpPr>
        <p:spPr>
          <a:xfrm>
            <a:off x="914400" y="1911096"/>
            <a:ext cx="109728" cy="109728"/>
          </a:xfrm>
          <a:prstGeom prst="ellipse">
            <a:avLst/>
          </a:prstGeom>
          <a:solidFill>
            <a:srgbClr val="F2C85B"/>
          </a:solidFill>
          <a:ln/>
        </p:spPr>
      </p:sp>
      <p:sp>
        <p:nvSpPr>
          <p:cNvPr id="8" name="Shape 6"/>
          <p:cNvSpPr/>
          <p:nvPr/>
        </p:nvSpPr>
        <p:spPr>
          <a:xfrm>
            <a:off x="1115568" y="1911096"/>
            <a:ext cx="109728" cy="109728"/>
          </a:xfrm>
          <a:prstGeom prst="ellipse">
            <a:avLst/>
          </a:prstGeom>
          <a:solidFill>
            <a:srgbClr val="5CC97A"/>
          </a:solidFill>
          <a:ln/>
        </p:spPr>
      </p:sp>
      <p:sp>
        <p:nvSpPr>
          <p:cNvPr id="9" name="Text 7"/>
          <p:cNvSpPr txBox="1"/>
          <p:nvPr/>
        </p:nvSpPr>
        <p:spPr>
          <a:xfrm>
            <a:off x="749808" y="2112264"/>
            <a:ext cx="6035040" cy="1499616"/>
          </a:xfrm>
          <a:prstGeom prst="rect">
            <a:avLst/>
          </a:prstGeom>
          <a:noFill/>
          <a:ln/>
        </p:spPr>
        <p:txBody>
          <a:bodyPr wrap="square" lIns="0" tIns="0" rIns="0" bIns="0" rtlCol="0" anchor="t"/>
          <a:lstStyle/>
          <a:p>
            <a:pPr marL="0" indent="0">
              <a:lnSpc>
                <a:spcPct val="104000"/>
              </a:lnSpc>
              <a:buNone/>
            </a:pPr>
            <a:r>
              <a:rPr lang="en-US" sz="1900" dirty="0">
                <a:solidFill>
                  <a:srgbClr val="8FD694"/>
                </a:solidFill>
                <a:latin typeface="Courier New" pitchFamily="34" charset="0"/>
                <a:ea typeface="Courier New" pitchFamily="34" charset="-122"/>
                <a:cs typeface="Courier New" pitchFamily="34" charset="-120"/>
              </a:rPr>
              <a:t># my_first_program.py</a:t>
            </a:r>
            <a:endParaRPr lang="en-US" sz="1900" dirty="0"/>
          </a:p>
          <a:p>
            <a:pPr marL="0" indent="0">
              <a:lnSpc>
                <a:spcPct val="104000"/>
              </a:lnSpc>
              <a:buNone/>
            </a:pPr>
            <a:r>
              <a:rPr lang="en-US" sz="1900" dirty="0">
                <a:solidFill>
                  <a:srgbClr val="E8EEF4"/>
                </a:solidFill>
                <a:latin typeface="Courier New" pitchFamily="34" charset="0"/>
                <a:ea typeface="Courier New" pitchFamily="34" charset="-122"/>
                <a:cs typeface="Courier New" pitchFamily="34" charset="-120"/>
              </a:rPr>
              <a:t>print("Hello, Artificial Intelligence!")</a:t>
            </a:r>
            <a:endParaRPr lang="en-US" sz="1900" dirty="0"/>
          </a:p>
          <a:p>
            <a:pPr marL="0" indent="0">
              <a:lnSpc>
                <a:spcPct val="104000"/>
              </a:lnSpc>
              <a:buNone/>
            </a:pPr>
            <a:r>
              <a:rPr lang="en-US" sz="1900" dirty="0">
                <a:solidFill>
                  <a:srgbClr val="E8EEF4"/>
                </a:solidFill>
                <a:latin typeface="Courier New" pitchFamily="34" charset="0"/>
                <a:ea typeface="Courier New" pitchFamily="34" charset="-122"/>
                <a:cs typeface="Courier New" pitchFamily="34" charset="-120"/>
              </a:rPr>
              <a:t>print("My AI journey starts today.")</a:t>
            </a:r>
            <a:endParaRPr lang="en-US" sz="1900" dirty="0"/>
          </a:p>
        </p:txBody>
      </p:sp>
      <p:sp>
        <p:nvSpPr>
          <p:cNvPr id="10" name="Shape 8"/>
          <p:cNvSpPr/>
          <p:nvPr/>
        </p:nvSpPr>
        <p:spPr>
          <a:xfrm>
            <a:off x="548640" y="3886200"/>
            <a:ext cx="6400800" cy="1280160"/>
          </a:xfrm>
          <a:prstGeom prst="roundRect">
            <a:avLst>
              <a:gd name="adj" fmla="val 4286"/>
            </a:avLst>
          </a:prstGeom>
          <a:solidFill>
            <a:srgbClr val="EAF3EC"/>
          </a:solidFill>
          <a:ln w="12700">
            <a:solidFill>
              <a:srgbClr val="BFDFC8"/>
            </a:solidFill>
            <a:prstDash val="solid"/>
          </a:ln>
        </p:spPr>
      </p:sp>
      <p:sp>
        <p:nvSpPr>
          <p:cNvPr id="11" name="Text 9"/>
          <p:cNvSpPr txBox="1"/>
          <p:nvPr/>
        </p:nvSpPr>
        <p:spPr>
          <a:xfrm>
            <a:off x="685800" y="3959352"/>
            <a:ext cx="6126480" cy="274320"/>
          </a:xfrm>
          <a:prstGeom prst="rect">
            <a:avLst/>
          </a:prstGeom>
          <a:noFill/>
          <a:ln/>
        </p:spPr>
        <p:txBody>
          <a:bodyPr wrap="square" lIns="0" tIns="0" rIns="0" bIns="0" rtlCol="0" anchor="ctr"/>
          <a:lstStyle/>
          <a:p>
            <a:pPr marL="0" indent="0">
              <a:buNone/>
            </a:pPr>
            <a:r>
              <a:rPr lang="en-US" sz="1600" b="1" kern="0" spc="100" dirty="0">
                <a:solidFill>
                  <a:srgbClr val="3F9142"/>
                </a:solidFill>
                <a:latin typeface="Calibri" pitchFamily="34" charset="0"/>
                <a:ea typeface="Calibri" pitchFamily="34" charset="-122"/>
                <a:cs typeface="Calibri" pitchFamily="34" charset="-120"/>
              </a:rPr>
              <a:t>OUTPUT</a:t>
            </a:r>
            <a:endParaRPr lang="en-US" sz="1600" dirty="0"/>
          </a:p>
        </p:txBody>
      </p:sp>
      <p:sp>
        <p:nvSpPr>
          <p:cNvPr id="12" name="Text 10"/>
          <p:cNvSpPr txBox="1"/>
          <p:nvPr/>
        </p:nvSpPr>
        <p:spPr>
          <a:xfrm>
            <a:off x="685800" y="4251960"/>
            <a:ext cx="6126480" cy="822960"/>
          </a:xfrm>
          <a:prstGeom prst="rect">
            <a:avLst/>
          </a:prstGeom>
          <a:noFill/>
          <a:ln/>
        </p:spPr>
        <p:txBody>
          <a:bodyPr wrap="square" lIns="0" tIns="0" rIns="0" bIns="0" rtlCol="0" anchor="t"/>
          <a:lstStyle/>
          <a:p>
            <a:pPr marL="0" indent="0">
              <a:lnSpc>
                <a:spcPct val="104000"/>
              </a:lnSpc>
              <a:buNone/>
            </a:pPr>
            <a:r>
              <a:rPr lang="en-US" sz="1600" dirty="0">
                <a:solidFill>
                  <a:srgbClr val="234A2B"/>
                </a:solidFill>
                <a:latin typeface="Courier New" pitchFamily="34" charset="0"/>
                <a:ea typeface="Courier New" pitchFamily="34" charset="-122"/>
                <a:cs typeface="Courier New" pitchFamily="34" charset="-120"/>
              </a:rPr>
              <a:t>Hello, Artificial Intelligence!</a:t>
            </a:r>
            <a:endParaRPr lang="en-US" sz="1600" dirty="0"/>
          </a:p>
          <a:p>
            <a:pPr marL="0" indent="0">
              <a:lnSpc>
                <a:spcPct val="104000"/>
              </a:lnSpc>
              <a:buNone/>
            </a:pPr>
            <a:r>
              <a:rPr lang="en-US" sz="1600" dirty="0">
                <a:solidFill>
                  <a:srgbClr val="234A2B"/>
                </a:solidFill>
                <a:latin typeface="Courier New" pitchFamily="34" charset="0"/>
                <a:ea typeface="Courier New" pitchFamily="34" charset="-122"/>
                <a:cs typeface="Courier New" pitchFamily="34" charset="-120"/>
              </a:rPr>
              <a:t>My AI journey starts today.</a:t>
            </a:r>
            <a:endParaRPr lang="en-US" sz="1600" dirty="0"/>
          </a:p>
        </p:txBody>
      </p:sp>
      <p:sp>
        <p:nvSpPr>
          <p:cNvPr id="13" name="Shape 11"/>
          <p:cNvSpPr/>
          <p:nvPr/>
        </p:nvSpPr>
        <p:spPr>
          <a:xfrm>
            <a:off x="7269480" y="2093976"/>
            <a:ext cx="310896" cy="310896"/>
          </a:xfrm>
          <a:prstGeom prst="ellipse">
            <a:avLst/>
          </a:prstGeom>
          <a:solidFill>
            <a:srgbClr val="2E86AB"/>
          </a:solidFill>
          <a:ln/>
        </p:spPr>
      </p:sp>
      <p:sp>
        <p:nvSpPr>
          <p:cNvPr id="14" name="Text 12"/>
          <p:cNvSpPr txBox="1"/>
          <p:nvPr/>
        </p:nvSpPr>
        <p:spPr>
          <a:xfrm>
            <a:off x="7269480" y="2093976"/>
            <a:ext cx="310896" cy="310896"/>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15" name="Text 13"/>
          <p:cNvSpPr txBox="1"/>
          <p:nvPr/>
        </p:nvSpPr>
        <p:spPr>
          <a:xfrm>
            <a:off x="7726680" y="1783080"/>
            <a:ext cx="3886200" cy="914400"/>
          </a:xfrm>
          <a:prstGeom prst="rect">
            <a:avLst/>
          </a:prstGeom>
          <a:noFill/>
          <a:ln/>
        </p:spPr>
        <p:txBody>
          <a:bodyPr wrap="square" lIns="0" tIns="0" rIns="0" bIns="0" rtlCol="0" anchor="ctr"/>
          <a:lstStyle/>
          <a:p>
            <a:pPr marL="0" indent="0">
              <a:lnSpc>
                <a:spcPct val="108000"/>
              </a:lnSpc>
              <a:buNone/>
            </a:pPr>
            <a:r>
              <a:rPr lang="en-US" sz="1800" b="1" dirty="0">
                <a:solidFill>
                  <a:srgbClr val="1B2430"/>
                </a:solidFill>
                <a:latin typeface="Calibri" pitchFamily="34" charset="0"/>
                <a:ea typeface="Calibri" pitchFamily="34" charset="-122"/>
                <a:cs typeface="Calibri" pitchFamily="34" charset="-120"/>
              </a:rPr>
              <a:t>print()  </a:t>
            </a:r>
            <a:r>
              <a:rPr lang="en-US" sz="1600" dirty="0">
                <a:solidFill>
                  <a:srgbClr val="5B6B79"/>
                </a:solidFill>
                <a:latin typeface="Calibri" pitchFamily="34" charset="0"/>
                <a:ea typeface="Calibri" pitchFamily="34" charset="-122"/>
                <a:cs typeface="Calibri" pitchFamily="34" charset="-120"/>
              </a:rPr>
              <a:t>a built-in function that displays text on screen</a:t>
            </a:r>
            <a:endParaRPr lang="en-US" sz="1800" dirty="0"/>
          </a:p>
        </p:txBody>
      </p:sp>
      <p:sp>
        <p:nvSpPr>
          <p:cNvPr id="16" name="Shape 14"/>
          <p:cNvSpPr/>
          <p:nvPr/>
        </p:nvSpPr>
        <p:spPr>
          <a:xfrm>
            <a:off x="7269480" y="3008376"/>
            <a:ext cx="310896" cy="310896"/>
          </a:xfrm>
          <a:prstGeom prst="ellipse">
            <a:avLst/>
          </a:prstGeom>
          <a:solidFill>
            <a:srgbClr val="2E86AB"/>
          </a:solidFill>
          <a:ln/>
        </p:spPr>
      </p:sp>
      <p:sp>
        <p:nvSpPr>
          <p:cNvPr id="17" name="Text 15"/>
          <p:cNvSpPr txBox="1"/>
          <p:nvPr/>
        </p:nvSpPr>
        <p:spPr>
          <a:xfrm>
            <a:off x="7269480" y="3008376"/>
            <a:ext cx="310896" cy="310896"/>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8" name="Text 16"/>
          <p:cNvSpPr txBox="1"/>
          <p:nvPr/>
        </p:nvSpPr>
        <p:spPr>
          <a:xfrm>
            <a:off x="7726680" y="2697480"/>
            <a:ext cx="3886200" cy="914400"/>
          </a:xfrm>
          <a:prstGeom prst="rect">
            <a:avLst/>
          </a:prstGeom>
          <a:noFill/>
          <a:ln/>
        </p:spPr>
        <p:txBody>
          <a:bodyPr wrap="square" lIns="0" tIns="0" rIns="0" bIns="0" rtlCol="0" anchor="ctr"/>
          <a:lstStyle/>
          <a:p>
            <a:pPr marL="0" indent="0">
              <a:lnSpc>
                <a:spcPct val="108000"/>
              </a:lnSpc>
              <a:buNone/>
            </a:pPr>
            <a:r>
              <a:rPr lang="en-US" sz="1800" b="1" dirty="0">
                <a:solidFill>
                  <a:srgbClr val="1B2430"/>
                </a:solidFill>
                <a:latin typeface="Calibri" pitchFamily="34" charset="0"/>
                <a:ea typeface="Calibri" pitchFamily="34" charset="-122"/>
                <a:cs typeface="Calibri" pitchFamily="34" charset="-120"/>
              </a:rPr>
              <a:t>Quotation marks  </a:t>
            </a:r>
            <a:r>
              <a:rPr lang="en-US" sz="1600" dirty="0">
                <a:solidFill>
                  <a:srgbClr val="5B6B79"/>
                </a:solidFill>
                <a:latin typeface="Calibri" pitchFamily="34" charset="0"/>
                <a:ea typeface="Calibri" pitchFamily="34" charset="-122"/>
                <a:cs typeface="Calibri" pitchFamily="34" charset="-120"/>
              </a:rPr>
              <a:t>text (a string) needs " " or ' ' around it</a:t>
            </a:r>
            <a:endParaRPr lang="en-US" sz="1800" dirty="0"/>
          </a:p>
        </p:txBody>
      </p:sp>
      <p:sp>
        <p:nvSpPr>
          <p:cNvPr id="19" name="Shape 17"/>
          <p:cNvSpPr/>
          <p:nvPr/>
        </p:nvSpPr>
        <p:spPr>
          <a:xfrm>
            <a:off x="7269480" y="3922776"/>
            <a:ext cx="310896" cy="310896"/>
          </a:xfrm>
          <a:prstGeom prst="ellipse">
            <a:avLst/>
          </a:prstGeom>
          <a:solidFill>
            <a:srgbClr val="2E86AB"/>
          </a:solidFill>
          <a:ln/>
        </p:spPr>
      </p:sp>
      <p:sp>
        <p:nvSpPr>
          <p:cNvPr id="20" name="Text 18"/>
          <p:cNvSpPr txBox="1"/>
          <p:nvPr/>
        </p:nvSpPr>
        <p:spPr>
          <a:xfrm>
            <a:off x="7269480" y="3922776"/>
            <a:ext cx="310896" cy="310896"/>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21" name="Text 19"/>
          <p:cNvSpPr txBox="1"/>
          <p:nvPr/>
        </p:nvSpPr>
        <p:spPr>
          <a:xfrm>
            <a:off x="7726680" y="3611880"/>
            <a:ext cx="3886200" cy="914400"/>
          </a:xfrm>
          <a:prstGeom prst="rect">
            <a:avLst/>
          </a:prstGeom>
          <a:noFill/>
          <a:ln/>
        </p:spPr>
        <p:txBody>
          <a:bodyPr wrap="square" lIns="0" tIns="0" rIns="0" bIns="0" rtlCol="0" anchor="ctr"/>
          <a:lstStyle/>
          <a:p>
            <a:pPr marL="0" indent="0">
              <a:lnSpc>
                <a:spcPct val="108000"/>
              </a:lnSpc>
              <a:buNone/>
            </a:pPr>
            <a:r>
              <a:rPr lang="en-US" sz="1800" b="1" dirty="0">
                <a:solidFill>
                  <a:srgbClr val="1B2430"/>
                </a:solidFill>
                <a:latin typeface="Calibri" pitchFamily="34" charset="0"/>
                <a:ea typeface="Calibri" pitchFamily="34" charset="-122"/>
                <a:cs typeface="Calibri" pitchFamily="34" charset="-120"/>
              </a:rPr>
              <a:t>Run order  </a:t>
            </a:r>
            <a:r>
              <a:rPr lang="en-US" sz="1600" dirty="0">
                <a:solidFill>
                  <a:srgbClr val="5B6B79"/>
                </a:solidFill>
                <a:latin typeface="Calibri" pitchFamily="34" charset="0"/>
                <a:ea typeface="Calibri" pitchFamily="34" charset="-122"/>
                <a:cs typeface="Calibri" pitchFamily="34" charset="-120"/>
              </a:rPr>
              <a:t>lines execute top to bottom, one at a time</a:t>
            </a:r>
            <a:endParaRPr lang="en-US" sz="1800" dirty="0"/>
          </a:p>
        </p:txBody>
      </p:sp>
      <p:sp>
        <p:nvSpPr>
          <p:cNvPr id="22" name="Text 20"/>
          <p:cNvSpPr txBox="1"/>
          <p:nvPr/>
        </p:nvSpPr>
        <p:spPr>
          <a:xfrm>
            <a:off x="548640" y="6455664"/>
            <a:ext cx="9418320" cy="292608"/>
          </a:xfrm>
          <a:prstGeom prst="rect">
            <a:avLst/>
          </a:prstGeom>
          <a:noFill/>
          <a:ln/>
        </p:spPr>
        <p:txBody>
          <a:bodyPr wrap="square" lIns="0" tIns="0" rIns="0" bIns="0" rtlCol="0" anchor="ctr"/>
          <a:lstStyle/>
          <a:p>
            <a:pPr marL="0" indent="0">
              <a:buNone/>
            </a:pPr>
            <a:r>
              <a:rPr lang="en-US" sz="1600" dirty="0">
                <a:solidFill>
                  <a:srgbClr val="5B6B79"/>
                </a:solidFill>
                <a:latin typeface="Calibri" pitchFamily="34" charset="0"/>
                <a:ea typeface="Calibri" pitchFamily="34" charset="-122"/>
                <a:cs typeface="Calibri" pitchFamily="34" charset="-120"/>
              </a:rPr>
              <a:t>AI Practical 1  •  Development Environment, Python &amp; Rule-Based Chatbot</a:t>
            </a:r>
            <a:endParaRPr lang="en-US" sz="1600" dirty="0"/>
          </a:p>
        </p:txBody>
      </p:sp>
      <p:sp>
        <p:nvSpPr>
          <p:cNvPr id="23" name="Text 21"/>
          <p:cNvSpPr txBox="1"/>
          <p:nvPr/>
        </p:nvSpPr>
        <p:spPr>
          <a:xfrm>
            <a:off x="11247120" y="6455664"/>
            <a:ext cx="457200" cy="292608"/>
          </a:xfrm>
          <a:prstGeom prst="rect">
            <a:avLst/>
          </a:prstGeom>
          <a:noFill/>
          <a:ln/>
        </p:spPr>
        <p:txBody>
          <a:bodyPr wrap="square" lIns="0" tIns="0" rIns="0" bIns="0" rtlCol="0" anchor="ctr"/>
          <a:lstStyle/>
          <a:p>
            <a:pPr marL="0" indent="0" algn="r">
              <a:buNone/>
            </a:pPr>
            <a:r>
              <a:rPr lang="en-US" sz="1600" dirty="0">
                <a:solidFill>
                  <a:srgbClr val="5B6B79"/>
                </a:solidFill>
                <a:latin typeface="Calibri" pitchFamily="34" charset="0"/>
                <a:ea typeface="Calibri" pitchFamily="34" charset="-122"/>
                <a:cs typeface="Calibri" pitchFamily="34" charset="-120"/>
              </a:rPr>
              <a:t>13</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A"/>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0515600" cy="310896"/>
          </a:xfrm>
          <a:prstGeom prst="rect">
            <a:avLst/>
          </a:prstGeom>
          <a:noFill/>
          <a:ln/>
        </p:spPr>
        <p:txBody>
          <a:bodyPr wrap="square" lIns="0" tIns="0" rIns="0" bIns="0" rtlCol="0" anchor="ctr"/>
          <a:lstStyle/>
          <a:p>
            <a:pPr marL="0" indent="0">
              <a:buNone/>
            </a:pPr>
            <a:r>
              <a:rPr lang="en-US" sz="1600" b="1" kern="0" spc="200" dirty="0">
                <a:solidFill>
                  <a:srgbClr val="2E86AB"/>
                </a:solidFill>
                <a:latin typeface="Calibri" pitchFamily="34" charset="0"/>
                <a:ea typeface="Calibri" pitchFamily="34" charset="-122"/>
                <a:cs typeface="Calibri" pitchFamily="34" charset="-120"/>
              </a:rPr>
              <a:t>SECTION C — PYTHON FUNDAMENTALS</a:t>
            </a:r>
            <a:endParaRPr lang="en-US" sz="1600" dirty="0"/>
          </a:p>
        </p:txBody>
      </p:sp>
      <p:sp>
        <p:nvSpPr>
          <p:cNvPr id="3" name="Text 1"/>
          <p:cNvSpPr txBox="1"/>
          <p:nvPr/>
        </p:nvSpPr>
        <p:spPr>
          <a:xfrm>
            <a:off x="548640" y="603504"/>
            <a:ext cx="11064240" cy="731520"/>
          </a:xfrm>
          <a:prstGeom prst="rect">
            <a:avLst/>
          </a:prstGeom>
          <a:noFill/>
          <a:ln/>
        </p:spPr>
        <p:txBody>
          <a:bodyPr wrap="square" lIns="0" tIns="0" rIns="0" bIns="0" rtlCol="0" anchor="ctr"/>
          <a:lstStyle/>
          <a:p>
            <a:pPr marL="0" indent="0">
              <a:buNone/>
            </a:pPr>
            <a:r>
              <a:rPr lang="en-US" sz="3300" b="1" dirty="0">
                <a:solidFill>
                  <a:srgbClr val="142A45"/>
                </a:solidFill>
                <a:latin typeface="Cambria" pitchFamily="34" charset="0"/>
                <a:ea typeface="Cambria" pitchFamily="34" charset="-122"/>
                <a:cs typeface="Cambria" pitchFamily="34" charset="-120"/>
              </a:rPr>
              <a:t>Variables and Data Types</a:t>
            </a:r>
            <a:endParaRPr lang="en-US" sz="3300" dirty="0"/>
          </a:p>
        </p:txBody>
      </p:sp>
      <p:sp>
        <p:nvSpPr>
          <p:cNvPr id="4" name="Shape 2"/>
          <p:cNvSpPr/>
          <p:nvPr/>
        </p:nvSpPr>
        <p:spPr>
          <a:xfrm>
            <a:off x="548640" y="1691640"/>
            <a:ext cx="5577840" cy="2606040"/>
          </a:xfrm>
          <a:prstGeom prst="roundRect">
            <a:avLst>
              <a:gd name="adj" fmla="val 2807"/>
            </a:avLst>
          </a:prstGeom>
          <a:solidFill>
            <a:srgbClr val="0D1B2E"/>
          </a:solidFill>
          <a:ln/>
        </p:spPr>
      </p:sp>
      <p:sp>
        <p:nvSpPr>
          <p:cNvPr id="5" name="Shape 3"/>
          <p:cNvSpPr/>
          <p:nvPr/>
        </p:nvSpPr>
        <p:spPr>
          <a:xfrm>
            <a:off x="713232" y="1819656"/>
            <a:ext cx="109728" cy="109728"/>
          </a:xfrm>
          <a:prstGeom prst="ellipse">
            <a:avLst/>
          </a:prstGeom>
          <a:solidFill>
            <a:srgbClr val="E5645B"/>
          </a:solidFill>
          <a:ln/>
        </p:spPr>
      </p:sp>
      <p:sp>
        <p:nvSpPr>
          <p:cNvPr id="6" name="Shape 4"/>
          <p:cNvSpPr/>
          <p:nvPr/>
        </p:nvSpPr>
        <p:spPr>
          <a:xfrm>
            <a:off x="914400" y="1819656"/>
            <a:ext cx="109728" cy="109728"/>
          </a:xfrm>
          <a:prstGeom prst="ellipse">
            <a:avLst/>
          </a:prstGeom>
          <a:solidFill>
            <a:srgbClr val="F2C85B"/>
          </a:solidFill>
          <a:ln/>
        </p:spPr>
      </p:sp>
      <p:sp>
        <p:nvSpPr>
          <p:cNvPr id="7" name="Shape 5"/>
          <p:cNvSpPr/>
          <p:nvPr/>
        </p:nvSpPr>
        <p:spPr>
          <a:xfrm>
            <a:off x="1115568" y="1819656"/>
            <a:ext cx="109728" cy="109728"/>
          </a:xfrm>
          <a:prstGeom prst="ellipse">
            <a:avLst/>
          </a:prstGeom>
          <a:solidFill>
            <a:srgbClr val="5CC97A"/>
          </a:solidFill>
          <a:ln/>
        </p:spPr>
      </p:sp>
      <p:sp>
        <p:nvSpPr>
          <p:cNvPr id="8" name="Text 6"/>
          <p:cNvSpPr txBox="1"/>
          <p:nvPr/>
        </p:nvSpPr>
        <p:spPr>
          <a:xfrm>
            <a:off x="749808" y="2020824"/>
            <a:ext cx="5212080" cy="2185416"/>
          </a:xfrm>
          <a:prstGeom prst="rect">
            <a:avLst/>
          </a:prstGeom>
          <a:noFill/>
          <a:ln/>
        </p:spPr>
        <p:txBody>
          <a:bodyPr wrap="square" lIns="0" tIns="0" rIns="0" bIns="0" rtlCol="0" anchor="t"/>
          <a:lstStyle/>
          <a:p>
            <a:pPr marL="0" indent="0">
              <a:lnSpc>
                <a:spcPct val="104000"/>
              </a:lnSpc>
              <a:buNone/>
            </a:pPr>
            <a:r>
              <a:rPr lang="en-US" sz="1800" dirty="0">
                <a:solidFill>
                  <a:srgbClr val="E8EEF4"/>
                </a:solidFill>
                <a:latin typeface="Courier New" pitchFamily="34" charset="0"/>
                <a:ea typeface="Courier New" pitchFamily="34" charset="-122"/>
                <a:cs typeface="Courier New" pitchFamily="34" charset="-120"/>
              </a:rPr>
              <a:t>name = "Alex"</a:t>
            </a:r>
            <a:endParaRPr lang="en-US" sz="1800" dirty="0"/>
          </a:p>
          <a:p>
            <a:pPr marL="0" indent="0">
              <a:lnSpc>
                <a:spcPct val="104000"/>
              </a:lnSpc>
              <a:buNone/>
            </a:pPr>
            <a:r>
              <a:rPr lang="en-US" sz="1800" dirty="0">
                <a:solidFill>
                  <a:srgbClr val="E8EEF4"/>
                </a:solidFill>
                <a:latin typeface="Courier New" pitchFamily="34" charset="0"/>
                <a:ea typeface="Courier New" pitchFamily="34" charset="-122"/>
                <a:cs typeface="Courier New" pitchFamily="34" charset="-120"/>
              </a:rPr>
              <a:t>age = 20</a:t>
            </a:r>
            <a:endParaRPr lang="en-US" sz="1800" dirty="0"/>
          </a:p>
          <a:p>
            <a:pPr marL="0" indent="0">
              <a:lnSpc>
                <a:spcPct val="104000"/>
              </a:lnSpc>
              <a:buNone/>
            </a:pPr>
            <a:r>
              <a:rPr lang="en-US" sz="1800" dirty="0">
                <a:solidFill>
                  <a:srgbClr val="E8EEF4"/>
                </a:solidFill>
                <a:latin typeface="Courier New" pitchFamily="34" charset="0"/>
                <a:ea typeface="Courier New" pitchFamily="34" charset="-122"/>
                <a:cs typeface="Courier New" pitchFamily="34" charset="-120"/>
              </a:rPr>
              <a:t>height = 5.9</a:t>
            </a:r>
            <a:endParaRPr lang="en-US" sz="1800" dirty="0"/>
          </a:p>
          <a:p>
            <a:pPr marL="0" indent="0">
              <a:lnSpc>
                <a:spcPct val="104000"/>
              </a:lnSpc>
              <a:buNone/>
            </a:pPr>
            <a:r>
              <a:rPr lang="en-US" sz="1800" dirty="0">
                <a:solidFill>
                  <a:srgbClr val="E8EEF4"/>
                </a:solidFill>
                <a:latin typeface="Courier New" pitchFamily="34" charset="0"/>
                <a:ea typeface="Courier New" pitchFamily="34" charset="-122"/>
                <a:cs typeface="Courier New" pitchFamily="34" charset="-120"/>
              </a:rPr>
              <a:t>is_student = True</a:t>
            </a:r>
            <a:endParaRPr lang="en-US" sz="1800" dirty="0"/>
          </a:p>
          <a:p>
            <a:pPr marL="0" indent="0">
              <a:lnSpc>
                <a:spcPct val="104000"/>
              </a:lnSpc>
              <a:buNone/>
            </a:pPr>
            <a:endParaRPr lang="en-US" sz="1800" dirty="0"/>
          </a:p>
          <a:p>
            <a:pPr marL="0" indent="0">
              <a:lnSpc>
                <a:spcPct val="104000"/>
              </a:lnSpc>
              <a:buNone/>
            </a:pPr>
            <a:r>
              <a:rPr lang="en-US" sz="1800" dirty="0">
                <a:solidFill>
                  <a:srgbClr val="E8EEF4"/>
                </a:solidFill>
                <a:latin typeface="Courier New" pitchFamily="34" charset="0"/>
                <a:ea typeface="Courier New" pitchFamily="34" charset="-122"/>
                <a:cs typeface="Courier New" pitchFamily="34" charset="-120"/>
              </a:rPr>
              <a:t>print(type(name))</a:t>
            </a:r>
            <a:endParaRPr lang="en-US" sz="1800" dirty="0"/>
          </a:p>
          <a:p>
            <a:pPr marL="0" indent="0">
              <a:lnSpc>
                <a:spcPct val="104000"/>
              </a:lnSpc>
              <a:buNone/>
            </a:pPr>
            <a:r>
              <a:rPr lang="en-US" sz="1800" dirty="0">
                <a:solidFill>
                  <a:srgbClr val="E8EEF4"/>
                </a:solidFill>
                <a:latin typeface="Courier New" pitchFamily="34" charset="0"/>
                <a:ea typeface="Courier New" pitchFamily="34" charset="-122"/>
                <a:cs typeface="Courier New" pitchFamily="34" charset="-120"/>
              </a:rPr>
              <a:t>print(type(age))</a:t>
            </a:r>
            <a:endParaRPr lang="en-US" sz="1800" dirty="0"/>
          </a:p>
        </p:txBody>
      </p:sp>
      <p:sp>
        <p:nvSpPr>
          <p:cNvPr id="9" name="Text 7"/>
          <p:cNvSpPr txBox="1"/>
          <p:nvPr/>
        </p:nvSpPr>
        <p:spPr>
          <a:xfrm>
            <a:off x="548640" y="4434840"/>
            <a:ext cx="5577840" cy="548640"/>
          </a:xfrm>
          <a:prstGeom prst="rect">
            <a:avLst/>
          </a:prstGeom>
          <a:noFill/>
          <a:ln/>
        </p:spPr>
        <p:txBody>
          <a:bodyPr wrap="square" lIns="0" tIns="0" rIns="0" bIns="0" rtlCol="0" anchor="ctr"/>
          <a:lstStyle/>
          <a:p>
            <a:pPr marL="0" indent="0">
              <a:buNone/>
            </a:pPr>
            <a:r>
              <a:rPr lang="en-US" sz="1600" i="1" dirty="0">
                <a:solidFill>
                  <a:srgbClr val="5B6B79"/>
                </a:solidFill>
                <a:latin typeface="Calibri" pitchFamily="34" charset="0"/>
                <a:ea typeface="Calibri" pitchFamily="34" charset="-122"/>
                <a:cs typeface="Calibri" pitchFamily="34" charset="-120"/>
              </a:rPr>
              <a:t>A variable is a labelled box that stores a value for later use.</a:t>
            </a:r>
            <a:endParaRPr lang="en-US" sz="16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400800" y="1691640"/>
          <a:ext cx="5212080" cy="2834640"/>
        </p:xfrm>
        <a:graphic>
          <a:graphicData uri="http://schemas.openxmlformats.org/drawingml/2006/table">
            <a:tbl>
              <a:tblPr/>
              <a:tblGrid>
                <a:gridCol w="118872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2468880">
                  <a:extLst>
                    <a:ext uri="{9D8B030D-6E8A-4147-A177-3AD203B41FA5}">
                      <a16:colId xmlns:a16="http://schemas.microsoft.com/office/drawing/2014/main" val="20002"/>
                    </a:ext>
                  </a:extLst>
                </a:gridCol>
              </a:tblGrid>
              <a:tr h="566928">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Type</a:t>
                      </a:r>
                      <a:endParaRPr lang="en-US" sz="1600" dirty="0">
                        <a:latin typeface="Calibri" charset="0"/>
                        <a:ea typeface="Calibri" charset="0"/>
                        <a:cs typeface="Calibri" charset="0"/>
                      </a:endParaRPr>
                    </a:p>
                  </a:txBody>
                  <a:tcPr marL="45720" marR="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142A45"/>
                    </a:solidFill>
                  </a:tcPr>
                </a:tc>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Example</a:t>
                      </a:r>
                      <a:endParaRPr lang="en-US" sz="1600" dirty="0">
                        <a:latin typeface="Calibri" charset="0"/>
                        <a:ea typeface="Calibri" charset="0"/>
                        <a:cs typeface="Calibri" charset="0"/>
                      </a:endParaRPr>
                    </a:p>
                  </a:txBody>
                  <a:tcPr marL="45720" marR="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142A45"/>
                    </a:solidFill>
                  </a:tcPr>
                </a:tc>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Meaning</a:t>
                      </a:r>
                      <a:endParaRPr lang="en-US" sz="1600" dirty="0">
                        <a:latin typeface="Calibri" charset="0"/>
                        <a:ea typeface="Calibri" charset="0"/>
                        <a:cs typeface="Calibri" charset="0"/>
                      </a:endParaRPr>
                    </a:p>
                  </a:txBody>
                  <a:tcPr marL="45720" marR="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142A45"/>
                    </a:solidFill>
                  </a:tcPr>
                </a:tc>
                <a:extLst>
                  <a:ext uri="{0D108BD9-81ED-4DB2-BD59-A6C34878D82A}">
                    <a16:rowId xmlns:a16="http://schemas.microsoft.com/office/drawing/2014/main" val="10000"/>
                  </a:ext>
                </a:extLst>
              </a:tr>
              <a:tr h="566928">
                <a:tc>
                  <a:txBody>
                    <a:bodyPr/>
                    <a:lstStyle/>
                    <a:p>
                      <a:pPr marL="0" indent="0" algn="l">
                        <a:buNone/>
                      </a:pPr>
                      <a:r>
                        <a:rPr lang="en-US" sz="1600" b="1" dirty="0">
                          <a:solidFill>
                            <a:srgbClr val="1B2430"/>
                          </a:solidFill>
                          <a:latin typeface="Calibri" pitchFamily="34" charset="0"/>
                          <a:ea typeface="Calibri" pitchFamily="34" charset="-122"/>
                          <a:cs typeface="Calibri" pitchFamily="34" charset="-120"/>
                        </a:rPr>
                        <a:t>str</a:t>
                      </a:r>
                      <a:endParaRPr lang="en-US" sz="1600" dirty="0">
                        <a:latin typeface="Calibri" charset="0"/>
                        <a:ea typeface="Calibri" charset="0"/>
                        <a:cs typeface="Calibri" charset="0"/>
                      </a:endParaRPr>
                    </a:p>
                  </a:txBody>
                  <a:tcPr marL="45720" marR="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2430"/>
                          </a:solidFill>
                          <a:latin typeface="Calibri" pitchFamily="34" charset="0"/>
                          <a:ea typeface="Calibri" pitchFamily="34" charset="-122"/>
                          <a:cs typeface="Calibri" pitchFamily="34" charset="-120"/>
                        </a:rPr>
                        <a:t>"Alex"</a:t>
                      </a:r>
                      <a:endParaRPr lang="en-US" sz="1600" dirty="0">
                        <a:latin typeface="Calibri" charset="0"/>
                        <a:ea typeface="Calibri" charset="0"/>
                        <a:cs typeface="Calibri" charset="0"/>
                      </a:endParaRPr>
                    </a:p>
                  </a:txBody>
                  <a:tcPr marL="45720" marR="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2430"/>
                          </a:solidFill>
                          <a:latin typeface="Calibri" pitchFamily="34" charset="0"/>
                          <a:ea typeface="Calibri" pitchFamily="34" charset="-122"/>
                          <a:cs typeface="Calibri" pitchFamily="34" charset="-120"/>
                        </a:rPr>
                        <a:t>text (a string of characters)</a:t>
                      </a:r>
                      <a:endParaRPr lang="en-US" sz="1600" dirty="0">
                        <a:latin typeface="Calibri" charset="0"/>
                        <a:ea typeface="Calibri" charset="0"/>
                        <a:cs typeface="Calibri" charset="0"/>
                      </a:endParaRPr>
                    </a:p>
                  </a:txBody>
                  <a:tcPr marL="45720" marR="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lgn="l">
                        <a:buNone/>
                      </a:pPr>
                      <a:r>
                        <a:rPr lang="en-US" sz="1600" b="1" dirty="0">
                          <a:solidFill>
                            <a:srgbClr val="1B2430"/>
                          </a:solidFill>
                          <a:latin typeface="Calibri" pitchFamily="34" charset="0"/>
                          <a:ea typeface="Calibri" pitchFamily="34" charset="-122"/>
                          <a:cs typeface="Calibri" pitchFamily="34" charset="-120"/>
                        </a:rPr>
                        <a:t>int</a:t>
                      </a:r>
                      <a:endParaRPr lang="en-US" sz="1600" dirty="0">
                        <a:latin typeface="Calibri" charset="0"/>
                        <a:ea typeface="Calibri" charset="0"/>
                        <a:cs typeface="Calibri" charset="0"/>
                      </a:endParaRPr>
                    </a:p>
                  </a:txBody>
                  <a:tcPr marL="45720" marR="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EEF2F6"/>
                    </a:solidFill>
                  </a:tcPr>
                </a:tc>
                <a:tc>
                  <a:txBody>
                    <a:bodyPr/>
                    <a:lstStyle/>
                    <a:p>
                      <a:pPr marL="0" indent="0" algn="l">
                        <a:buNone/>
                      </a:pPr>
                      <a:r>
                        <a:rPr lang="en-US" sz="1600" dirty="0">
                          <a:solidFill>
                            <a:srgbClr val="1B2430"/>
                          </a:solidFill>
                          <a:latin typeface="Calibri" pitchFamily="34" charset="0"/>
                          <a:ea typeface="Calibri" pitchFamily="34" charset="-122"/>
                          <a:cs typeface="Calibri" pitchFamily="34" charset="-120"/>
                        </a:rPr>
                        <a:t>20</a:t>
                      </a:r>
                      <a:endParaRPr lang="en-US" sz="1600" dirty="0">
                        <a:latin typeface="Calibri" charset="0"/>
                        <a:ea typeface="Calibri" charset="0"/>
                        <a:cs typeface="Calibri" charset="0"/>
                      </a:endParaRPr>
                    </a:p>
                  </a:txBody>
                  <a:tcPr marL="45720" marR="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EEF2F6"/>
                    </a:solidFill>
                  </a:tcPr>
                </a:tc>
                <a:tc>
                  <a:txBody>
                    <a:bodyPr/>
                    <a:lstStyle/>
                    <a:p>
                      <a:pPr marL="0" indent="0" algn="l">
                        <a:buNone/>
                      </a:pPr>
                      <a:r>
                        <a:rPr lang="en-US" sz="1600" dirty="0">
                          <a:solidFill>
                            <a:srgbClr val="1B2430"/>
                          </a:solidFill>
                          <a:latin typeface="Calibri" pitchFamily="34" charset="0"/>
                          <a:ea typeface="Calibri" pitchFamily="34" charset="-122"/>
                          <a:cs typeface="Calibri" pitchFamily="34" charset="-120"/>
                        </a:rPr>
                        <a:t>a whole number</a:t>
                      </a:r>
                      <a:endParaRPr lang="en-US" sz="1600" dirty="0">
                        <a:latin typeface="Calibri" charset="0"/>
                        <a:ea typeface="Calibri" charset="0"/>
                        <a:cs typeface="Calibri" charset="0"/>
                      </a:endParaRPr>
                    </a:p>
                  </a:txBody>
                  <a:tcPr marL="45720" marR="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EEF2F6"/>
                    </a:solidFill>
                  </a:tcPr>
                </a:tc>
                <a:extLst>
                  <a:ext uri="{0D108BD9-81ED-4DB2-BD59-A6C34878D82A}">
                    <a16:rowId xmlns:a16="http://schemas.microsoft.com/office/drawing/2014/main" val="10002"/>
                  </a:ext>
                </a:extLst>
              </a:tr>
              <a:tr h="566928">
                <a:tc>
                  <a:txBody>
                    <a:bodyPr/>
                    <a:lstStyle/>
                    <a:p>
                      <a:pPr marL="0" indent="0" algn="l">
                        <a:buNone/>
                      </a:pPr>
                      <a:r>
                        <a:rPr lang="en-US" sz="1600" b="1" dirty="0">
                          <a:solidFill>
                            <a:srgbClr val="1B2430"/>
                          </a:solidFill>
                          <a:latin typeface="Calibri" pitchFamily="34" charset="0"/>
                          <a:ea typeface="Calibri" pitchFamily="34" charset="-122"/>
                          <a:cs typeface="Calibri" pitchFamily="34" charset="-120"/>
                        </a:rPr>
                        <a:t>float</a:t>
                      </a:r>
                      <a:endParaRPr lang="en-US" sz="1600" dirty="0">
                        <a:latin typeface="Calibri" charset="0"/>
                        <a:ea typeface="Calibri" charset="0"/>
                        <a:cs typeface="Calibri" charset="0"/>
                      </a:endParaRPr>
                    </a:p>
                  </a:txBody>
                  <a:tcPr marL="45720" marR="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2430"/>
                          </a:solidFill>
                          <a:latin typeface="Calibri" pitchFamily="34" charset="0"/>
                          <a:ea typeface="Calibri" pitchFamily="34" charset="-122"/>
                          <a:cs typeface="Calibri" pitchFamily="34" charset="-120"/>
                        </a:rPr>
                        <a:t>5.9</a:t>
                      </a:r>
                      <a:endParaRPr lang="en-US" sz="1600" dirty="0">
                        <a:latin typeface="Calibri" charset="0"/>
                        <a:ea typeface="Calibri" charset="0"/>
                        <a:cs typeface="Calibri" charset="0"/>
                      </a:endParaRPr>
                    </a:p>
                  </a:txBody>
                  <a:tcPr marL="45720" marR="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2430"/>
                          </a:solidFill>
                          <a:latin typeface="Calibri" pitchFamily="34" charset="0"/>
                          <a:ea typeface="Calibri" pitchFamily="34" charset="-122"/>
                          <a:cs typeface="Calibri" pitchFamily="34" charset="-120"/>
                        </a:rPr>
                        <a:t>a decimal number</a:t>
                      </a:r>
                      <a:endParaRPr lang="en-US" sz="1600" dirty="0">
                        <a:latin typeface="Calibri" charset="0"/>
                        <a:ea typeface="Calibri" charset="0"/>
                        <a:cs typeface="Calibri" charset="0"/>
                      </a:endParaRPr>
                    </a:p>
                  </a:txBody>
                  <a:tcPr marL="45720" marR="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lgn="l">
                        <a:buNone/>
                      </a:pPr>
                      <a:r>
                        <a:rPr lang="en-US" sz="1600" b="1" dirty="0">
                          <a:solidFill>
                            <a:srgbClr val="1B2430"/>
                          </a:solidFill>
                          <a:latin typeface="Calibri" pitchFamily="34" charset="0"/>
                          <a:ea typeface="Calibri" pitchFamily="34" charset="-122"/>
                          <a:cs typeface="Calibri" pitchFamily="34" charset="-120"/>
                        </a:rPr>
                        <a:t>bool</a:t>
                      </a:r>
                      <a:endParaRPr lang="en-US" sz="1600" dirty="0">
                        <a:latin typeface="Calibri" charset="0"/>
                        <a:ea typeface="Calibri" charset="0"/>
                        <a:cs typeface="Calibri" charset="0"/>
                      </a:endParaRPr>
                    </a:p>
                  </a:txBody>
                  <a:tcPr marL="45720" marR="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EEF2F6"/>
                    </a:solidFill>
                  </a:tcPr>
                </a:tc>
                <a:tc>
                  <a:txBody>
                    <a:bodyPr/>
                    <a:lstStyle/>
                    <a:p>
                      <a:pPr marL="0" indent="0" algn="l">
                        <a:buNone/>
                      </a:pPr>
                      <a:r>
                        <a:rPr lang="en-US" sz="1600" dirty="0">
                          <a:solidFill>
                            <a:srgbClr val="1B2430"/>
                          </a:solidFill>
                          <a:latin typeface="Calibri" pitchFamily="34" charset="0"/>
                          <a:ea typeface="Calibri" pitchFamily="34" charset="-122"/>
                          <a:cs typeface="Calibri" pitchFamily="34" charset="-120"/>
                        </a:rPr>
                        <a:t>True / False</a:t>
                      </a:r>
                      <a:endParaRPr lang="en-US" sz="1600" dirty="0">
                        <a:latin typeface="Calibri" charset="0"/>
                        <a:ea typeface="Calibri" charset="0"/>
                        <a:cs typeface="Calibri" charset="0"/>
                      </a:endParaRPr>
                    </a:p>
                  </a:txBody>
                  <a:tcPr marL="45720" marR="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EEF2F6"/>
                    </a:solidFill>
                  </a:tcPr>
                </a:tc>
                <a:tc>
                  <a:txBody>
                    <a:bodyPr/>
                    <a:lstStyle/>
                    <a:p>
                      <a:pPr marL="0" indent="0" algn="l">
                        <a:buNone/>
                      </a:pPr>
                      <a:r>
                        <a:rPr lang="en-US" sz="1600" dirty="0">
                          <a:solidFill>
                            <a:srgbClr val="1B2430"/>
                          </a:solidFill>
                          <a:latin typeface="Calibri" pitchFamily="34" charset="0"/>
                          <a:ea typeface="Calibri" pitchFamily="34" charset="-122"/>
                          <a:cs typeface="Calibri" pitchFamily="34" charset="-120"/>
                        </a:rPr>
                        <a:t>a logical yes/no value</a:t>
                      </a:r>
                      <a:endParaRPr lang="en-US" sz="1600" dirty="0">
                        <a:latin typeface="Calibri" charset="0"/>
                        <a:ea typeface="Calibri" charset="0"/>
                        <a:cs typeface="Calibri" charset="0"/>
                      </a:endParaRPr>
                    </a:p>
                  </a:txBody>
                  <a:tcPr marL="45720" marR="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EEF2F6"/>
                    </a:solidFill>
                  </a:tcPr>
                </a:tc>
                <a:extLst>
                  <a:ext uri="{0D108BD9-81ED-4DB2-BD59-A6C34878D82A}">
                    <a16:rowId xmlns:a16="http://schemas.microsoft.com/office/drawing/2014/main" val="10004"/>
                  </a:ext>
                </a:extLst>
              </a:tr>
            </a:tbl>
          </a:graphicData>
        </a:graphic>
      </p:graphicFrame>
      <p:sp>
        <p:nvSpPr>
          <p:cNvPr id="11" name="Text 8"/>
          <p:cNvSpPr txBox="1"/>
          <p:nvPr/>
        </p:nvSpPr>
        <p:spPr>
          <a:xfrm>
            <a:off x="548640" y="6455664"/>
            <a:ext cx="9418320" cy="292608"/>
          </a:xfrm>
          <a:prstGeom prst="rect">
            <a:avLst/>
          </a:prstGeom>
          <a:noFill/>
          <a:ln/>
        </p:spPr>
        <p:txBody>
          <a:bodyPr wrap="square" lIns="0" tIns="0" rIns="0" bIns="0" rtlCol="0" anchor="ctr"/>
          <a:lstStyle/>
          <a:p>
            <a:pPr marL="0" indent="0">
              <a:buNone/>
            </a:pPr>
            <a:r>
              <a:rPr lang="en-US" sz="1600" dirty="0">
                <a:solidFill>
                  <a:srgbClr val="5B6B79"/>
                </a:solidFill>
                <a:latin typeface="Calibri" pitchFamily="34" charset="0"/>
                <a:ea typeface="Calibri" pitchFamily="34" charset="-122"/>
                <a:cs typeface="Calibri" pitchFamily="34" charset="-120"/>
              </a:rPr>
              <a:t>AI Practical 1  •  Development Environment, Python &amp; Rule-Based Chatbot</a:t>
            </a:r>
            <a:endParaRPr lang="en-US" sz="1600" dirty="0"/>
          </a:p>
        </p:txBody>
      </p:sp>
      <p:sp>
        <p:nvSpPr>
          <p:cNvPr id="12" name="Text 9"/>
          <p:cNvSpPr txBox="1"/>
          <p:nvPr/>
        </p:nvSpPr>
        <p:spPr>
          <a:xfrm>
            <a:off x="11247120" y="6455664"/>
            <a:ext cx="457200" cy="292608"/>
          </a:xfrm>
          <a:prstGeom prst="rect">
            <a:avLst/>
          </a:prstGeom>
          <a:noFill/>
          <a:ln/>
        </p:spPr>
        <p:txBody>
          <a:bodyPr wrap="square" lIns="0" tIns="0" rIns="0" bIns="0" rtlCol="0" anchor="ctr"/>
          <a:lstStyle/>
          <a:p>
            <a:pPr marL="0" indent="0" algn="r">
              <a:buNone/>
            </a:pPr>
            <a:r>
              <a:rPr lang="en-US" sz="1600" dirty="0">
                <a:solidFill>
                  <a:srgbClr val="5B6B79"/>
                </a:solidFill>
                <a:latin typeface="Calibri" pitchFamily="34" charset="0"/>
                <a:ea typeface="Calibri" pitchFamily="34" charset="-122"/>
                <a:cs typeface="Calibri" pitchFamily="34" charset="-120"/>
              </a:rPr>
              <a:t>14</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7FA"/>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0515600" cy="310896"/>
          </a:xfrm>
          <a:prstGeom prst="rect">
            <a:avLst/>
          </a:prstGeom>
          <a:noFill/>
          <a:ln/>
        </p:spPr>
        <p:txBody>
          <a:bodyPr wrap="square" lIns="0" tIns="0" rIns="0" bIns="0" rtlCol="0" anchor="ctr"/>
          <a:lstStyle/>
          <a:p>
            <a:pPr marL="0" indent="0">
              <a:buNone/>
            </a:pPr>
            <a:r>
              <a:rPr lang="en-US" sz="1600" b="1" kern="0" spc="200" dirty="0">
                <a:solidFill>
                  <a:srgbClr val="2E86AB"/>
                </a:solidFill>
                <a:latin typeface="Calibri" pitchFamily="34" charset="0"/>
                <a:ea typeface="Calibri" pitchFamily="34" charset="-122"/>
                <a:cs typeface="Calibri" pitchFamily="34" charset="-120"/>
              </a:rPr>
              <a:t>SECTION C — PYTHON FUNDAMENTALS</a:t>
            </a:r>
            <a:endParaRPr lang="en-US" sz="1600" dirty="0"/>
          </a:p>
        </p:txBody>
      </p:sp>
      <p:sp>
        <p:nvSpPr>
          <p:cNvPr id="3" name="Text 1"/>
          <p:cNvSpPr txBox="1"/>
          <p:nvPr/>
        </p:nvSpPr>
        <p:spPr>
          <a:xfrm>
            <a:off x="548640" y="603504"/>
            <a:ext cx="11064240" cy="731520"/>
          </a:xfrm>
          <a:prstGeom prst="rect">
            <a:avLst/>
          </a:prstGeom>
          <a:noFill/>
          <a:ln/>
        </p:spPr>
        <p:txBody>
          <a:bodyPr wrap="square" lIns="0" tIns="0" rIns="0" bIns="0" rtlCol="0" anchor="ctr"/>
          <a:lstStyle/>
          <a:p>
            <a:pPr marL="0" indent="0">
              <a:buNone/>
            </a:pPr>
            <a:r>
              <a:rPr lang="en-US" sz="3300" b="1" dirty="0">
                <a:solidFill>
                  <a:srgbClr val="142A45"/>
                </a:solidFill>
                <a:latin typeface="Cambria" pitchFamily="34" charset="0"/>
                <a:ea typeface="Cambria" pitchFamily="34" charset="-122"/>
                <a:cs typeface="Cambria" pitchFamily="34" charset="-120"/>
              </a:rPr>
              <a:t>Getting Input From the User</a:t>
            </a:r>
            <a:endParaRPr lang="en-US" sz="3300" dirty="0"/>
          </a:p>
        </p:txBody>
      </p:sp>
      <p:sp>
        <p:nvSpPr>
          <p:cNvPr id="4" name="Shape 2"/>
          <p:cNvSpPr/>
          <p:nvPr/>
        </p:nvSpPr>
        <p:spPr>
          <a:xfrm>
            <a:off x="548640" y="1691640"/>
            <a:ext cx="6492240" cy="2651760"/>
          </a:xfrm>
          <a:prstGeom prst="roundRect">
            <a:avLst>
              <a:gd name="adj" fmla="val 2759"/>
            </a:avLst>
          </a:prstGeom>
          <a:solidFill>
            <a:srgbClr val="0D1B2E"/>
          </a:solidFill>
          <a:ln/>
        </p:spPr>
      </p:sp>
      <p:sp>
        <p:nvSpPr>
          <p:cNvPr id="5" name="Shape 3"/>
          <p:cNvSpPr/>
          <p:nvPr/>
        </p:nvSpPr>
        <p:spPr>
          <a:xfrm>
            <a:off x="713232" y="1819656"/>
            <a:ext cx="109728" cy="109728"/>
          </a:xfrm>
          <a:prstGeom prst="ellipse">
            <a:avLst/>
          </a:prstGeom>
          <a:solidFill>
            <a:srgbClr val="E5645B"/>
          </a:solidFill>
          <a:ln/>
        </p:spPr>
      </p:sp>
      <p:sp>
        <p:nvSpPr>
          <p:cNvPr id="6" name="Shape 4"/>
          <p:cNvSpPr/>
          <p:nvPr/>
        </p:nvSpPr>
        <p:spPr>
          <a:xfrm>
            <a:off x="914400" y="1819656"/>
            <a:ext cx="109728" cy="109728"/>
          </a:xfrm>
          <a:prstGeom prst="ellipse">
            <a:avLst/>
          </a:prstGeom>
          <a:solidFill>
            <a:srgbClr val="F2C85B"/>
          </a:solidFill>
          <a:ln/>
        </p:spPr>
      </p:sp>
      <p:sp>
        <p:nvSpPr>
          <p:cNvPr id="7" name="Shape 5"/>
          <p:cNvSpPr/>
          <p:nvPr/>
        </p:nvSpPr>
        <p:spPr>
          <a:xfrm>
            <a:off x="1115568" y="1819656"/>
            <a:ext cx="109728" cy="109728"/>
          </a:xfrm>
          <a:prstGeom prst="ellipse">
            <a:avLst/>
          </a:prstGeom>
          <a:solidFill>
            <a:srgbClr val="5CC97A"/>
          </a:solidFill>
          <a:ln/>
        </p:spPr>
      </p:sp>
      <p:sp>
        <p:nvSpPr>
          <p:cNvPr id="8" name="Text 6"/>
          <p:cNvSpPr txBox="1"/>
          <p:nvPr/>
        </p:nvSpPr>
        <p:spPr>
          <a:xfrm>
            <a:off x="749808" y="2020824"/>
            <a:ext cx="6126480" cy="2231136"/>
          </a:xfrm>
          <a:prstGeom prst="rect">
            <a:avLst/>
          </a:prstGeom>
          <a:noFill/>
          <a:ln/>
        </p:spPr>
        <p:txBody>
          <a:bodyPr wrap="square" lIns="0" tIns="0" rIns="0" bIns="0" rtlCol="0" anchor="t"/>
          <a:lstStyle/>
          <a:p>
            <a:pPr marL="0" indent="0">
              <a:lnSpc>
                <a:spcPct val="104000"/>
              </a:lnSpc>
              <a:buNone/>
            </a:pPr>
            <a:r>
              <a:rPr lang="en-US" sz="1800" dirty="0">
                <a:solidFill>
                  <a:srgbClr val="E8EEF4"/>
                </a:solidFill>
                <a:latin typeface="Courier New" pitchFamily="34" charset="0"/>
                <a:ea typeface="Courier New" pitchFamily="34" charset="-122"/>
                <a:cs typeface="Courier New" pitchFamily="34" charset="-120"/>
              </a:rPr>
              <a:t>name = input("What is your name? ")</a:t>
            </a:r>
            <a:endParaRPr lang="en-US" sz="1800" dirty="0"/>
          </a:p>
          <a:p>
            <a:pPr marL="0" indent="0">
              <a:lnSpc>
                <a:spcPct val="104000"/>
              </a:lnSpc>
              <a:buNone/>
            </a:pPr>
            <a:r>
              <a:rPr lang="en-US" sz="1800" dirty="0">
                <a:solidFill>
                  <a:srgbClr val="E8EEF4"/>
                </a:solidFill>
                <a:latin typeface="Courier New" pitchFamily="34" charset="0"/>
                <a:ea typeface="Courier New" pitchFamily="34" charset="-122"/>
                <a:cs typeface="Courier New" pitchFamily="34" charset="-120"/>
              </a:rPr>
              <a:t>print("Hello, " + name + "!")</a:t>
            </a:r>
            <a:endParaRPr lang="en-US" sz="1800" dirty="0"/>
          </a:p>
          <a:p>
            <a:pPr marL="0" indent="0">
              <a:lnSpc>
                <a:spcPct val="104000"/>
              </a:lnSpc>
              <a:buNone/>
            </a:pPr>
            <a:endParaRPr lang="en-US" sz="1800" dirty="0"/>
          </a:p>
          <a:p>
            <a:pPr marL="0" indent="0">
              <a:lnSpc>
                <a:spcPct val="104000"/>
              </a:lnSpc>
              <a:buNone/>
            </a:pPr>
            <a:r>
              <a:rPr lang="en-US" sz="1800" dirty="0">
                <a:solidFill>
                  <a:srgbClr val="8FD694"/>
                </a:solidFill>
                <a:latin typeface="Courier New" pitchFamily="34" charset="0"/>
                <a:ea typeface="Courier New" pitchFamily="34" charset="-122"/>
                <a:cs typeface="Courier New" pitchFamily="34" charset="-120"/>
              </a:rPr>
              <a:t># input() always returns a string</a:t>
            </a:r>
            <a:endParaRPr lang="en-US" sz="1800" dirty="0"/>
          </a:p>
          <a:p>
            <a:pPr marL="0" indent="0">
              <a:lnSpc>
                <a:spcPct val="104000"/>
              </a:lnSpc>
              <a:buNone/>
            </a:pPr>
            <a:r>
              <a:rPr lang="en-US" sz="1800" dirty="0">
                <a:solidFill>
                  <a:srgbClr val="E8EEF4"/>
                </a:solidFill>
                <a:latin typeface="Courier New" pitchFamily="34" charset="0"/>
                <a:ea typeface="Courier New" pitchFamily="34" charset="-122"/>
                <a:cs typeface="Courier New" pitchFamily="34" charset="-120"/>
              </a:rPr>
              <a:t>age_text = input("Your age? ")</a:t>
            </a:r>
            <a:endParaRPr lang="en-US" sz="1800" dirty="0"/>
          </a:p>
          <a:p>
            <a:pPr marL="0" indent="0">
              <a:lnSpc>
                <a:spcPct val="104000"/>
              </a:lnSpc>
              <a:buNone/>
            </a:pPr>
            <a:r>
              <a:rPr lang="en-US" sz="1800" dirty="0">
                <a:solidFill>
                  <a:srgbClr val="E8EEF4"/>
                </a:solidFill>
                <a:latin typeface="Courier New" pitchFamily="34" charset="0"/>
                <a:ea typeface="Courier New" pitchFamily="34" charset="-122"/>
                <a:cs typeface="Courier New" pitchFamily="34" charset="-120"/>
              </a:rPr>
              <a:t>age = int(age_text)     # convert to a number</a:t>
            </a:r>
            <a:endParaRPr lang="en-US" sz="1800" dirty="0"/>
          </a:p>
        </p:txBody>
      </p:sp>
      <p:sp>
        <p:nvSpPr>
          <p:cNvPr id="9" name="Shape 7"/>
          <p:cNvSpPr/>
          <p:nvPr/>
        </p:nvSpPr>
        <p:spPr>
          <a:xfrm>
            <a:off x="548640" y="4480560"/>
            <a:ext cx="6492240" cy="1234440"/>
          </a:xfrm>
          <a:prstGeom prst="roundRect">
            <a:avLst>
              <a:gd name="adj" fmla="val 4444"/>
            </a:avLst>
          </a:prstGeom>
          <a:solidFill>
            <a:srgbClr val="EAF3EC"/>
          </a:solidFill>
          <a:ln w="12700">
            <a:solidFill>
              <a:srgbClr val="BFDFC8"/>
            </a:solidFill>
            <a:prstDash val="solid"/>
          </a:ln>
        </p:spPr>
      </p:sp>
      <p:sp>
        <p:nvSpPr>
          <p:cNvPr id="10" name="Text 8"/>
          <p:cNvSpPr txBox="1"/>
          <p:nvPr/>
        </p:nvSpPr>
        <p:spPr>
          <a:xfrm>
            <a:off x="685800" y="4553712"/>
            <a:ext cx="6217920" cy="274320"/>
          </a:xfrm>
          <a:prstGeom prst="rect">
            <a:avLst/>
          </a:prstGeom>
          <a:noFill/>
          <a:ln/>
        </p:spPr>
        <p:txBody>
          <a:bodyPr wrap="square" lIns="0" tIns="0" rIns="0" bIns="0" rtlCol="0" anchor="ctr"/>
          <a:lstStyle/>
          <a:p>
            <a:pPr marL="0" indent="0">
              <a:buNone/>
            </a:pPr>
            <a:r>
              <a:rPr lang="en-US" sz="1600" b="1" kern="0" spc="100" dirty="0">
                <a:solidFill>
                  <a:srgbClr val="3F9142"/>
                </a:solidFill>
                <a:latin typeface="Calibri" pitchFamily="34" charset="0"/>
                <a:ea typeface="Calibri" pitchFamily="34" charset="-122"/>
                <a:cs typeface="Calibri" pitchFamily="34" charset="-120"/>
              </a:rPr>
              <a:t>OUTPUT</a:t>
            </a:r>
            <a:endParaRPr lang="en-US" sz="1600" dirty="0"/>
          </a:p>
        </p:txBody>
      </p:sp>
      <p:sp>
        <p:nvSpPr>
          <p:cNvPr id="11" name="Text 9"/>
          <p:cNvSpPr txBox="1"/>
          <p:nvPr/>
        </p:nvSpPr>
        <p:spPr>
          <a:xfrm>
            <a:off x="685800" y="4846320"/>
            <a:ext cx="6217920" cy="777240"/>
          </a:xfrm>
          <a:prstGeom prst="rect">
            <a:avLst/>
          </a:prstGeom>
          <a:noFill/>
          <a:ln/>
        </p:spPr>
        <p:txBody>
          <a:bodyPr wrap="square" lIns="0" tIns="0" rIns="0" bIns="0" rtlCol="0" anchor="t"/>
          <a:lstStyle/>
          <a:p>
            <a:pPr marL="0" indent="0">
              <a:lnSpc>
                <a:spcPct val="104000"/>
              </a:lnSpc>
              <a:buNone/>
            </a:pPr>
            <a:r>
              <a:rPr lang="en-US" sz="1600" dirty="0">
                <a:solidFill>
                  <a:srgbClr val="234A2B"/>
                </a:solidFill>
                <a:latin typeface="Courier New" pitchFamily="34" charset="0"/>
                <a:ea typeface="Courier New" pitchFamily="34" charset="-122"/>
                <a:cs typeface="Courier New" pitchFamily="34" charset="-120"/>
              </a:rPr>
              <a:t>What is your name? Sara</a:t>
            </a:r>
            <a:endParaRPr lang="en-US" sz="1600" dirty="0"/>
          </a:p>
          <a:p>
            <a:pPr marL="0" indent="0">
              <a:lnSpc>
                <a:spcPct val="104000"/>
              </a:lnSpc>
              <a:buNone/>
            </a:pPr>
            <a:r>
              <a:rPr lang="en-US" sz="1600" dirty="0">
                <a:solidFill>
                  <a:srgbClr val="234A2B"/>
                </a:solidFill>
                <a:latin typeface="Courier New" pitchFamily="34" charset="0"/>
                <a:ea typeface="Courier New" pitchFamily="34" charset="-122"/>
                <a:cs typeface="Courier New" pitchFamily="34" charset="-120"/>
              </a:rPr>
              <a:t>Hello, Sara!</a:t>
            </a:r>
            <a:endParaRPr lang="en-US" sz="1600" dirty="0"/>
          </a:p>
          <a:p>
            <a:pPr marL="0" indent="0">
              <a:lnSpc>
                <a:spcPct val="104000"/>
              </a:lnSpc>
              <a:buNone/>
            </a:pPr>
            <a:r>
              <a:rPr lang="en-US" sz="1600" dirty="0">
                <a:solidFill>
                  <a:srgbClr val="234A2B"/>
                </a:solidFill>
                <a:latin typeface="Courier New" pitchFamily="34" charset="0"/>
                <a:ea typeface="Courier New" pitchFamily="34" charset="-122"/>
                <a:cs typeface="Courier New" pitchFamily="34" charset="-120"/>
              </a:rPr>
              <a:t>Your age? 21</a:t>
            </a:r>
            <a:endParaRPr lang="en-US" sz="1600" dirty="0"/>
          </a:p>
        </p:txBody>
      </p:sp>
      <p:sp>
        <p:nvSpPr>
          <p:cNvPr id="12" name="Shape 10"/>
          <p:cNvSpPr/>
          <p:nvPr/>
        </p:nvSpPr>
        <p:spPr>
          <a:xfrm>
            <a:off x="7315200" y="1691640"/>
            <a:ext cx="4297680" cy="4023360"/>
          </a:xfrm>
          <a:prstGeom prst="roundRect">
            <a:avLst>
              <a:gd name="adj" fmla="val 1818"/>
            </a:avLst>
          </a:prstGeom>
          <a:solidFill>
            <a:srgbClr val="FFF3E0"/>
          </a:solidFill>
          <a:ln w="12700">
            <a:solidFill>
              <a:srgbClr val="DDE3EA"/>
            </a:solidFill>
            <a:prstDash val="solid"/>
          </a:ln>
          <a:effectLst>
            <a:outerShdw blurRad="76200" dist="25400" dir="5400000" algn="bl" rotWithShape="0">
              <a:srgbClr val="142A45">
                <a:alpha val="12000"/>
              </a:srgbClr>
            </a:outerShdw>
          </a:effectLst>
        </p:spPr>
      </p:sp>
      <p:sp>
        <p:nvSpPr>
          <p:cNvPr id="13" name="Text 11"/>
          <p:cNvSpPr txBox="1"/>
          <p:nvPr/>
        </p:nvSpPr>
        <p:spPr>
          <a:xfrm>
            <a:off x="7543800" y="1874520"/>
            <a:ext cx="3840480" cy="274320"/>
          </a:xfrm>
          <a:prstGeom prst="rect">
            <a:avLst/>
          </a:prstGeom>
          <a:noFill/>
          <a:ln/>
        </p:spPr>
        <p:txBody>
          <a:bodyPr wrap="square" lIns="0" tIns="0" rIns="0" bIns="0" rtlCol="0" anchor="ctr"/>
          <a:lstStyle/>
          <a:p>
            <a:pPr marL="0" indent="0">
              <a:buNone/>
            </a:pPr>
            <a:r>
              <a:rPr lang="en-US" sz="1600" b="1" kern="0" spc="150" dirty="0">
                <a:solidFill>
                  <a:srgbClr val="B5651D"/>
                </a:solidFill>
                <a:latin typeface="Calibri" pitchFamily="34" charset="0"/>
                <a:ea typeface="Calibri" pitchFamily="34" charset="-122"/>
                <a:cs typeface="Calibri" pitchFamily="34" charset="-120"/>
              </a:rPr>
              <a:t>KEY IDEA</a:t>
            </a:r>
            <a:endParaRPr lang="en-US" sz="1600" dirty="0"/>
          </a:p>
        </p:txBody>
      </p:sp>
      <p:sp>
        <p:nvSpPr>
          <p:cNvPr id="14" name="Text 12"/>
          <p:cNvSpPr txBox="1"/>
          <p:nvPr/>
        </p:nvSpPr>
        <p:spPr>
          <a:xfrm>
            <a:off x="7543800" y="2240280"/>
            <a:ext cx="3840480" cy="3291840"/>
          </a:xfrm>
          <a:prstGeom prst="rect">
            <a:avLst/>
          </a:prstGeom>
          <a:noFill/>
          <a:ln/>
        </p:spPr>
        <p:txBody>
          <a:bodyPr wrap="square" lIns="0" tIns="0" rIns="0" bIns="0" rtlCol="0" anchor="t"/>
          <a:lstStyle/>
          <a:p>
            <a:pPr marL="0" indent="0">
              <a:lnSpc>
                <a:spcPct val="115000"/>
              </a:lnSpc>
              <a:buNone/>
            </a:pPr>
            <a:r>
              <a:rPr lang="en-US" sz="1900" b="1" dirty="0">
                <a:solidFill>
                  <a:srgbClr val="142A45"/>
                </a:solidFill>
                <a:latin typeface="Courier New" pitchFamily="34" charset="0"/>
                <a:ea typeface="Courier New" pitchFamily="34" charset="-122"/>
                <a:cs typeface="Courier New" pitchFamily="34" charset="-120"/>
              </a:rPr>
              <a:t>input() </a:t>
            </a:r>
            <a:r>
              <a:rPr lang="en-US" sz="1700" dirty="0">
                <a:solidFill>
                  <a:srgbClr val="1B2430"/>
                </a:solidFill>
                <a:latin typeface="Calibri" pitchFamily="34" charset="0"/>
                <a:ea typeface="Calibri" pitchFamily="34" charset="-122"/>
                <a:cs typeface="Calibri" pitchFamily="34" charset="-120"/>
              </a:rPr>
              <a:t>always returns text (a string) — even if the user types a number.
</a:t>
            </a:r>
            <a:r>
              <a:rPr lang="en-US" sz="1800" b="1" dirty="0">
                <a:solidFill>
                  <a:srgbClr val="142A45"/>
                </a:solidFill>
                <a:latin typeface="Courier New" pitchFamily="34" charset="0"/>
                <a:ea typeface="Courier New" pitchFamily="34" charset="-122"/>
                <a:cs typeface="Courier New" pitchFamily="34" charset="-120"/>
              </a:rPr>
              <a:t>Use int(...) or float(...) </a:t>
            </a:r>
            <a:r>
              <a:rPr lang="en-US" sz="1700" dirty="0">
                <a:solidFill>
                  <a:srgbClr val="1B2430"/>
                </a:solidFill>
                <a:latin typeface="Calibri" pitchFamily="34" charset="0"/>
                <a:ea typeface="Calibri" pitchFamily="34" charset="-122"/>
                <a:cs typeface="Calibri" pitchFamily="34" charset="-120"/>
              </a:rPr>
              <a:t>to convert it before doing math with it.</a:t>
            </a:r>
            <a:endParaRPr lang="en-US" sz="1900" dirty="0"/>
          </a:p>
          <a:p>
            <a:pPr marL="0" indent="0">
              <a:lnSpc>
                <a:spcPct val="115000"/>
              </a:lnSpc>
              <a:buNone/>
            </a:pPr>
            <a:endParaRPr lang="en-US" sz="1900" dirty="0"/>
          </a:p>
          <a:p>
            <a:pPr marL="0" indent="0">
              <a:lnSpc>
                <a:spcPct val="115000"/>
              </a:lnSpc>
              <a:buNone/>
            </a:pPr>
            <a:r>
              <a:rPr lang="en-US" sz="1700" dirty="0">
                <a:solidFill>
                  <a:srgbClr val="1B2430"/>
                </a:solidFill>
                <a:latin typeface="Calibri" pitchFamily="34" charset="0"/>
                <a:ea typeface="Calibri" pitchFamily="34" charset="-122"/>
                <a:cs typeface="Calibri" pitchFamily="34" charset="-120"/>
              </a:rPr>
              <a:t>This is exactly what our chatbot will use to read what the user types.</a:t>
            </a:r>
            <a:endParaRPr lang="en-US" sz="1900" dirty="0"/>
          </a:p>
        </p:txBody>
      </p:sp>
      <p:sp>
        <p:nvSpPr>
          <p:cNvPr id="15" name="Text 13"/>
          <p:cNvSpPr txBox="1"/>
          <p:nvPr/>
        </p:nvSpPr>
        <p:spPr>
          <a:xfrm>
            <a:off x="548640" y="6455664"/>
            <a:ext cx="9418320" cy="292608"/>
          </a:xfrm>
          <a:prstGeom prst="rect">
            <a:avLst/>
          </a:prstGeom>
          <a:noFill/>
          <a:ln/>
        </p:spPr>
        <p:txBody>
          <a:bodyPr wrap="square" lIns="0" tIns="0" rIns="0" bIns="0" rtlCol="0" anchor="ctr"/>
          <a:lstStyle/>
          <a:p>
            <a:pPr marL="0" indent="0">
              <a:buNone/>
            </a:pPr>
            <a:r>
              <a:rPr lang="en-US" sz="1600" dirty="0">
                <a:solidFill>
                  <a:srgbClr val="5B6B79"/>
                </a:solidFill>
                <a:latin typeface="Calibri" pitchFamily="34" charset="0"/>
                <a:ea typeface="Calibri" pitchFamily="34" charset="-122"/>
                <a:cs typeface="Calibri" pitchFamily="34" charset="-120"/>
              </a:rPr>
              <a:t>AI Practical 1  •  Development Environment, Python &amp; Rule-Based Chatbot</a:t>
            </a:r>
            <a:endParaRPr lang="en-US" sz="1600" dirty="0"/>
          </a:p>
        </p:txBody>
      </p:sp>
      <p:sp>
        <p:nvSpPr>
          <p:cNvPr id="16" name="Text 14"/>
          <p:cNvSpPr txBox="1"/>
          <p:nvPr/>
        </p:nvSpPr>
        <p:spPr>
          <a:xfrm>
            <a:off x="11247120" y="6455664"/>
            <a:ext cx="457200" cy="292608"/>
          </a:xfrm>
          <a:prstGeom prst="rect">
            <a:avLst/>
          </a:prstGeom>
          <a:noFill/>
          <a:ln/>
        </p:spPr>
        <p:txBody>
          <a:bodyPr wrap="square" lIns="0" tIns="0" rIns="0" bIns="0" rtlCol="0" anchor="ctr"/>
          <a:lstStyle/>
          <a:p>
            <a:pPr marL="0" indent="0" algn="r">
              <a:buNone/>
            </a:pPr>
            <a:r>
              <a:rPr lang="en-US" sz="1600" dirty="0">
                <a:solidFill>
                  <a:srgbClr val="5B6B79"/>
                </a:solidFill>
                <a:latin typeface="Calibri" pitchFamily="34" charset="0"/>
                <a:ea typeface="Calibri" pitchFamily="34" charset="-122"/>
                <a:cs typeface="Calibri" pitchFamily="34" charset="-120"/>
              </a:rPr>
              <a:t>15</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7FA"/>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0515600" cy="310896"/>
          </a:xfrm>
          <a:prstGeom prst="rect">
            <a:avLst/>
          </a:prstGeom>
          <a:noFill/>
          <a:ln/>
        </p:spPr>
        <p:txBody>
          <a:bodyPr wrap="square" lIns="0" tIns="0" rIns="0" bIns="0" rtlCol="0" anchor="ctr"/>
          <a:lstStyle/>
          <a:p>
            <a:pPr marL="0" indent="0">
              <a:buNone/>
            </a:pPr>
            <a:r>
              <a:rPr lang="en-US" sz="1600" b="1" kern="0" spc="200" dirty="0">
                <a:solidFill>
                  <a:srgbClr val="2E86AB"/>
                </a:solidFill>
                <a:latin typeface="Calibri" pitchFamily="34" charset="0"/>
                <a:ea typeface="Calibri" pitchFamily="34" charset="-122"/>
                <a:cs typeface="Calibri" pitchFamily="34" charset="-120"/>
              </a:rPr>
              <a:t>SECTION C — PYTHON FUNDAMENTALS</a:t>
            </a:r>
            <a:endParaRPr lang="en-US" sz="1600" dirty="0"/>
          </a:p>
        </p:txBody>
      </p:sp>
      <p:sp>
        <p:nvSpPr>
          <p:cNvPr id="3" name="Text 1"/>
          <p:cNvSpPr txBox="1"/>
          <p:nvPr/>
        </p:nvSpPr>
        <p:spPr>
          <a:xfrm>
            <a:off x="548640" y="603504"/>
            <a:ext cx="11064240" cy="731520"/>
          </a:xfrm>
          <a:prstGeom prst="rect">
            <a:avLst/>
          </a:prstGeom>
          <a:noFill/>
          <a:ln/>
        </p:spPr>
        <p:txBody>
          <a:bodyPr wrap="square" lIns="0" tIns="0" rIns="0" bIns="0" rtlCol="0" anchor="ctr"/>
          <a:lstStyle/>
          <a:p>
            <a:pPr marL="0" indent="0">
              <a:buNone/>
            </a:pPr>
            <a:r>
              <a:rPr lang="en-US" sz="3300" b="1" dirty="0">
                <a:solidFill>
                  <a:srgbClr val="142A45"/>
                </a:solidFill>
                <a:latin typeface="Cambria" pitchFamily="34" charset="0"/>
                <a:ea typeface="Cambria" pitchFamily="34" charset="-122"/>
                <a:cs typeface="Cambria" pitchFamily="34" charset="-120"/>
              </a:rPr>
              <a:t>String Formatting and Output</a:t>
            </a:r>
            <a:endParaRPr lang="en-US" sz="3300" dirty="0"/>
          </a:p>
        </p:txBody>
      </p:sp>
      <p:sp>
        <p:nvSpPr>
          <p:cNvPr id="4" name="Shape 2"/>
          <p:cNvSpPr/>
          <p:nvPr/>
        </p:nvSpPr>
        <p:spPr>
          <a:xfrm>
            <a:off x="548640" y="1691640"/>
            <a:ext cx="6675120" cy="2514600"/>
          </a:xfrm>
          <a:prstGeom prst="roundRect">
            <a:avLst>
              <a:gd name="adj" fmla="val 2909"/>
            </a:avLst>
          </a:prstGeom>
          <a:solidFill>
            <a:srgbClr val="0D1B2E"/>
          </a:solidFill>
          <a:ln/>
        </p:spPr>
      </p:sp>
      <p:sp>
        <p:nvSpPr>
          <p:cNvPr id="5" name="Shape 3"/>
          <p:cNvSpPr/>
          <p:nvPr/>
        </p:nvSpPr>
        <p:spPr>
          <a:xfrm>
            <a:off x="713232" y="1819656"/>
            <a:ext cx="109728" cy="109728"/>
          </a:xfrm>
          <a:prstGeom prst="ellipse">
            <a:avLst/>
          </a:prstGeom>
          <a:solidFill>
            <a:srgbClr val="E5645B"/>
          </a:solidFill>
          <a:ln/>
        </p:spPr>
      </p:sp>
      <p:sp>
        <p:nvSpPr>
          <p:cNvPr id="6" name="Shape 4"/>
          <p:cNvSpPr/>
          <p:nvPr/>
        </p:nvSpPr>
        <p:spPr>
          <a:xfrm>
            <a:off x="914400" y="1819656"/>
            <a:ext cx="109728" cy="109728"/>
          </a:xfrm>
          <a:prstGeom prst="ellipse">
            <a:avLst/>
          </a:prstGeom>
          <a:solidFill>
            <a:srgbClr val="F2C85B"/>
          </a:solidFill>
          <a:ln/>
        </p:spPr>
      </p:sp>
      <p:sp>
        <p:nvSpPr>
          <p:cNvPr id="7" name="Shape 5"/>
          <p:cNvSpPr/>
          <p:nvPr/>
        </p:nvSpPr>
        <p:spPr>
          <a:xfrm>
            <a:off x="1115568" y="1819656"/>
            <a:ext cx="109728" cy="109728"/>
          </a:xfrm>
          <a:prstGeom prst="ellipse">
            <a:avLst/>
          </a:prstGeom>
          <a:solidFill>
            <a:srgbClr val="5CC97A"/>
          </a:solidFill>
          <a:ln/>
        </p:spPr>
      </p:sp>
      <p:sp>
        <p:nvSpPr>
          <p:cNvPr id="8" name="Text 6"/>
          <p:cNvSpPr txBox="1"/>
          <p:nvPr/>
        </p:nvSpPr>
        <p:spPr>
          <a:xfrm>
            <a:off x="749808" y="2020824"/>
            <a:ext cx="6309360" cy="2093976"/>
          </a:xfrm>
          <a:prstGeom prst="rect">
            <a:avLst/>
          </a:prstGeom>
          <a:noFill/>
          <a:ln/>
        </p:spPr>
        <p:txBody>
          <a:bodyPr wrap="square" lIns="0" tIns="0" rIns="0" bIns="0" rtlCol="0" anchor="t"/>
          <a:lstStyle/>
          <a:p>
            <a:pPr marL="0" indent="0">
              <a:lnSpc>
                <a:spcPct val="104000"/>
              </a:lnSpc>
              <a:buNone/>
            </a:pPr>
            <a:r>
              <a:rPr lang="en-US" sz="1700" dirty="0">
                <a:solidFill>
                  <a:srgbClr val="E8EEF4"/>
                </a:solidFill>
                <a:latin typeface="Courier New" pitchFamily="34" charset="0"/>
                <a:ea typeface="Courier New" pitchFamily="34" charset="-122"/>
                <a:cs typeface="Courier New" pitchFamily="34" charset="-120"/>
              </a:rPr>
              <a:t>name = "Sara"</a:t>
            </a:r>
            <a:endParaRPr lang="en-US" sz="1700" dirty="0"/>
          </a:p>
          <a:p>
            <a:pPr marL="0" indent="0">
              <a:lnSpc>
                <a:spcPct val="104000"/>
              </a:lnSpc>
              <a:buNone/>
            </a:pPr>
            <a:r>
              <a:rPr lang="en-US" sz="1700" dirty="0">
                <a:solidFill>
                  <a:srgbClr val="E8EEF4"/>
                </a:solidFill>
                <a:latin typeface="Courier New" pitchFamily="34" charset="0"/>
                <a:ea typeface="Courier New" pitchFamily="34" charset="-122"/>
                <a:cs typeface="Courier New" pitchFamily="34" charset="-120"/>
              </a:rPr>
              <a:t>age = 21</a:t>
            </a:r>
            <a:endParaRPr lang="en-US" sz="1700" dirty="0"/>
          </a:p>
          <a:p>
            <a:pPr marL="0" indent="0">
              <a:lnSpc>
                <a:spcPct val="104000"/>
              </a:lnSpc>
              <a:buNone/>
            </a:pPr>
            <a:endParaRPr lang="en-US" sz="1700" dirty="0"/>
          </a:p>
          <a:p>
            <a:pPr marL="0" indent="0">
              <a:lnSpc>
                <a:spcPct val="104000"/>
              </a:lnSpc>
              <a:buNone/>
            </a:pPr>
            <a:r>
              <a:rPr lang="en-US" sz="1700" dirty="0">
                <a:solidFill>
                  <a:srgbClr val="8FD694"/>
                </a:solidFill>
                <a:latin typeface="Courier New" pitchFamily="34" charset="0"/>
                <a:ea typeface="Courier New" pitchFamily="34" charset="-122"/>
                <a:cs typeface="Courier New" pitchFamily="34" charset="-120"/>
              </a:rPr>
              <a:t># f-string: the modern, readable way</a:t>
            </a:r>
            <a:endParaRPr lang="en-US" sz="1700" dirty="0"/>
          </a:p>
          <a:p>
            <a:pPr marL="0" indent="0">
              <a:lnSpc>
                <a:spcPct val="104000"/>
              </a:lnSpc>
              <a:buNone/>
            </a:pPr>
            <a:r>
              <a:rPr lang="en-US" sz="1700" dirty="0">
                <a:solidFill>
                  <a:srgbClr val="E8EEF4"/>
                </a:solidFill>
                <a:latin typeface="Courier New" pitchFamily="34" charset="0"/>
                <a:ea typeface="Courier New" pitchFamily="34" charset="-122"/>
                <a:cs typeface="Courier New" pitchFamily="34" charset="-120"/>
              </a:rPr>
              <a:t>print(f"Hello, {name}! You are</a:t>
            </a:r>
            <a:endParaRPr lang="en-US" sz="1700" dirty="0"/>
          </a:p>
          <a:p>
            <a:pPr marL="0" indent="0">
              <a:lnSpc>
                <a:spcPct val="104000"/>
              </a:lnSpc>
              <a:buNone/>
            </a:pPr>
            <a:r>
              <a:rPr lang="en-US" sz="1700" dirty="0">
                <a:solidFill>
                  <a:srgbClr val="E8EEF4"/>
                </a:solidFill>
                <a:latin typeface="Courier New" pitchFamily="34" charset="0"/>
                <a:ea typeface="Courier New" pitchFamily="34" charset="-122"/>
                <a:cs typeface="Courier New" pitchFamily="34" charset="-120"/>
              </a:rPr>
              <a:t>      {age} years old.")</a:t>
            </a:r>
            <a:endParaRPr lang="en-US" sz="1700" dirty="0"/>
          </a:p>
        </p:txBody>
      </p:sp>
      <p:sp>
        <p:nvSpPr>
          <p:cNvPr id="9" name="Shape 7"/>
          <p:cNvSpPr/>
          <p:nvPr/>
        </p:nvSpPr>
        <p:spPr>
          <a:xfrm>
            <a:off x="548640" y="4343400"/>
            <a:ext cx="6675120" cy="777240"/>
          </a:xfrm>
          <a:prstGeom prst="roundRect">
            <a:avLst>
              <a:gd name="adj" fmla="val 7059"/>
            </a:avLst>
          </a:prstGeom>
          <a:solidFill>
            <a:srgbClr val="EAF3EC"/>
          </a:solidFill>
          <a:ln w="12700">
            <a:solidFill>
              <a:srgbClr val="BFDFC8"/>
            </a:solidFill>
            <a:prstDash val="solid"/>
          </a:ln>
        </p:spPr>
      </p:sp>
      <p:sp>
        <p:nvSpPr>
          <p:cNvPr id="10" name="Text 8"/>
          <p:cNvSpPr txBox="1"/>
          <p:nvPr/>
        </p:nvSpPr>
        <p:spPr>
          <a:xfrm>
            <a:off x="685800" y="4416552"/>
            <a:ext cx="6400800" cy="274320"/>
          </a:xfrm>
          <a:prstGeom prst="rect">
            <a:avLst/>
          </a:prstGeom>
          <a:noFill/>
          <a:ln/>
        </p:spPr>
        <p:txBody>
          <a:bodyPr wrap="square" lIns="0" tIns="0" rIns="0" bIns="0" rtlCol="0" anchor="ctr"/>
          <a:lstStyle/>
          <a:p>
            <a:pPr marL="0" indent="0">
              <a:buNone/>
            </a:pPr>
            <a:r>
              <a:rPr lang="en-US" sz="1600" b="1" kern="0" spc="100" dirty="0">
                <a:solidFill>
                  <a:srgbClr val="3F9142"/>
                </a:solidFill>
                <a:latin typeface="Calibri" pitchFamily="34" charset="0"/>
                <a:ea typeface="Calibri" pitchFamily="34" charset="-122"/>
                <a:cs typeface="Calibri" pitchFamily="34" charset="-120"/>
              </a:rPr>
              <a:t>OUTPUT</a:t>
            </a:r>
            <a:endParaRPr lang="en-US" sz="1600" dirty="0"/>
          </a:p>
        </p:txBody>
      </p:sp>
      <p:sp>
        <p:nvSpPr>
          <p:cNvPr id="11" name="Text 9"/>
          <p:cNvSpPr txBox="1"/>
          <p:nvPr/>
        </p:nvSpPr>
        <p:spPr>
          <a:xfrm>
            <a:off x="685800" y="4709160"/>
            <a:ext cx="6400800" cy="320040"/>
          </a:xfrm>
          <a:prstGeom prst="rect">
            <a:avLst/>
          </a:prstGeom>
          <a:noFill/>
          <a:ln/>
        </p:spPr>
        <p:txBody>
          <a:bodyPr wrap="square" lIns="0" tIns="0" rIns="0" bIns="0" rtlCol="0" anchor="t"/>
          <a:lstStyle/>
          <a:p>
            <a:pPr marL="0" indent="0">
              <a:lnSpc>
                <a:spcPct val="104000"/>
              </a:lnSpc>
              <a:buNone/>
            </a:pPr>
            <a:r>
              <a:rPr lang="en-US" sz="1600" dirty="0">
                <a:solidFill>
                  <a:srgbClr val="234A2B"/>
                </a:solidFill>
                <a:latin typeface="Courier New" pitchFamily="34" charset="0"/>
                <a:ea typeface="Courier New" pitchFamily="34" charset="-122"/>
                <a:cs typeface="Courier New" pitchFamily="34" charset="-120"/>
              </a:rPr>
              <a:t>Hello, Sara! You are 21 years old.</a:t>
            </a:r>
            <a:endParaRPr lang="en-US" sz="1600" dirty="0"/>
          </a:p>
        </p:txBody>
      </p:sp>
      <p:sp>
        <p:nvSpPr>
          <p:cNvPr id="12" name="Text 10"/>
          <p:cNvSpPr txBox="1"/>
          <p:nvPr/>
        </p:nvSpPr>
        <p:spPr>
          <a:xfrm>
            <a:off x="548640" y="5257800"/>
            <a:ext cx="6675120" cy="777240"/>
          </a:xfrm>
          <a:prstGeom prst="rect">
            <a:avLst/>
          </a:prstGeom>
          <a:noFill/>
          <a:ln/>
        </p:spPr>
        <p:txBody>
          <a:bodyPr wrap="square" lIns="0" tIns="0" rIns="0" bIns="0" rtlCol="0" anchor="ctr"/>
          <a:lstStyle/>
          <a:p>
            <a:pPr marL="0" indent="0">
              <a:buNone/>
            </a:pPr>
            <a:r>
              <a:rPr lang="en-US" sz="1600" i="1" dirty="0">
                <a:solidFill>
                  <a:srgbClr val="5B6B79"/>
                </a:solidFill>
                <a:latin typeface="Calibri" pitchFamily="34" charset="0"/>
                <a:ea typeface="Calibri" pitchFamily="34" charset="-122"/>
                <a:cs typeface="Calibri" pitchFamily="34" charset="-120"/>
              </a:rPr>
              <a:t>Why this matters for our chatbot: every reply the chatbot gives is built with f-strings — mixing fixed text with variables like the user's name.</a:t>
            </a:r>
            <a:endParaRPr lang="en-US" sz="1600" dirty="0"/>
          </a:p>
        </p:txBody>
      </p:sp>
      <p:sp>
        <p:nvSpPr>
          <p:cNvPr id="13" name="Shape 11"/>
          <p:cNvSpPr/>
          <p:nvPr/>
        </p:nvSpPr>
        <p:spPr>
          <a:xfrm>
            <a:off x="7498080" y="1691640"/>
            <a:ext cx="4114800" cy="3886200"/>
          </a:xfrm>
          <a:prstGeom prst="roundRect">
            <a:avLst>
              <a:gd name="adj" fmla="val 1882"/>
            </a:avLst>
          </a:prstGeom>
          <a:solidFill>
            <a:srgbClr val="EAF0F6"/>
          </a:solidFill>
          <a:ln w="12700">
            <a:solidFill>
              <a:srgbClr val="DDE3EA"/>
            </a:solidFill>
            <a:prstDash val="solid"/>
          </a:ln>
          <a:effectLst>
            <a:outerShdw blurRad="76200" dist="25400" dir="5400000" algn="bl" rotWithShape="0">
              <a:srgbClr val="142A45">
                <a:alpha val="12000"/>
              </a:srgbClr>
            </a:outerShdw>
          </a:effectLst>
        </p:spPr>
      </p:sp>
      <p:sp>
        <p:nvSpPr>
          <p:cNvPr id="14" name="Text 12"/>
          <p:cNvSpPr txBox="1"/>
          <p:nvPr/>
        </p:nvSpPr>
        <p:spPr>
          <a:xfrm>
            <a:off x="7726680" y="1874520"/>
            <a:ext cx="3657600" cy="274320"/>
          </a:xfrm>
          <a:prstGeom prst="rect">
            <a:avLst/>
          </a:prstGeom>
          <a:noFill/>
          <a:ln/>
        </p:spPr>
        <p:txBody>
          <a:bodyPr wrap="square" lIns="0" tIns="0" rIns="0" bIns="0" rtlCol="0" anchor="ctr"/>
          <a:lstStyle/>
          <a:p>
            <a:pPr marL="0" indent="0">
              <a:buNone/>
            </a:pPr>
            <a:r>
              <a:rPr lang="en-US" sz="1600" b="1" kern="0" spc="150" dirty="0">
                <a:solidFill>
                  <a:srgbClr val="2E86AB"/>
                </a:solidFill>
                <a:latin typeface="Calibri" pitchFamily="34" charset="0"/>
                <a:ea typeface="Calibri" pitchFamily="34" charset="-122"/>
                <a:cs typeface="Calibri" pitchFamily="34" charset="-120"/>
              </a:rPr>
              <a:t>F-STRING SYNTAX</a:t>
            </a:r>
            <a:endParaRPr lang="en-US" sz="1600" dirty="0"/>
          </a:p>
        </p:txBody>
      </p:sp>
      <p:sp>
        <p:nvSpPr>
          <p:cNvPr id="15" name="Text 13"/>
          <p:cNvSpPr txBox="1"/>
          <p:nvPr/>
        </p:nvSpPr>
        <p:spPr>
          <a:xfrm>
            <a:off x="7726680" y="2240280"/>
            <a:ext cx="3657600" cy="3200400"/>
          </a:xfrm>
          <a:prstGeom prst="rect">
            <a:avLst/>
          </a:prstGeom>
          <a:noFill/>
          <a:ln/>
        </p:spPr>
        <p:txBody>
          <a:bodyPr wrap="square" lIns="0" tIns="0" rIns="0" bIns="0" rtlCol="0" anchor="t"/>
          <a:lstStyle/>
          <a:p>
            <a:pPr marL="0" indent="0">
              <a:lnSpc>
                <a:spcPct val="130000"/>
              </a:lnSpc>
              <a:buNone/>
            </a:pPr>
            <a:r>
              <a:rPr lang="en-US" sz="1900" b="1" dirty="0">
                <a:solidFill>
                  <a:srgbClr val="142A45"/>
                </a:solidFill>
                <a:latin typeface="Courier New" pitchFamily="34" charset="0"/>
                <a:ea typeface="Courier New" pitchFamily="34" charset="-122"/>
                <a:cs typeface="Courier New" pitchFamily="34" charset="-120"/>
              </a:rPr>
              <a:t>f"...{variable}..."</a:t>
            </a:r>
            <a:endParaRPr lang="en-US" sz="1900" dirty="0"/>
          </a:p>
          <a:p>
            <a:pPr marL="0" indent="0">
              <a:lnSpc>
                <a:spcPct val="130000"/>
              </a:lnSpc>
              <a:spcBef>
                <a:spcPts val="1400"/>
              </a:spcBef>
              <a:buNone/>
            </a:pPr>
            <a:r>
              <a:rPr lang="en-US" sz="1600" dirty="0">
                <a:solidFill>
                  <a:srgbClr val="1B2430"/>
                </a:solidFill>
                <a:latin typeface="Calibri" pitchFamily="34" charset="0"/>
                <a:ea typeface="Calibri" pitchFamily="34" charset="-122"/>
                <a:cs typeface="Calibri" pitchFamily="34" charset="-120"/>
              </a:rPr>
              <a:t>• Put an  f  directly before the opening quote
• Wrap variable names in curly braces { }
• Python fills in the value automatically
• Much cleaner than joining strings with +</a:t>
            </a:r>
            <a:endParaRPr lang="en-US" sz="1900" dirty="0"/>
          </a:p>
        </p:txBody>
      </p:sp>
      <p:sp>
        <p:nvSpPr>
          <p:cNvPr id="16" name="Text 14"/>
          <p:cNvSpPr txBox="1"/>
          <p:nvPr/>
        </p:nvSpPr>
        <p:spPr>
          <a:xfrm>
            <a:off x="548640" y="6455664"/>
            <a:ext cx="9418320" cy="292608"/>
          </a:xfrm>
          <a:prstGeom prst="rect">
            <a:avLst/>
          </a:prstGeom>
          <a:noFill/>
          <a:ln/>
        </p:spPr>
        <p:txBody>
          <a:bodyPr wrap="square" lIns="0" tIns="0" rIns="0" bIns="0" rtlCol="0" anchor="ctr"/>
          <a:lstStyle/>
          <a:p>
            <a:pPr marL="0" indent="0">
              <a:buNone/>
            </a:pPr>
            <a:r>
              <a:rPr lang="en-US" sz="1600" dirty="0">
                <a:solidFill>
                  <a:srgbClr val="5B6B79"/>
                </a:solidFill>
                <a:latin typeface="Calibri" pitchFamily="34" charset="0"/>
                <a:ea typeface="Calibri" pitchFamily="34" charset="-122"/>
                <a:cs typeface="Calibri" pitchFamily="34" charset="-120"/>
              </a:rPr>
              <a:t>AI Practical 1  •  Development Environment, Python &amp; Rule-Based Chatbot</a:t>
            </a:r>
            <a:endParaRPr lang="en-US" sz="1600" dirty="0"/>
          </a:p>
        </p:txBody>
      </p:sp>
      <p:sp>
        <p:nvSpPr>
          <p:cNvPr id="17" name="Text 15"/>
          <p:cNvSpPr txBox="1"/>
          <p:nvPr/>
        </p:nvSpPr>
        <p:spPr>
          <a:xfrm>
            <a:off x="11247120" y="6455664"/>
            <a:ext cx="457200" cy="292608"/>
          </a:xfrm>
          <a:prstGeom prst="rect">
            <a:avLst/>
          </a:prstGeom>
          <a:noFill/>
          <a:ln/>
        </p:spPr>
        <p:txBody>
          <a:bodyPr wrap="square" lIns="0" tIns="0" rIns="0" bIns="0" rtlCol="0" anchor="ctr"/>
          <a:lstStyle/>
          <a:p>
            <a:pPr marL="0" indent="0" algn="r">
              <a:buNone/>
            </a:pPr>
            <a:r>
              <a:rPr lang="en-US" sz="1600" dirty="0">
                <a:solidFill>
                  <a:srgbClr val="5B6B79"/>
                </a:solidFill>
                <a:latin typeface="Calibri" pitchFamily="34" charset="0"/>
                <a:ea typeface="Calibri" pitchFamily="34" charset="-122"/>
                <a:cs typeface="Calibri" pitchFamily="34" charset="-120"/>
              </a:rPr>
              <a:t>16</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7FA"/>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0515600" cy="310896"/>
          </a:xfrm>
          <a:prstGeom prst="rect">
            <a:avLst/>
          </a:prstGeom>
          <a:noFill/>
          <a:ln/>
        </p:spPr>
        <p:txBody>
          <a:bodyPr wrap="square" lIns="0" tIns="0" rIns="0" bIns="0" rtlCol="0" anchor="ctr"/>
          <a:lstStyle/>
          <a:p>
            <a:pPr marL="0" indent="0">
              <a:buNone/>
            </a:pPr>
            <a:r>
              <a:rPr lang="en-US" sz="1600" b="1" kern="0" spc="200" dirty="0">
                <a:solidFill>
                  <a:srgbClr val="2E86AB"/>
                </a:solidFill>
                <a:latin typeface="Calibri" pitchFamily="34" charset="0"/>
                <a:ea typeface="Calibri" pitchFamily="34" charset="-122"/>
                <a:cs typeface="Calibri" pitchFamily="34" charset="-120"/>
              </a:rPr>
              <a:t>SECTION C — PYTHON FUNDAMENTALS</a:t>
            </a:r>
            <a:endParaRPr lang="en-US" sz="1600" dirty="0"/>
          </a:p>
        </p:txBody>
      </p:sp>
      <p:sp>
        <p:nvSpPr>
          <p:cNvPr id="3" name="Text 1"/>
          <p:cNvSpPr txBox="1"/>
          <p:nvPr/>
        </p:nvSpPr>
        <p:spPr>
          <a:xfrm>
            <a:off x="548640" y="603504"/>
            <a:ext cx="11064240" cy="731520"/>
          </a:xfrm>
          <a:prstGeom prst="rect">
            <a:avLst/>
          </a:prstGeom>
          <a:noFill/>
          <a:ln/>
        </p:spPr>
        <p:txBody>
          <a:bodyPr wrap="square" lIns="0" tIns="0" rIns="0" bIns="0" rtlCol="0" anchor="ctr"/>
          <a:lstStyle/>
          <a:p>
            <a:pPr marL="0" indent="0">
              <a:buNone/>
            </a:pPr>
            <a:r>
              <a:rPr lang="en-US" sz="3300" b="1" dirty="0">
                <a:solidFill>
                  <a:srgbClr val="142A45"/>
                </a:solidFill>
                <a:latin typeface="Cambria" pitchFamily="34" charset="0"/>
                <a:ea typeface="Cambria" pitchFamily="34" charset="-122"/>
                <a:cs typeface="Cambria" pitchFamily="34" charset="-120"/>
              </a:rPr>
              <a:t>Conditional Statements: if / elif / else</a:t>
            </a:r>
            <a:endParaRPr lang="en-US" sz="3300" dirty="0"/>
          </a:p>
        </p:txBody>
      </p:sp>
      <p:sp>
        <p:nvSpPr>
          <p:cNvPr id="4" name="Shape 2"/>
          <p:cNvSpPr/>
          <p:nvPr/>
        </p:nvSpPr>
        <p:spPr>
          <a:xfrm>
            <a:off x="548640" y="1691640"/>
            <a:ext cx="6035040" cy="2743200"/>
          </a:xfrm>
          <a:prstGeom prst="roundRect">
            <a:avLst>
              <a:gd name="adj" fmla="val 2667"/>
            </a:avLst>
          </a:prstGeom>
          <a:solidFill>
            <a:srgbClr val="0D1B2E"/>
          </a:solidFill>
          <a:ln/>
        </p:spPr>
      </p:sp>
      <p:sp>
        <p:nvSpPr>
          <p:cNvPr id="5" name="Shape 3"/>
          <p:cNvSpPr/>
          <p:nvPr/>
        </p:nvSpPr>
        <p:spPr>
          <a:xfrm>
            <a:off x="713232" y="1819656"/>
            <a:ext cx="109728" cy="109728"/>
          </a:xfrm>
          <a:prstGeom prst="ellipse">
            <a:avLst/>
          </a:prstGeom>
          <a:solidFill>
            <a:srgbClr val="E5645B"/>
          </a:solidFill>
          <a:ln/>
        </p:spPr>
      </p:sp>
      <p:sp>
        <p:nvSpPr>
          <p:cNvPr id="6" name="Shape 4"/>
          <p:cNvSpPr/>
          <p:nvPr/>
        </p:nvSpPr>
        <p:spPr>
          <a:xfrm>
            <a:off x="914400" y="1819656"/>
            <a:ext cx="109728" cy="109728"/>
          </a:xfrm>
          <a:prstGeom prst="ellipse">
            <a:avLst/>
          </a:prstGeom>
          <a:solidFill>
            <a:srgbClr val="F2C85B"/>
          </a:solidFill>
          <a:ln/>
        </p:spPr>
      </p:sp>
      <p:sp>
        <p:nvSpPr>
          <p:cNvPr id="7" name="Shape 5"/>
          <p:cNvSpPr/>
          <p:nvPr/>
        </p:nvSpPr>
        <p:spPr>
          <a:xfrm>
            <a:off x="1115568" y="1819656"/>
            <a:ext cx="109728" cy="109728"/>
          </a:xfrm>
          <a:prstGeom prst="ellipse">
            <a:avLst/>
          </a:prstGeom>
          <a:solidFill>
            <a:srgbClr val="5CC97A"/>
          </a:solidFill>
          <a:ln/>
        </p:spPr>
      </p:sp>
      <p:sp>
        <p:nvSpPr>
          <p:cNvPr id="8" name="Text 6"/>
          <p:cNvSpPr txBox="1"/>
          <p:nvPr/>
        </p:nvSpPr>
        <p:spPr>
          <a:xfrm>
            <a:off x="749808" y="2020824"/>
            <a:ext cx="5669280" cy="2322576"/>
          </a:xfrm>
          <a:prstGeom prst="rect">
            <a:avLst/>
          </a:prstGeom>
          <a:noFill/>
          <a:ln/>
        </p:spPr>
        <p:txBody>
          <a:bodyPr wrap="square" lIns="0" tIns="0" rIns="0" bIns="0" rtlCol="0" anchor="t"/>
          <a:lstStyle/>
          <a:p>
            <a:pPr marL="0" indent="0">
              <a:lnSpc>
                <a:spcPct val="104000"/>
              </a:lnSpc>
              <a:buNone/>
            </a:pPr>
            <a:r>
              <a:rPr lang="en-US" sz="1800" dirty="0">
                <a:solidFill>
                  <a:srgbClr val="E8EEF4"/>
                </a:solidFill>
                <a:latin typeface="Courier New" pitchFamily="34" charset="0"/>
                <a:ea typeface="Courier New" pitchFamily="34" charset="-122"/>
                <a:cs typeface="Courier New" pitchFamily="34" charset="-120"/>
              </a:rPr>
              <a:t>user_input = "hello"</a:t>
            </a:r>
            <a:endParaRPr lang="en-US" sz="1800" dirty="0"/>
          </a:p>
          <a:p>
            <a:pPr marL="0" indent="0">
              <a:lnSpc>
                <a:spcPct val="104000"/>
              </a:lnSpc>
              <a:buNone/>
            </a:pPr>
            <a:endParaRPr lang="en-US" sz="1800" dirty="0"/>
          </a:p>
          <a:p>
            <a:pPr marL="0" indent="0">
              <a:lnSpc>
                <a:spcPct val="104000"/>
              </a:lnSpc>
              <a:buNone/>
            </a:pPr>
            <a:r>
              <a:rPr lang="en-US" sz="1800" dirty="0">
                <a:solidFill>
                  <a:srgbClr val="E8EEF4"/>
                </a:solidFill>
                <a:latin typeface="Courier New" pitchFamily="34" charset="0"/>
                <a:ea typeface="Courier New" pitchFamily="34" charset="-122"/>
                <a:cs typeface="Courier New" pitchFamily="34" charset="-120"/>
              </a:rPr>
              <a:t>if user_input == "hello":</a:t>
            </a:r>
            <a:endParaRPr lang="en-US" sz="1800" dirty="0"/>
          </a:p>
          <a:p>
            <a:pPr marL="0" indent="0">
              <a:lnSpc>
                <a:spcPct val="104000"/>
              </a:lnSpc>
              <a:buNone/>
            </a:pPr>
            <a:r>
              <a:rPr lang="en-US" sz="1800" dirty="0">
                <a:solidFill>
                  <a:srgbClr val="E8EEF4"/>
                </a:solidFill>
                <a:latin typeface="Courier New" pitchFamily="34" charset="0"/>
                <a:ea typeface="Courier New" pitchFamily="34" charset="-122"/>
                <a:cs typeface="Courier New" pitchFamily="34" charset="-120"/>
              </a:rPr>
              <a:t>    print("Hi there!")</a:t>
            </a:r>
            <a:endParaRPr lang="en-US" sz="1800" dirty="0"/>
          </a:p>
          <a:p>
            <a:pPr marL="0" indent="0">
              <a:lnSpc>
                <a:spcPct val="104000"/>
              </a:lnSpc>
              <a:buNone/>
            </a:pPr>
            <a:r>
              <a:rPr lang="en-US" sz="1800" dirty="0">
                <a:solidFill>
                  <a:srgbClr val="E8EEF4"/>
                </a:solidFill>
                <a:latin typeface="Courier New" pitchFamily="34" charset="0"/>
                <a:ea typeface="Courier New" pitchFamily="34" charset="-122"/>
                <a:cs typeface="Courier New" pitchFamily="34" charset="-120"/>
              </a:rPr>
              <a:t>elif user_input == "bye":</a:t>
            </a:r>
            <a:endParaRPr lang="en-US" sz="1800" dirty="0"/>
          </a:p>
          <a:p>
            <a:pPr marL="0" indent="0">
              <a:lnSpc>
                <a:spcPct val="104000"/>
              </a:lnSpc>
              <a:buNone/>
            </a:pPr>
            <a:r>
              <a:rPr lang="en-US" sz="1800" dirty="0">
                <a:solidFill>
                  <a:srgbClr val="E8EEF4"/>
                </a:solidFill>
                <a:latin typeface="Courier New" pitchFamily="34" charset="0"/>
                <a:ea typeface="Courier New" pitchFamily="34" charset="-122"/>
                <a:cs typeface="Courier New" pitchFamily="34" charset="-120"/>
              </a:rPr>
              <a:t>    print("Goodbye!")</a:t>
            </a:r>
            <a:endParaRPr lang="en-US" sz="1800" dirty="0"/>
          </a:p>
          <a:p>
            <a:pPr marL="0" indent="0">
              <a:lnSpc>
                <a:spcPct val="104000"/>
              </a:lnSpc>
              <a:buNone/>
            </a:pPr>
            <a:r>
              <a:rPr lang="en-US" sz="1800" dirty="0">
                <a:solidFill>
                  <a:srgbClr val="E8EEF4"/>
                </a:solidFill>
                <a:latin typeface="Courier New" pitchFamily="34" charset="0"/>
                <a:ea typeface="Courier New" pitchFamily="34" charset="-122"/>
                <a:cs typeface="Courier New" pitchFamily="34" charset="-120"/>
              </a:rPr>
              <a:t>else:</a:t>
            </a:r>
            <a:endParaRPr lang="en-US" sz="1800" dirty="0"/>
          </a:p>
          <a:p>
            <a:pPr marL="0" indent="0">
              <a:lnSpc>
                <a:spcPct val="104000"/>
              </a:lnSpc>
              <a:buNone/>
            </a:pPr>
            <a:r>
              <a:rPr lang="en-US" sz="1800" dirty="0">
                <a:solidFill>
                  <a:srgbClr val="E8EEF4"/>
                </a:solidFill>
                <a:latin typeface="Courier New" pitchFamily="34" charset="0"/>
                <a:ea typeface="Courier New" pitchFamily="34" charset="-122"/>
                <a:cs typeface="Courier New" pitchFamily="34" charset="-120"/>
              </a:rPr>
              <a:t>    print("I did not understand that.")</a:t>
            </a:r>
            <a:endParaRPr lang="en-US" sz="1800" dirty="0"/>
          </a:p>
        </p:txBody>
      </p:sp>
      <p:sp>
        <p:nvSpPr>
          <p:cNvPr id="9" name="Text 7"/>
          <p:cNvSpPr txBox="1"/>
          <p:nvPr/>
        </p:nvSpPr>
        <p:spPr>
          <a:xfrm>
            <a:off x="548640" y="4572000"/>
            <a:ext cx="6035040" cy="640080"/>
          </a:xfrm>
          <a:prstGeom prst="rect">
            <a:avLst/>
          </a:prstGeom>
          <a:noFill/>
          <a:ln/>
        </p:spPr>
        <p:txBody>
          <a:bodyPr wrap="square" lIns="0" tIns="0" rIns="0" bIns="0" rtlCol="0" anchor="ctr"/>
          <a:lstStyle/>
          <a:p>
            <a:pPr marL="0" indent="0">
              <a:buNone/>
            </a:pPr>
            <a:r>
              <a:rPr lang="en-US" sz="1600" i="1" dirty="0">
                <a:solidFill>
                  <a:srgbClr val="5B6B79"/>
                </a:solidFill>
                <a:latin typeface="Calibri" pitchFamily="34" charset="0"/>
                <a:ea typeface="Calibri" pitchFamily="34" charset="-122"/>
                <a:cs typeface="Calibri" pitchFamily="34" charset="-120"/>
              </a:rPr>
              <a:t>This exact pattern — checking input against known cases — is the foundation of our rule-based chatbot.</a:t>
            </a:r>
            <a:endParaRPr lang="en-US" sz="1600" dirty="0"/>
          </a:p>
        </p:txBody>
      </p:sp>
      <p:sp>
        <p:nvSpPr>
          <p:cNvPr id="10" name="Text 8"/>
          <p:cNvSpPr txBox="1"/>
          <p:nvPr/>
        </p:nvSpPr>
        <p:spPr>
          <a:xfrm>
            <a:off x="6903720" y="1691640"/>
            <a:ext cx="4754880" cy="274320"/>
          </a:xfrm>
          <a:prstGeom prst="rect">
            <a:avLst/>
          </a:prstGeom>
          <a:noFill/>
          <a:ln/>
        </p:spPr>
        <p:txBody>
          <a:bodyPr wrap="square" lIns="0" tIns="0" rIns="0" bIns="0" rtlCol="0" anchor="ctr"/>
          <a:lstStyle/>
          <a:p>
            <a:pPr marL="0" indent="0">
              <a:buNone/>
            </a:pPr>
            <a:r>
              <a:rPr lang="en-US" sz="1600" b="1" kern="0" spc="150" dirty="0">
                <a:solidFill>
                  <a:srgbClr val="2E86AB"/>
                </a:solidFill>
                <a:latin typeface="Calibri" pitchFamily="34" charset="0"/>
                <a:ea typeface="Calibri" pitchFamily="34" charset="-122"/>
                <a:cs typeface="Calibri" pitchFamily="34" charset="-120"/>
              </a:rPr>
              <a:t>DECISION FLOW</a:t>
            </a:r>
            <a:endParaRPr lang="en-US" sz="1600" dirty="0"/>
          </a:p>
        </p:txBody>
      </p:sp>
      <p:sp>
        <p:nvSpPr>
          <p:cNvPr id="11" name="Shape 9"/>
          <p:cNvSpPr/>
          <p:nvPr/>
        </p:nvSpPr>
        <p:spPr>
          <a:xfrm>
            <a:off x="6903720" y="2011680"/>
            <a:ext cx="4754880" cy="548640"/>
          </a:xfrm>
          <a:prstGeom prst="roundRect">
            <a:avLst>
              <a:gd name="adj" fmla="val 13333"/>
            </a:avLst>
          </a:prstGeom>
          <a:solidFill>
            <a:srgbClr val="142A45"/>
          </a:solidFill>
          <a:ln w="12700">
            <a:solidFill>
              <a:srgbClr val="DDE3EA"/>
            </a:solidFill>
            <a:prstDash val="solid"/>
          </a:ln>
          <a:effectLst>
            <a:outerShdw blurRad="76200" dist="25400" dir="5400000" algn="bl" rotWithShape="0">
              <a:srgbClr val="142A45">
                <a:alpha val="12000"/>
              </a:srgbClr>
            </a:outerShdw>
          </a:effectLst>
        </p:spPr>
      </p:sp>
      <p:sp>
        <p:nvSpPr>
          <p:cNvPr id="12" name="Text 10"/>
          <p:cNvSpPr txBox="1"/>
          <p:nvPr/>
        </p:nvSpPr>
        <p:spPr>
          <a:xfrm>
            <a:off x="6903720" y="2011680"/>
            <a:ext cx="4754880" cy="54864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Input == "hello" ?</a:t>
            </a:r>
            <a:endParaRPr lang="en-US" sz="1700" dirty="0"/>
          </a:p>
        </p:txBody>
      </p:sp>
      <p:sp>
        <p:nvSpPr>
          <p:cNvPr id="13" name="Text 11"/>
          <p:cNvSpPr txBox="1"/>
          <p:nvPr/>
        </p:nvSpPr>
        <p:spPr>
          <a:xfrm>
            <a:off x="6903720" y="2578608"/>
            <a:ext cx="2286000" cy="274320"/>
          </a:xfrm>
          <a:prstGeom prst="rect">
            <a:avLst/>
          </a:prstGeom>
          <a:noFill/>
          <a:ln/>
        </p:spPr>
        <p:txBody>
          <a:bodyPr wrap="square" lIns="0" tIns="0" rIns="0" bIns="0" rtlCol="0" anchor="ctr"/>
          <a:lstStyle/>
          <a:p>
            <a:pPr marL="0" indent="0" algn="ctr">
              <a:buNone/>
            </a:pPr>
            <a:r>
              <a:rPr lang="en-US" sz="1600" b="1" dirty="0">
                <a:solidFill>
                  <a:srgbClr val="3F9142"/>
                </a:solidFill>
                <a:latin typeface="Calibri" pitchFamily="34" charset="0"/>
                <a:ea typeface="Calibri" pitchFamily="34" charset="-122"/>
                <a:cs typeface="Calibri" pitchFamily="34" charset="-120"/>
              </a:rPr>
              <a:t>↓ yes</a:t>
            </a:r>
            <a:endParaRPr lang="en-US" sz="1600" dirty="0"/>
          </a:p>
        </p:txBody>
      </p:sp>
      <p:sp>
        <p:nvSpPr>
          <p:cNvPr id="14" name="Text 12"/>
          <p:cNvSpPr txBox="1"/>
          <p:nvPr/>
        </p:nvSpPr>
        <p:spPr>
          <a:xfrm>
            <a:off x="9372600" y="2578608"/>
            <a:ext cx="2286000" cy="274320"/>
          </a:xfrm>
          <a:prstGeom prst="rect">
            <a:avLst/>
          </a:prstGeom>
          <a:noFill/>
          <a:ln/>
        </p:spPr>
        <p:txBody>
          <a:bodyPr wrap="square" lIns="0" tIns="0" rIns="0" bIns="0" rtlCol="0" anchor="ctr"/>
          <a:lstStyle/>
          <a:p>
            <a:pPr marL="0" indent="0" algn="ctr">
              <a:buNone/>
            </a:pPr>
            <a:r>
              <a:rPr lang="en-US" sz="1600" b="1" dirty="0">
                <a:solidFill>
                  <a:srgbClr val="C0392B"/>
                </a:solidFill>
                <a:latin typeface="Calibri" pitchFamily="34" charset="0"/>
                <a:ea typeface="Calibri" pitchFamily="34" charset="-122"/>
                <a:cs typeface="Calibri" pitchFamily="34" charset="-120"/>
              </a:rPr>
              <a:t>↓ no</a:t>
            </a:r>
            <a:endParaRPr lang="en-US" sz="1600" dirty="0"/>
          </a:p>
        </p:txBody>
      </p:sp>
      <p:sp>
        <p:nvSpPr>
          <p:cNvPr id="15" name="Shape 13"/>
          <p:cNvSpPr/>
          <p:nvPr/>
        </p:nvSpPr>
        <p:spPr>
          <a:xfrm>
            <a:off x="6903720" y="2880360"/>
            <a:ext cx="2187245" cy="502920"/>
          </a:xfrm>
          <a:prstGeom prst="roundRect">
            <a:avLst>
              <a:gd name="adj" fmla="val 14545"/>
            </a:avLst>
          </a:prstGeom>
          <a:solidFill>
            <a:srgbClr val="EAF3EC"/>
          </a:solidFill>
          <a:ln w="12700">
            <a:solidFill>
              <a:srgbClr val="DDE3EA"/>
            </a:solidFill>
            <a:prstDash val="solid"/>
          </a:ln>
          <a:effectLst>
            <a:outerShdw blurRad="76200" dist="25400" dir="5400000" algn="bl" rotWithShape="0">
              <a:srgbClr val="142A45">
                <a:alpha val="12000"/>
              </a:srgbClr>
            </a:outerShdw>
          </a:effectLst>
        </p:spPr>
      </p:sp>
      <p:sp>
        <p:nvSpPr>
          <p:cNvPr id="16" name="Text 14"/>
          <p:cNvSpPr txBox="1"/>
          <p:nvPr/>
        </p:nvSpPr>
        <p:spPr>
          <a:xfrm>
            <a:off x="6903720" y="2880360"/>
            <a:ext cx="2187245" cy="502920"/>
          </a:xfrm>
          <a:prstGeom prst="rect">
            <a:avLst/>
          </a:prstGeom>
          <a:noFill/>
          <a:ln/>
        </p:spPr>
        <p:txBody>
          <a:bodyPr wrap="square" lIns="0" tIns="0" rIns="0" bIns="0" rtlCol="0" anchor="ctr"/>
          <a:lstStyle/>
          <a:p>
            <a:pPr marL="0" indent="0" algn="ctr">
              <a:buNone/>
            </a:pPr>
            <a:r>
              <a:rPr lang="en-US" sz="1600" dirty="0">
                <a:solidFill>
                  <a:srgbClr val="234A2B"/>
                </a:solidFill>
                <a:latin typeface="Courier New" pitchFamily="34" charset="0"/>
                <a:ea typeface="Courier New" pitchFamily="34" charset="-122"/>
                <a:cs typeface="Courier New" pitchFamily="34" charset="-120"/>
              </a:rPr>
              <a:t>print("Hi there!")</a:t>
            </a:r>
            <a:endParaRPr lang="en-US" sz="1600" dirty="0"/>
          </a:p>
        </p:txBody>
      </p:sp>
      <p:sp>
        <p:nvSpPr>
          <p:cNvPr id="17" name="Shape 15"/>
          <p:cNvSpPr/>
          <p:nvPr/>
        </p:nvSpPr>
        <p:spPr>
          <a:xfrm>
            <a:off x="9471355" y="2880360"/>
            <a:ext cx="2187245" cy="502920"/>
          </a:xfrm>
          <a:prstGeom prst="roundRect">
            <a:avLst>
              <a:gd name="adj" fmla="val 14545"/>
            </a:avLst>
          </a:prstGeom>
          <a:solidFill>
            <a:srgbClr val="FBEAEA"/>
          </a:solidFill>
          <a:ln w="12700">
            <a:solidFill>
              <a:srgbClr val="DDE3EA"/>
            </a:solidFill>
            <a:prstDash val="solid"/>
          </a:ln>
          <a:effectLst>
            <a:outerShdw blurRad="76200" dist="25400" dir="5400000" algn="bl" rotWithShape="0">
              <a:srgbClr val="142A45">
                <a:alpha val="12000"/>
              </a:srgbClr>
            </a:outerShdw>
          </a:effectLst>
        </p:spPr>
      </p:sp>
      <p:sp>
        <p:nvSpPr>
          <p:cNvPr id="18" name="Text 16"/>
          <p:cNvSpPr txBox="1"/>
          <p:nvPr/>
        </p:nvSpPr>
        <p:spPr>
          <a:xfrm>
            <a:off x="9471355" y="2880360"/>
            <a:ext cx="2187245" cy="502920"/>
          </a:xfrm>
          <a:prstGeom prst="rect">
            <a:avLst/>
          </a:prstGeom>
          <a:noFill/>
          <a:ln/>
        </p:spPr>
        <p:txBody>
          <a:bodyPr wrap="square" lIns="0" tIns="0" rIns="0" bIns="0" rtlCol="0" anchor="ctr"/>
          <a:lstStyle/>
          <a:p>
            <a:pPr marL="0" indent="0" algn="ctr">
              <a:buNone/>
            </a:pPr>
            <a:r>
              <a:rPr lang="en-US" sz="1600" i="1" dirty="0">
                <a:solidFill>
                  <a:srgbClr val="8A2E2E"/>
                </a:solidFill>
                <a:latin typeface="Calibri" pitchFamily="34" charset="0"/>
                <a:ea typeface="Calibri" pitchFamily="34" charset="-122"/>
                <a:cs typeface="Calibri" pitchFamily="34" charset="-120"/>
              </a:rPr>
              <a:t>check "bye" next …</a:t>
            </a:r>
            <a:endParaRPr lang="en-US" sz="1600" dirty="0"/>
          </a:p>
        </p:txBody>
      </p:sp>
      <p:sp>
        <p:nvSpPr>
          <p:cNvPr id="19" name="Text 17"/>
          <p:cNvSpPr txBox="1"/>
          <p:nvPr/>
        </p:nvSpPr>
        <p:spPr>
          <a:xfrm>
            <a:off x="6903720" y="3611880"/>
            <a:ext cx="4754880" cy="548640"/>
          </a:xfrm>
          <a:prstGeom prst="rect">
            <a:avLst/>
          </a:prstGeom>
          <a:noFill/>
          <a:ln/>
        </p:spPr>
        <p:txBody>
          <a:bodyPr wrap="square" lIns="0" tIns="0" rIns="0" bIns="0" rtlCol="0" anchor="ctr"/>
          <a:lstStyle/>
          <a:p>
            <a:pPr marL="0" indent="0" algn="ctr">
              <a:buNone/>
            </a:pPr>
            <a:r>
              <a:rPr lang="en-US" sz="1600" i="1" dirty="0">
                <a:solidFill>
                  <a:srgbClr val="5B6B79"/>
                </a:solidFill>
                <a:latin typeface="Calibri" pitchFamily="34" charset="0"/>
                <a:ea typeface="Calibri" pitchFamily="34" charset="-122"/>
                <a:cs typeface="Calibri" pitchFamily="34" charset="-120"/>
              </a:rPr>
              <a:t>… continues through elif checks until one matches, or else runs as the fallback.</a:t>
            </a:r>
            <a:endParaRPr lang="en-US" sz="1600" dirty="0"/>
          </a:p>
        </p:txBody>
      </p:sp>
      <p:sp>
        <p:nvSpPr>
          <p:cNvPr id="20" name="Shape 18"/>
          <p:cNvSpPr/>
          <p:nvPr/>
        </p:nvSpPr>
        <p:spPr>
          <a:xfrm>
            <a:off x="6903720" y="4343400"/>
            <a:ext cx="4754880" cy="1234440"/>
          </a:xfrm>
          <a:prstGeom prst="roundRect">
            <a:avLst>
              <a:gd name="adj" fmla="val 5926"/>
            </a:avLst>
          </a:prstGeom>
          <a:solidFill>
            <a:srgbClr val="FFF7E6"/>
          </a:solidFill>
          <a:ln w="12700">
            <a:solidFill>
              <a:srgbClr val="DDE3EA"/>
            </a:solidFill>
            <a:prstDash val="solid"/>
          </a:ln>
          <a:effectLst>
            <a:outerShdw blurRad="76200" dist="25400" dir="5400000" algn="bl" rotWithShape="0">
              <a:srgbClr val="142A45">
                <a:alpha val="12000"/>
              </a:srgbClr>
            </a:outerShdw>
          </a:effectLst>
        </p:spPr>
      </p:sp>
      <p:sp>
        <p:nvSpPr>
          <p:cNvPr id="21" name="Text 19"/>
          <p:cNvSpPr txBox="1"/>
          <p:nvPr/>
        </p:nvSpPr>
        <p:spPr>
          <a:xfrm>
            <a:off x="7086600" y="4343400"/>
            <a:ext cx="4389120" cy="1234440"/>
          </a:xfrm>
          <a:prstGeom prst="rect">
            <a:avLst/>
          </a:prstGeom>
          <a:noFill/>
          <a:ln/>
        </p:spPr>
        <p:txBody>
          <a:bodyPr wrap="square" lIns="0" tIns="0" rIns="0" bIns="0" rtlCol="0" anchor="ctr"/>
          <a:lstStyle/>
          <a:p>
            <a:pPr marL="0" indent="0">
              <a:buNone/>
            </a:pPr>
            <a:r>
              <a:rPr lang="en-US" sz="1600" b="1" dirty="0">
                <a:solidFill>
                  <a:srgbClr val="142A45"/>
                </a:solidFill>
                <a:latin typeface="Calibri" pitchFamily="34" charset="0"/>
                <a:ea typeface="Calibri" pitchFamily="34" charset="-122"/>
                <a:cs typeface="Calibri" pitchFamily="34" charset="-120"/>
              </a:rPr>
              <a:t>Comparison operators:  </a:t>
            </a:r>
            <a:r>
              <a:rPr lang="en-US" sz="1600" dirty="0">
                <a:solidFill>
                  <a:srgbClr val="1B2430"/>
                </a:solidFill>
                <a:latin typeface="Courier New" pitchFamily="34" charset="0"/>
                <a:ea typeface="Courier New" pitchFamily="34" charset="-122"/>
                <a:cs typeface="Courier New" pitchFamily="34" charset="-120"/>
              </a:rPr>
              <a:t>==  equals,   !=  not equal,   in  membership test (e.g. "hi" in user_input)</a:t>
            </a:r>
            <a:endParaRPr lang="en-US" sz="1600" dirty="0"/>
          </a:p>
        </p:txBody>
      </p:sp>
      <p:sp>
        <p:nvSpPr>
          <p:cNvPr id="22" name="Text 20"/>
          <p:cNvSpPr txBox="1"/>
          <p:nvPr/>
        </p:nvSpPr>
        <p:spPr>
          <a:xfrm>
            <a:off x="548640" y="6455664"/>
            <a:ext cx="9418320" cy="292608"/>
          </a:xfrm>
          <a:prstGeom prst="rect">
            <a:avLst/>
          </a:prstGeom>
          <a:noFill/>
          <a:ln/>
        </p:spPr>
        <p:txBody>
          <a:bodyPr wrap="square" lIns="0" tIns="0" rIns="0" bIns="0" rtlCol="0" anchor="ctr"/>
          <a:lstStyle/>
          <a:p>
            <a:pPr marL="0" indent="0">
              <a:buNone/>
            </a:pPr>
            <a:r>
              <a:rPr lang="en-US" sz="1600" dirty="0">
                <a:solidFill>
                  <a:srgbClr val="5B6B79"/>
                </a:solidFill>
                <a:latin typeface="Calibri" pitchFamily="34" charset="0"/>
                <a:ea typeface="Calibri" pitchFamily="34" charset="-122"/>
                <a:cs typeface="Calibri" pitchFamily="34" charset="-120"/>
              </a:rPr>
              <a:t>AI Practical 1  •  Development Environment, Python &amp; Rule-Based Chatbot</a:t>
            </a:r>
            <a:endParaRPr lang="en-US" sz="1600" dirty="0"/>
          </a:p>
        </p:txBody>
      </p:sp>
      <p:sp>
        <p:nvSpPr>
          <p:cNvPr id="23" name="Text 21"/>
          <p:cNvSpPr txBox="1"/>
          <p:nvPr/>
        </p:nvSpPr>
        <p:spPr>
          <a:xfrm>
            <a:off x="11247120" y="6455664"/>
            <a:ext cx="457200" cy="292608"/>
          </a:xfrm>
          <a:prstGeom prst="rect">
            <a:avLst/>
          </a:prstGeom>
          <a:noFill/>
          <a:ln/>
        </p:spPr>
        <p:txBody>
          <a:bodyPr wrap="square" lIns="0" tIns="0" rIns="0" bIns="0" rtlCol="0" anchor="ctr"/>
          <a:lstStyle/>
          <a:p>
            <a:pPr marL="0" indent="0" algn="r">
              <a:buNone/>
            </a:pPr>
            <a:r>
              <a:rPr lang="en-US" sz="1600" dirty="0">
                <a:solidFill>
                  <a:srgbClr val="5B6B79"/>
                </a:solidFill>
                <a:latin typeface="Calibri" pitchFamily="34" charset="0"/>
                <a:ea typeface="Calibri" pitchFamily="34" charset="-122"/>
                <a:cs typeface="Calibri" pitchFamily="34" charset="-120"/>
              </a:rPr>
              <a:t>17</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7FA"/>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0515600" cy="310896"/>
          </a:xfrm>
          <a:prstGeom prst="rect">
            <a:avLst/>
          </a:prstGeom>
          <a:noFill/>
          <a:ln/>
        </p:spPr>
        <p:txBody>
          <a:bodyPr wrap="square" lIns="0" tIns="0" rIns="0" bIns="0" rtlCol="0" anchor="ctr"/>
          <a:lstStyle/>
          <a:p>
            <a:pPr marL="0" indent="0">
              <a:buNone/>
            </a:pPr>
            <a:r>
              <a:rPr lang="en-US" sz="1600" b="1" kern="0" spc="200" dirty="0">
                <a:solidFill>
                  <a:srgbClr val="2E86AB"/>
                </a:solidFill>
                <a:latin typeface="Calibri" pitchFamily="34" charset="0"/>
                <a:ea typeface="Calibri" pitchFamily="34" charset="-122"/>
                <a:cs typeface="Calibri" pitchFamily="34" charset="-120"/>
              </a:rPr>
              <a:t>SECTION C — PYTHON FUNDAMENTALS</a:t>
            </a:r>
            <a:endParaRPr lang="en-US" sz="1600" dirty="0"/>
          </a:p>
        </p:txBody>
      </p:sp>
      <p:sp>
        <p:nvSpPr>
          <p:cNvPr id="3" name="Text 1"/>
          <p:cNvSpPr txBox="1"/>
          <p:nvPr/>
        </p:nvSpPr>
        <p:spPr>
          <a:xfrm>
            <a:off x="548640" y="603504"/>
            <a:ext cx="11064240" cy="731520"/>
          </a:xfrm>
          <a:prstGeom prst="rect">
            <a:avLst/>
          </a:prstGeom>
          <a:noFill/>
          <a:ln/>
        </p:spPr>
        <p:txBody>
          <a:bodyPr wrap="square" lIns="0" tIns="0" rIns="0" bIns="0" rtlCol="0" anchor="ctr"/>
          <a:lstStyle/>
          <a:p>
            <a:pPr marL="0" indent="0">
              <a:buNone/>
            </a:pPr>
            <a:r>
              <a:rPr lang="en-US" sz="3300" b="1" dirty="0">
                <a:solidFill>
                  <a:srgbClr val="142A45"/>
                </a:solidFill>
                <a:latin typeface="Cambria" pitchFamily="34" charset="0"/>
                <a:ea typeface="Cambria" pitchFamily="34" charset="-122"/>
                <a:cs typeface="Cambria" pitchFamily="34" charset="-120"/>
              </a:rPr>
              <a:t>Functions: Organizing Your Code</a:t>
            </a:r>
            <a:endParaRPr lang="en-US" sz="3300" dirty="0"/>
          </a:p>
        </p:txBody>
      </p:sp>
      <p:sp>
        <p:nvSpPr>
          <p:cNvPr id="4" name="Shape 2"/>
          <p:cNvSpPr/>
          <p:nvPr/>
        </p:nvSpPr>
        <p:spPr>
          <a:xfrm>
            <a:off x="548640" y="1691640"/>
            <a:ext cx="6583680" cy="2880360"/>
          </a:xfrm>
          <a:prstGeom prst="roundRect">
            <a:avLst>
              <a:gd name="adj" fmla="val 2540"/>
            </a:avLst>
          </a:prstGeom>
          <a:solidFill>
            <a:srgbClr val="0D1B2E"/>
          </a:solidFill>
          <a:ln/>
        </p:spPr>
      </p:sp>
      <p:sp>
        <p:nvSpPr>
          <p:cNvPr id="5" name="Shape 3"/>
          <p:cNvSpPr/>
          <p:nvPr/>
        </p:nvSpPr>
        <p:spPr>
          <a:xfrm>
            <a:off x="713232" y="1819656"/>
            <a:ext cx="109728" cy="109728"/>
          </a:xfrm>
          <a:prstGeom prst="ellipse">
            <a:avLst/>
          </a:prstGeom>
          <a:solidFill>
            <a:srgbClr val="E5645B"/>
          </a:solidFill>
          <a:ln/>
        </p:spPr>
      </p:sp>
      <p:sp>
        <p:nvSpPr>
          <p:cNvPr id="6" name="Shape 4"/>
          <p:cNvSpPr/>
          <p:nvPr/>
        </p:nvSpPr>
        <p:spPr>
          <a:xfrm>
            <a:off x="914400" y="1819656"/>
            <a:ext cx="109728" cy="109728"/>
          </a:xfrm>
          <a:prstGeom prst="ellipse">
            <a:avLst/>
          </a:prstGeom>
          <a:solidFill>
            <a:srgbClr val="F2C85B"/>
          </a:solidFill>
          <a:ln/>
        </p:spPr>
      </p:sp>
      <p:sp>
        <p:nvSpPr>
          <p:cNvPr id="7" name="Shape 5"/>
          <p:cNvSpPr/>
          <p:nvPr/>
        </p:nvSpPr>
        <p:spPr>
          <a:xfrm>
            <a:off x="1115568" y="1819656"/>
            <a:ext cx="109728" cy="109728"/>
          </a:xfrm>
          <a:prstGeom prst="ellipse">
            <a:avLst/>
          </a:prstGeom>
          <a:solidFill>
            <a:srgbClr val="5CC97A"/>
          </a:solidFill>
          <a:ln/>
        </p:spPr>
      </p:sp>
      <p:sp>
        <p:nvSpPr>
          <p:cNvPr id="8" name="Text 6"/>
          <p:cNvSpPr txBox="1"/>
          <p:nvPr/>
        </p:nvSpPr>
        <p:spPr>
          <a:xfrm>
            <a:off x="749808" y="2020824"/>
            <a:ext cx="6217920" cy="2459736"/>
          </a:xfrm>
          <a:prstGeom prst="rect">
            <a:avLst/>
          </a:prstGeom>
          <a:noFill/>
          <a:ln/>
        </p:spPr>
        <p:txBody>
          <a:bodyPr wrap="square" lIns="0" tIns="0" rIns="0" bIns="0" rtlCol="0" anchor="t"/>
          <a:lstStyle/>
          <a:p>
            <a:pPr marL="0" indent="0">
              <a:lnSpc>
                <a:spcPct val="104000"/>
              </a:lnSpc>
              <a:buNone/>
            </a:pPr>
            <a:r>
              <a:rPr lang="en-US" sz="1600" dirty="0">
                <a:solidFill>
                  <a:srgbClr val="E8EEF4"/>
                </a:solidFill>
                <a:latin typeface="Courier New" pitchFamily="34" charset="0"/>
                <a:ea typeface="Courier New" pitchFamily="34" charset="-122"/>
                <a:cs typeface="Courier New" pitchFamily="34" charset="-120"/>
              </a:rPr>
              <a:t>def greet(user_name):</a:t>
            </a:r>
            <a:endParaRPr lang="en-US" sz="1600" dirty="0"/>
          </a:p>
          <a:p>
            <a:pPr marL="0" indent="0">
              <a:lnSpc>
                <a:spcPct val="104000"/>
              </a:lnSpc>
              <a:buNone/>
            </a:pPr>
            <a:r>
              <a:rPr lang="en-US" sz="1600" dirty="0">
                <a:solidFill>
                  <a:srgbClr val="E8EEF4"/>
                </a:solidFill>
                <a:latin typeface="Courier New" pitchFamily="34" charset="0"/>
                <a:ea typeface="Courier New" pitchFamily="34" charset="-122"/>
                <a:cs typeface="Courier New" pitchFamily="34" charset="-120"/>
              </a:rPr>
              <a:t>    message = f"Hello, {user_name}!</a:t>
            </a:r>
            <a:endParaRPr lang="en-US" sz="1600" dirty="0"/>
          </a:p>
          <a:p>
            <a:pPr marL="0" indent="0">
              <a:lnSpc>
                <a:spcPct val="104000"/>
              </a:lnSpc>
              <a:buNone/>
            </a:pPr>
            <a:r>
              <a:rPr lang="en-US" sz="1600" dirty="0">
                <a:solidFill>
                  <a:srgbClr val="E8EEF4"/>
                </a:solidFill>
                <a:latin typeface="Courier New" pitchFamily="34" charset="0"/>
                <a:ea typeface="Courier New" pitchFamily="34" charset="-122"/>
                <a:cs typeface="Courier New" pitchFamily="34" charset="-120"/>
              </a:rPr>
              <a:t>                How can I help?"</a:t>
            </a:r>
            <a:endParaRPr lang="en-US" sz="1600" dirty="0"/>
          </a:p>
          <a:p>
            <a:pPr marL="0" indent="0">
              <a:lnSpc>
                <a:spcPct val="104000"/>
              </a:lnSpc>
              <a:buNone/>
            </a:pPr>
            <a:r>
              <a:rPr lang="en-US" sz="1600" dirty="0">
                <a:solidFill>
                  <a:srgbClr val="E8EEF4"/>
                </a:solidFill>
                <a:latin typeface="Courier New" pitchFamily="34" charset="0"/>
                <a:ea typeface="Courier New" pitchFamily="34" charset="-122"/>
                <a:cs typeface="Courier New" pitchFamily="34" charset="-120"/>
              </a:rPr>
              <a:t>    return message</a:t>
            </a:r>
            <a:endParaRPr lang="en-US" sz="1600" dirty="0"/>
          </a:p>
          <a:p>
            <a:pPr marL="0" indent="0">
              <a:lnSpc>
                <a:spcPct val="104000"/>
              </a:lnSpc>
              <a:buNone/>
            </a:pPr>
            <a:endParaRPr lang="en-US" sz="1600" dirty="0"/>
          </a:p>
          <a:p>
            <a:pPr marL="0" indent="0">
              <a:lnSpc>
                <a:spcPct val="104000"/>
              </a:lnSpc>
              <a:buNone/>
            </a:pPr>
            <a:r>
              <a:rPr lang="en-US" sz="1600" dirty="0">
                <a:solidFill>
                  <a:srgbClr val="E8EEF4"/>
                </a:solidFill>
                <a:latin typeface="Courier New" pitchFamily="34" charset="0"/>
                <a:ea typeface="Courier New" pitchFamily="34" charset="-122"/>
                <a:cs typeface="Courier New" pitchFamily="34" charset="-120"/>
              </a:rPr>
              <a:t>reply = greet("Sara")</a:t>
            </a:r>
            <a:endParaRPr lang="en-US" sz="1600" dirty="0"/>
          </a:p>
          <a:p>
            <a:pPr marL="0" indent="0">
              <a:lnSpc>
                <a:spcPct val="104000"/>
              </a:lnSpc>
              <a:buNone/>
            </a:pPr>
            <a:r>
              <a:rPr lang="en-US" sz="1600" dirty="0">
                <a:solidFill>
                  <a:srgbClr val="E8EEF4"/>
                </a:solidFill>
                <a:latin typeface="Courier New" pitchFamily="34" charset="0"/>
                <a:ea typeface="Courier New" pitchFamily="34" charset="-122"/>
                <a:cs typeface="Courier New" pitchFamily="34" charset="-120"/>
              </a:rPr>
              <a:t>print(reply)</a:t>
            </a:r>
            <a:endParaRPr lang="en-US" sz="1600" dirty="0"/>
          </a:p>
        </p:txBody>
      </p:sp>
      <p:sp>
        <p:nvSpPr>
          <p:cNvPr id="9" name="Shape 7"/>
          <p:cNvSpPr/>
          <p:nvPr/>
        </p:nvSpPr>
        <p:spPr>
          <a:xfrm>
            <a:off x="548640" y="4663440"/>
            <a:ext cx="6583680" cy="777240"/>
          </a:xfrm>
          <a:prstGeom prst="roundRect">
            <a:avLst>
              <a:gd name="adj" fmla="val 7059"/>
            </a:avLst>
          </a:prstGeom>
          <a:solidFill>
            <a:srgbClr val="EAF3EC"/>
          </a:solidFill>
          <a:ln w="12700">
            <a:solidFill>
              <a:srgbClr val="BFDFC8"/>
            </a:solidFill>
            <a:prstDash val="solid"/>
          </a:ln>
        </p:spPr>
      </p:sp>
      <p:sp>
        <p:nvSpPr>
          <p:cNvPr id="10" name="Text 8"/>
          <p:cNvSpPr txBox="1"/>
          <p:nvPr/>
        </p:nvSpPr>
        <p:spPr>
          <a:xfrm>
            <a:off x="685800" y="4736592"/>
            <a:ext cx="6309360" cy="274320"/>
          </a:xfrm>
          <a:prstGeom prst="rect">
            <a:avLst/>
          </a:prstGeom>
          <a:noFill/>
          <a:ln/>
        </p:spPr>
        <p:txBody>
          <a:bodyPr wrap="square" lIns="0" tIns="0" rIns="0" bIns="0" rtlCol="0" anchor="ctr"/>
          <a:lstStyle/>
          <a:p>
            <a:pPr marL="0" indent="0">
              <a:buNone/>
            </a:pPr>
            <a:r>
              <a:rPr lang="en-US" sz="1600" b="1" kern="0" spc="100" dirty="0">
                <a:solidFill>
                  <a:srgbClr val="3F9142"/>
                </a:solidFill>
                <a:latin typeface="Calibri" pitchFamily="34" charset="0"/>
                <a:ea typeface="Calibri" pitchFamily="34" charset="-122"/>
                <a:cs typeface="Calibri" pitchFamily="34" charset="-120"/>
              </a:rPr>
              <a:t>OUTPUT</a:t>
            </a:r>
            <a:endParaRPr lang="en-US" sz="1600" dirty="0"/>
          </a:p>
        </p:txBody>
      </p:sp>
      <p:sp>
        <p:nvSpPr>
          <p:cNvPr id="11" name="Text 9"/>
          <p:cNvSpPr txBox="1"/>
          <p:nvPr/>
        </p:nvSpPr>
        <p:spPr>
          <a:xfrm>
            <a:off x="685800" y="5029200"/>
            <a:ext cx="6309360" cy="320040"/>
          </a:xfrm>
          <a:prstGeom prst="rect">
            <a:avLst/>
          </a:prstGeom>
          <a:noFill/>
          <a:ln/>
        </p:spPr>
        <p:txBody>
          <a:bodyPr wrap="square" lIns="0" tIns="0" rIns="0" bIns="0" rtlCol="0" anchor="t"/>
          <a:lstStyle/>
          <a:p>
            <a:pPr marL="0" indent="0">
              <a:lnSpc>
                <a:spcPct val="104000"/>
              </a:lnSpc>
              <a:buNone/>
            </a:pPr>
            <a:r>
              <a:rPr lang="en-US" sz="1600" dirty="0">
                <a:solidFill>
                  <a:srgbClr val="234A2B"/>
                </a:solidFill>
                <a:latin typeface="Courier New" pitchFamily="34" charset="0"/>
                <a:ea typeface="Courier New" pitchFamily="34" charset="-122"/>
                <a:cs typeface="Courier New" pitchFamily="34" charset="-120"/>
              </a:rPr>
              <a:t>Hello, Sara! How can I help?</a:t>
            </a:r>
            <a:endParaRPr lang="en-US" sz="1600" dirty="0"/>
          </a:p>
        </p:txBody>
      </p:sp>
      <p:sp>
        <p:nvSpPr>
          <p:cNvPr id="12" name="Shape 10"/>
          <p:cNvSpPr/>
          <p:nvPr/>
        </p:nvSpPr>
        <p:spPr>
          <a:xfrm>
            <a:off x="7360920" y="1979676"/>
            <a:ext cx="310896" cy="310896"/>
          </a:xfrm>
          <a:prstGeom prst="ellipse">
            <a:avLst/>
          </a:prstGeom>
          <a:solidFill>
            <a:srgbClr val="2E86AB"/>
          </a:solidFill>
          <a:ln/>
        </p:spPr>
      </p:sp>
      <p:sp>
        <p:nvSpPr>
          <p:cNvPr id="13" name="Text 11"/>
          <p:cNvSpPr txBox="1"/>
          <p:nvPr/>
        </p:nvSpPr>
        <p:spPr>
          <a:xfrm>
            <a:off x="7360920" y="1979676"/>
            <a:ext cx="310896" cy="310896"/>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14" name="Text 12"/>
          <p:cNvSpPr txBox="1"/>
          <p:nvPr/>
        </p:nvSpPr>
        <p:spPr>
          <a:xfrm>
            <a:off x="7818120" y="1737360"/>
            <a:ext cx="3840480" cy="777240"/>
          </a:xfrm>
          <a:prstGeom prst="rect">
            <a:avLst/>
          </a:prstGeom>
          <a:noFill/>
          <a:ln/>
        </p:spPr>
        <p:txBody>
          <a:bodyPr wrap="square" lIns="0" tIns="0" rIns="0" bIns="0" rtlCol="0" anchor="ctr"/>
          <a:lstStyle/>
          <a:p>
            <a:pPr marL="0" indent="0">
              <a:lnSpc>
                <a:spcPct val="108000"/>
              </a:lnSpc>
              <a:buNone/>
            </a:pPr>
            <a:r>
              <a:rPr lang="en-US" sz="1800" b="1" dirty="0">
                <a:solidFill>
                  <a:srgbClr val="1B2430"/>
                </a:solidFill>
                <a:latin typeface="Calibri" pitchFamily="34" charset="0"/>
                <a:ea typeface="Calibri" pitchFamily="34" charset="-122"/>
                <a:cs typeface="Calibri" pitchFamily="34" charset="-120"/>
              </a:rPr>
              <a:t>def  </a:t>
            </a:r>
            <a:r>
              <a:rPr lang="en-US" sz="1600" dirty="0">
                <a:solidFill>
                  <a:srgbClr val="5B6B79"/>
                </a:solidFill>
                <a:latin typeface="Calibri" pitchFamily="34" charset="0"/>
                <a:ea typeface="Calibri" pitchFamily="34" charset="-122"/>
                <a:cs typeface="Calibri" pitchFamily="34" charset="-120"/>
              </a:rPr>
              <a:t> — keyword that starts a function definition</a:t>
            </a:r>
            <a:endParaRPr lang="en-US" sz="1800" dirty="0"/>
          </a:p>
        </p:txBody>
      </p:sp>
      <p:sp>
        <p:nvSpPr>
          <p:cNvPr id="15" name="Shape 13"/>
          <p:cNvSpPr/>
          <p:nvPr/>
        </p:nvSpPr>
        <p:spPr>
          <a:xfrm>
            <a:off x="7360920" y="2756916"/>
            <a:ext cx="310896" cy="310896"/>
          </a:xfrm>
          <a:prstGeom prst="ellipse">
            <a:avLst/>
          </a:prstGeom>
          <a:solidFill>
            <a:srgbClr val="2E86AB"/>
          </a:solidFill>
          <a:ln/>
        </p:spPr>
      </p:sp>
      <p:sp>
        <p:nvSpPr>
          <p:cNvPr id="16" name="Text 14"/>
          <p:cNvSpPr txBox="1"/>
          <p:nvPr/>
        </p:nvSpPr>
        <p:spPr>
          <a:xfrm>
            <a:off x="7360920" y="2756916"/>
            <a:ext cx="310896" cy="310896"/>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7" name="Text 15"/>
          <p:cNvSpPr txBox="1"/>
          <p:nvPr/>
        </p:nvSpPr>
        <p:spPr>
          <a:xfrm>
            <a:off x="7818120" y="2514600"/>
            <a:ext cx="3840480" cy="777240"/>
          </a:xfrm>
          <a:prstGeom prst="rect">
            <a:avLst/>
          </a:prstGeom>
          <a:noFill/>
          <a:ln/>
        </p:spPr>
        <p:txBody>
          <a:bodyPr wrap="square" lIns="0" tIns="0" rIns="0" bIns="0" rtlCol="0" anchor="ctr"/>
          <a:lstStyle/>
          <a:p>
            <a:pPr marL="0" indent="0">
              <a:lnSpc>
                <a:spcPct val="108000"/>
              </a:lnSpc>
              <a:buNone/>
            </a:pPr>
            <a:r>
              <a:rPr lang="en-US" sz="1800" b="1" dirty="0">
                <a:solidFill>
                  <a:srgbClr val="1B2430"/>
                </a:solidFill>
                <a:latin typeface="Calibri" pitchFamily="34" charset="0"/>
                <a:ea typeface="Calibri" pitchFamily="34" charset="-122"/>
                <a:cs typeface="Calibri" pitchFamily="34" charset="-120"/>
              </a:rPr>
              <a:t>Parameters  </a:t>
            </a:r>
            <a:r>
              <a:rPr lang="en-US" sz="1600" dirty="0">
                <a:solidFill>
                  <a:srgbClr val="5B6B79"/>
                </a:solidFill>
                <a:latin typeface="Calibri" pitchFamily="34" charset="0"/>
                <a:ea typeface="Calibri" pitchFamily="34" charset="-122"/>
                <a:cs typeface="Calibri" pitchFamily="34" charset="-120"/>
              </a:rPr>
              <a:t> — values passed into the function, e.g. user_name</a:t>
            </a:r>
            <a:endParaRPr lang="en-US" sz="1800" dirty="0"/>
          </a:p>
        </p:txBody>
      </p:sp>
      <p:sp>
        <p:nvSpPr>
          <p:cNvPr id="18" name="Shape 16"/>
          <p:cNvSpPr/>
          <p:nvPr/>
        </p:nvSpPr>
        <p:spPr>
          <a:xfrm>
            <a:off x="7360920" y="3534156"/>
            <a:ext cx="310896" cy="310896"/>
          </a:xfrm>
          <a:prstGeom prst="ellipse">
            <a:avLst/>
          </a:prstGeom>
          <a:solidFill>
            <a:srgbClr val="2E86AB"/>
          </a:solidFill>
          <a:ln/>
        </p:spPr>
      </p:sp>
      <p:sp>
        <p:nvSpPr>
          <p:cNvPr id="19" name="Text 17"/>
          <p:cNvSpPr txBox="1"/>
          <p:nvPr/>
        </p:nvSpPr>
        <p:spPr>
          <a:xfrm>
            <a:off x="7360920" y="3534156"/>
            <a:ext cx="310896" cy="310896"/>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20" name="Text 18"/>
          <p:cNvSpPr txBox="1"/>
          <p:nvPr/>
        </p:nvSpPr>
        <p:spPr>
          <a:xfrm>
            <a:off x="7818120" y="3291840"/>
            <a:ext cx="3840480" cy="777240"/>
          </a:xfrm>
          <a:prstGeom prst="rect">
            <a:avLst/>
          </a:prstGeom>
          <a:noFill/>
          <a:ln/>
        </p:spPr>
        <p:txBody>
          <a:bodyPr wrap="square" lIns="0" tIns="0" rIns="0" bIns="0" rtlCol="0" anchor="ctr"/>
          <a:lstStyle/>
          <a:p>
            <a:pPr marL="0" indent="0">
              <a:lnSpc>
                <a:spcPct val="108000"/>
              </a:lnSpc>
              <a:buNone/>
            </a:pPr>
            <a:r>
              <a:rPr lang="en-US" sz="1800" b="1" dirty="0">
                <a:solidFill>
                  <a:srgbClr val="1B2430"/>
                </a:solidFill>
                <a:latin typeface="Calibri" pitchFamily="34" charset="0"/>
                <a:ea typeface="Calibri" pitchFamily="34" charset="-122"/>
                <a:cs typeface="Calibri" pitchFamily="34" charset="-120"/>
              </a:rPr>
              <a:t>return  </a:t>
            </a:r>
            <a:r>
              <a:rPr lang="en-US" sz="1600" dirty="0">
                <a:solidFill>
                  <a:srgbClr val="5B6B79"/>
                </a:solidFill>
                <a:latin typeface="Calibri" pitchFamily="34" charset="0"/>
                <a:ea typeface="Calibri" pitchFamily="34" charset="-122"/>
                <a:cs typeface="Calibri" pitchFamily="34" charset="-120"/>
              </a:rPr>
              <a:t> — sends a value back to whoever called the function</a:t>
            </a:r>
            <a:endParaRPr lang="en-US" sz="1800" dirty="0"/>
          </a:p>
        </p:txBody>
      </p:sp>
      <p:sp>
        <p:nvSpPr>
          <p:cNvPr id="21" name="Shape 19"/>
          <p:cNvSpPr/>
          <p:nvPr/>
        </p:nvSpPr>
        <p:spPr>
          <a:xfrm>
            <a:off x="7360920" y="4311396"/>
            <a:ext cx="310896" cy="310896"/>
          </a:xfrm>
          <a:prstGeom prst="ellipse">
            <a:avLst/>
          </a:prstGeom>
          <a:solidFill>
            <a:srgbClr val="2E86AB"/>
          </a:solidFill>
          <a:ln/>
        </p:spPr>
      </p:sp>
      <p:sp>
        <p:nvSpPr>
          <p:cNvPr id="22" name="Text 20"/>
          <p:cNvSpPr txBox="1"/>
          <p:nvPr/>
        </p:nvSpPr>
        <p:spPr>
          <a:xfrm>
            <a:off x="7360920" y="4311396"/>
            <a:ext cx="310896" cy="310896"/>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4</a:t>
            </a:r>
            <a:endParaRPr lang="en-US" sz="1700" dirty="0"/>
          </a:p>
        </p:txBody>
      </p:sp>
      <p:sp>
        <p:nvSpPr>
          <p:cNvPr id="23" name="Text 21"/>
          <p:cNvSpPr txBox="1"/>
          <p:nvPr/>
        </p:nvSpPr>
        <p:spPr>
          <a:xfrm>
            <a:off x="7818120" y="4069080"/>
            <a:ext cx="3840480" cy="777240"/>
          </a:xfrm>
          <a:prstGeom prst="rect">
            <a:avLst/>
          </a:prstGeom>
          <a:noFill/>
          <a:ln/>
        </p:spPr>
        <p:txBody>
          <a:bodyPr wrap="square" lIns="0" tIns="0" rIns="0" bIns="0" rtlCol="0" anchor="ctr"/>
          <a:lstStyle/>
          <a:p>
            <a:pPr marL="0" indent="0">
              <a:lnSpc>
                <a:spcPct val="108000"/>
              </a:lnSpc>
              <a:buNone/>
            </a:pPr>
            <a:r>
              <a:rPr lang="en-US" sz="1800" b="1" dirty="0">
                <a:solidFill>
                  <a:srgbClr val="1B2430"/>
                </a:solidFill>
                <a:latin typeface="Calibri" pitchFamily="34" charset="0"/>
                <a:ea typeface="Calibri" pitchFamily="34" charset="-122"/>
                <a:cs typeface="Calibri" pitchFamily="34" charset="-120"/>
              </a:rPr>
              <a:t>Reusable  </a:t>
            </a:r>
            <a:r>
              <a:rPr lang="en-US" sz="1600" dirty="0">
                <a:solidFill>
                  <a:srgbClr val="5B6B79"/>
                </a:solidFill>
                <a:latin typeface="Calibri" pitchFamily="34" charset="0"/>
                <a:ea typeface="Calibri" pitchFamily="34" charset="-122"/>
                <a:cs typeface="Calibri" pitchFamily="34" charset="-120"/>
              </a:rPr>
              <a:t> — call it many times with different inputs</a:t>
            </a:r>
            <a:endParaRPr lang="en-US" sz="1800" dirty="0"/>
          </a:p>
        </p:txBody>
      </p:sp>
      <p:sp>
        <p:nvSpPr>
          <p:cNvPr id="24" name="Text 22"/>
          <p:cNvSpPr txBox="1"/>
          <p:nvPr/>
        </p:nvSpPr>
        <p:spPr>
          <a:xfrm>
            <a:off x="548640" y="6455664"/>
            <a:ext cx="9418320" cy="292608"/>
          </a:xfrm>
          <a:prstGeom prst="rect">
            <a:avLst/>
          </a:prstGeom>
          <a:noFill/>
          <a:ln/>
        </p:spPr>
        <p:txBody>
          <a:bodyPr wrap="square" lIns="0" tIns="0" rIns="0" bIns="0" rtlCol="0" anchor="ctr"/>
          <a:lstStyle/>
          <a:p>
            <a:pPr marL="0" indent="0">
              <a:buNone/>
            </a:pPr>
            <a:r>
              <a:rPr lang="en-US" sz="1600" dirty="0">
                <a:solidFill>
                  <a:srgbClr val="5B6B79"/>
                </a:solidFill>
                <a:latin typeface="Calibri" pitchFamily="34" charset="0"/>
                <a:ea typeface="Calibri" pitchFamily="34" charset="-122"/>
                <a:cs typeface="Calibri" pitchFamily="34" charset="-120"/>
              </a:rPr>
              <a:t>AI Practical 1  •  Development Environment, Python &amp; Rule-Based Chatbot</a:t>
            </a:r>
            <a:endParaRPr lang="en-US" sz="1600" dirty="0"/>
          </a:p>
        </p:txBody>
      </p:sp>
      <p:sp>
        <p:nvSpPr>
          <p:cNvPr id="25" name="Text 23"/>
          <p:cNvSpPr txBox="1"/>
          <p:nvPr/>
        </p:nvSpPr>
        <p:spPr>
          <a:xfrm>
            <a:off x="11247120" y="6455664"/>
            <a:ext cx="457200" cy="292608"/>
          </a:xfrm>
          <a:prstGeom prst="rect">
            <a:avLst/>
          </a:prstGeom>
          <a:noFill/>
          <a:ln/>
        </p:spPr>
        <p:txBody>
          <a:bodyPr wrap="square" lIns="0" tIns="0" rIns="0" bIns="0" rtlCol="0" anchor="ctr"/>
          <a:lstStyle/>
          <a:p>
            <a:pPr marL="0" indent="0" algn="r">
              <a:buNone/>
            </a:pPr>
            <a:r>
              <a:rPr lang="en-US" sz="1600" dirty="0">
                <a:solidFill>
                  <a:srgbClr val="5B6B79"/>
                </a:solidFill>
                <a:latin typeface="Calibri" pitchFamily="34" charset="0"/>
                <a:ea typeface="Calibri" pitchFamily="34" charset="-122"/>
                <a:cs typeface="Calibri" pitchFamily="34" charset="-120"/>
              </a:rPr>
              <a:t>18</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7FA"/>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0515600" cy="310896"/>
          </a:xfrm>
          <a:prstGeom prst="rect">
            <a:avLst/>
          </a:prstGeom>
          <a:noFill/>
          <a:ln/>
        </p:spPr>
        <p:txBody>
          <a:bodyPr wrap="square" lIns="0" tIns="0" rIns="0" bIns="0" rtlCol="0" anchor="ctr"/>
          <a:lstStyle/>
          <a:p>
            <a:pPr marL="0" indent="0">
              <a:buNone/>
            </a:pPr>
            <a:r>
              <a:rPr lang="en-US" sz="1600" b="1" kern="0" spc="200" dirty="0">
                <a:solidFill>
                  <a:srgbClr val="2E86AB"/>
                </a:solidFill>
                <a:latin typeface="Calibri" pitchFamily="34" charset="0"/>
                <a:ea typeface="Calibri" pitchFamily="34" charset="-122"/>
                <a:cs typeface="Calibri" pitchFamily="34" charset="-120"/>
              </a:rPr>
              <a:t>SECTION C — PYTHON FUNDAMENTALS</a:t>
            </a:r>
            <a:endParaRPr lang="en-US" sz="1600" dirty="0"/>
          </a:p>
        </p:txBody>
      </p:sp>
      <p:sp>
        <p:nvSpPr>
          <p:cNvPr id="3" name="Text 1"/>
          <p:cNvSpPr txBox="1"/>
          <p:nvPr/>
        </p:nvSpPr>
        <p:spPr>
          <a:xfrm>
            <a:off x="548640" y="603504"/>
            <a:ext cx="11064240" cy="731520"/>
          </a:xfrm>
          <a:prstGeom prst="rect">
            <a:avLst/>
          </a:prstGeom>
          <a:noFill/>
          <a:ln/>
        </p:spPr>
        <p:txBody>
          <a:bodyPr wrap="square" lIns="0" tIns="0" rIns="0" bIns="0" rtlCol="0" anchor="ctr"/>
          <a:lstStyle/>
          <a:p>
            <a:pPr marL="0" indent="0">
              <a:buNone/>
            </a:pPr>
            <a:r>
              <a:rPr lang="en-US" sz="3300" b="1" dirty="0">
                <a:solidFill>
                  <a:srgbClr val="142A45"/>
                </a:solidFill>
                <a:latin typeface="Cambria" pitchFamily="34" charset="0"/>
                <a:ea typeface="Cambria" pitchFamily="34" charset="-122"/>
                <a:cs typeface="Cambria" pitchFamily="34" charset="-120"/>
              </a:rPr>
              <a:t>Lists: Storing Multiple Values</a:t>
            </a:r>
            <a:endParaRPr lang="en-US" sz="3300" dirty="0"/>
          </a:p>
        </p:txBody>
      </p:sp>
      <p:sp>
        <p:nvSpPr>
          <p:cNvPr id="4" name="Shape 2"/>
          <p:cNvSpPr/>
          <p:nvPr/>
        </p:nvSpPr>
        <p:spPr>
          <a:xfrm>
            <a:off x="548640" y="1691640"/>
            <a:ext cx="6583680" cy="2606040"/>
          </a:xfrm>
          <a:prstGeom prst="roundRect">
            <a:avLst>
              <a:gd name="adj" fmla="val 2807"/>
            </a:avLst>
          </a:prstGeom>
          <a:solidFill>
            <a:srgbClr val="0D1B2E"/>
          </a:solidFill>
          <a:ln/>
        </p:spPr>
      </p:sp>
      <p:sp>
        <p:nvSpPr>
          <p:cNvPr id="5" name="Shape 3"/>
          <p:cNvSpPr/>
          <p:nvPr/>
        </p:nvSpPr>
        <p:spPr>
          <a:xfrm>
            <a:off x="713232" y="1819656"/>
            <a:ext cx="109728" cy="109728"/>
          </a:xfrm>
          <a:prstGeom prst="ellipse">
            <a:avLst/>
          </a:prstGeom>
          <a:solidFill>
            <a:srgbClr val="E5645B"/>
          </a:solidFill>
          <a:ln/>
        </p:spPr>
      </p:sp>
      <p:sp>
        <p:nvSpPr>
          <p:cNvPr id="6" name="Shape 4"/>
          <p:cNvSpPr/>
          <p:nvPr/>
        </p:nvSpPr>
        <p:spPr>
          <a:xfrm>
            <a:off x="914400" y="1819656"/>
            <a:ext cx="109728" cy="109728"/>
          </a:xfrm>
          <a:prstGeom prst="ellipse">
            <a:avLst/>
          </a:prstGeom>
          <a:solidFill>
            <a:srgbClr val="F2C85B"/>
          </a:solidFill>
          <a:ln/>
        </p:spPr>
      </p:sp>
      <p:sp>
        <p:nvSpPr>
          <p:cNvPr id="7" name="Shape 5"/>
          <p:cNvSpPr/>
          <p:nvPr/>
        </p:nvSpPr>
        <p:spPr>
          <a:xfrm>
            <a:off x="1115568" y="1819656"/>
            <a:ext cx="109728" cy="109728"/>
          </a:xfrm>
          <a:prstGeom prst="ellipse">
            <a:avLst/>
          </a:prstGeom>
          <a:solidFill>
            <a:srgbClr val="5CC97A"/>
          </a:solidFill>
          <a:ln/>
        </p:spPr>
      </p:sp>
      <p:sp>
        <p:nvSpPr>
          <p:cNvPr id="8" name="Text 6"/>
          <p:cNvSpPr txBox="1"/>
          <p:nvPr/>
        </p:nvSpPr>
        <p:spPr>
          <a:xfrm>
            <a:off x="749808" y="2020824"/>
            <a:ext cx="6217920" cy="2185416"/>
          </a:xfrm>
          <a:prstGeom prst="rect">
            <a:avLst/>
          </a:prstGeom>
          <a:noFill/>
          <a:ln/>
        </p:spPr>
        <p:txBody>
          <a:bodyPr wrap="square" lIns="0" tIns="0" rIns="0" bIns="0" rtlCol="0" anchor="t"/>
          <a:lstStyle/>
          <a:p>
            <a:pPr marL="0" indent="0">
              <a:lnSpc>
                <a:spcPct val="104000"/>
              </a:lnSpc>
              <a:buNone/>
            </a:pPr>
            <a:r>
              <a:rPr lang="en-US" sz="1800" dirty="0">
                <a:solidFill>
                  <a:srgbClr val="E8EEF4"/>
                </a:solidFill>
                <a:latin typeface="Courier New" pitchFamily="34" charset="0"/>
                <a:ea typeface="Courier New" pitchFamily="34" charset="-122"/>
                <a:cs typeface="Courier New" pitchFamily="34" charset="-120"/>
              </a:rPr>
              <a:t>greetings = ["hello", "hi", "hey"]</a:t>
            </a:r>
            <a:endParaRPr lang="en-US" sz="1800" dirty="0"/>
          </a:p>
          <a:p>
            <a:pPr marL="0" indent="0">
              <a:lnSpc>
                <a:spcPct val="104000"/>
              </a:lnSpc>
              <a:buNone/>
            </a:pPr>
            <a:r>
              <a:rPr lang="en-US" sz="1800" dirty="0">
                <a:solidFill>
                  <a:srgbClr val="E8EEF4"/>
                </a:solidFill>
                <a:latin typeface="Courier New" pitchFamily="34" charset="0"/>
                <a:ea typeface="Courier New" pitchFamily="34" charset="-122"/>
                <a:cs typeface="Courier New" pitchFamily="34" charset="-120"/>
              </a:rPr>
              <a:t>user_input = "hey there"</a:t>
            </a:r>
            <a:endParaRPr lang="en-US" sz="1800" dirty="0"/>
          </a:p>
          <a:p>
            <a:pPr marL="0" indent="0">
              <a:lnSpc>
                <a:spcPct val="104000"/>
              </a:lnSpc>
              <a:buNone/>
            </a:pPr>
            <a:endParaRPr lang="en-US" sz="1800" dirty="0"/>
          </a:p>
          <a:p>
            <a:pPr marL="0" indent="0">
              <a:lnSpc>
                <a:spcPct val="104000"/>
              </a:lnSpc>
              <a:buNone/>
            </a:pPr>
            <a:r>
              <a:rPr lang="en-US" sz="1800" dirty="0">
                <a:solidFill>
                  <a:srgbClr val="E8EEF4"/>
                </a:solidFill>
                <a:latin typeface="Courier New" pitchFamily="34" charset="0"/>
                <a:ea typeface="Courier New" pitchFamily="34" charset="-122"/>
                <a:cs typeface="Courier New" pitchFamily="34" charset="-120"/>
              </a:rPr>
              <a:t>for word in greetings:</a:t>
            </a:r>
            <a:endParaRPr lang="en-US" sz="1800" dirty="0"/>
          </a:p>
          <a:p>
            <a:pPr marL="0" indent="0">
              <a:lnSpc>
                <a:spcPct val="104000"/>
              </a:lnSpc>
              <a:buNone/>
            </a:pPr>
            <a:r>
              <a:rPr lang="en-US" sz="1800" dirty="0">
                <a:solidFill>
                  <a:srgbClr val="E8EEF4"/>
                </a:solidFill>
                <a:latin typeface="Courier New" pitchFamily="34" charset="0"/>
                <a:ea typeface="Courier New" pitchFamily="34" charset="-122"/>
                <a:cs typeface="Courier New" pitchFamily="34" charset="-120"/>
              </a:rPr>
              <a:t>    if word in user_input:</a:t>
            </a:r>
            <a:endParaRPr lang="en-US" sz="1800" dirty="0"/>
          </a:p>
          <a:p>
            <a:pPr marL="0" indent="0">
              <a:lnSpc>
                <a:spcPct val="104000"/>
              </a:lnSpc>
              <a:buNone/>
            </a:pPr>
            <a:r>
              <a:rPr lang="en-US" sz="1800" dirty="0">
                <a:solidFill>
                  <a:srgbClr val="E8EEF4"/>
                </a:solidFill>
                <a:latin typeface="Courier New" pitchFamily="34" charset="0"/>
                <a:ea typeface="Courier New" pitchFamily="34" charset="-122"/>
                <a:cs typeface="Courier New" pitchFamily="34" charset="-120"/>
              </a:rPr>
              <a:t>        print("Greeting recognised!")</a:t>
            </a:r>
            <a:endParaRPr lang="en-US" sz="1800" dirty="0"/>
          </a:p>
          <a:p>
            <a:pPr marL="0" indent="0">
              <a:lnSpc>
                <a:spcPct val="104000"/>
              </a:lnSpc>
              <a:buNone/>
            </a:pPr>
            <a:r>
              <a:rPr lang="en-US" sz="1800" dirty="0">
                <a:solidFill>
                  <a:srgbClr val="E8EEF4"/>
                </a:solidFill>
                <a:latin typeface="Courier New" pitchFamily="34" charset="0"/>
                <a:ea typeface="Courier New" pitchFamily="34" charset="-122"/>
                <a:cs typeface="Courier New" pitchFamily="34" charset="-120"/>
              </a:rPr>
              <a:t>        break</a:t>
            </a:r>
            <a:endParaRPr lang="en-US" sz="1800" dirty="0"/>
          </a:p>
        </p:txBody>
      </p:sp>
      <p:sp>
        <p:nvSpPr>
          <p:cNvPr id="9" name="Shape 7"/>
          <p:cNvSpPr/>
          <p:nvPr/>
        </p:nvSpPr>
        <p:spPr>
          <a:xfrm>
            <a:off x="548640" y="4434840"/>
            <a:ext cx="6583680" cy="685800"/>
          </a:xfrm>
          <a:prstGeom prst="roundRect">
            <a:avLst>
              <a:gd name="adj" fmla="val 8000"/>
            </a:avLst>
          </a:prstGeom>
          <a:solidFill>
            <a:srgbClr val="EAF3EC"/>
          </a:solidFill>
          <a:ln w="12700">
            <a:solidFill>
              <a:srgbClr val="BFDFC8"/>
            </a:solidFill>
            <a:prstDash val="solid"/>
          </a:ln>
        </p:spPr>
      </p:sp>
      <p:sp>
        <p:nvSpPr>
          <p:cNvPr id="10" name="Text 8"/>
          <p:cNvSpPr txBox="1"/>
          <p:nvPr/>
        </p:nvSpPr>
        <p:spPr>
          <a:xfrm>
            <a:off x="685800" y="4507992"/>
            <a:ext cx="6309360" cy="274320"/>
          </a:xfrm>
          <a:prstGeom prst="rect">
            <a:avLst/>
          </a:prstGeom>
          <a:noFill/>
          <a:ln/>
        </p:spPr>
        <p:txBody>
          <a:bodyPr wrap="square" lIns="0" tIns="0" rIns="0" bIns="0" rtlCol="0" anchor="ctr"/>
          <a:lstStyle/>
          <a:p>
            <a:pPr marL="0" indent="0">
              <a:buNone/>
            </a:pPr>
            <a:r>
              <a:rPr lang="en-US" sz="1600" b="1" kern="0" spc="100" dirty="0">
                <a:solidFill>
                  <a:srgbClr val="3F9142"/>
                </a:solidFill>
                <a:latin typeface="Calibri" pitchFamily="34" charset="0"/>
                <a:ea typeface="Calibri" pitchFamily="34" charset="-122"/>
                <a:cs typeface="Calibri" pitchFamily="34" charset="-120"/>
              </a:rPr>
              <a:t>OUTPUT</a:t>
            </a:r>
            <a:endParaRPr lang="en-US" sz="1600" dirty="0"/>
          </a:p>
        </p:txBody>
      </p:sp>
      <p:sp>
        <p:nvSpPr>
          <p:cNvPr id="11" name="Text 9"/>
          <p:cNvSpPr txBox="1"/>
          <p:nvPr/>
        </p:nvSpPr>
        <p:spPr>
          <a:xfrm>
            <a:off x="685800" y="4800600"/>
            <a:ext cx="6309360" cy="228600"/>
          </a:xfrm>
          <a:prstGeom prst="rect">
            <a:avLst/>
          </a:prstGeom>
          <a:noFill/>
          <a:ln/>
        </p:spPr>
        <p:txBody>
          <a:bodyPr wrap="square" lIns="0" tIns="0" rIns="0" bIns="0" rtlCol="0" anchor="t"/>
          <a:lstStyle/>
          <a:p>
            <a:pPr marL="0" indent="0">
              <a:lnSpc>
                <a:spcPct val="104000"/>
              </a:lnSpc>
              <a:buNone/>
            </a:pPr>
            <a:r>
              <a:rPr lang="en-US" sz="1600" dirty="0">
                <a:solidFill>
                  <a:srgbClr val="234A2B"/>
                </a:solidFill>
                <a:latin typeface="Courier New" pitchFamily="34" charset="0"/>
                <a:ea typeface="Courier New" pitchFamily="34" charset="-122"/>
                <a:cs typeface="Courier New" pitchFamily="34" charset="-120"/>
              </a:rPr>
              <a:t>Greeting recognised!</a:t>
            </a:r>
            <a:endParaRPr lang="en-US" sz="1600" dirty="0"/>
          </a:p>
        </p:txBody>
      </p:sp>
      <p:sp>
        <p:nvSpPr>
          <p:cNvPr id="12" name="Shape 10"/>
          <p:cNvSpPr/>
          <p:nvPr/>
        </p:nvSpPr>
        <p:spPr>
          <a:xfrm>
            <a:off x="7360920" y="1691640"/>
            <a:ext cx="4297680" cy="3429000"/>
          </a:xfrm>
          <a:prstGeom prst="roundRect">
            <a:avLst>
              <a:gd name="adj" fmla="val 2133"/>
            </a:avLst>
          </a:prstGeom>
          <a:solidFill>
            <a:srgbClr val="142A45"/>
          </a:solidFill>
          <a:ln w="12700">
            <a:solidFill>
              <a:srgbClr val="DDE3EA"/>
            </a:solidFill>
            <a:prstDash val="solid"/>
          </a:ln>
          <a:effectLst>
            <a:outerShdw blurRad="76200" dist="25400" dir="5400000" algn="bl" rotWithShape="0">
              <a:srgbClr val="142A45">
                <a:alpha val="12000"/>
              </a:srgbClr>
            </a:outerShdw>
          </a:effectLst>
        </p:spPr>
      </p:sp>
      <p:sp>
        <p:nvSpPr>
          <p:cNvPr id="13" name="Text 11"/>
          <p:cNvSpPr txBox="1"/>
          <p:nvPr/>
        </p:nvSpPr>
        <p:spPr>
          <a:xfrm>
            <a:off x="7589520" y="1874520"/>
            <a:ext cx="3840480" cy="274320"/>
          </a:xfrm>
          <a:prstGeom prst="rect">
            <a:avLst/>
          </a:prstGeom>
          <a:noFill/>
          <a:ln/>
        </p:spPr>
        <p:txBody>
          <a:bodyPr wrap="square" lIns="0" tIns="0" rIns="0" bIns="0" rtlCol="0" anchor="ctr"/>
          <a:lstStyle/>
          <a:p>
            <a:pPr marL="0" indent="0">
              <a:buNone/>
            </a:pPr>
            <a:r>
              <a:rPr lang="en-US" sz="1600" b="1" kern="0" spc="120" dirty="0">
                <a:solidFill>
                  <a:srgbClr val="FFC857"/>
                </a:solidFill>
                <a:latin typeface="Calibri" pitchFamily="34" charset="0"/>
                <a:ea typeface="Calibri" pitchFamily="34" charset="-122"/>
                <a:cs typeface="Calibri" pitchFamily="34" charset="-120"/>
              </a:rPr>
              <a:t>WHY LISTS MATTER HERE</a:t>
            </a:r>
            <a:endParaRPr lang="en-US" sz="1600" dirty="0"/>
          </a:p>
        </p:txBody>
      </p:sp>
      <p:sp>
        <p:nvSpPr>
          <p:cNvPr id="14" name="Text 12"/>
          <p:cNvSpPr txBox="1"/>
          <p:nvPr/>
        </p:nvSpPr>
        <p:spPr>
          <a:xfrm>
            <a:off x="7589520" y="2240280"/>
            <a:ext cx="3840480" cy="2743200"/>
          </a:xfrm>
          <a:prstGeom prst="rect">
            <a:avLst/>
          </a:prstGeom>
          <a:noFill/>
          <a:ln/>
        </p:spPr>
        <p:txBody>
          <a:bodyPr wrap="square" lIns="0" tIns="0" rIns="0" bIns="0" rtlCol="0" anchor="t"/>
          <a:lstStyle/>
          <a:p>
            <a:pPr marL="0" indent="0">
              <a:lnSpc>
                <a:spcPct val="120000"/>
              </a:lnSpc>
              <a:buNone/>
            </a:pPr>
            <a:r>
              <a:rPr lang="en-US" sz="1800" b="1" dirty="0">
                <a:solidFill>
                  <a:srgbClr val="FFFFFF"/>
                </a:solidFill>
                <a:latin typeface="Courier New" pitchFamily="34" charset="0"/>
                <a:ea typeface="Courier New" pitchFamily="34" charset="-122"/>
                <a:cs typeface="Courier New" pitchFamily="34" charset="-120"/>
              </a:rPr>
              <a:t>A list </a:t>
            </a:r>
            <a:r>
              <a:rPr lang="en-US" sz="1600" dirty="0">
                <a:solidFill>
                  <a:srgbClr val="CADCFC"/>
                </a:solidFill>
                <a:latin typeface="Calibri" pitchFamily="34" charset="0"/>
                <a:ea typeface="Calibri" pitchFamily="34" charset="-122"/>
                <a:cs typeface="Calibri" pitchFamily="34" charset="-120"/>
              </a:rPr>
              <a:t>groups related keywords together, e.g. all the ways a user might say hello.
</a:t>
            </a:r>
            <a:r>
              <a:rPr lang="en-US" sz="1700" b="1" dirty="0">
                <a:solidFill>
                  <a:srgbClr val="FFFFFF"/>
                </a:solidFill>
                <a:latin typeface="Courier New" pitchFamily="34" charset="0"/>
                <a:ea typeface="Courier New" pitchFamily="34" charset="-122"/>
                <a:cs typeface="Courier New" pitchFamily="34" charset="-120"/>
              </a:rPr>
              <a:t>The  in  operator </a:t>
            </a:r>
            <a:r>
              <a:rPr lang="en-US" sz="1600" dirty="0">
                <a:solidFill>
                  <a:srgbClr val="CADCFC"/>
                </a:solidFill>
                <a:latin typeface="Calibri" pitchFamily="34" charset="0"/>
                <a:ea typeface="Calibri" pitchFamily="34" charset="-122"/>
                <a:cs typeface="Calibri" pitchFamily="34" charset="-120"/>
              </a:rPr>
              <a:t>checks membership — “is this word inside that text?”
Our chatbot will use a list of keywords for every kind of response it can give.</a:t>
            </a:r>
            <a:endParaRPr lang="en-US" sz="1800" dirty="0"/>
          </a:p>
        </p:txBody>
      </p:sp>
      <p:sp>
        <p:nvSpPr>
          <p:cNvPr id="15" name="Text 13"/>
          <p:cNvSpPr txBox="1"/>
          <p:nvPr/>
        </p:nvSpPr>
        <p:spPr>
          <a:xfrm>
            <a:off x="548640" y="6455664"/>
            <a:ext cx="9418320" cy="292608"/>
          </a:xfrm>
          <a:prstGeom prst="rect">
            <a:avLst/>
          </a:prstGeom>
          <a:noFill/>
          <a:ln/>
        </p:spPr>
        <p:txBody>
          <a:bodyPr wrap="square" lIns="0" tIns="0" rIns="0" bIns="0" rtlCol="0" anchor="ctr"/>
          <a:lstStyle/>
          <a:p>
            <a:pPr marL="0" indent="0">
              <a:buNone/>
            </a:pPr>
            <a:r>
              <a:rPr lang="en-US" sz="1600" dirty="0">
                <a:solidFill>
                  <a:srgbClr val="5B6B79"/>
                </a:solidFill>
                <a:latin typeface="Calibri" pitchFamily="34" charset="0"/>
                <a:ea typeface="Calibri" pitchFamily="34" charset="-122"/>
                <a:cs typeface="Calibri" pitchFamily="34" charset="-120"/>
              </a:rPr>
              <a:t>AI Practical 1  •  Development Environment, Python &amp; Rule-Based Chatbot</a:t>
            </a:r>
            <a:endParaRPr lang="en-US" sz="1600" dirty="0"/>
          </a:p>
        </p:txBody>
      </p:sp>
      <p:sp>
        <p:nvSpPr>
          <p:cNvPr id="16" name="Text 14"/>
          <p:cNvSpPr txBox="1"/>
          <p:nvPr/>
        </p:nvSpPr>
        <p:spPr>
          <a:xfrm>
            <a:off x="11247120" y="6455664"/>
            <a:ext cx="457200" cy="292608"/>
          </a:xfrm>
          <a:prstGeom prst="rect">
            <a:avLst/>
          </a:prstGeom>
          <a:noFill/>
          <a:ln/>
        </p:spPr>
        <p:txBody>
          <a:bodyPr wrap="square" lIns="0" tIns="0" rIns="0" bIns="0" rtlCol="0" anchor="ctr"/>
          <a:lstStyle/>
          <a:p>
            <a:pPr marL="0" indent="0" algn="r">
              <a:buNone/>
            </a:pPr>
            <a:r>
              <a:rPr lang="en-US" sz="1600" dirty="0">
                <a:solidFill>
                  <a:srgbClr val="5B6B79"/>
                </a:solidFill>
                <a:latin typeface="Calibri" pitchFamily="34" charset="0"/>
                <a:ea typeface="Calibri" pitchFamily="34" charset="-122"/>
                <a:cs typeface="Calibri" pitchFamily="34" charset="-120"/>
              </a:rPr>
              <a:t>19</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7FA"/>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0515600" cy="310896"/>
          </a:xfrm>
          <a:prstGeom prst="rect">
            <a:avLst/>
          </a:prstGeom>
          <a:noFill/>
          <a:ln/>
        </p:spPr>
        <p:txBody>
          <a:bodyPr wrap="square" lIns="0" tIns="0" rIns="0" bIns="0" rtlCol="0" anchor="ctr"/>
          <a:lstStyle/>
          <a:p>
            <a:pPr marL="0" indent="0">
              <a:buNone/>
            </a:pPr>
            <a:r>
              <a:rPr lang="en-US" sz="1600" b="1" kern="0" spc="200" dirty="0">
                <a:solidFill>
                  <a:srgbClr val="2E86AB"/>
                </a:solidFill>
                <a:latin typeface="Calibri" pitchFamily="34" charset="0"/>
                <a:ea typeface="Calibri" pitchFamily="34" charset="-122"/>
                <a:cs typeface="Calibri" pitchFamily="34" charset="-120"/>
              </a:rPr>
              <a:t>SECTION C — HANDS-ON EXERCISE</a:t>
            </a:r>
            <a:endParaRPr lang="en-US" sz="1600" dirty="0"/>
          </a:p>
        </p:txBody>
      </p:sp>
      <p:sp>
        <p:nvSpPr>
          <p:cNvPr id="3" name="Text 1"/>
          <p:cNvSpPr txBox="1"/>
          <p:nvPr/>
        </p:nvSpPr>
        <p:spPr>
          <a:xfrm>
            <a:off x="548640" y="603504"/>
            <a:ext cx="11064240" cy="731520"/>
          </a:xfrm>
          <a:prstGeom prst="rect">
            <a:avLst/>
          </a:prstGeom>
          <a:noFill/>
          <a:ln/>
        </p:spPr>
        <p:txBody>
          <a:bodyPr wrap="square" lIns="0" tIns="0" rIns="0" bIns="0" rtlCol="0" anchor="ctr"/>
          <a:lstStyle/>
          <a:p>
            <a:pPr marL="0" indent="0">
              <a:buNone/>
            </a:pPr>
            <a:r>
              <a:rPr lang="en-US" sz="3300" b="1" dirty="0">
                <a:solidFill>
                  <a:srgbClr val="142A45"/>
                </a:solidFill>
                <a:latin typeface="Cambria" pitchFamily="34" charset="0"/>
                <a:ea typeface="Cambria" pitchFamily="34" charset="-122"/>
                <a:cs typeface="Cambria" pitchFamily="34" charset="-120"/>
              </a:rPr>
              <a:t>Practice: Build a Mini Decision Program</a:t>
            </a:r>
            <a:endParaRPr lang="en-US" sz="3300" dirty="0"/>
          </a:p>
        </p:txBody>
      </p:sp>
      <p:sp>
        <p:nvSpPr>
          <p:cNvPr id="4" name="Text 2"/>
          <p:cNvSpPr txBox="1"/>
          <p:nvPr/>
        </p:nvSpPr>
        <p:spPr>
          <a:xfrm>
            <a:off x="548640" y="1234440"/>
            <a:ext cx="10789920" cy="320040"/>
          </a:xfrm>
          <a:prstGeom prst="rect">
            <a:avLst/>
          </a:prstGeom>
          <a:noFill/>
          <a:ln/>
        </p:spPr>
        <p:txBody>
          <a:bodyPr wrap="square" lIns="0" tIns="0" rIns="0" bIns="0" rtlCol="0" anchor="ctr"/>
          <a:lstStyle/>
          <a:p>
            <a:pPr marL="0" indent="0">
              <a:buNone/>
            </a:pPr>
            <a:r>
              <a:rPr lang="en-US" sz="1700" dirty="0">
                <a:solidFill>
                  <a:srgbClr val="5B6B79"/>
                </a:solidFill>
                <a:latin typeface="Calibri" pitchFamily="34" charset="0"/>
                <a:ea typeface="Calibri" pitchFamily="34" charset="-122"/>
                <a:cs typeface="Calibri" pitchFamily="34" charset="-120"/>
              </a:rPr>
              <a:t>Ten minutes, on your own or in pairs — apply everything from this section.</a:t>
            </a:r>
            <a:endParaRPr lang="en-US" sz="1700" dirty="0"/>
          </a:p>
        </p:txBody>
      </p:sp>
      <p:sp>
        <p:nvSpPr>
          <p:cNvPr id="5" name="Shape 3"/>
          <p:cNvSpPr/>
          <p:nvPr/>
        </p:nvSpPr>
        <p:spPr>
          <a:xfrm>
            <a:off x="548640" y="1783080"/>
            <a:ext cx="6309360" cy="4206240"/>
          </a:xfrm>
          <a:prstGeom prst="roundRect">
            <a:avLst>
              <a:gd name="adj" fmla="val 1739"/>
            </a:avLst>
          </a:prstGeom>
          <a:solidFill>
            <a:srgbClr val="FFFFFF"/>
          </a:solidFill>
          <a:ln w="12700">
            <a:solidFill>
              <a:srgbClr val="DDE3EA"/>
            </a:solidFill>
            <a:prstDash val="solid"/>
          </a:ln>
          <a:effectLst>
            <a:outerShdw blurRad="76200" dist="25400" dir="5400000" algn="bl" rotWithShape="0">
              <a:srgbClr val="142A45">
                <a:alpha val="12000"/>
              </a:srgbClr>
            </a:outerShdw>
          </a:effectLst>
        </p:spPr>
      </p:sp>
      <p:sp>
        <p:nvSpPr>
          <p:cNvPr id="6" name="Text 4"/>
          <p:cNvSpPr txBox="1"/>
          <p:nvPr/>
        </p:nvSpPr>
        <p:spPr>
          <a:xfrm>
            <a:off x="777240" y="1965960"/>
            <a:ext cx="5852160" cy="274320"/>
          </a:xfrm>
          <a:prstGeom prst="rect">
            <a:avLst/>
          </a:prstGeom>
          <a:noFill/>
          <a:ln/>
        </p:spPr>
        <p:txBody>
          <a:bodyPr wrap="square" lIns="0" tIns="0" rIns="0" bIns="0" rtlCol="0" anchor="ctr"/>
          <a:lstStyle/>
          <a:p>
            <a:pPr marL="0" indent="0">
              <a:buNone/>
            </a:pPr>
            <a:r>
              <a:rPr lang="en-US" sz="1600" b="1" kern="0" spc="150" dirty="0">
                <a:solidFill>
                  <a:srgbClr val="2E86AB"/>
                </a:solidFill>
                <a:latin typeface="Calibri" pitchFamily="34" charset="0"/>
                <a:ea typeface="Calibri" pitchFamily="34" charset="-122"/>
                <a:cs typeface="Calibri" pitchFamily="34" charset="-120"/>
              </a:rPr>
              <a:t>YOUR TASK</a:t>
            </a:r>
            <a:endParaRPr lang="en-US" sz="1600" dirty="0"/>
          </a:p>
        </p:txBody>
      </p:sp>
      <p:sp>
        <p:nvSpPr>
          <p:cNvPr id="7" name="Text 5"/>
          <p:cNvSpPr txBox="1"/>
          <p:nvPr/>
        </p:nvSpPr>
        <p:spPr>
          <a:xfrm>
            <a:off x="777240" y="2331720"/>
            <a:ext cx="5852160" cy="3566160"/>
          </a:xfrm>
          <a:prstGeom prst="rect">
            <a:avLst/>
          </a:prstGeom>
          <a:noFill/>
          <a:ln/>
        </p:spPr>
        <p:txBody>
          <a:bodyPr wrap="square" lIns="0" tIns="0" rIns="0" bIns="0" rtlCol="0" anchor="t"/>
          <a:lstStyle/>
          <a:p>
            <a:pPr marL="0" indent="0">
              <a:lnSpc>
                <a:spcPct val="115000"/>
              </a:lnSpc>
              <a:buNone/>
            </a:pPr>
            <a:r>
              <a:rPr lang="en-US" sz="1800" b="1" dirty="0">
                <a:solidFill>
                  <a:srgbClr val="142A45"/>
                </a:solidFill>
                <a:latin typeface="Calibri" pitchFamily="34" charset="0"/>
                <a:ea typeface="Calibri" pitchFamily="34" charset="-122"/>
                <a:cs typeface="Calibri" pitchFamily="34" charset="-120"/>
              </a:rPr>
              <a:t>1. </a:t>
            </a:r>
            <a:r>
              <a:rPr lang="en-US" sz="1800" dirty="0">
                <a:solidFill>
                  <a:srgbClr val="1B2430"/>
                </a:solidFill>
                <a:latin typeface="Calibri" pitchFamily="34" charset="0"/>
                <a:ea typeface="Calibri" pitchFamily="34" charset="-122"/>
                <a:cs typeface="Calibri" pitchFamily="34" charset="-120"/>
              </a:rPr>
              <a:t>Ask the user for their name using input().
</a:t>
            </a:r>
            <a:r>
              <a:rPr lang="en-US" sz="1800" b="1" dirty="0">
                <a:solidFill>
                  <a:srgbClr val="142A45"/>
                </a:solidFill>
                <a:latin typeface="Calibri" pitchFamily="34" charset="0"/>
                <a:ea typeface="Calibri" pitchFamily="34" charset="-122"/>
                <a:cs typeface="Calibri" pitchFamily="34" charset="-120"/>
              </a:rPr>
              <a:t>2. </a:t>
            </a:r>
            <a:r>
              <a:rPr lang="en-US" sz="1800" dirty="0">
                <a:solidFill>
                  <a:srgbClr val="1B2430"/>
                </a:solidFill>
                <a:latin typeface="Calibri" pitchFamily="34" charset="0"/>
                <a:ea typeface="Calibri" pitchFamily="34" charset="-122"/>
                <a:cs typeface="Calibri" pitchFamily="34" charset="-120"/>
              </a:rPr>
              <a:t>Ask the user to enter a time of day: morning, afternoon, or evening.
</a:t>
            </a:r>
            <a:r>
              <a:rPr lang="en-US" sz="1800" b="1" dirty="0">
                <a:solidFill>
                  <a:srgbClr val="142A45"/>
                </a:solidFill>
                <a:latin typeface="Calibri" pitchFamily="34" charset="0"/>
                <a:ea typeface="Calibri" pitchFamily="34" charset="-122"/>
                <a:cs typeface="Calibri" pitchFamily="34" charset="-120"/>
              </a:rPr>
              <a:t>3. </a:t>
            </a:r>
            <a:r>
              <a:rPr lang="en-US" sz="1800" dirty="0">
                <a:solidFill>
                  <a:srgbClr val="1B2430"/>
                </a:solidFill>
                <a:latin typeface="Calibri" pitchFamily="34" charset="0"/>
                <a:ea typeface="Calibri" pitchFamily="34" charset="-122"/>
                <a:cs typeface="Calibri" pitchFamily="34" charset="-120"/>
              </a:rPr>
              <a:t>Use if / elif / else to print a different greeting for each case, including the user's name.
</a:t>
            </a:r>
            <a:r>
              <a:rPr lang="en-US" sz="1800" b="1" dirty="0">
                <a:solidFill>
                  <a:srgbClr val="142A45"/>
                </a:solidFill>
                <a:latin typeface="Calibri" pitchFamily="34" charset="0"/>
                <a:ea typeface="Calibri" pitchFamily="34" charset="-122"/>
                <a:cs typeface="Calibri" pitchFamily="34" charset="-120"/>
              </a:rPr>
              <a:t>4. </a:t>
            </a:r>
            <a:r>
              <a:rPr lang="en-US" sz="1800" dirty="0">
                <a:solidFill>
                  <a:srgbClr val="1B2430"/>
                </a:solidFill>
                <a:latin typeface="Calibri" pitchFamily="34" charset="0"/>
                <a:ea typeface="Calibri" pitchFamily="34" charset="-122"/>
                <a:cs typeface="Calibri" pitchFamily="34" charset="-120"/>
              </a:rPr>
              <a:t>Wrap your greeting logic inside a function called greet_by_time().</a:t>
            </a:r>
            <a:endParaRPr lang="en-US" sz="1800" dirty="0"/>
          </a:p>
        </p:txBody>
      </p:sp>
      <p:sp>
        <p:nvSpPr>
          <p:cNvPr id="8" name="Shape 6"/>
          <p:cNvSpPr/>
          <p:nvPr/>
        </p:nvSpPr>
        <p:spPr>
          <a:xfrm>
            <a:off x="7086600" y="1783080"/>
            <a:ext cx="4572000" cy="2743200"/>
          </a:xfrm>
          <a:prstGeom prst="roundRect">
            <a:avLst>
              <a:gd name="adj" fmla="val 2667"/>
            </a:avLst>
          </a:prstGeom>
          <a:solidFill>
            <a:srgbClr val="0D1B2E"/>
          </a:solidFill>
          <a:ln/>
        </p:spPr>
      </p:sp>
      <p:sp>
        <p:nvSpPr>
          <p:cNvPr id="9" name="Shape 7"/>
          <p:cNvSpPr/>
          <p:nvPr/>
        </p:nvSpPr>
        <p:spPr>
          <a:xfrm>
            <a:off x="7251192" y="1911096"/>
            <a:ext cx="109728" cy="109728"/>
          </a:xfrm>
          <a:prstGeom prst="ellipse">
            <a:avLst/>
          </a:prstGeom>
          <a:solidFill>
            <a:srgbClr val="E5645B"/>
          </a:solidFill>
          <a:ln/>
        </p:spPr>
      </p:sp>
      <p:sp>
        <p:nvSpPr>
          <p:cNvPr id="10" name="Shape 8"/>
          <p:cNvSpPr/>
          <p:nvPr/>
        </p:nvSpPr>
        <p:spPr>
          <a:xfrm>
            <a:off x="7452360" y="1911096"/>
            <a:ext cx="109728" cy="109728"/>
          </a:xfrm>
          <a:prstGeom prst="ellipse">
            <a:avLst/>
          </a:prstGeom>
          <a:solidFill>
            <a:srgbClr val="F2C85B"/>
          </a:solidFill>
          <a:ln/>
        </p:spPr>
      </p:sp>
      <p:sp>
        <p:nvSpPr>
          <p:cNvPr id="11" name="Shape 9"/>
          <p:cNvSpPr/>
          <p:nvPr/>
        </p:nvSpPr>
        <p:spPr>
          <a:xfrm>
            <a:off x="7653528" y="1911096"/>
            <a:ext cx="109728" cy="109728"/>
          </a:xfrm>
          <a:prstGeom prst="ellipse">
            <a:avLst/>
          </a:prstGeom>
          <a:solidFill>
            <a:srgbClr val="5CC97A"/>
          </a:solidFill>
          <a:ln/>
        </p:spPr>
      </p:sp>
      <p:sp>
        <p:nvSpPr>
          <p:cNvPr id="12" name="Text 10"/>
          <p:cNvSpPr txBox="1"/>
          <p:nvPr/>
        </p:nvSpPr>
        <p:spPr>
          <a:xfrm>
            <a:off x="7287768" y="2112264"/>
            <a:ext cx="4206240" cy="2322576"/>
          </a:xfrm>
          <a:prstGeom prst="rect">
            <a:avLst/>
          </a:prstGeom>
          <a:noFill/>
          <a:ln/>
        </p:spPr>
        <p:txBody>
          <a:bodyPr wrap="square" lIns="0" tIns="0" rIns="0" bIns="0" rtlCol="0" anchor="t"/>
          <a:lstStyle/>
          <a:p>
            <a:pPr marL="0" indent="0">
              <a:lnSpc>
                <a:spcPct val="104000"/>
              </a:lnSpc>
              <a:buNone/>
            </a:pPr>
            <a:r>
              <a:rPr lang="en-US" sz="1600" dirty="0">
                <a:solidFill>
                  <a:srgbClr val="E8EEF4"/>
                </a:solidFill>
                <a:latin typeface="Courier New" pitchFamily="34" charset="0"/>
                <a:ea typeface="Courier New" pitchFamily="34" charset="-122"/>
                <a:cs typeface="Courier New" pitchFamily="34" charset="-120"/>
              </a:rPr>
              <a:t>def greet_by_time(name, tod):</a:t>
            </a:r>
            <a:endParaRPr lang="en-US" sz="1600" dirty="0"/>
          </a:p>
          <a:p>
            <a:pPr marL="0" indent="0">
              <a:lnSpc>
                <a:spcPct val="104000"/>
              </a:lnSpc>
              <a:buNone/>
            </a:pPr>
            <a:r>
              <a:rPr lang="en-US" sz="1600" dirty="0">
                <a:solidFill>
                  <a:srgbClr val="E8EEF4"/>
                </a:solidFill>
                <a:latin typeface="Courier New" pitchFamily="34" charset="0"/>
                <a:ea typeface="Courier New" pitchFamily="34" charset="-122"/>
                <a:cs typeface="Courier New" pitchFamily="34" charset="-120"/>
              </a:rPr>
              <a:t>    if tod == "morning":</a:t>
            </a:r>
            <a:endParaRPr lang="en-US" sz="1600" dirty="0"/>
          </a:p>
          <a:p>
            <a:pPr marL="0" indent="0">
              <a:lnSpc>
                <a:spcPct val="104000"/>
              </a:lnSpc>
              <a:buNone/>
            </a:pPr>
            <a:r>
              <a:rPr lang="en-US" sz="1600" dirty="0">
                <a:solidFill>
                  <a:srgbClr val="E8EEF4"/>
                </a:solidFill>
                <a:latin typeface="Courier New" pitchFamily="34" charset="0"/>
                <a:ea typeface="Courier New" pitchFamily="34" charset="-122"/>
                <a:cs typeface="Courier New" pitchFamily="34" charset="-120"/>
              </a:rPr>
              <a:t>        return f"Morning, {name}!"</a:t>
            </a:r>
            <a:endParaRPr lang="en-US" sz="1600" dirty="0"/>
          </a:p>
          <a:p>
            <a:pPr marL="0" indent="0">
              <a:lnSpc>
                <a:spcPct val="104000"/>
              </a:lnSpc>
              <a:buNone/>
            </a:pPr>
            <a:r>
              <a:rPr lang="en-US" sz="1600" dirty="0">
                <a:solidFill>
                  <a:srgbClr val="E8EEF4"/>
                </a:solidFill>
                <a:latin typeface="Courier New" pitchFamily="34" charset="0"/>
                <a:ea typeface="Courier New" pitchFamily="34" charset="-122"/>
                <a:cs typeface="Courier New" pitchFamily="34" charset="-120"/>
              </a:rPr>
              <a:t>    elif tod == "afternoon":</a:t>
            </a:r>
            <a:endParaRPr lang="en-US" sz="1600" dirty="0"/>
          </a:p>
          <a:p>
            <a:pPr marL="0" indent="0">
              <a:lnSpc>
                <a:spcPct val="104000"/>
              </a:lnSpc>
              <a:buNone/>
            </a:pPr>
            <a:r>
              <a:rPr lang="en-US" sz="1600" dirty="0">
                <a:solidFill>
                  <a:srgbClr val="E8EEF4"/>
                </a:solidFill>
                <a:latin typeface="Courier New" pitchFamily="34" charset="0"/>
                <a:ea typeface="Courier New" pitchFamily="34" charset="-122"/>
                <a:cs typeface="Courier New" pitchFamily="34" charset="-120"/>
              </a:rPr>
              <a:t>        return "___"   # fill in</a:t>
            </a:r>
            <a:endParaRPr lang="en-US" sz="1600" dirty="0"/>
          </a:p>
          <a:p>
            <a:pPr marL="0" indent="0">
              <a:lnSpc>
                <a:spcPct val="104000"/>
              </a:lnSpc>
              <a:buNone/>
            </a:pPr>
            <a:r>
              <a:rPr lang="en-US" sz="1600" dirty="0">
                <a:solidFill>
                  <a:srgbClr val="E8EEF4"/>
                </a:solidFill>
                <a:latin typeface="Courier New" pitchFamily="34" charset="0"/>
                <a:ea typeface="Courier New" pitchFamily="34" charset="-122"/>
                <a:cs typeface="Courier New" pitchFamily="34" charset="-120"/>
              </a:rPr>
              <a:t>    elif tod == "evening":</a:t>
            </a:r>
            <a:endParaRPr lang="en-US" sz="1600" dirty="0"/>
          </a:p>
          <a:p>
            <a:pPr marL="0" indent="0">
              <a:lnSpc>
                <a:spcPct val="104000"/>
              </a:lnSpc>
              <a:buNone/>
            </a:pPr>
            <a:r>
              <a:rPr lang="en-US" sz="1600" dirty="0">
                <a:solidFill>
                  <a:srgbClr val="E8EEF4"/>
                </a:solidFill>
                <a:latin typeface="Courier New" pitchFamily="34" charset="0"/>
                <a:ea typeface="Courier New" pitchFamily="34" charset="-122"/>
                <a:cs typeface="Courier New" pitchFamily="34" charset="-120"/>
              </a:rPr>
              <a:t>        return "___"   # fill in</a:t>
            </a:r>
            <a:endParaRPr lang="en-US" sz="1600" dirty="0"/>
          </a:p>
          <a:p>
            <a:pPr marL="0" indent="0">
              <a:lnSpc>
                <a:spcPct val="104000"/>
              </a:lnSpc>
              <a:buNone/>
            </a:pPr>
            <a:r>
              <a:rPr lang="en-US" sz="1600" dirty="0">
                <a:solidFill>
                  <a:srgbClr val="E8EEF4"/>
                </a:solidFill>
                <a:latin typeface="Courier New" pitchFamily="34" charset="0"/>
                <a:ea typeface="Courier New" pitchFamily="34" charset="-122"/>
                <a:cs typeface="Courier New" pitchFamily="34" charset="-120"/>
              </a:rPr>
              <a:t>    else:</a:t>
            </a:r>
            <a:endParaRPr lang="en-US" sz="1600" dirty="0"/>
          </a:p>
          <a:p>
            <a:pPr marL="0" indent="0">
              <a:lnSpc>
                <a:spcPct val="104000"/>
              </a:lnSpc>
              <a:buNone/>
            </a:pPr>
            <a:r>
              <a:rPr lang="en-US" sz="1600" dirty="0">
                <a:solidFill>
                  <a:srgbClr val="E8EEF4"/>
                </a:solidFill>
                <a:latin typeface="Courier New" pitchFamily="34" charset="0"/>
                <a:ea typeface="Courier New" pitchFamily="34" charset="-122"/>
                <a:cs typeface="Courier New" pitchFamily="34" charset="-120"/>
              </a:rPr>
              <a:t>        return "___"   # fill in</a:t>
            </a:r>
            <a:endParaRPr lang="en-US" sz="1600" dirty="0"/>
          </a:p>
        </p:txBody>
      </p:sp>
      <p:sp>
        <p:nvSpPr>
          <p:cNvPr id="13" name="Shape 11"/>
          <p:cNvSpPr/>
          <p:nvPr/>
        </p:nvSpPr>
        <p:spPr>
          <a:xfrm>
            <a:off x="7086600" y="4800600"/>
            <a:ext cx="4572000" cy="1234440"/>
          </a:xfrm>
          <a:prstGeom prst="roundRect">
            <a:avLst>
              <a:gd name="adj" fmla="val 5926"/>
            </a:avLst>
          </a:prstGeom>
          <a:solidFill>
            <a:srgbClr val="FFF7E6"/>
          </a:solidFill>
          <a:ln w="12700">
            <a:solidFill>
              <a:srgbClr val="DDE3EA"/>
            </a:solidFill>
            <a:prstDash val="solid"/>
          </a:ln>
          <a:effectLst>
            <a:outerShdw blurRad="76200" dist="25400" dir="5400000" algn="bl" rotWithShape="0">
              <a:srgbClr val="142A45">
                <a:alpha val="12000"/>
              </a:srgbClr>
            </a:outerShdw>
          </a:effectLst>
        </p:spPr>
      </p:sp>
      <p:sp>
        <p:nvSpPr>
          <p:cNvPr id="14" name="Text 12"/>
          <p:cNvSpPr txBox="1"/>
          <p:nvPr/>
        </p:nvSpPr>
        <p:spPr>
          <a:xfrm>
            <a:off x="7269480" y="4800600"/>
            <a:ext cx="4206240" cy="1234440"/>
          </a:xfrm>
          <a:prstGeom prst="rect">
            <a:avLst/>
          </a:prstGeom>
          <a:noFill/>
          <a:ln/>
        </p:spPr>
        <p:txBody>
          <a:bodyPr wrap="square" lIns="0" tIns="0" rIns="0" bIns="0" rtlCol="0" anchor="ctr"/>
          <a:lstStyle/>
          <a:p>
            <a:pPr marL="0" indent="0">
              <a:buNone/>
            </a:pPr>
            <a:r>
              <a:rPr lang="en-US" sz="1600" i="1" dirty="0">
                <a:solidFill>
                  <a:srgbClr val="8A5A00"/>
                </a:solidFill>
                <a:latin typeface="Calibri" pitchFamily="34" charset="0"/>
                <a:ea typeface="Calibri" pitchFamily="34" charset="-122"/>
                <a:cs typeface="Calibri" pitchFamily="34" charset="-120"/>
              </a:rPr>
              <a:t>Hint: reuse the exact if/elif/else pattern from the previous slides — only change the conditions and messages.</a:t>
            </a:r>
            <a:endParaRPr lang="en-US" sz="1600" dirty="0"/>
          </a:p>
        </p:txBody>
      </p:sp>
      <p:sp>
        <p:nvSpPr>
          <p:cNvPr id="15" name="Text 13"/>
          <p:cNvSpPr txBox="1"/>
          <p:nvPr/>
        </p:nvSpPr>
        <p:spPr>
          <a:xfrm>
            <a:off x="548640" y="6455664"/>
            <a:ext cx="9418320" cy="292608"/>
          </a:xfrm>
          <a:prstGeom prst="rect">
            <a:avLst/>
          </a:prstGeom>
          <a:noFill/>
          <a:ln/>
        </p:spPr>
        <p:txBody>
          <a:bodyPr wrap="square" lIns="0" tIns="0" rIns="0" bIns="0" rtlCol="0" anchor="ctr"/>
          <a:lstStyle/>
          <a:p>
            <a:pPr marL="0" indent="0">
              <a:buNone/>
            </a:pPr>
            <a:r>
              <a:rPr lang="en-US" sz="1600" dirty="0">
                <a:solidFill>
                  <a:srgbClr val="5B6B79"/>
                </a:solidFill>
                <a:latin typeface="Calibri" pitchFamily="34" charset="0"/>
                <a:ea typeface="Calibri" pitchFamily="34" charset="-122"/>
                <a:cs typeface="Calibri" pitchFamily="34" charset="-120"/>
              </a:rPr>
              <a:t>AI Practical 1  •  Development Environment, Python &amp; Rule-Based Chatbot</a:t>
            </a:r>
            <a:endParaRPr lang="en-US" sz="1600" dirty="0"/>
          </a:p>
        </p:txBody>
      </p:sp>
      <p:sp>
        <p:nvSpPr>
          <p:cNvPr id="16" name="Text 14"/>
          <p:cNvSpPr txBox="1"/>
          <p:nvPr/>
        </p:nvSpPr>
        <p:spPr>
          <a:xfrm>
            <a:off x="11247120" y="6455664"/>
            <a:ext cx="457200" cy="292608"/>
          </a:xfrm>
          <a:prstGeom prst="rect">
            <a:avLst/>
          </a:prstGeom>
          <a:noFill/>
          <a:ln/>
        </p:spPr>
        <p:txBody>
          <a:bodyPr wrap="square" lIns="0" tIns="0" rIns="0" bIns="0" rtlCol="0" anchor="ctr"/>
          <a:lstStyle/>
          <a:p>
            <a:pPr marL="0" indent="0" algn="r">
              <a:buNone/>
            </a:pPr>
            <a:r>
              <a:rPr lang="en-US" sz="1600" dirty="0">
                <a:solidFill>
                  <a:srgbClr val="5B6B79"/>
                </a:solidFill>
                <a:latin typeface="Calibri" pitchFamily="34" charset="0"/>
                <a:ea typeface="Calibri" pitchFamily="34" charset="-122"/>
                <a:cs typeface="Calibri" pitchFamily="34" charset="-120"/>
              </a:rPr>
              <a:t>20</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7FA"/>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0515600" cy="310896"/>
          </a:xfrm>
          <a:prstGeom prst="rect">
            <a:avLst/>
          </a:prstGeom>
          <a:noFill/>
          <a:ln/>
        </p:spPr>
        <p:txBody>
          <a:bodyPr wrap="square" lIns="0" tIns="0" rIns="0" bIns="0" rtlCol="0" anchor="ctr"/>
          <a:lstStyle/>
          <a:p>
            <a:pPr marL="0" indent="0">
              <a:buNone/>
            </a:pPr>
            <a:r>
              <a:rPr lang="en-US" sz="1600" b="1" kern="0" spc="200" dirty="0">
                <a:solidFill>
                  <a:srgbClr val="2E86AB"/>
                </a:solidFill>
                <a:latin typeface="Calibri" pitchFamily="34" charset="0"/>
                <a:ea typeface="Calibri" pitchFamily="34" charset="-122"/>
                <a:cs typeface="Calibri" pitchFamily="34" charset="-120"/>
              </a:rPr>
              <a:t>SECTION D — RULE-BASED AI &amp; CHATBOT</a:t>
            </a:r>
            <a:endParaRPr lang="en-US" sz="1600" dirty="0"/>
          </a:p>
        </p:txBody>
      </p:sp>
      <p:sp>
        <p:nvSpPr>
          <p:cNvPr id="3" name="Text 1"/>
          <p:cNvSpPr txBox="1"/>
          <p:nvPr/>
        </p:nvSpPr>
        <p:spPr>
          <a:xfrm>
            <a:off x="548640" y="603504"/>
            <a:ext cx="11064240" cy="731520"/>
          </a:xfrm>
          <a:prstGeom prst="rect">
            <a:avLst/>
          </a:prstGeom>
          <a:noFill/>
          <a:ln/>
        </p:spPr>
        <p:txBody>
          <a:bodyPr wrap="square" lIns="0" tIns="0" rIns="0" bIns="0" rtlCol="0" anchor="ctr"/>
          <a:lstStyle/>
          <a:p>
            <a:pPr marL="0" indent="0">
              <a:buNone/>
            </a:pPr>
            <a:r>
              <a:rPr lang="en-US" sz="3300" b="1" dirty="0">
                <a:solidFill>
                  <a:srgbClr val="142A45"/>
                </a:solidFill>
                <a:latin typeface="Cambria" pitchFamily="34" charset="0"/>
                <a:ea typeface="Cambria" pitchFamily="34" charset="-122"/>
                <a:cs typeface="Cambria" pitchFamily="34" charset="-120"/>
              </a:rPr>
              <a:t>What Is Rule-Based Decision Making?</a:t>
            </a:r>
            <a:endParaRPr lang="en-US" sz="3300" dirty="0"/>
          </a:p>
        </p:txBody>
      </p:sp>
      <p:sp>
        <p:nvSpPr>
          <p:cNvPr id="4" name="Text 2"/>
          <p:cNvSpPr txBox="1"/>
          <p:nvPr/>
        </p:nvSpPr>
        <p:spPr>
          <a:xfrm>
            <a:off x="548640" y="1234440"/>
            <a:ext cx="10789920" cy="320040"/>
          </a:xfrm>
          <a:prstGeom prst="rect">
            <a:avLst/>
          </a:prstGeom>
          <a:noFill/>
          <a:ln/>
        </p:spPr>
        <p:txBody>
          <a:bodyPr wrap="square" lIns="0" tIns="0" rIns="0" bIns="0" rtlCol="0" anchor="ctr"/>
          <a:lstStyle/>
          <a:p>
            <a:pPr marL="0" indent="0">
              <a:buNone/>
            </a:pPr>
            <a:r>
              <a:rPr lang="en-US" sz="1800" dirty="0">
                <a:solidFill>
                  <a:srgbClr val="5B6B79"/>
                </a:solidFill>
                <a:latin typeface="Calibri" pitchFamily="34" charset="0"/>
                <a:ea typeface="Calibri" pitchFamily="34" charset="-122"/>
                <a:cs typeface="Calibri" pitchFamily="34" charset="-120"/>
              </a:rPr>
              <a:t>A rule is simply: IF a condition is true, THEN take a specific action.</a:t>
            </a:r>
            <a:endParaRPr lang="en-US" sz="18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6492240" cy="3246120"/>
        </p:xfrm>
        <a:graphic>
          <a:graphicData uri="http://schemas.openxmlformats.org/drawingml/2006/table">
            <a:tbl>
              <a:tblPr/>
              <a:tblGrid>
                <a:gridCol w="310896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tblGrid>
              <a:tr h="541020">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If the input contains…</a:t>
                      </a:r>
                      <a:endParaRPr lang="en-US" sz="1600" dirty="0">
                        <a:latin typeface="Calibri" charset="0"/>
                        <a:ea typeface="Calibri" charset="0"/>
                        <a:cs typeface="Calibri" charset="0"/>
                      </a:endParaRPr>
                    </a:p>
                  </a:txBody>
                  <a:tcPr marL="45720" marR="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142A45"/>
                    </a:solidFill>
                  </a:tcPr>
                </a:tc>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Then respond with…</a:t>
                      </a:r>
                      <a:endParaRPr lang="en-US" sz="1600" dirty="0">
                        <a:latin typeface="Calibri" charset="0"/>
                        <a:ea typeface="Calibri" charset="0"/>
                        <a:cs typeface="Calibri" charset="0"/>
                      </a:endParaRPr>
                    </a:p>
                  </a:txBody>
                  <a:tcPr marL="45720" marR="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142A45"/>
                    </a:solidFill>
                  </a:tcPr>
                </a:tc>
                <a:extLst>
                  <a:ext uri="{0D108BD9-81ED-4DB2-BD59-A6C34878D82A}">
                    <a16:rowId xmlns:a16="http://schemas.microsoft.com/office/drawing/2014/main" val="10000"/>
                  </a:ext>
                </a:extLst>
              </a:tr>
              <a:tr h="541020">
                <a:tc>
                  <a:txBody>
                    <a:bodyPr/>
                    <a:lstStyle/>
                    <a:p>
                      <a:pPr marL="0" indent="0" algn="l">
                        <a:buNone/>
                      </a:pPr>
                      <a:r>
                        <a:rPr lang="en-US" sz="1600" b="1" dirty="0">
                          <a:solidFill>
                            <a:srgbClr val="1B2430"/>
                          </a:solidFill>
                          <a:latin typeface="Calibri" pitchFamily="34" charset="0"/>
                          <a:ea typeface="Calibri" pitchFamily="34" charset="-122"/>
                          <a:cs typeface="Calibri" pitchFamily="34" charset="-120"/>
                        </a:rPr>
                        <a:t>“hello”, “hi”, “hey”</a:t>
                      </a:r>
                      <a:endParaRPr lang="en-US" sz="1600" dirty="0">
                        <a:latin typeface="Calibri" charset="0"/>
                        <a:ea typeface="Calibri" charset="0"/>
                        <a:cs typeface="Calibri" charset="0"/>
                      </a:endParaRPr>
                    </a:p>
                  </a:txBody>
                  <a:tcPr marL="45720" marR="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2430"/>
                          </a:solidFill>
                          <a:latin typeface="Calibri" pitchFamily="34" charset="0"/>
                          <a:ea typeface="Calibri" pitchFamily="34" charset="-122"/>
                          <a:cs typeface="Calibri" pitchFamily="34" charset="-120"/>
                        </a:rPr>
                        <a:t>A greeting back to the user</a:t>
                      </a:r>
                      <a:endParaRPr lang="en-US" sz="1600" dirty="0">
                        <a:latin typeface="Calibri" charset="0"/>
                        <a:ea typeface="Calibri" charset="0"/>
                        <a:cs typeface="Calibri" charset="0"/>
                      </a:endParaRPr>
                    </a:p>
                  </a:txBody>
                  <a:tcPr marL="45720" marR="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1020">
                <a:tc>
                  <a:txBody>
                    <a:bodyPr/>
                    <a:lstStyle/>
                    <a:p>
                      <a:pPr marL="0" indent="0" algn="l">
                        <a:buNone/>
                      </a:pPr>
                      <a:r>
                        <a:rPr lang="en-US" sz="1600" b="1" dirty="0">
                          <a:solidFill>
                            <a:srgbClr val="1B2430"/>
                          </a:solidFill>
                          <a:latin typeface="Calibri" pitchFamily="34" charset="0"/>
                          <a:ea typeface="Calibri" pitchFamily="34" charset="-122"/>
                          <a:cs typeface="Calibri" pitchFamily="34" charset="-120"/>
                        </a:rPr>
                        <a:t>“bye”, “goodbye”</a:t>
                      </a:r>
                      <a:endParaRPr lang="en-US" sz="1600" dirty="0">
                        <a:latin typeface="Calibri" charset="0"/>
                        <a:ea typeface="Calibri" charset="0"/>
                        <a:cs typeface="Calibri" charset="0"/>
                      </a:endParaRPr>
                    </a:p>
                  </a:txBody>
                  <a:tcPr marL="45720" marR="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EEF2F6"/>
                    </a:solidFill>
                  </a:tcPr>
                </a:tc>
                <a:tc>
                  <a:txBody>
                    <a:bodyPr/>
                    <a:lstStyle/>
                    <a:p>
                      <a:pPr marL="0" indent="0" algn="l">
                        <a:buNone/>
                      </a:pPr>
                      <a:r>
                        <a:rPr lang="en-US" sz="1600" dirty="0">
                          <a:solidFill>
                            <a:srgbClr val="1B2430"/>
                          </a:solidFill>
                          <a:latin typeface="Calibri" pitchFamily="34" charset="0"/>
                          <a:ea typeface="Calibri" pitchFamily="34" charset="-122"/>
                          <a:cs typeface="Calibri" pitchFamily="34" charset="-120"/>
                        </a:rPr>
                        <a:t>A farewell message, then stop</a:t>
                      </a:r>
                      <a:endParaRPr lang="en-US" sz="1600" dirty="0">
                        <a:latin typeface="Calibri" charset="0"/>
                        <a:ea typeface="Calibri" charset="0"/>
                        <a:cs typeface="Calibri" charset="0"/>
                      </a:endParaRPr>
                    </a:p>
                  </a:txBody>
                  <a:tcPr marL="45720" marR="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EEF2F6"/>
                    </a:solidFill>
                  </a:tcPr>
                </a:tc>
                <a:extLst>
                  <a:ext uri="{0D108BD9-81ED-4DB2-BD59-A6C34878D82A}">
                    <a16:rowId xmlns:a16="http://schemas.microsoft.com/office/drawing/2014/main" val="10002"/>
                  </a:ext>
                </a:extLst>
              </a:tr>
              <a:tr h="541020">
                <a:tc>
                  <a:txBody>
                    <a:bodyPr/>
                    <a:lstStyle/>
                    <a:p>
                      <a:pPr marL="0" indent="0" algn="l">
                        <a:buNone/>
                      </a:pPr>
                      <a:r>
                        <a:rPr lang="en-US" sz="1600" b="1" dirty="0">
                          <a:solidFill>
                            <a:srgbClr val="1B2430"/>
                          </a:solidFill>
                          <a:latin typeface="Calibri" pitchFamily="34" charset="0"/>
                          <a:ea typeface="Calibri" pitchFamily="34" charset="-122"/>
                          <a:cs typeface="Calibri" pitchFamily="34" charset="-120"/>
                        </a:rPr>
                        <a:t>“name”</a:t>
                      </a:r>
                      <a:endParaRPr lang="en-US" sz="1600" dirty="0">
                        <a:latin typeface="Calibri" charset="0"/>
                        <a:ea typeface="Calibri" charset="0"/>
                        <a:cs typeface="Calibri" charset="0"/>
                      </a:endParaRPr>
                    </a:p>
                  </a:txBody>
                  <a:tcPr marL="45720" marR="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2430"/>
                          </a:solidFill>
                          <a:latin typeface="Calibri" pitchFamily="34" charset="0"/>
                          <a:ea typeface="Calibri" pitchFamily="34" charset="-122"/>
                          <a:cs typeface="Calibri" pitchFamily="34" charset="-120"/>
                        </a:rPr>
                        <a:t>“I am a rule-based chatbot!”</a:t>
                      </a:r>
                      <a:endParaRPr lang="en-US" sz="1600" dirty="0">
                        <a:latin typeface="Calibri" charset="0"/>
                        <a:ea typeface="Calibri" charset="0"/>
                        <a:cs typeface="Calibri" charset="0"/>
                      </a:endParaRPr>
                    </a:p>
                  </a:txBody>
                  <a:tcPr marL="45720" marR="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1020">
                <a:tc>
                  <a:txBody>
                    <a:bodyPr/>
                    <a:lstStyle/>
                    <a:p>
                      <a:pPr marL="0" indent="0" algn="l">
                        <a:buNone/>
                      </a:pPr>
                      <a:r>
                        <a:rPr lang="en-US" sz="1600" b="1" dirty="0">
                          <a:solidFill>
                            <a:srgbClr val="1B2430"/>
                          </a:solidFill>
                          <a:latin typeface="Calibri" pitchFamily="34" charset="0"/>
                          <a:ea typeface="Calibri" pitchFamily="34" charset="-122"/>
                          <a:cs typeface="Calibri" pitchFamily="34" charset="-120"/>
                        </a:rPr>
                        <a:t>“weather”</a:t>
                      </a:r>
                      <a:endParaRPr lang="en-US" sz="1600" dirty="0">
                        <a:latin typeface="Calibri" charset="0"/>
                        <a:ea typeface="Calibri" charset="0"/>
                        <a:cs typeface="Calibri" charset="0"/>
                      </a:endParaRPr>
                    </a:p>
                  </a:txBody>
                  <a:tcPr marL="45720" marR="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EEF2F6"/>
                    </a:solidFill>
                  </a:tcPr>
                </a:tc>
                <a:tc>
                  <a:txBody>
                    <a:bodyPr/>
                    <a:lstStyle/>
                    <a:p>
                      <a:pPr marL="0" indent="0" algn="l">
                        <a:buNone/>
                      </a:pPr>
                      <a:r>
                        <a:rPr lang="en-US" sz="1600" dirty="0">
                          <a:solidFill>
                            <a:srgbClr val="1B2430"/>
                          </a:solidFill>
                          <a:latin typeface="Calibri" pitchFamily="34" charset="0"/>
                          <a:ea typeface="Calibri" pitchFamily="34" charset="-122"/>
                          <a:cs typeface="Calibri" pitchFamily="34" charset="-120"/>
                        </a:rPr>
                        <a:t>“I cannot check the weather yet.”</a:t>
                      </a:r>
                      <a:endParaRPr lang="en-US" sz="1600" dirty="0">
                        <a:latin typeface="Calibri" charset="0"/>
                        <a:ea typeface="Calibri" charset="0"/>
                        <a:cs typeface="Calibri" charset="0"/>
                      </a:endParaRPr>
                    </a:p>
                  </a:txBody>
                  <a:tcPr marL="45720" marR="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EEF2F6"/>
                    </a:solidFill>
                  </a:tcPr>
                </a:tc>
                <a:extLst>
                  <a:ext uri="{0D108BD9-81ED-4DB2-BD59-A6C34878D82A}">
                    <a16:rowId xmlns:a16="http://schemas.microsoft.com/office/drawing/2014/main" val="10004"/>
                  </a:ext>
                </a:extLst>
              </a:tr>
              <a:tr h="541020">
                <a:tc>
                  <a:txBody>
                    <a:bodyPr/>
                    <a:lstStyle/>
                    <a:p>
                      <a:pPr marL="0" indent="0" algn="l">
                        <a:buNone/>
                      </a:pPr>
                      <a:r>
                        <a:rPr lang="en-US" sz="1600" b="1" dirty="0">
                          <a:solidFill>
                            <a:srgbClr val="1B2430"/>
                          </a:solidFill>
                          <a:latin typeface="Calibri" pitchFamily="34" charset="0"/>
                          <a:ea typeface="Calibri" pitchFamily="34" charset="-122"/>
                          <a:cs typeface="Calibri" pitchFamily="34" charset="-120"/>
                        </a:rPr>
                        <a:t>none of the above</a:t>
                      </a:r>
                      <a:endParaRPr lang="en-US" sz="1600" dirty="0">
                        <a:latin typeface="Calibri" charset="0"/>
                        <a:ea typeface="Calibri" charset="0"/>
                        <a:cs typeface="Calibri" charset="0"/>
                      </a:endParaRPr>
                    </a:p>
                  </a:txBody>
                  <a:tcPr marL="45720" marR="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2430"/>
                          </a:solidFill>
                          <a:latin typeface="Calibri" pitchFamily="34" charset="0"/>
                          <a:ea typeface="Calibri" pitchFamily="34" charset="-122"/>
                          <a:cs typeface="Calibri" pitchFamily="34" charset="-120"/>
                        </a:rPr>
                        <a:t>A fallback: “I did not understand that.”</a:t>
                      </a:r>
                      <a:endParaRPr lang="en-US" sz="1600" dirty="0">
                        <a:latin typeface="Calibri" charset="0"/>
                        <a:ea typeface="Calibri" charset="0"/>
                        <a:cs typeface="Calibri" charset="0"/>
                      </a:endParaRPr>
                    </a:p>
                  </a:txBody>
                  <a:tcPr marL="45720" marR="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Shape 3"/>
          <p:cNvSpPr/>
          <p:nvPr/>
        </p:nvSpPr>
        <p:spPr>
          <a:xfrm>
            <a:off x="7315200" y="1783080"/>
            <a:ext cx="4297680" cy="4160520"/>
          </a:xfrm>
          <a:prstGeom prst="roundRect">
            <a:avLst>
              <a:gd name="adj" fmla="val 1758"/>
            </a:avLst>
          </a:prstGeom>
          <a:solidFill>
            <a:srgbClr val="142A45"/>
          </a:solidFill>
          <a:ln w="12700">
            <a:solidFill>
              <a:srgbClr val="DDE3EA"/>
            </a:solidFill>
            <a:prstDash val="solid"/>
          </a:ln>
          <a:effectLst>
            <a:outerShdw blurRad="76200" dist="25400" dir="5400000" algn="bl" rotWithShape="0">
              <a:srgbClr val="142A45">
                <a:alpha val="12000"/>
              </a:srgbClr>
            </a:outerShdw>
          </a:effectLst>
        </p:spPr>
      </p:sp>
      <p:sp>
        <p:nvSpPr>
          <p:cNvPr id="7" name="Text 4"/>
          <p:cNvSpPr txBox="1"/>
          <p:nvPr/>
        </p:nvSpPr>
        <p:spPr>
          <a:xfrm>
            <a:off x="7543800" y="1965960"/>
            <a:ext cx="3840480" cy="274320"/>
          </a:xfrm>
          <a:prstGeom prst="rect">
            <a:avLst/>
          </a:prstGeom>
          <a:noFill/>
          <a:ln/>
        </p:spPr>
        <p:txBody>
          <a:bodyPr wrap="square" lIns="0" tIns="0" rIns="0" bIns="0" rtlCol="0" anchor="ctr"/>
          <a:lstStyle/>
          <a:p>
            <a:pPr marL="0" indent="0">
              <a:buNone/>
            </a:pPr>
            <a:r>
              <a:rPr lang="en-US" sz="1600" b="1" kern="0" spc="150" dirty="0">
                <a:solidFill>
                  <a:srgbClr val="FFC857"/>
                </a:solidFill>
                <a:latin typeface="Calibri" pitchFamily="34" charset="0"/>
                <a:ea typeface="Calibri" pitchFamily="34" charset="-122"/>
                <a:cs typeface="Calibri" pitchFamily="34" charset="-120"/>
              </a:rPr>
              <a:t>THE CORE IDEA</a:t>
            </a:r>
            <a:endParaRPr lang="en-US" sz="1600" dirty="0"/>
          </a:p>
        </p:txBody>
      </p:sp>
      <p:sp>
        <p:nvSpPr>
          <p:cNvPr id="8" name="Text 5"/>
          <p:cNvSpPr txBox="1"/>
          <p:nvPr/>
        </p:nvSpPr>
        <p:spPr>
          <a:xfrm>
            <a:off x="7543800" y="2331720"/>
            <a:ext cx="3840480" cy="3474720"/>
          </a:xfrm>
          <a:prstGeom prst="rect">
            <a:avLst/>
          </a:prstGeom>
          <a:noFill/>
          <a:ln/>
        </p:spPr>
        <p:txBody>
          <a:bodyPr wrap="square" lIns="0" tIns="0" rIns="0" bIns="0" rtlCol="0" anchor="t"/>
          <a:lstStyle/>
          <a:p>
            <a:pPr marL="0" indent="0">
              <a:lnSpc>
                <a:spcPct val="125000"/>
              </a:lnSpc>
              <a:buNone/>
            </a:pPr>
            <a:r>
              <a:rPr lang="en-US" sz="1800" dirty="0">
                <a:solidFill>
                  <a:srgbClr val="CADCFC"/>
                </a:solidFill>
                <a:latin typeface="Calibri" pitchFamily="34" charset="0"/>
                <a:ea typeface="Calibri" pitchFamily="34" charset="-122"/>
                <a:cs typeface="Calibri" pitchFamily="34" charset="-120"/>
              </a:rPr>
              <a:t>A rule-based system does not “understand” language.
It matches patterns against a fixed list of rules written in advance by a programmer, and picks the response tied to the first rule that matches.
</a:t>
            </a:r>
            <a:r>
              <a:rPr lang="en-US" sz="1800" b="1" dirty="0">
                <a:solidFill>
                  <a:srgbClr val="FFFFFF"/>
                </a:solidFill>
                <a:latin typeface="Calibri" pitchFamily="34" charset="0"/>
                <a:ea typeface="Calibri" pitchFamily="34" charset="-122"/>
                <a:cs typeface="Calibri" pitchFamily="34" charset="-120"/>
              </a:rPr>
              <a:t>This is one of the earliest and simplest forms of “AI.”</a:t>
            </a:r>
            <a:endParaRPr lang="en-US" sz="1800" dirty="0"/>
          </a:p>
        </p:txBody>
      </p:sp>
      <p:sp>
        <p:nvSpPr>
          <p:cNvPr id="9" name="Text 6"/>
          <p:cNvSpPr txBox="1"/>
          <p:nvPr/>
        </p:nvSpPr>
        <p:spPr>
          <a:xfrm>
            <a:off x="548640" y="6455664"/>
            <a:ext cx="9418320" cy="292608"/>
          </a:xfrm>
          <a:prstGeom prst="rect">
            <a:avLst/>
          </a:prstGeom>
          <a:noFill/>
          <a:ln/>
        </p:spPr>
        <p:txBody>
          <a:bodyPr wrap="square" lIns="0" tIns="0" rIns="0" bIns="0" rtlCol="0" anchor="ctr"/>
          <a:lstStyle/>
          <a:p>
            <a:pPr marL="0" indent="0">
              <a:buNone/>
            </a:pPr>
            <a:r>
              <a:rPr lang="en-US" sz="1600" dirty="0">
                <a:solidFill>
                  <a:srgbClr val="5B6B79"/>
                </a:solidFill>
                <a:latin typeface="Calibri" pitchFamily="34" charset="0"/>
                <a:ea typeface="Calibri" pitchFamily="34" charset="-122"/>
                <a:cs typeface="Calibri" pitchFamily="34" charset="-120"/>
              </a:rPr>
              <a:t>AI Practical 1  •  Development Environment, Python &amp; Rule-Based Chatbot</a:t>
            </a:r>
            <a:endParaRPr lang="en-US" sz="1600" dirty="0"/>
          </a:p>
        </p:txBody>
      </p:sp>
      <p:sp>
        <p:nvSpPr>
          <p:cNvPr id="10" name="Text 7"/>
          <p:cNvSpPr txBox="1"/>
          <p:nvPr/>
        </p:nvSpPr>
        <p:spPr>
          <a:xfrm>
            <a:off x="11247120" y="6455664"/>
            <a:ext cx="457200" cy="292608"/>
          </a:xfrm>
          <a:prstGeom prst="rect">
            <a:avLst/>
          </a:prstGeom>
          <a:noFill/>
          <a:ln/>
        </p:spPr>
        <p:txBody>
          <a:bodyPr wrap="square" lIns="0" tIns="0" rIns="0" bIns="0" rtlCol="0" anchor="ctr"/>
          <a:lstStyle/>
          <a:p>
            <a:pPr marL="0" indent="0" algn="r">
              <a:buNone/>
            </a:pPr>
            <a:r>
              <a:rPr lang="en-US" sz="1600" dirty="0">
                <a:solidFill>
                  <a:srgbClr val="5B6B79"/>
                </a:solidFill>
                <a:latin typeface="Calibri" pitchFamily="34" charset="0"/>
                <a:ea typeface="Calibri" pitchFamily="34" charset="-122"/>
                <a:cs typeface="Calibri" pitchFamily="34" charset="-120"/>
              </a:rPr>
              <a:t>21</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7FA"/>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0515600" cy="310896"/>
          </a:xfrm>
          <a:prstGeom prst="rect">
            <a:avLst/>
          </a:prstGeom>
          <a:noFill/>
          <a:ln/>
        </p:spPr>
        <p:txBody>
          <a:bodyPr wrap="square" lIns="0" tIns="0" rIns="0" bIns="0" rtlCol="0" anchor="ctr"/>
          <a:lstStyle/>
          <a:p>
            <a:pPr marL="0" indent="0">
              <a:buNone/>
            </a:pPr>
            <a:r>
              <a:rPr lang="en-US" sz="1600" b="1" kern="0" spc="200" dirty="0">
                <a:solidFill>
                  <a:srgbClr val="2E86AB"/>
                </a:solidFill>
                <a:latin typeface="Calibri" pitchFamily="34" charset="0"/>
                <a:ea typeface="Calibri" pitchFamily="34" charset="-122"/>
                <a:cs typeface="Calibri" pitchFamily="34" charset="-120"/>
              </a:rPr>
              <a:t>SECTION D — RULE-BASED AI &amp; CHATBOT</a:t>
            </a:r>
            <a:endParaRPr lang="en-US" sz="1600" dirty="0"/>
          </a:p>
        </p:txBody>
      </p:sp>
      <p:sp>
        <p:nvSpPr>
          <p:cNvPr id="3" name="Text 1"/>
          <p:cNvSpPr txBox="1"/>
          <p:nvPr/>
        </p:nvSpPr>
        <p:spPr>
          <a:xfrm>
            <a:off x="548640" y="603504"/>
            <a:ext cx="11064240" cy="731520"/>
          </a:xfrm>
          <a:prstGeom prst="rect">
            <a:avLst/>
          </a:prstGeom>
          <a:noFill/>
          <a:ln/>
        </p:spPr>
        <p:txBody>
          <a:bodyPr wrap="square" lIns="0" tIns="0" rIns="0" bIns="0" rtlCol="0" anchor="ctr"/>
          <a:lstStyle/>
          <a:p>
            <a:pPr marL="0" indent="0">
              <a:buNone/>
            </a:pPr>
            <a:r>
              <a:rPr lang="en-US" sz="3300" b="1" dirty="0">
                <a:solidFill>
                  <a:srgbClr val="142A45"/>
                </a:solidFill>
                <a:latin typeface="Cambria" pitchFamily="34" charset="0"/>
                <a:ea typeface="Cambria" pitchFamily="34" charset="-122"/>
                <a:cs typeface="Cambria" pitchFamily="34" charset="-120"/>
              </a:rPr>
              <a:t>Designing the Chatbot's Logic</a:t>
            </a:r>
            <a:endParaRPr lang="en-US" sz="3300" dirty="0"/>
          </a:p>
        </p:txBody>
      </p:sp>
      <p:sp>
        <p:nvSpPr>
          <p:cNvPr id="4" name="Text 2"/>
          <p:cNvSpPr txBox="1"/>
          <p:nvPr/>
        </p:nvSpPr>
        <p:spPr>
          <a:xfrm>
            <a:off x="548640" y="1234440"/>
            <a:ext cx="10789920" cy="320040"/>
          </a:xfrm>
          <a:prstGeom prst="rect">
            <a:avLst/>
          </a:prstGeom>
          <a:noFill/>
          <a:ln/>
        </p:spPr>
        <p:txBody>
          <a:bodyPr wrap="square" lIns="0" tIns="0" rIns="0" bIns="0" rtlCol="0" anchor="ctr"/>
          <a:lstStyle/>
          <a:p>
            <a:pPr marL="0" indent="0">
              <a:buNone/>
            </a:pPr>
            <a:r>
              <a:rPr lang="en-US" sz="1800" dirty="0">
                <a:solidFill>
                  <a:srgbClr val="5B6B79"/>
                </a:solidFill>
                <a:latin typeface="Calibri" pitchFamily="34" charset="0"/>
                <a:ea typeface="Calibri" pitchFamily="34" charset="-122"/>
                <a:cs typeface="Calibri" pitchFamily="34" charset="-120"/>
              </a:rPr>
              <a:t>Every chatbot turn follows the same pipeline, no matter how simple or complex.</a:t>
            </a:r>
            <a:endParaRPr lang="en-US" sz="1800" dirty="0"/>
          </a:p>
        </p:txBody>
      </p:sp>
      <p:sp>
        <p:nvSpPr>
          <p:cNvPr id="5" name="Shape 3"/>
          <p:cNvSpPr/>
          <p:nvPr/>
        </p:nvSpPr>
        <p:spPr>
          <a:xfrm>
            <a:off x="548640" y="2103120"/>
            <a:ext cx="1956816" cy="1188720"/>
          </a:xfrm>
          <a:prstGeom prst="roundRect">
            <a:avLst>
              <a:gd name="adj" fmla="val 6154"/>
            </a:avLst>
          </a:prstGeom>
          <a:solidFill>
            <a:srgbClr val="142A45"/>
          </a:solidFill>
          <a:ln/>
        </p:spPr>
      </p:sp>
      <p:sp>
        <p:nvSpPr>
          <p:cNvPr id="6" name="Text 4"/>
          <p:cNvSpPr txBox="1"/>
          <p:nvPr/>
        </p:nvSpPr>
        <p:spPr>
          <a:xfrm>
            <a:off x="621792" y="2103120"/>
            <a:ext cx="1810512" cy="118872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User</a:t>
            </a:r>
            <a:endParaRPr lang="en-US" sz="1700" dirty="0"/>
          </a:p>
          <a:p>
            <a:pPr marL="0" indent="0" algn="ctr">
              <a:buNone/>
            </a:pPr>
            <a:r>
              <a:rPr lang="en-US" sz="1700" b="1" dirty="0">
                <a:solidFill>
                  <a:srgbClr val="FFFFFF"/>
                </a:solidFill>
                <a:latin typeface="Calibri" pitchFamily="34" charset="0"/>
                <a:ea typeface="Calibri" pitchFamily="34" charset="-122"/>
                <a:cs typeface="Calibri" pitchFamily="34" charset="-120"/>
              </a:rPr>
              <a:t>Input</a:t>
            </a:r>
            <a:endParaRPr lang="en-US" sz="1700" dirty="0"/>
          </a:p>
        </p:txBody>
      </p:sp>
      <p:sp>
        <p:nvSpPr>
          <p:cNvPr id="7" name="Text 5"/>
          <p:cNvSpPr txBox="1"/>
          <p:nvPr/>
        </p:nvSpPr>
        <p:spPr>
          <a:xfrm>
            <a:off x="2505456" y="2103120"/>
            <a:ext cx="320040" cy="1188720"/>
          </a:xfrm>
          <a:prstGeom prst="rect">
            <a:avLst/>
          </a:prstGeom>
          <a:noFill/>
          <a:ln/>
        </p:spPr>
        <p:txBody>
          <a:bodyPr wrap="square" lIns="0" tIns="0" rIns="0" bIns="0" rtlCol="0" anchor="ctr"/>
          <a:lstStyle/>
          <a:p>
            <a:pPr marL="0" indent="0" algn="ctr">
              <a:buNone/>
            </a:pPr>
            <a:r>
              <a:rPr lang="en-US" sz="2000" b="1" dirty="0">
                <a:solidFill>
                  <a:srgbClr val="2E86AB"/>
                </a:solidFill>
                <a:latin typeface="Calibri" pitchFamily="34" charset="0"/>
                <a:ea typeface="Calibri" pitchFamily="34" charset="-122"/>
                <a:cs typeface="Calibri" pitchFamily="34" charset="-120"/>
              </a:rPr>
              <a:t>→</a:t>
            </a:r>
            <a:endParaRPr lang="en-US" sz="2000" dirty="0"/>
          </a:p>
        </p:txBody>
      </p:sp>
      <p:sp>
        <p:nvSpPr>
          <p:cNvPr id="8" name="Shape 6"/>
          <p:cNvSpPr/>
          <p:nvPr/>
        </p:nvSpPr>
        <p:spPr>
          <a:xfrm>
            <a:off x="2825496" y="2103120"/>
            <a:ext cx="1956816" cy="1188720"/>
          </a:xfrm>
          <a:prstGeom prst="roundRect">
            <a:avLst>
              <a:gd name="adj" fmla="val 6154"/>
            </a:avLst>
          </a:prstGeom>
          <a:solidFill>
            <a:srgbClr val="142A45"/>
          </a:solidFill>
          <a:ln/>
        </p:spPr>
      </p:sp>
      <p:sp>
        <p:nvSpPr>
          <p:cNvPr id="9" name="Text 7"/>
          <p:cNvSpPr txBox="1"/>
          <p:nvPr/>
        </p:nvSpPr>
        <p:spPr>
          <a:xfrm>
            <a:off x="2898648" y="2103120"/>
            <a:ext cx="1810512" cy="118872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Preprocess</a:t>
            </a:r>
            <a:endParaRPr lang="en-US" sz="1700" dirty="0"/>
          </a:p>
          <a:p>
            <a:pPr marL="0" indent="0" algn="ctr">
              <a:buNone/>
            </a:pPr>
            <a:r>
              <a:rPr lang="en-US" sz="1700" b="1" dirty="0">
                <a:solidFill>
                  <a:srgbClr val="FFFFFF"/>
                </a:solidFill>
                <a:latin typeface="Calibri" pitchFamily="34" charset="0"/>
                <a:ea typeface="Calibri" pitchFamily="34" charset="-122"/>
                <a:cs typeface="Calibri" pitchFamily="34" charset="-120"/>
              </a:rPr>
              <a:t>(lowercase)</a:t>
            </a:r>
            <a:endParaRPr lang="en-US" sz="1700" dirty="0"/>
          </a:p>
        </p:txBody>
      </p:sp>
      <p:sp>
        <p:nvSpPr>
          <p:cNvPr id="10" name="Text 8"/>
          <p:cNvSpPr txBox="1"/>
          <p:nvPr/>
        </p:nvSpPr>
        <p:spPr>
          <a:xfrm>
            <a:off x="4782312" y="2103120"/>
            <a:ext cx="320040" cy="1188720"/>
          </a:xfrm>
          <a:prstGeom prst="rect">
            <a:avLst/>
          </a:prstGeom>
          <a:noFill/>
          <a:ln/>
        </p:spPr>
        <p:txBody>
          <a:bodyPr wrap="square" lIns="0" tIns="0" rIns="0" bIns="0" rtlCol="0" anchor="ctr"/>
          <a:lstStyle/>
          <a:p>
            <a:pPr marL="0" indent="0" algn="ctr">
              <a:buNone/>
            </a:pPr>
            <a:r>
              <a:rPr lang="en-US" sz="2000" b="1" dirty="0">
                <a:solidFill>
                  <a:srgbClr val="2E86AB"/>
                </a:solidFill>
                <a:latin typeface="Calibri" pitchFamily="34" charset="0"/>
                <a:ea typeface="Calibri" pitchFamily="34" charset="-122"/>
                <a:cs typeface="Calibri" pitchFamily="34" charset="-120"/>
              </a:rPr>
              <a:t>→</a:t>
            </a:r>
            <a:endParaRPr lang="en-US" sz="2000" dirty="0"/>
          </a:p>
        </p:txBody>
      </p:sp>
      <p:sp>
        <p:nvSpPr>
          <p:cNvPr id="11" name="Shape 9"/>
          <p:cNvSpPr/>
          <p:nvPr/>
        </p:nvSpPr>
        <p:spPr>
          <a:xfrm>
            <a:off x="5102352" y="2103120"/>
            <a:ext cx="1956816" cy="1188720"/>
          </a:xfrm>
          <a:prstGeom prst="roundRect">
            <a:avLst>
              <a:gd name="adj" fmla="val 6154"/>
            </a:avLst>
          </a:prstGeom>
          <a:solidFill>
            <a:srgbClr val="142A45"/>
          </a:solidFill>
          <a:ln/>
        </p:spPr>
      </p:sp>
      <p:sp>
        <p:nvSpPr>
          <p:cNvPr id="12" name="Text 10"/>
          <p:cNvSpPr txBox="1"/>
          <p:nvPr/>
        </p:nvSpPr>
        <p:spPr>
          <a:xfrm>
            <a:off x="5175504" y="2103120"/>
            <a:ext cx="1810512" cy="118872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Match Against</a:t>
            </a:r>
            <a:endParaRPr lang="en-US" sz="1700" dirty="0"/>
          </a:p>
          <a:p>
            <a:pPr marL="0" indent="0" algn="ctr">
              <a:buNone/>
            </a:pPr>
            <a:r>
              <a:rPr lang="en-US" sz="1700" b="1" dirty="0">
                <a:solidFill>
                  <a:srgbClr val="FFFFFF"/>
                </a:solidFill>
                <a:latin typeface="Calibri" pitchFamily="34" charset="0"/>
                <a:ea typeface="Calibri" pitchFamily="34" charset="-122"/>
                <a:cs typeface="Calibri" pitchFamily="34" charset="-120"/>
              </a:rPr>
              <a:t>Keyword Rules</a:t>
            </a:r>
            <a:endParaRPr lang="en-US" sz="1700" dirty="0"/>
          </a:p>
        </p:txBody>
      </p:sp>
      <p:sp>
        <p:nvSpPr>
          <p:cNvPr id="13" name="Text 11"/>
          <p:cNvSpPr txBox="1"/>
          <p:nvPr/>
        </p:nvSpPr>
        <p:spPr>
          <a:xfrm>
            <a:off x="7059168" y="2103120"/>
            <a:ext cx="320040" cy="1188720"/>
          </a:xfrm>
          <a:prstGeom prst="rect">
            <a:avLst/>
          </a:prstGeom>
          <a:noFill/>
          <a:ln/>
        </p:spPr>
        <p:txBody>
          <a:bodyPr wrap="square" lIns="0" tIns="0" rIns="0" bIns="0" rtlCol="0" anchor="ctr"/>
          <a:lstStyle/>
          <a:p>
            <a:pPr marL="0" indent="0" algn="ctr">
              <a:buNone/>
            </a:pPr>
            <a:r>
              <a:rPr lang="en-US" sz="2000" b="1" dirty="0">
                <a:solidFill>
                  <a:srgbClr val="2E86AB"/>
                </a:solidFill>
                <a:latin typeface="Calibri" pitchFamily="34" charset="0"/>
                <a:ea typeface="Calibri" pitchFamily="34" charset="-122"/>
                <a:cs typeface="Calibri" pitchFamily="34" charset="-120"/>
              </a:rPr>
              <a:t>→</a:t>
            </a:r>
            <a:endParaRPr lang="en-US" sz="2000" dirty="0"/>
          </a:p>
        </p:txBody>
      </p:sp>
      <p:sp>
        <p:nvSpPr>
          <p:cNvPr id="14" name="Shape 12"/>
          <p:cNvSpPr/>
          <p:nvPr/>
        </p:nvSpPr>
        <p:spPr>
          <a:xfrm>
            <a:off x="7379208" y="2103120"/>
            <a:ext cx="1956816" cy="1188720"/>
          </a:xfrm>
          <a:prstGeom prst="roundRect">
            <a:avLst>
              <a:gd name="adj" fmla="val 6154"/>
            </a:avLst>
          </a:prstGeom>
          <a:solidFill>
            <a:srgbClr val="142A45"/>
          </a:solidFill>
          <a:ln/>
        </p:spPr>
      </p:sp>
      <p:sp>
        <p:nvSpPr>
          <p:cNvPr id="15" name="Text 13"/>
          <p:cNvSpPr txBox="1"/>
          <p:nvPr/>
        </p:nvSpPr>
        <p:spPr>
          <a:xfrm>
            <a:off x="7452360" y="2103120"/>
            <a:ext cx="1810512" cy="118872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Select</a:t>
            </a:r>
            <a:endParaRPr lang="en-US" sz="1700" dirty="0"/>
          </a:p>
          <a:p>
            <a:pPr marL="0" indent="0" algn="ctr">
              <a:buNone/>
            </a:pPr>
            <a:r>
              <a:rPr lang="en-US" sz="1700" b="1" dirty="0">
                <a:solidFill>
                  <a:srgbClr val="FFFFFF"/>
                </a:solidFill>
                <a:latin typeface="Calibri" pitchFamily="34" charset="0"/>
                <a:ea typeface="Calibri" pitchFamily="34" charset="-122"/>
                <a:cs typeface="Calibri" pitchFamily="34" charset="-120"/>
              </a:rPr>
              <a:t>Response</a:t>
            </a:r>
            <a:endParaRPr lang="en-US" sz="1700" dirty="0"/>
          </a:p>
        </p:txBody>
      </p:sp>
      <p:sp>
        <p:nvSpPr>
          <p:cNvPr id="16" name="Text 14"/>
          <p:cNvSpPr txBox="1"/>
          <p:nvPr/>
        </p:nvSpPr>
        <p:spPr>
          <a:xfrm>
            <a:off x="9336024" y="2103120"/>
            <a:ext cx="320040" cy="1188720"/>
          </a:xfrm>
          <a:prstGeom prst="rect">
            <a:avLst/>
          </a:prstGeom>
          <a:noFill/>
          <a:ln/>
        </p:spPr>
        <p:txBody>
          <a:bodyPr wrap="square" lIns="0" tIns="0" rIns="0" bIns="0" rtlCol="0" anchor="ctr"/>
          <a:lstStyle/>
          <a:p>
            <a:pPr marL="0" indent="0" algn="ctr">
              <a:buNone/>
            </a:pPr>
            <a:r>
              <a:rPr lang="en-US" sz="2000" b="1" dirty="0">
                <a:solidFill>
                  <a:srgbClr val="2E86AB"/>
                </a:solidFill>
                <a:latin typeface="Calibri" pitchFamily="34" charset="0"/>
                <a:ea typeface="Calibri" pitchFamily="34" charset="-122"/>
                <a:cs typeface="Calibri" pitchFamily="34" charset="-120"/>
              </a:rPr>
              <a:t>→</a:t>
            </a:r>
            <a:endParaRPr lang="en-US" sz="2000" dirty="0"/>
          </a:p>
        </p:txBody>
      </p:sp>
      <p:sp>
        <p:nvSpPr>
          <p:cNvPr id="17" name="Shape 15"/>
          <p:cNvSpPr/>
          <p:nvPr/>
        </p:nvSpPr>
        <p:spPr>
          <a:xfrm>
            <a:off x="9656064" y="2103120"/>
            <a:ext cx="1956816" cy="1188720"/>
          </a:xfrm>
          <a:prstGeom prst="roundRect">
            <a:avLst>
              <a:gd name="adj" fmla="val 6154"/>
            </a:avLst>
          </a:prstGeom>
          <a:solidFill>
            <a:srgbClr val="142A45"/>
          </a:solidFill>
          <a:ln/>
        </p:spPr>
      </p:sp>
      <p:sp>
        <p:nvSpPr>
          <p:cNvPr id="18" name="Text 16"/>
          <p:cNvSpPr txBox="1"/>
          <p:nvPr/>
        </p:nvSpPr>
        <p:spPr>
          <a:xfrm>
            <a:off x="9729216" y="2103120"/>
            <a:ext cx="1810512" cy="118872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Output to</a:t>
            </a:r>
            <a:endParaRPr lang="en-US" sz="1700" dirty="0"/>
          </a:p>
          <a:p>
            <a:pPr marL="0" indent="0" algn="ctr">
              <a:buNone/>
            </a:pPr>
            <a:r>
              <a:rPr lang="en-US" sz="1700" b="1" dirty="0">
                <a:solidFill>
                  <a:srgbClr val="FFFFFF"/>
                </a:solidFill>
                <a:latin typeface="Calibri" pitchFamily="34" charset="0"/>
                <a:ea typeface="Calibri" pitchFamily="34" charset="-122"/>
                <a:cs typeface="Calibri" pitchFamily="34" charset="-120"/>
              </a:rPr>
              <a:t>User</a:t>
            </a:r>
            <a:endParaRPr lang="en-US" sz="1700" dirty="0"/>
          </a:p>
        </p:txBody>
      </p:sp>
      <p:sp>
        <p:nvSpPr>
          <p:cNvPr id="19" name="Text 17"/>
          <p:cNvSpPr txBox="1"/>
          <p:nvPr/>
        </p:nvSpPr>
        <p:spPr>
          <a:xfrm>
            <a:off x="548640" y="3474720"/>
            <a:ext cx="1956816" cy="640080"/>
          </a:xfrm>
          <a:prstGeom prst="rect">
            <a:avLst/>
          </a:prstGeom>
          <a:noFill/>
          <a:ln/>
        </p:spPr>
        <p:txBody>
          <a:bodyPr wrap="square" lIns="0" tIns="0" rIns="0" bIns="0" rtlCol="0" anchor="t"/>
          <a:lstStyle/>
          <a:p>
            <a:pPr marL="0" indent="0" algn="ctr">
              <a:buNone/>
            </a:pPr>
            <a:r>
              <a:rPr lang="en-US" sz="1600" dirty="0">
                <a:solidFill>
                  <a:srgbClr val="5B6B79"/>
                </a:solidFill>
                <a:latin typeface="Calibri" pitchFamily="34" charset="0"/>
                <a:ea typeface="Calibri" pitchFamily="34" charset="-122"/>
                <a:cs typeface="Calibri" pitchFamily="34" charset="-120"/>
              </a:rPr>
              <a:t>What the user types</a:t>
            </a:r>
            <a:endParaRPr lang="en-US" sz="1600" dirty="0"/>
          </a:p>
        </p:txBody>
      </p:sp>
      <p:sp>
        <p:nvSpPr>
          <p:cNvPr id="20" name="Text 18"/>
          <p:cNvSpPr txBox="1"/>
          <p:nvPr/>
        </p:nvSpPr>
        <p:spPr>
          <a:xfrm>
            <a:off x="2825496" y="3474720"/>
            <a:ext cx="1956816" cy="640080"/>
          </a:xfrm>
          <a:prstGeom prst="rect">
            <a:avLst/>
          </a:prstGeom>
          <a:noFill/>
          <a:ln/>
        </p:spPr>
        <p:txBody>
          <a:bodyPr wrap="square" lIns="0" tIns="0" rIns="0" bIns="0" rtlCol="0" anchor="t"/>
          <a:lstStyle/>
          <a:p>
            <a:pPr marL="0" indent="0" algn="ctr">
              <a:buNone/>
            </a:pPr>
            <a:r>
              <a:rPr lang="en-US" sz="1600" dirty="0">
                <a:solidFill>
                  <a:srgbClr val="5B6B79"/>
                </a:solidFill>
                <a:latin typeface="Calibri" pitchFamily="34" charset="0"/>
                <a:ea typeface="Calibri" pitchFamily="34" charset="-122"/>
                <a:cs typeface="Calibri" pitchFamily="34" charset="-120"/>
              </a:rPr>
              <a:t>user_input.lower()</a:t>
            </a:r>
            <a:endParaRPr lang="en-US" sz="1600" dirty="0"/>
          </a:p>
        </p:txBody>
      </p:sp>
      <p:sp>
        <p:nvSpPr>
          <p:cNvPr id="21" name="Text 19"/>
          <p:cNvSpPr txBox="1"/>
          <p:nvPr/>
        </p:nvSpPr>
        <p:spPr>
          <a:xfrm>
            <a:off x="5102352" y="3474720"/>
            <a:ext cx="1956816" cy="640080"/>
          </a:xfrm>
          <a:prstGeom prst="rect">
            <a:avLst/>
          </a:prstGeom>
          <a:noFill/>
          <a:ln/>
        </p:spPr>
        <p:txBody>
          <a:bodyPr wrap="square" lIns="0" tIns="0" rIns="0" bIns="0" rtlCol="0" anchor="t"/>
          <a:lstStyle/>
          <a:p>
            <a:pPr marL="0" indent="0" algn="ctr">
              <a:buNone/>
            </a:pPr>
            <a:r>
              <a:rPr lang="en-US" sz="1600" dirty="0">
                <a:solidFill>
                  <a:srgbClr val="5B6B79"/>
                </a:solidFill>
                <a:latin typeface="Calibri" pitchFamily="34" charset="0"/>
                <a:ea typeface="Calibri" pitchFamily="34" charset="-122"/>
                <a:cs typeface="Calibri" pitchFamily="34" charset="-120"/>
              </a:rPr>
              <a:t>if / elif chain checks keywords</a:t>
            </a:r>
            <a:endParaRPr lang="en-US" sz="1600" dirty="0"/>
          </a:p>
        </p:txBody>
      </p:sp>
      <p:sp>
        <p:nvSpPr>
          <p:cNvPr id="22" name="Text 20"/>
          <p:cNvSpPr txBox="1"/>
          <p:nvPr/>
        </p:nvSpPr>
        <p:spPr>
          <a:xfrm>
            <a:off x="7379208" y="3474720"/>
            <a:ext cx="1956816" cy="640080"/>
          </a:xfrm>
          <a:prstGeom prst="rect">
            <a:avLst/>
          </a:prstGeom>
          <a:noFill/>
          <a:ln/>
        </p:spPr>
        <p:txBody>
          <a:bodyPr wrap="square" lIns="0" tIns="0" rIns="0" bIns="0" rtlCol="0" anchor="t"/>
          <a:lstStyle/>
          <a:p>
            <a:pPr marL="0" indent="0" algn="ctr">
              <a:buNone/>
            </a:pPr>
            <a:r>
              <a:rPr lang="en-US" sz="1600" dirty="0">
                <a:solidFill>
                  <a:srgbClr val="5B6B79"/>
                </a:solidFill>
                <a:latin typeface="Calibri" pitchFamily="34" charset="0"/>
                <a:ea typeface="Calibri" pitchFamily="34" charset="-122"/>
                <a:cs typeface="Calibri" pitchFamily="34" charset="-120"/>
              </a:rPr>
              <a:t>the matching rule's message</a:t>
            </a:r>
            <a:endParaRPr lang="en-US" sz="1600" dirty="0"/>
          </a:p>
        </p:txBody>
      </p:sp>
      <p:sp>
        <p:nvSpPr>
          <p:cNvPr id="23" name="Text 21"/>
          <p:cNvSpPr txBox="1"/>
          <p:nvPr/>
        </p:nvSpPr>
        <p:spPr>
          <a:xfrm>
            <a:off x="9656064" y="3474720"/>
            <a:ext cx="1956816" cy="640080"/>
          </a:xfrm>
          <a:prstGeom prst="rect">
            <a:avLst/>
          </a:prstGeom>
          <a:noFill/>
          <a:ln/>
        </p:spPr>
        <p:txBody>
          <a:bodyPr wrap="square" lIns="0" tIns="0" rIns="0" bIns="0" rtlCol="0" anchor="t"/>
          <a:lstStyle/>
          <a:p>
            <a:pPr marL="0" indent="0" algn="ctr">
              <a:buNone/>
            </a:pPr>
            <a:r>
              <a:rPr lang="en-US" sz="1600" dirty="0">
                <a:solidFill>
                  <a:srgbClr val="5B6B79"/>
                </a:solidFill>
                <a:latin typeface="Calibri" pitchFamily="34" charset="0"/>
                <a:ea typeface="Calibri" pitchFamily="34" charset="-122"/>
                <a:cs typeface="Calibri" pitchFamily="34" charset="-120"/>
              </a:rPr>
              <a:t>print() shows the reply</a:t>
            </a:r>
            <a:endParaRPr lang="en-US" sz="1600" dirty="0"/>
          </a:p>
        </p:txBody>
      </p:sp>
      <p:sp>
        <p:nvSpPr>
          <p:cNvPr id="24" name="Shape 22"/>
          <p:cNvSpPr/>
          <p:nvPr/>
        </p:nvSpPr>
        <p:spPr>
          <a:xfrm>
            <a:off x="548640" y="4206240"/>
            <a:ext cx="11064240" cy="1691640"/>
          </a:xfrm>
          <a:prstGeom prst="roundRect">
            <a:avLst>
              <a:gd name="adj" fmla="val 4324"/>
            </a:avLst>
          </a:prstGeom>
          <a:solidFill>
            <a:srgbClr val="EAF0F6"/>
          </a:solidFill>
          <a:ln w="12700">
            <a:solidFill>
              <a:srgbClr val="DDE3EA"/>
            </a:solidFill>
            <a:prstDash val="solid"/>
          </a:ln>
          <a:effectLst>
            <a:outerShdw blurRad="76200" dist="25400" dir="5400000" algn="bl" rotWithShape="0">
              <a:srgbClr val="142A45">
                <a:alpha val="12000"/>
              </a:srgbClr>
            </a:outerShdw>
          </a:effectLst>
        </p:spPr>
      </p:sp>
      <p:sp>
        <p:nvSpPr>
          <p:cNvPr id="25" name="Text 23"/>
          <p:cNvSpPr txBox="1"/>
          <p:nvPr/>
        </p:nvSpPr>
        <p:spPr>
          <a:xfrm>
            <a:off x="777240" y="4370832"/>
            <a:ext cx="10515600" cy="274320"/>
          </a:xfrm>
          <a:prstGeom prst="rect">
            <a:avLst/>
          </a:prstGeom>
          <a:noFill/>
          <a:ln/>
        </p:spPr>
        <p:txBody>
          <a:bodyPr wrap="square" lIns="0" tIns="0" rIns="0" bIns="0" rtlCol="0" anchor="ctr"/>
          <a:lstStyle/>
          <a:p>
            <a:pPr marL="0" indent="0">
              <a:buNone/>
            </a:pPr>
            <a:r>
              <a:rPr lang="en-US" sz="1600" b="1" kern="0" spc="150" dirty="0">
                <a:solidFill>
                  <a:srgbClr val="2E86AB"/>
                </a:solidFill>
                <a:latin typeface="Calibri" pitchFamily="34" charset="0"/>
                <a:ea typeface="Calibri" pitchFamily="34" charset="-122"/>
                <a:cs typeface="Calibri" pitchFamily="34" charset="-120"/>
              </a:rPr>
              <a:t>EXAMPLE WALK-THROUGH</a:t>
            </a:r>
            <a:endParaRPr lang="en-US" sz="1600" dirty="0"/>
          </a:p>
        </p:txBody>
      </p:sp>
      <p:sp>
        <p:nvSpPr>
          <p:cNvPr id="26" name="Text 24"/>
          <p:cNvSpPr txBox="1"/>
          <p:nvPr/>
        </p:nvSpPr>
        <p:spPr>
          <a:xfrm>
            <a:off x="777240" y="4681728"/>
            <a:ext cx="10515600" cy="1188720"/>
          </a:xfrm>
          <a:prstGeom prst="rect">
            <a:avLst/>
          </a:prstGeom>
          <a:noFill/>
          <a:ln/>
        </p:spPr>
        <p:txBody>
          <a:bodyPr wrap="square" lIns="0" tIns="0" rIns="0" bIns="0" rtlCol="0" anchor="t"/>
          <a:lstStyle/>
          <a:p>
            <a:pPr marL="0" indent="0">
              <a:lnSpc>
                <a:spcPct val="130000"/>
              </a:lnSpc>
              <a:buNone/>
            </a:pPr>
            <a:r>
              <a:rPr lang="en-US" sz="1700" b="1" dirty="0">
                <a:solidFill>
                  <a:srgbClr val="142A45"/>
                </a:solidFill>
                <a:latin typeface="Calibri" pitchFamily="34" charset="0"/>
                <a:ea typeface="Calibri" pitchFamily="34" charset="-122"/>
                <a:cs typeface="Calibri" pitchFamily="34" charset="-120"/>
              </a:rPr>
              <a:t>User types:  </a:t>
            </a:r>
            <a:r>
              <a:rPr lang="en-US" sz="1600" dirty="0">
                <a:solidFill>
                  <a:srgbClr val="1B2430"/>
                </a:solidFill>
                <a:latin typeface="Courier New" pitchFamily="34" charset="0"/>
                <a:ea typeface="Courier New" pitchFamily="34" charset="-122"/>
                <a:cs typeface="Courier New" pitchFamily="34" charset="-120"/>
              </a:rPr>
              <a:t>"Hey, what is your NAME?"   </a:t>
            </a:r>
            <a:r>
              <a:rPr lang="en-US" sz="1600" dirty="0">
                <a:solidFill>
                  <a:srgbClr val="5B6B79"/>
                </a:solidFill>
                <a:latin typeface="Calibri" pitchFamily="34" charset="0"/>
                <a:ea typeface="Calibri" pitchFamily="34" charset="-122"/>
                <a:cs typeface="Calibri" pitchFamily="34" charset="-120"/>
              </a:rPr>
              <a:t>→  lowercased to  </a:t>
            </a:r>
            <a:r>
              <a:rPr lang="en-US" sz="1600" dirty="0">
                <a:solidFill>
                  <a:srgbClr val="1B2430"/>
                </a:solidFill>
                <a:latin typeface="Courier New" pitchFamily="34" charset="0"/>
                <a:ea typeface="Courier New" pitchFamily="34" charset="-122"/>
                <a:cs typeface="Courier New" pitchFamily="34" charset="-120"/>
              </a:rPr>
              <a:t>"hey, what is your name?"
</a:t>
            </a:r>
            <a:r>
              <a:rPr lang="en-US" sz="1700" b="1" dirty="0">
                <a:solidFill>
                  <a:srgbClr val="142A45"/>
                </a:solidFill>
                <a:latin typeface="Calibri" pitchFamily="34" charset="0"/>
                <a:ea typeface="Calibri" pitchFamily="34" charset="-122"/>
                <a:cs typeface="Calibri" pitchFamily="34" charset="-120"/>
              </a:rPr>
              <a:t>Rule check:  </a:t>
            </a:r>
            <a:r>
              <a:rPr lang="en-US" sz="1600" dirty="0">
                <a:solidFill>
                  <a:srgbClr val="1B2430"/>
                </a:solidFill>
                <a:latin typeface="Courier New" pitchFamily="34" charset="0"/>
                <a:ea typeface="Courier New" pitchFamily="34" charset="-122"/>
                <a:cs typeface="Courier New" pitchFamily="34" charset="-120"/>
              </a:rPr>
              <a:t>"name" in user_input</a:t>
            </a:r>
            <a:r>
              <a:rPr lang="en-US" sz="1600" dirty="0">
                <a:solidFill>
                  <a:srgbClr val="5B6B79"/>
                </a:solidFill>
                <a:latin typeface="Calibri" pitchFamily="34" charset="0"/>
                <a:ea typeface="Calibri" pitchFamily="34" charset="-122"/>
                <a:cs typeface="Calibri" pitchFamily="34" charset="-120"/>
              </a:rPr>
              <a:t>  →  True, so this rule matches.
</a:t>
            </a:r>
            <a:r>
              <a:rPr lang="en-US" sz="1700" b="1" dirty="0">
                <a:solidFill>
                  <a:srgbClr val="142A45"/>
                </a:solidFill>
                <a:latin typeface="Calibri" pitchFamily="34" charset="0"/>
                <a:ea typeface="Calibri" pitchFamily="34" charset="-122"/>
                <a:cs typeface="Calibri" pitchFamily="34" charset="-120"/>
              </a:rPr>
              <a:t>Response:  </a:t>
            </a:r>
            <a:r>
              <a:rPr lang="en-US" sz="1600" dirty="0">
                <a:solidFill>
                  <a:srgbClr val="234A2B"/>
                </a:solidFill>
                <a:latin typeface="Courier New" pitchFamily="34" charset="0"/>
                <a:ea typeface="Courier New" pitchFamily="34" charset="-122"/>
                <a:cs typeface="Courier New" pitchFamily="34" charset="-120"/>
              </a:rPr>
              <a:t>"I am a rule-based chatbot!"</a:t>
            </a:r>
            <a:endParaRPr lang="en-US" sz="1700" dirty="0"/>
          </a:p>
        </p:txBody>
      </p:sp>
      <p:sp>
        <p:nvSpPr>
          <p:cNvPr id="27" name="Text 25"/>
          <p:cNvSpPr txBox="1"/>
          <p:nvPr/>
        </p:nvSpPr>
        <p:spPr>
          <a:xfrm>
            <a:off x="548640" y="6455664"/>
            <a:ext cx="9418320" cy="292608"/>
          </a:xfrm>
          <a:prstGeom prst="rect">
            <a:avLst/>
          </a:prstGeom>
          <a:noFill/>
          <a:ln/>
        </p:spPr>
        <p:txBody>
          <a:bodyPr wrap="square" lIns="0" tIns="0" rIns="0" bIns="0" rtlCol="0" anchor="ctr"/>
          <a:lstStyle/>
          <a:p>
            <a:pPr marL="0" indent="0">
              <a:buNone/>
            </a:pPr>
            <a:r>
              <a:rPr lang="en-US" sz="1600" dirty="0">
                <a:solidFill>
                  <a:srgbClr val="5B6B79"/>
                </a:solidFill>
                <a:latin typeface="Calibri" pitchFamily="34" charset="0"/>
                <a:ea typeface="Calibri" pitchFamily="34" charset="-122"/>
                <a:cs typeface="Calibri" pitchFamily="34" charset="-120"/>
              </a:rPr>
              <a:t>AI Practical 1  •  Development Environment, Python &amp; Rule-Based Chatbot</a:t>
            </a:r>
            <a:endParaRPr lang="en-US" sz="1600" dirty="0"/>
          </a:p>
        </p:txBody>
      </p:sp>
      <p:sp>
        <p:nvSpPr>
          <p:cNvPr id="28" name="Text 26"/>
          <p:cNvSpPr txBox="1"/>
          <p:nvPr/>
        </p:nvSpPr>
        <p:spPr>
          <a:xfrm>
            <a:off x="11247120" y="6455664"/>
            <a:ext cx="457200" cy="292608"/>
          </a:xfrm>
          <a:prstGeom prst="rect">
            <a:avLst/>
          </a:prstGeom>
          <a:noFill/>
          <a:ln/>
        </p:spPr>
        <p:txBody>
          <a:bodyPr wrap="square" lIns="0" tIns="0" rIns="0" bIns="0" rtlCol="0" anchor="ctr"/>
          <a:lstStyle/>
          <a:p>
            <a:pPr marL="0" indent="0" algn="r">
              <a:buNone/>
            </a:pPr>
            <a:r>
              <a:rPr lang="en-US" sz="1600" dirty="0">
                <a:solidFill>
                  <a:srgbClr val="5B6B79"/>
                </a:solidFill>
                <a:latin typeface="Calibri" pitchFamily="34" charset="0"/>
                <a:ea typeface="Calibri" pitchFamily="34" charset="-122"/>
                <a:cs typeface="Calibri" pitchFamily="34" charset="-120"/>
              </a:rPr>
              <a:t>22</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7FA"/>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0515600" cy="310896"/>
          </a:xfrm>
          <a:prstGeom prst="rect">
            <a:avLst/>
          </a:prstGeom>
          <a:noFill/>
          <a:ln/>
        </p:spPr>
        <p:txBody>
          <a:bodyPr wrap="square" lIns="0" tIns="0" rIns="0" bIns="0" rtlCol="0" anchor="ctr"/>
          <a:lstStyle/>
          <a:p>
            <a:pPr marL="0" indent="0">
              <a:buNone/>
            </a:pPr>
            <a:r>
              <a:rPr lang="en-US" sz="1600" b="1" kern="0" spc="200" dirty="0">
                <a:solidFill>
                  <a:srgbClr val="2E86AB"/>
                </a:solidFill>
                <a:latin typeface="Calibri" pitchFamily="34" charset="0"/>
                <a:ea typeface="Calibri" pitchFamily="34" charset="-122"/>
                <a:cs typeface="Calibri" pitchFamily="34" charset="-120"/>
              </a:rPr>
              <a:t>SECTION D — BUILDING THE CHATBOT</a:t>
            </a:r>
            <a:endParaRPr lang="en-US" sz="1600" dirty="0"/>
          </a:p>
        </p:txBody>
      </p:sp>
      <p:sp>
        <p:nvSpPr>
          <p:cNvPr id="3" name="Text 1"/>
          <p:cNvSpPr txBox="1"/>
          <p:nvPr/>
        </p:nvSpPr>
        <p:spPr>
          <a:xfrm>
            <a:off x="548640" y="603504"/>
            <a:ext cx="11064240" cy="731520"/>
          </a:xfrm>
          <a:prstGeom prst="rect">
            <a:avLst/>
          </a:prstGeom>
          <a:noFill/>
          <a:ln/>
        </p:spPr>
        <p:txBody>
          <a:bodyPr wrap="square" lIns="0" tIns="0" rIns="0" bIns="0" rtlCol="0" anchor="ctr"/>
          <a:lstStyle/>
          <a:p>
            <a:pPr marL="0" indent="0">
              <a:buNone/>
            </a:pPr>
            <a:r>
              <a:rPr lang="en-US" sz="3300" b="1" dirty="0">
                <a:solidFill>
                  <a:srgbClr val="142A45"/>
                </a:solidFill>
                <a:latin typeface="Cambria" pitchFamily="34" charset="0"/>
                <a:ea typeface="Cambria" pitchFamily="34" charset="-122"/>
                <a:cs typeface="Cambria" pitchFamily="34" charset="-120"/>
              </a:rPr>
              <a:t>Step 1: Recognising a Greeting</a:t>
            </a:r>
            <a:endParaRPr lang="en-US" sz="3300" dirty="0"/>
          </a:p>
        </p:txBody>
      </p:sp>
      <p:sp>
        <p:nvSpPr>
          <p:cNvPr id="4" name="Shape 2"/>
          <p:cNvSpPr/>
          <p:nvPr/>
        </p:nvSpPr>
        <p:spPr>
          <a:xfrm>
            <a:off x="548640" y="1691640"/>
            <a:ext cx="6675120" cy="3017520"/>
          </a:xfrm>
          <a:prstGeom prst="roundRect">
            <a:avLst>
              <a:gd name="adj" fmla="val 2424"/>
            </a:avLst>
          </a:prstGeom>
          <a:solidFill>
            <a:srgbClr val="0D1B2E"/>
          </a:solidFill>
          <a:ln/>
        </p:spPr>
      </p:sp>
      <p:sp>
        <p:nvSpPr>
          <p:cNvPr id="5" name="Shape 3"/>
          <p:cNvSpPr/>
          <p:nvPr/>
        </p:nvSpPr>
        <p:spPr>
          <a:xfrm>
            <a:off x="713232" y="1819656"/>
            <a:ext cx="109728" cy="109728"/>
          </a:xfrm>
          <a:prstGeom prst="ellipse">
            <a:avLst/>
          </a:prstGeom>
          <a:solidFill>
            <a:srgbClr val="E5645B"/>
          </a:solidFill>
          <a:ln/>
        </p:spPr>
      </p:sp>
      <p:sp>
        <p:nvSpPr>
          <p:cNvPr id="6" name="Shape 4"/>
          <p:cNvSpPr/>
          <p:nvPr/>
        </p:nvSpPr>
        <p:spPr>
          <a:xfrm>
            <a:off x="914400" y="1819656"/>
            <a:ext cx="109728" cy="109728"/>
          </a:xfrm>
          <a:prstGeom prst="ellipse">
            <a:avLst/>
          </a:prstGeom>
          <a:solidFill>
            <a:srgbClr val="F2C85B"/>
          </a:solidFill>
          <a:ln/>
        </p:spPr>
      </p:sp>
      <p:sp>
        <p:nvSpPr>
          <p:cNvPr id="7" name="Shape 5"/>
          <p:cNvSpPr/>
          <p:nvPr/>
        </p:nvSpPr>
        <p:spPr>
          <a:xfrm>
            <a:off x="1115568" y="1819656"/>
            <a:ext cx="109728" cy="109728"/>
          </a:xfrm>
          <a:prstGeom prst="ellipse">
            <a:avLst/>
          </a:prstGeom>
          <a:solidFill>
            <a:srgbClr val="5CC97A"/>
          </a:solidFill>
          <a:ln/>
        </p:spPr>
      </p:sp>
      <p:sp>
        <p:nvSpPr>
          <p:cNvPr id="8" name="Text 6"/>
          <p:cNvSpPr txBox="1"/>
          <p:nvPr/>
        </p:nvSpPr>
        <p:spPr>
          <a:xfrm>
            <a:off x="749808" y="2020824"/>
            <a:ext cx="6309360" cy="2596896"/>
          </a:xfrm>
          <a:prstGeom prst="rect">
            <a:avLst/>
          </a:prstGeom>
          <a:noFill/>
          <a:ln/>
        </p:spPr>
        <p:txBody>
          <a:bodyPr wrap="square" lIns="0" tIns="0" rIns="0" bIns="0" rtlCol="0" anchor="t"/>
          <a:lstStyle/>
          <a:p>
            <a:pPr marL="0" indent="0">
              <a:lnSpc>
                <a:spcPct val="104000"/>
              </a:lnSpc>
              <a:buNone/>
            </a:pPr>
            <a:r>
              <a:rPr lang="en-US" sz="1600" dirty="0">
                <a:solidFill>
                  <a:srgbClr val="E8EEF4"/>
                </a:solidFill>
                <a:latin typeface="Courier New" pitchFamily="34" charset="0"/>
                <a:ea typeface="Courier New" pitchFamily="34" charset="-122"/>
                <a:cs typeface="Courier New" pitchFamily="34" charset="-120"/>
              </a:rPr>
              <a:t>def chatbot_response(user_input):</a:t>
            </a:r>
            <a:endParaRPr lang="en-US" sz="1600" dirty="0"/>
          </a:p>
          <a:p>
            <a:pPr marL="0" indent="0">
              <a:lnSpc>
                <a:spcPct val="104000"/>
              </a:lnSpc>
              <a:buNone/>
            </a:pPr>
            <a:r>
              <a:rPr lang="en-US" sz="1600" dirty="0">
                <a:solidFill>
                  <a:srgbClr val="E8EEF4"/>
                </a:solidFill>
                <a:latin typeface="Courier New" pitchFamily="34" charset="0"/>
                <a:ea typeface="Courier New" pitchFamily="34" charset="-122"/>
                <a:cs typeface="Courier New" pitchFamily="34" charset="-120"/>
              </a:rPr>
              <a:t>    user_input = user_input.lower()</a:t>
            </a:r>
            <a:endParaRPr lang="en-US" sz="1600" dirty="0"/>
          </a:p>
          <a:p>
            <a:pPr marL="0" indent="0">
              <a:lnSpc>
                <a:spcPct val="104000"/>
              </a:lnSpc>
              <a:buNone/>
            </a:pPr>
            <a:r>
              <a:rPr lang="en-US" sz="1600" dirty="0">
                <a:solidFill>
                  <a:srgbClr val="E8EEF4"/>
                </a:solidFill>
                <a:latin typeface="Courier New" pitchFamily="34" charset="0"/>
                <a:ea typeface="Courier New" pitchFamily="34" charset="-122"/>
                <a:cs typeface="Courier New" pitchFamily="34" charset="-120"/>
              </a:rPr>
              <a:t>    if "hello" in user_input or "hi" in user_input:</a:t>
            </a:r>
            <a:endParaRPr lang="en-US" sz="1600" dirty="0"/>
          </a:p>
          <a:p>
            <a:pPr marL="0" indent="0">
              <a:lnSpc>
                <a:spcPct val="104000"/>
              </a:lnSpc>
              <a:buNone/>
            </a:pPr>
            <a:r>
              <a:rPr lang="en-US" sz="1600" dirty="0">
                <a:solidFill>
                  <a:srgbClr val="E8EEF4"/>
                </a:solidFill>
                <a:latin typeface="Courier New" pitchFamily="34" charset="0"/>
                <a:ea typeface="Courier New" pitchFamily="34" charset="-122"/>
                <a:cs typeface="Courier New" pitchFamily="34" charset="-120"/>
              </a:rPr>
              <a:t>        return "Hi there! How can I help you today?"</a:t>
            </a:r>
            <a:endParaRPr lang="en-US" sz="1600" dirty="0"/>
          </a:p>
          <a:p>
            <a:pPr marL="0" indent="0">
              <a:lnSpc>
                <a:spcPct val="104000"/>
              </a:lnSpc>
              <a:buNone/>
            </a:pPr>
            <a:r>
              <a:rPr lang="en-US" sz="1600" dirty="0">
                <a:solidFill>
                  <a:srgbClr val="E8EEF4"/>
                </a:solidFill>
                <a:latin typeface="Courier New" pitchFamily="34" charset="0"/>
                <a:ea typeface="Courier New" pitchFamily="34" charset="-122"/>
                <a:cs typeface="Courier New" pitchFamily="34" charset="-120"/>
              </a:rPr>
              <a:t>    else:</a:t>
            </a:r>
            <a:endParaRPr lang="en-US" sz="1600" dirty="0"/>
          </a:p>
          <a:p>
            <a:pPr marL="0" indent="0">
              <a:lnSpc>
                <a:spcPct val="104000"/>
              </a:lnSpc>
              <a:buNone/>
            </a:pPr>
            <a:r>
              <a:rPr lang="en-US" sz="1600" dirty="0">
                <a:solidFill>
                  <a:srgbClr val="E8EEF4"/>
                </a:solidFill>
                <a:latin typeface="Courier New" pitchFamily="34" charset="0"/>
                <a:ea typeface="Courier New" pitchFamily="34" charset="-122"/>
                <a:cs typeface="Courier New" pitchFamily="34" charset="-120"/>
              </a:rPr>
              <a:t>        return "I did not understand that."</a:t>
            </a:r>
            <a:endParaRPr lang="en-US" sz="1600" dirty="0"/>
          </a:p>
        </p:txBody>
      </p:sp>
      <p:sp>
        <p:nvSpPr>
          <p:cNvPr id="9" name="Shape 7"/>
          <p:cNvSpPr/>
          <p:nvPr/>
        </p:nvSpPr>
        <p:spPr>
          <a:xfrm>
            <a:off x="548640" y="4892040"/>
            <a:ext cx="6675120" cy="1005840"/>
          </a:xfrm>
          <a:prstGeom prst="roundRect">
            <a:avLst>
              <a:gd name="adj" fmla="val 5455"/>
            </a:avLst>
          </a:prstGeom>
          <a:solidFill>
            <a:srgbClr val="EAF3EC"/>
          </a:solidFill>
          <a:ln w="12700">
            <a:solidFill>
              <a:srgbClr val="BFDFC8"/>
            </a:solidFill>
            <a:prstDash val="solid"/>
          </a:ln>
        </p:spPr>
      </p:sp>
      <p:sp>
        <p:nvSpPr>
          <p:cNvPr id="10" name="Text 8"/>
          <p:cNvSpPr txBox="1"/>
          <p:nvPr/>
        </p:nvSpPr>
        <p:spPr>
          <a:xfrm>
            <a:off x="685800" y="4965192"/>
            <a:ext cx="6400800" cy="274320"/>
          </a:xfrm>
          <a:prstGeom prst="rect">
            <a:avLst/>
          </a:prstGeom>
          <a:noFill/>
          <a:ln/>
        </p:spPr>
        <p:txBody>
          <a:bodyPr wrap="square" lIns="0" tIns="0" rIns="0" bIns="0" rtlCol="0" anchor="ctr"/>
          <a:lstStyle/>
          <a:p>
            <a:pPr marL="0" indent="0">
              <a:buNone/>
            </a:pPr>
            <a:r>
              <a:rPr lang="en-US" sz="1600" b="1" kern="0" spc="100" dirty="0">
                <a:solidFill>
                  <a:srgbClr val="3F9142"/>
                </a:solidFill>
                <a:latin typeface="Calibri" pitchFamily="34" charset="0"/>
                <a:ea typeface="Calibri" pitchFamily="34" charset="-122"/>
                <a:cs typeface="Calibri" pitchFamily="34" charset="-120"/>
              </a:rPr>
              <a:t>OUTPUT</a:t>
            </a:r>
            <a:endParaRPr lang="en-US" sz="1600" dirty="0"/>
          </a:p>
        </p:txBody>
      </p:sp>
      <p:sp>
        <p:nvSpPr>
          <p:cNvPr id="11" name="Text 9"/>
          <p:cNvSpPr txBox="1"/>
          <p:nvPr/>
        </p:nvSpPr>
        <p:spPr>
          <a:xfrm>
            <a:off x="685800" y="5257800"/>
            <a:ext cx="6400800" cy="548640"/>
          </a:xfrm>
          <a:prstGeom prst="rect">
            <a:avLst/>
          </a:prstGeom>
          <a:noFill/>
          <a:ln/>
        </p:spPr>
        <p:txBody>
          <a:bodyPr wrap="square" lIns="0" tIns="0" rIns="0" bIns="0" rtlCol="0" anchor="t"/>
          <a:lstStyle/>
          <a:p>
            <a:pPr marL="0" indent="0">
              <a:lnSpc>
                <a:spcPct val="104000"/>
              </a:lnSpc>
              <a:buNone/>
            </a:pPr>
            <a:r>
              <a:rPr lang="en-US" sz="1600" dirty="0">
                <a:solidFill>
                  <a:srgbClr val="234A2B"/>
                </a:solidFill>
                <a:latin typeface="Courier New" pitchFamily="34" charset="0"/>
                <a:ea typeface="Courier New" pitchFamily="34" charset="-122"/>
                <a:cs typeface="Courier New" pitchFamily="34" charset="-120"/>
              </a:rPr>
              <a:t>chatbot_response("Hi there!")</a:t>
            </a:r>
            <a:endParaRPr lang="en-US" sz="1600" dirty="0"/>
          </a:p>
          <a:p>
            <a:pPr marL="0" indent="0">
              <a:lnSpc>
                <a:spcPct val="104000"/>
              </a:lnSpc>
              <a:buNone/>
            </a:pPr>
            <a:r>
              <a:rPr lang="en-US" sz="1600" dirty="0">
                <a:solidFill>
                  <a:srgbClr val="234A2B"/>
                </a:solidFill>
                <a:latin typeface="Courier New" pitchFamily="34" charset="0"/>
                <a:ea typeface="Courier New" pitchFamily="34" charset="-122"/>
                <a:cs typeface="Courier New" pitchFamily="34" charset="-120"/>
              </a:rPr>
              <a:t>→ "Hi there! How can I help you today?"</a:t>
            </a:r>
            <a:endParaRPr lang="en-US" sz="1600" dirty="0"/>
          </a:p>
        </p:txBody>
      </p:sp>
      <p:sp>
        <p:nvSpPr>
          <p:cNvPr id="12" name="Shape 10"/>
          <p:cNvSpPr/>
          <p:nvPr/>
        </p:nvSpPr>
        <p:spPr>
          <a:xfrm>
            <a:off x="7452360" y="2071116"/>
            <a:ext cx="310896" cy="310896"/>
          </a:xfrm>
          <a:prstGeom prst="ellipse">
            <a:avLst/>
          </a:prstGeom>
          <a:solidFill>
            <a:srgbClr val="2E86AB"/>
          </a:solidFill>
          <a:ln/>
        </p:spPr>
      </p:sp>
      <p:sp>
        <p:nvSpPr>
          <p:cNvPr id="13" name="Text 11"/>
          <p:cNvSpPr txBox="1"/>
          <p:nvPr/>
        </p:nvSpPr>
        <p:spPr>
          <a:xfrm>
            <a:off x="7452360" y="2071116"/>
            <a:ext cx="310896" cy="310896"/>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14" name="Text 12"/>
          <p:cNvSpPr txBox="1"/>
          <p:nvPr/>
        </p:nvSpPr>
        <p:spPr>
          <a:xfrm>
            <a:off x="7909560" y="1783080"/>
            <a:ext cx="3749040" cy="868680"/>
          </a:xfrm>
          <a:prstGeom prst="rect">
            <a:avLst/>
          </a:prstGeom>
          <a:noFill/>
          <a:ln/>
        </p:spPr>
        <p:txBody>
          <a:bodyPr wrap="square" lIns="0" tIns="0" rIns="0" bIns="0" rtlCol="0" anchor="ctr"/>
          <a:lstStyle/>
          <a:p>
            <a:pPr marL="0" indent="0">
              <a:lnSpc>
                <a:spcPct val="108000"/>
              </a:lnSpc>
              <a:buNone/>
            </a:pPr>
            <a:r>
              <a:rPr lang="en-US" sz="1800" b="1" dirty="0">
                <a:solidFill>
                  <a:srgbClr val="1B2430"/>
                </a:solidFill>
                <a:latin typeface="Calibri" pitchFamily="34" charset="0"/>
                <a:ea typeface="Calibri" pitchFamily="34" charset="-122"/>
                <a:cs typeface="Calibri" pitchFamily="34" charset="-120"/>
              </a:rPr>
              <a:t>Single responsibility  </a:t>
            </a:r>
            <a:r>
              <a:rPr lang="en-US" sz="1600" dirty="0">
                <a:solidFill>
                  <a:srgbClr val="5B6B79"/>
                </a:solidFill>
                <a:latin typeface="Calibri" pitchFamily="34" charset="0"/>
                <a:ea typeface="Calibri" pitchFamily="34" charset="-122"/>
                <a:cs typeface="Calibri" pitchFamily="34" charset="-120"/>
              </a:rPr>
              <a:t>one function handles one reply per call</a:t>
            </a:r>
            <a:endParaRPr lang="en-US" sz="1800" dirty="0"/>
          </a:p>
        </p:txBody>
      </p:sp>
      <p:sp>
        <p:nvSpPr>
          <p:cNvPr id="15" name="Shape 13"/>
          <p:cNvSpPr/>
          <p:nvPr/>
        </p:nvSpPr>
        <p:spPr>
          <a:xfrm>
            <a:off x="7452360" y="2939796"/>
            <a:ext cx="310896" cy="310896"/>
          </a:xfrm>
          <a:prstGeom prst="ellipse">
            <a:avLst/>
          </a:prstGeom>
          <a:solidFill>
            <a:srgbClr val="2E86AB"/>
          </a:solidFill>
          <a:ln/>
        </p:spPr>
      </p:sp>
      <p:sp>
        <p:nvSpPr>
          <p:cNvPr id="16" name="Text 14"/>
          <p:cNvSpPr txBox="1"/>
          <p:nvPr/>
        </p:nvSpPr>
        <p:spPr>
          <a:xfrm>
            <a:off x="7452360" y="2939796"/>
            <a:ext cx="310896" cy="310896"/>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7" name="Text 15"/>
          <p:cNvSpPr txBox="1"/>
          <p:nvPr/>
        </p:nvSpPr>
        <p:spPr>
          <a:xfrm>
            <a:off x="7909560" y="2651760"/>
            <a:ext cx="3749040" cy="868680"/>
          </a:xfrm>
          <a:prstGeom prst="rect">
            <a:avLst/>
          </a:prstGeom>
          <a:noFill/>
          <a:ln/>
        </p:spPr>
        <p:txBody>
          <a:bodyPr wrap="square" lIns="0" tIns="0" rIns="0" bIns="0" rtlCol="0" anchor="ctr"/>
          <a:lstStyle/>
          <a:p>
            <a:pPr marL="0" indent="0">
              <a:lnSpc>
                <a:spcPct val="108000"/>
              </a:lnSpc>
              <a:buNone/>
            </a:pPr>
            <a:r>
              <a:rPr lang="en-US" sz="1800" b="1" dirty="0">
                <a:solidFill>
                  <a:srgbClr val="1B2430"/>
                </a:solidFill>
                <a:latin typeface="Calibri" pitchFamily="34" charset="0"/>
                <a:ea typeface="Calibri" pitchFamily="34" charset="-122"/>
                <a:cs typeface="Calibri" pitchFamily="34" charset="-120"/>
              </a:rPr>
              <a:t>or  </a:t>
            </a:r>
            <a:r>
              <a:rPr lang="en-US" sz="1600" dirty="0">
                <a:solidFill>
                  <a:srgbClr val="5B6B79"/>
                </a:solidFill>
                <a:latin typeface="Calibri" pitchFamily="34" charset="0"/>
                <a:ea typeface="Calibri" pitchFamily="34" charset="-122"/>
                <a:cs typeface="Calibri" pitchFamily="34" charset="-120"/>
              </a:rPr>
              <a:t>matches if either keyword is present</a:t>
            </a:r>
            <a:endParaRPr lang="en-US" sz="1800" dirty="0"/>
          </a:p>
        </p:txBody>
      </p:sp>
      <p:sp>
        <p:nvSpPr>
          <p:cNvPr id="18" name="Shape 16"/>
          <p:cNvSpPr/>
          <p:nvPr/>
        </p:nvSpPr>
        <p:spPr>
          <a:xfrm>
            <a:off x="7452360" y="3808476"/>
            <a:ext cx="310896" cy="310896"/>
          </a:xfrm>
          <a:prstGeom prst="ellipse">
            <a:avLst/>
          </a:prstGeom>
          <a:solidFill>
            <a:srgbClr val="2E86AB"/>
          </a:solidFill>
          <a:ln/>
        </p:spPr>
      </p:sp>
      <p:sp>
        <p:nvSpPr>
          <p:cNvPr id="19" name="Text 17"/>
          <p:cNvSpPr txBox="1"/>
          <p:nvPr/>
        </p:nvSpPr>
        <p:spPr>
          <a:xfrm>
            <a:off x="7452360" y="3808476"/>
            <a:ext cx="310896" cy="310896"/>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20" name="Text 18"/>
          <p:cNvSpPr txBox="1"/>
          <p:nvPr/>
        </p:nvSpPr>
        <p:spPr>
          <a:xfrm>
            <a:off x="7909560" y="3520440"/>
            <a:ext cx="3749040" cy="868680"/>
          </a:xfrm>
          <a:prstGeom prst="rect">
            <a:avLst/>
          </a:prstGeom>
          <a:noFill/>
          <a:ln/>
        </p:spPr>
        <p:txBody>
          <a:bodyPr wrap="square" lIns="0" tIns="0" rIns="0" bIns="0" rtlCol="0" anchor="ctr"/>
          <a:lstStyle/>
          <a:p>
            <a:pPr marL="0" indent="0">
              <a:lnSpc>
                <a:spcPct val="108000"/>
              </a:lnSpc>
              <a:buNone/>
            </a:pPr>
            <a:r>
              <a:rPr lang="en-US" sz="1800" b="1" dirty="0">
                <a:solidFill>
                  <a:srgbClr val="1B2430"/>
                </a:solidFill>
                <a:latin typeface="Calibri" pitchFamily="34" charset="0"/>
                <a:ea typeface="Calibri" pitchFamily="34" charset="-122"/>
                <a:cs typeface="Calibri" pitchFamily="34" charset="-120"/>
              </a:rPr>
              <a:t>Fallback first  </a:t>
            </a:r>
            <a:r>
              <a:rPr lang="en-US" sz="1600" dirty="0">
                <a:solidFill>
                  <a:srgbClr val="5B6B79"/>
                </a:solidFill>
                <a:latin typeface="Calibri" pitchFamily="34" charset="0"/>
                <a:ea typeface="Calibri" pitchFamily="34" charset="-122"/>
                <a:cs typeface="Calibri" pitchFamily="34" charset="-120"/>
              </a:rPr>
              <a:t>start simple, add more rules next</a:t>
            </a:r>
            <a:endParaRPr lang="en-US" sz="1800" dirty="0"/>
          </a:p>
        </p:txBody>
      </p:sp>
      <p:sp>
        <p:nvSpPr>
          <p:cNvPr id="21" name="Text 19"/>
          <p:cNvSpPr txBox="1"/>
          <p:nvPr/>
        </p:nvSpPr>
        <p:spPr>
          <a:xfrm>
            <a:off x="548640" y="6455664"/>
            <a:ext cx="9418320" cy="292608"/>
          </a:xfrm>
          <a:prstGeom prst="rect">
            <a:avLst/>
          </a:prstGeom>
          <a:noFill/>
          <a:ln/>
        </p:spPr>
        <p:txBody>
          <a:bodyPr wrap="square" lIns="0" tIns="0" rIns="0" bIns="0" rtlCol="0" anchor="ctr"/>
          <a:lstStyle/>
          <a:p>
            <a:pPr marL="0" indent="0">
              <a:buNone/>
            </a:pPr>
            <a:r>
              <a:rPr lang="en-US" sz="1600" dirty="0">
                <a:solidFill>
                  <a:srgbClr val="5B6B79"/>
                </a:solidFill>
                <a:latin typeface="Calibri" pitchFamily="34" charset="0"/>
                <a:ea typeface="Calibri" pitchFamily="34" charset="-122"/>
                <a:cs typeface="Calibri" pitchFamily="34" charset="-120"/>
              </a:rPr>
              <a:t>AI Practical 1  •  Development Environment, Python &amp; Rule-Based Chatbot</a:t>
            </a:r>
            <a:endParaRPr lang="en-US" sz="1600" dirty="0"/>
          </a:p>
        </p:txBody>
      </p:sp>
      <p:sp>
        <p:nvSpPr>
          <p:cNvPr id="22" name="Text 20"/>
          <p:cNvSpPr txBox="1"/>
          <p:nvPr/>
        </p:nvSpPr>
        <p:spPr>
          <a:xfrm>
            <a:off x="11247120" y="6455664"/>
            <a:ext cx="457200" cy="292608"/>
          </a:xfrm>
          <a:prstGeom prst="rect">
            <a:avLst/>
          </a:prstGeom>
          <a:noFill/>
          <a:ln/>
        </p:spPr>
        <p:txBody>
          <a:bodyPr wrap="square" lIns="0" tIns="0" rIns="0" bIns="0" rtlCol="0" anchor="ctr"/>
          <a:lstStyle/>
          <a:p>
            <a:pPr marL="0" indent="0" algn="r">
              <a:buNone/>
            </a:pPr>
            <a:r>
              <a:rPr lang="en-US" sz="1600" dirty="0">
                <a:solidFill>
                  <a:srgbClr val="5B6B79"/>
                </a:solidFill>
                <a:latin typeface="Calibri" pitchFamily="34" charset="0"/>
                <a:ea typeface="Calibri" pitchFamily="34" charset="-122"/>
                <a:cs typeface="Calibri" pitchFamily="34" charset="-120"/>
              </a:rPr>
              <a:t>23</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7FA"/>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0515600" cy="310896"/>
          </a:xfrm>
          <a:prstGeom prst="rect">
            <a:avLst/>
          </a:prstGeom>
          <a:noFill/>
          <a:ln/>
        </p:spPr>
        <p:txBody>
          <a:bodyPr wrap="square" lIns="0" tIns="0" rIns="0" bIns="0" rtlCol="0" anchor="ctr"/>
          <a:lstStyle/>
          <a:p>
            <a:pPr marL="0" indent="0">
              <a:buNone/>
            </a:pPr>
            <a:r>
              <a:rPr lang="en-US" sz="1600" b="1" kern="0" spc="200" dirty="0">
                <a:solidFill>
                  <a:srgbClr val="2E86AB"/>
                </a:solidFill>
                <a:latin typeface="Calibri" pitchFamily="34" charset="0"/>
                <a:ea typeface="Calibri" pitchFamily="34" charset="-122"/>
                <a:cs typeface="Calibri" pitchFamily="34" charset="-120"/>
              </a:rPr>
              <a:t>SECTION D — BUILDING THE CHATBOT</a:t>
            </a:r>
            <a:endParaRPr lang="en-US" sz="1600" dirty="0"/>
          </a:p>
        </p:txBody>
      </p:sp>
      <p:sp>
        <p:nvSpPr>
          <p:cNvPr id="3" name="Text 1"/>
          <p:cNvSpPr txBox="1"/>
          <p:nvPr/>
        </p:nvSpPr>
        <p:spPr>
          <a:xfrm>
            <a:off x="548640" y="603504"/>
            <a:ext cx="11064240" cy="731520"/>
          </a:xfrm>
          <a:prstGeom prst="rect">
            <a:avLst/>
          </a:prstGeom>
          <a:noFill/>
          <a:ln/>
        </p:spPr>
        <p:txBody>
          <a:bodyPr wrap="square" lIns="0" tIns="0" rIns="0" bIns="0" rtlCol="0" anchor="ctr"/>
          <a:lstStyle/>
          <a:p>
            <a:pPr marL="0" indent="0">
              <a:buNone/>
            </a:pPr>
            <a:r>
              <a:rPr lang="en-US" sz="3300" b="1" dirty="0">
                <a:solidFill>
                  <a:srgbClr val="142A45"/>
                </a:solidFill>
                <a:latin typeface="Cambria" pitchFamily="34" charset="0"/>
                <a:ea typeface="Cambria" pitchFamily="34" charset="-122"/>
                <a:cs typeface="Cambria" pitchFamily="34" charset="-120"/>
              </a:rPr>
              <a:t>Step 2: Expanding the Rule Set</a:t>
            </a:r>
            <a:endParaRPr lang="en-US" sz="3300" dirty="0"/>
          </a:p>
        </p:txBody>
      </p:sp>
      <p:sp>
        <p:nvSpPr>
          <p:cNvPr id="4" name="Shape 2"/>
          <p:cNvSpPr/>
          <p:nvPr/>
        </p:nvSpPr>
        <p:spPr>
          <a:xfrm>
            <a:off x="548640" y="1691640"/>
            <a:ext cx="7589520" cy="3931920"/>
          </a:xfrm>
          <a:prstGeom prst="roundRect">
            <a:avLst>
              <a:gd name="adj" fmla="val 1860"/>
            </a:avLst>
          </a:prstGeom>
          <a:solidFill>
            <a:srgbClr val="0D1B2E"/>
          </a:solidFill>
          <a:ln/>
        </p:spPr>
      </p:sp>
      <p:sp>
        <p:nvSpPr>
          <p:cNvPr id="5" name="Shape 3"/>
          <p:cNvSpPr/>
          <p:nvPr/>
        </p:nvSpPr>
        <p:spPr>
          <a:xfrm>
            <a:off x="713232" y="1819656"/>
            <a:ext cx="109728" cy="109728"/>
          </a:xfrm>
          <a:prstGeom prst="ellipse">
            <a:avLst/>
          </a:prstGeom>
          <a:solidFill>
            <a:srgbClr val="E5645B"/>
          </a:solidFill>
          <a:ln/>
        </p:spPr>
      </p:sp>
      <p:sp>
        <p:nvSpPr>
          <p:cNvPr id="6" name="Shape 4"/>
          <p:cNvSpPr/>
          <p:nvPr/>
        </p:nvSpPr>
        <p:spPr>
          <a:xfrm>
            <a:off x="914400" y="1819656"/>
            <a:ext cx="109728" cy="109728"/>
          </a:xfrm>
          <a:prstGeom prst="ellipse">
            <a:avLst/>
          </a:prstGeom>
          <a:solidFill>
            <a:srgbClr val="F2C85B"/>
          </a:solidFill>
          <a:ln/>
        </p:spPr>
      </p:sp>
      <p:sp>
        <p:nvSpPr>
          <p:cNvPr id="7" name="Shape 5"/>
          <p:cNvSpPr/>
          <p:nvPr/>
        </p:nvSpPr>
        <p:spPr>
          <a:xfrm>
            <a:off x="1115568" y="1819656"/>
            <a:ext cx="109728" cy="109728"/>
          </a:xfrm>
          <a:prstGeom prst="ellipse">
            <a:avLst/>
          </a:prstGeom>
          <a:solidFill>
            <a:srgbClr val="5CC97A"/>
          </a:solidFill>
          <a:ln/>
        </p:spPr>
      </p:sp>
      <p:sp>
        <p:nvSpPr>
          <p:cNvPr id="8" name="Text 6"/>
          <p:cNvSpPr txBox="1"/>
          <p:nvPr/>
        </p:nvSpPr>
        <p:spPr>
          <a:xfrm>
            <a:off x="749808" y="2020824"/>
            <a:ext cx="7223760" cy="3511296"/>
          </a:xfrm>
          <a:prstGeom prst="rect">
            <a:avLst/>
          </a:prstGeom>
          <a:noFill/>
          <a:ln/>
        </p:spPr>
        <p:txBody>
          <a:bodyPr wrap="square" lIns="0" tIns="0" rIns="0" bIns="0" rtlCol="0" anchor="t"/>
          <a:lstStyle/>
          <a:p>
            <a:pPr marL="0" indent="0">
              <a:lnSpc>
                <a:spcPct val="104000"/>
              </a:lnSpc>
              <a:buNone/>
            </a:pPr>
            <a:r>
              <a:rPr lang="en-US" sz="1600" dirty="0">
                <a:solidFill>
                  <a:srgbClr val="E8EEF4"/>
                </a:solidFill>
                <a:latin typeface="Courier New" pitchFamily="34" charset="0"/>
                <a:ea typeface="Courier New" pitchFamily="34" charset="-122"/>
                <a:cs typeface="Courier New" pitchFamily="34" charset="-120"/>
              </a:rPr>
              <a:t>def chatbot_response(user_input):</a:t>
            </a:r>
            <a:endParaRPr lang="en-US" sz="1600" dirty="0"/>
          </a:p>
          <a:p>
            <a:pPr marL="0" indent="0">
              <a:lnSpc>
                <a:spcPct val="104000"/>
              </a:lnSpc>
              <a:buNone/>
            </a:pPr>
            <a:r>
              <a:rPr lang="en-US" sz="1600" dirty="0">
                <a:solidFill>
                  <a:srgbClr val="E8EEF4"/>
                </a:solidFill>
                <a:latin typeface="Courier New" pitchFamily="34" charset="0"/>
                <a:ea typeface="Courier New" pitchFamily="34" charset="-122"/>
                <a:cs typeface="Courier New" pitchFamily="34" charset="-120"/>
              </a:rPr>
              <a:t>    user_input = user_input.lower()</a:t>
            </a:r>
            <a:endParaRPr lang="en-US" sz="1600" dirty="0"/>
          </a:p>
          <a:p>
            <a:pPr marL="0" indent="0">
              <a:lnSpc>
                <a:spcPct val="104000"/>
              </a:lnSpc>
              <a:buNone/>
            </a:pPr>
            <a:r>
              <a:rPr lang="en-US" sz="1600" dirty="0">
                <a:solidFill>
                  <a:srgbClr val="E8EEF4"/>
                </a:solidFill>
                <a:latin typeface="Courier New" pitchFamily="34" charset="0"/>
                <a:ea typeface="Courier New" pitchFamily="34" charset="-122"/>
                <a:cs typeface="Courier New" pitchFamily="34" charset="-120"/>
              </a:rPr>
              <a:t>    if "hello" in user_input or "hi" in user_input:</a:t>
            </a:r>
            <a:endParaRPr lang="en-US" sz="1600" dirty="0"/>
          </a:p>
          <a:p>
            <a:pPr marL="0" indent="0">
              <a:lnSpc>
                <a:spcPct val="104000"/>
              </a:lnSpc>
              <a:buNone/>
            </a:pPr>
            <a:r>
              <a:rPr lang="en-US" sz="1600" dirty="0">
                <a:solidFill>
                  <a:srgbClr val="E8EEF4"/>
                </a:solidFill>
                <a:latin typeface="Courier New" pitchFamily="34" charset="0"/>
                <a:ea typeface="Courier New" pitchFamily="34" charset="-122"/>
                <a:cs typeface="Courier New" pitchFamily="34" charset="-120"/>
              </a:rPr>
              <a:t>        return "Hi there! How can I help?"</a:t>
            </a:r>
            <a:endParaRPr lang="en-US" sz="1600" dirty="0"/>
          </a:p>
          <a:p>
            <a:pPr marL="0" indent="0">
              <a:lnSpc>
                <a:spcPct val="104000"/>
              </a:lnSpc>
              <a:buNone/>
            </a:pPr>
            <a:r>
              <a:rPr lang="en-US" sz="1600" dirty="0">
                <a:solidFill>
                  <a:srgbClr val="E8EEF4"/>
                </a:solidFill>
                <a:latin typeface="Courier New" pitchFamily="34" charset="0"/>
                <a:ea typeface="Courier New" pitchFamily="34" charset="-122"/>
                <a:cs typeface="Courier New" pitchFamily="34" charset="-120"/>
              </a:rPr>
              <a:t>    elif "your name" in user_input:</a:t>
            </a:r>
            <a:endParaRPr lang="en-US" sz="1600" dirty="0"/>
          </a:p>
          <a:p>
            <a:pPr marL="0" indent="0">
              <a:lnSpc>
                <a:spcPct val="104000"/>
              </a:lnSpc>
              <a:buNone/>
            </a:pPr>
            <a:r>
              <a:rPr lang="en-US" sz="1600" dirty="0">
                <a:solidFill>
                  <a:srgbClr val="E8EEF4"/>
                </a:solidFill>
                <a:latin typeface="Courier New" pitchFamily="34" charset="0"/>
                <a:ea typeface="Courier New" pitchFamily="34" charset="-122"/>
                <a:cs typeface="Courier New" pitchFamily="34" charset="-120"/>
              </a:rPr>
              <a:t>        return "I am a rule-based chatbot!"</a:t>
            </a:r>
            <a:endParaRPr lang="en-US" sz="1600" dirty="0"/>
          </a:p>
          <a:p>
            <a:pPr marL="0" indent="0">
              <a:lnSpc>
                <a:spcPct val="104000"/>
              </a:lnSpc>
              <a:buNone/>
            </a:pPr>
            <a:r>
              <a:rPr lang="en-US" sz="1600" dirty="0">
                <a:solidFill>
                  <a:srgbClr val="E8EEF4"/>
                </a:solidFill>
                <a:latin typeface="Courier New" pitchFamily="34" charset="0"/>
                <a:ea typeface="Courier New" pitchFamily="34" charset="-122"/>
                <a:cs typeface="Courier New" pitchFamily="34" charset="-120"/>
              </a:rPr>
              <a:t>    elif "how are you" in user_input:</a:t>
            </a:r>
            <a:endParaRPr lang="en-US" sz="1600" dirty="0"/>
          </a:p>
          <a:p>
            <a:pPr marL="0" indent="0">
              <a:lnSpc>
                <a:spcPct val="104000"/>
              </a:lnSpc>
              <a:buNone/>
            </a:pPr>
            <a:r>
              <a:rPr lang="en-US" sz="1600" dirty="0">
                <a:solidFill>
                  <a:srgbClr val="E8EEF4"/>
                </a:solidFill>
                <a:latin typeface="Courier New" pitchFamily="34" charset="0"/>
                <a:ea typeface="Courier New" pitchFamily="34" charset="-122"/>
                <a:cs typeface="Courier New" pitchFamily="34" charset="-120"/>
              </a:rPr>
              <a:t>        return "Just a program, thanks for asking!"</a:t>
            </a:r>
            <a:endParaRPr lang="en-US" sz="1600" dirty="0"/>
          </a:p>
          <a:p>
            <a:pPr marL="0" indent="0">
              <a:lnSpc>
                <a:spcPct val="104000"/>
              </a:lnSpc>
              <a:buNone/>
            </a:pPr>
            <a:r>
              <a:rPr lang="en-US" sz="1600" dirty="0">
                <a:solidFill>
                  <a:srgbClr val="E8EEF4"/>
                </a:solidFill>
                <a:latin typeface="Courier New" pitchFamily="34" charset="0"/>
                <a:ea typeface="Courier New" pitchFamily="34" charset="-122"/>
                <a:cs typeface="Courier New" pitchFamily="34" charset="-120"/>
              </a:rPr>
              <a:t>    elif "bye" in user_input:</a:t>
            </a:r>
            <a:endParaRPr lang="en-US" sz="1600" dirty="0"/>
          </a:p>
          <a:p>
            <a:pPr marL="0" indent="0">
              <a:lnSpc>
                <a:spcPct val="104000"/>
              </a:lnSpc>
              <a:buNone/>
            </a:pPr>
            <a:r>
              <a:rPr lang="en-US" sz="1600" dirty="0">
                <a:solidFill>
                  <a:srgbClr val="E8EEF4"/>
                </a:solidFill>
                <a:latin typeface="Courier New" pitchFamily="34" charset="0"/>
                <a:ea typeface="Courier New" pitchFamily="34" charset="-122"/>
                <a:cs typeface="Courier New" pitchFamily="34" charset="-120"/>
              </a:rPr>
              <a:t>        return "Goodbye! Have a great day."</a:t>
            </a:r>
            <a:endParaRPr lang="en-US" sz="1600" dirty="0"/>
          </a:p>
          <a:p>
            <a:pPr marL="0" indent="0">
              <a:lnSpc>
                <a:spcPct val="104000"/>
              </a:lnSpc>
              <a:buNone/>
            </a:pPr>
            <a:r>
              <a:rPr lang="en-US" sz="1600" dirty="0">
                <a:solidFill>
                  <a:srgbClr val="E8EEF4"/>
                </a:solidFill>
                <a:latin typeface="Courier New" pitchFamily="34" charset="0"/>
                <a:ea typeface="Courier New" pitchFamily="34" charset="-122"/>
                <a:cs typeface="Courier New" pitchFamily="34" charset="-120"/>
              </a:rPr>
              <a:t>    elif "thank" in user_input:</a:t>
            </a:r>
            <a:endParaRPr lang="en-US" sz="1600" dirty="0"/>
          </a:p>
          <a:p>
            <a:pPr marL="0" indent="0">
              <a:lnSpc>
                <a:spcPct val="104000"/>
              </a:lnSpc>
              <a:buNone/>
            </a:pPr>
            <a:r>
              <a:rPr lang="en-US" sz="1600" dirty="0">
                <a:solidFill>
                  <a:srgbClr val="E8EEF4"/>
                </a:solidFill>
                <a:latin typeface="Courier New" pitchFamily="34" charset="0"/>
                <a:ea typeface="Courier New" pitchFamily="34" charset="-122"/>
                <a:cs typeface="Courier New" pitchFamily="34" charset="-120"/>
              </a:rPr>
              <a:t>        return "You are welcome!"</a:t>
            </a:r>
            <a:endParaRPr lang="en-US" sz="1600" dirty="0"/>
          </a:p>
          <a:p>
            <a:pPr marL="0" indent="0">
              <a:lnSpc>
                <a:spcPct val="104000"/>
              </a:lnSpc>
              <a:buNone/>
            </a:pPr>
            <a:r>
              <a:rPr lang="en-US" sz="1600" dirty="0">
                <a:solidFill>
                  <a:srgbClr val="E8EEF4"/>
                </a:solidFill>
                <a:latin typeface="Courier New" pitchFamily="34" charset="0"/>
                <a:ea typeface="Courier New" pitchFamily="34" charset="-122"/>
                <a:cs typeface="Courier New" pitchFamily="34" charset="-120"/>
              </a:rPr>
              <a:t>    else:</a:t>
            </a:r>
            <a:endParaRPr lang="en-US" sz="1600" dirty="0"/>
          </a:p>
          <a:p>
            <a:pPr marL="0" indent="0">
              <a:lnSpc>
                <a:spcPct val="104000"/>
              </a:lnSpc>
              <a:buNone/>
            </a:pPr>
            <a:r>
              <a:rPr lang="en-US" sz="1600" dirty="0">
                <a:solidFill>
                  <a:srgbClr val="E8EEF4"/>
                </a:solidFill>
                <a:latin typeface="Courier New" pitchFamily="34" charset="0"/>
                <a:ea typeface="Courier New" pitchFamily="34" charset="-122"/>
                <a:cs typeface="Courier New" pitchFamily="34" charset="-120"/>
              </a:rPr>
              <a:t>        return "Sorry, I did not understand."</a:t>
            </a:r>
            <a:endParaRPr lang="en-US" sz="1600" dirty="0"/>
          </a:p>
        </p:txBody>
      </p:sp>
      <p:sp>
        <p:nvSpPr>
          <p:cNvPr id="9" name="Shape 7"/>
          <p:cNvSpPr/>
          <p:nvPr/>
        </p:nvSpPr>
        <p:spPr>
          <a:xfrm>
            <a:off x="8366760" y="1691640"/>
            <a:ext cx="3246120" cy="3931920"/>
          </a:xfrm>
          <a:prstGeom prst="roundRect">
            <a:avLst>
              <a:gd name="adj" fmla="val 2254"/>
            </a:avLst>
          </a:prstGeom>
          <a:solidFill>
            <a:srgbClr val="EAF0F6"/>
          </a:solidFill>
          <a:ln w="12700">
            <a:solidFill>
              <a:srgbClr val="DDE3EA"/>
            </a:solidFill>
            <a:prstDash val="solid"/>
          </a:ln>
          <a:effectLst>
            <a:outerShdw blurRad="76200" dist="25400" dir="5400000" algn="bl" rotWithShape="0">
              <a:srgbClr val="142A45">
                <a:alpha val="12000"/>
              </a:srgbClr>
            </a:outerShdw>
          </a:effectLst>
        </p:spPr>
      </p:sp>
      <p:sp>
        <p:nvSpPr>
          <p:cNvPr id="10" name="Text 8"/>
          <p:cNvSpPr txBox="1"/>
          <p:nvPr/>
        </p:nvSpPr>
        <p:spPr>
          <a:xfrm>
            <a:off x="8595360" y="1874520"/>
            <a:ext cx="2834640" cy="274320"/>
          </a:xfrm>
          <a:prstGeom prst="rect">
            <a:avLst/>
          </a:prstGeom>
          <a:noFill/>
          <a:ln/>
        </p:spPr>
        <p:txBody>
          <a:bodyPr wrap="square" lIns="0" tIns="0" rIns="0" bIns="0" rtlCol="0" anchor="ctr"/>
          <a:lstStyle/>
          <a:p>
            <a:pPr marL="0" indent="0">
              <a:buNone/>
            </a:pPr>
            <a:r>
              <a:rPr lang="en-US" sz="1600" b="1" kern="0" spc="120" dirty="0">
                <a:solidFill>
                  <a:srgbClr val="2E86AB"/>
                </a:solidFill>
                <a:latin typeface="Calibri" pitchFamily="34" charset="0"/>
                <a:ea typeface="Calibri" pitchFamily="34" charset="-122"/>
                <a:cs typeface="Calibri" pitchFamily="34" charset="-120"/>
              </a:rPr>
              <a:t>DESIGN NOTE</a:t>
            </a:r>
            <a:endParaRPr lang="en-US" sz="1600" dirty="0"/>
          </a:p>
        </p:txBody>
      </p:sp>
      <p:sp>
        <p:nvSpPr>
          <p:cNvPr id="11" name="Text 9"/>
          <p:cNvSpPr txBox="1"/>
          <p:nvPr/>
        </p:nvSpPr>
        <p:spPr>
          <a:xfrm>
            <a:off x="8595360" y="2240280"/>
            <a:ext cx="2834640" cy="3657600"/>
          </a:xfrm>
          <a:prstGeom prst="rect">
            <a:avLst/>
          </a:prstGeom>
          <a:noFill/>
          <a:ln/>
        </p:spPr>
        <p:txBody>
          <a:bodyPr wrap="square" lIns="0" tIns="0" rIns="0" bIns="0" rtlCol="0" anchor="t"/>
          <a:lstStyle/>
          <a:p>
            <a:pPr marL="0" indent="0">
              <a:lnSpc>
                <a:spcPct val="120000"/>
              </a:lnSpc>
              <a:buNone/>
            </a:pPr>
            <a:r>
              <a:rPr lang="en-US" sz="1700" b="1" dirty="0">
                <a:solidFill>
                  <a:srgbClr val="142A45"/>
                </a:solidFill>
                <a:latin typeface="Courier New" pitchFamily="34" charset="0"/>
                <a:ea typeface="Courier New" pitchFamily="34" charset="-122"/>
                <a:cs typeface="Courier New" pitchFamily="34" charset="-120"/>
              </a:rPr>
              <a:t>Each  elif  </a:t>
            </a:r>
            <a:r>
              <a:rPr lang="en-US" sz="1600" dirty="0">
                <a:solidFill>
                  <a:srgbClr val="1B2430"/>
                </a:solidFill>
                <a:latin typeface="Calibri" pitchFamily="34" charset="0"/>
                <a:ea typeface="Calibri" pitchFamily="34" charset="-122"/>
                <a:cs typeface="Calibri" pitchFamily="34" charset="-120"/>
              </a:rPr>
              <a:t>is one more rule the chatbot knows.
</a:t>
            </a:r>
            <a:r>
              <a:rPr lang="en-US" sz="1600" b="1" dirty="0">
                <a:solidFill>
                  <a:srgbClr val="142A45"/>
                </a:solidFill>
                <a:latin typeface="Calibri" pitchFamily="34" charset="0"/>
                <a:ea typeface="Calibri" pitchFamily="34" charset="-122"/>
                <a:cs typeface="Calibri" pitchFamily="34" charset="-120"/>
              </a:rPr>
              <a:t>Order matters: </a:t>
            </a:r>
            <a:r>
              <a:rPr lang="en-US" sz="1600" dirty="0">
                <a:solidFill>
                  <a:srgbClr val="1B2430"/>
                </a:solidFill>
                <a:latin typeface="Calibri" pitchFamily="34" charset="0"/>
                <a:ea typeface="Calibri" pitchFamily="34" charset="-122"/>
                <a:cs typeface="Calibri" pitchFamily="34" charset="-120"/>
              </a:rPr>
              <a:t>the first matching rule wins, even if a later rule would also match.
</a:t>
            </a:r>
            <a:r>
              <a:rPr lang="en-US" sz="1600" b="1" dirty="0">
                <a:solidFill>
                  <a:srgbClr val="142A45"/>
                </a:solidFill>
                <a:latin typeface="Calibri" pitchFamily="34" charset="0"/>
                <a:ea typeface="Calibri" pitchFamily="34" charset="-122"/>
                <a:cs typeface="Calibri" pitchFamily="34" charset="-120"/>
              </a:rPr>
              <a:t>The else fallback </a:t>
            </a:r>
            <a:r>
              <a:rPr lang="en-US" sz="1600" dirty="0">
                <a:solidFill>
                  <a:srgbClr val="1B2430"/>
                </a:solidFill>
                <a:latin typeface="Calibri" pitchFamily="34" charset="0"/>
                <a:ea typeface="Calibri" pitchFamily="34" charset="-122"/>
                <a:cs typeface="Calibri" pitchFamily="34" charset="-120"/>
              </a:rPr>
              <a:t>always stays last — it catches everything else.</a:t>
            </a:r>
            <a:endParaRPr lang="en-US" sz="1700" dirty="0"/>
          </a:p>
        </p:txBody>
      </p:sp>
      <p:sp>
        <p:nvSpPr>
          <p:cNvPr id="12" name="Text 10"/>
          <p:cNvSpPr txBox="1"/>
          <p:nvPr/>
        </p:nvSpPr>
        <p:spPr>
          <a:xfrm>
            <a:off x="548640" y="6455664"/>
            <a:ext cx="9418320" cy="292608"/>
          </a:xfrm>
          <a:prstGeom prst="rect">
            <a:avLst/>
          </a:prstGeom>
          <a:noFill/>
          <a:ln/>
        </p:spPr>
        <p:txBody>
          <a:bodyPr wrap="square" lIns="0" tIns="0" rIns="0" bIns="0" rtlCol="0" anchor="ctr"/>
          <a:lstStyle/>
          <a:p>
            <a:pPr marL="0" indent="0">
              <a:buNone/>
            </a:pPr>
            <a:r>
              <a:rPr lang="en-US" sz="1600" dirty="0">
                <a:solidFill>
                  <a:srgbClr val="5B6B79"/>
                </a:solidFill>
                <a:latin typeface="Calibri" pitchFamily="34" charset="0"/>
                <a:ea typeface="Calibri" pitchFamily="34" charset="-122"/>
                <a:cs typeface="Calibri" pitchFamily="34" charset="-120"/>
              </a:rPr>
              <a:t>AI Practical 1  •  Development Environment, Python &amp; Rule-Based Chatbot</a:t>
            </a:r>
            <a:endParaRPr lang="en-US" sz="1600" dirty="0"/>
          </a:p>
        </p:txBody>
      </p:sp>
      <p:sp>
        <p:nvSpPr>
          <p:cNvPr id="13" name="Text 11"/>
          <p:cNvSpPr txBox="1"/>
          <p:nvPr/>
        </p:nvSpPr>
        <p:spPr>
          <a:xfrm>
            <a:off x="11247120" y="6455664"/>
            <a:ext cx="457200" cy="292608"/>
          </a:xfrm>
          <a:prstGeom prst="rect">
            <a:avLst/>
          </a:prstGeom>
          <a:noFill/>
          <a:ln/>
        </p:spPr>
        <p:txBody>
          <a:bodyPr wrap="square" lIns="0" tIns="0" rIns="0" bIns="0" rtlCol="0" anchor="ctr"/>
          <a:lstStyle/>
          <a:p>
            <a:pPr marL="0" indent="0" algn="r">
              <a:buNone/>
            </a:pPr>
            <a:r>
              <a:rPr lang="en-US" sz="1600" dirty="0">
                <a:solidFill>
                  <a:srgbClr val="5B6B79"/>
                </a:solidFill>
                <a:latin typeface="Calibri" pitchFamily="34" charset="0"/>
                <a:ea typeface="Calibri" pitchFamily="34" charset="-122"/>
                <a:cs typeface="Calibri" pitchFamily="34" charset="-120"/>
              </a:rPr>
              <a:t>24</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7FA"/>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0515600" cy="310896"/>
          </a:xfrm>
          <a:prstGeom prst="rect">
            <a:avLst/>
          </a:prstGeom>
          <a:noFill/>
          <a:ln/>
        </p:spPr>
        <p:txBody>
          <a:bodyPr wrap="square" lIns="0" tIns="0" rIns="0" bIns="0" rtlCol="0" anchor="ctr"/>
          <a:lstStyle/>
          <a:p>
            <a:pPr marL="0" indent="0">
              <a:buNone/>
            </a:pPr>
            <a:r>
              <a:rPr lang="en-US" sz="1600" b="1" kern="0" spc="200" dirty="0">
                <a:solidFill>
                  <a:srgbClr val="2E86AB"/>
                </a:solidFill>
                <a:latin typeface="Calibri" pitchFamily="34" charset="0"/>
                <a:ea typeface="Calibri" pitchFamily="34" charset="-122"/>
                <a:cs typeface="Calibri" pitchFamily="34" charset="-120"/>
              </a:rPr>
              <a:t>SECTION D — BUILDING THE CHATBOT</a:t>
            </a:r>
            <a:endParaRPr lang="en-US" sz="1600" dirty="0"/>
          </a:p>
        </p:txBody>
      </p:sp>
      <p:sp>
        <p:nvSpPr>
          <p:cNvPr id="3" name="Text 1"/>
          <p:cNvSpPr txBox="1"/>
          <p:nvPr/>
        </p:nvSpPr>
        <p:spPr>
          <a:xfrm>
            <a:off x="548640" y="603504"/>
            <a:ext cx="11064240" cy="731520"/>
          </a:xfrm>
          <a:prstGeom prst="rect">
            <a:avLst/>
          </a:prstGeom>
          <a:noFill/>
          <a:ln/>
        </p:spPr>
        <p:txBody>
          <a:bodyPr wrap="square" lIns="0" tIns="0" rIns="0" bIns="0" rtlCol="0" anchor="ctr"/>
          <a:lstStyle/>
          <a:p>
            <a:pPr marL="0" indent="0">
              <a:buNone/>
            </a:pPr>
            <a:r>
              <a:rPr lang="en-US" sz="3300" b="1" dirty="0">
                <a:solidFill>
                  <a:srgbClr val="142A45"/>
                </a:solidFill>
                <a:latin typeface="Cambria" pitchFamily="34" charset="0"/>
                <a:ea typeface="Cambria" pitchFamily="34" charset="-122"/>
                <a:cs typeface="Cambria" pitchFamily="34" charset="-120"/>
              </a:rPr>
              <a:t>Step 3: The Conversation Loop</a:t>
            </a:r>
            <a:endParaRPr lang="en-US" sz="3300" dirty="0"/>
          </a:p>
        </p:txBody>
      </p:sp>
      <p:sp>
        <p:nvSpPr>
          <p:cNvPr id="4" name="Shape 2"/>
          <p:cNvSpPr/>
          <p:nvPr/>
        </p:nvSpPr>
        <p:spPr>
          <a:xfrm>
            <a:off x="548640" y="1691640"/>
            <a:ext cx="6949440" cy="2651760"/>
          </a:xfrm>
          <a:prstGeom prst="roundRect">
            <a:avLst>
              <a:gd name="adj" fmla="val 2759"/>
            </a:avLst>
          </a:prstGeom>
          <a:solidFill>
            <a:srgbClr val="0D1B2E"/>
          </a:solidFill>
          <a:ln/>
        </p:spPr>
      </p:sp>
      <p:sp>
        <p:nvSpPr>
          <p:cNvPr id="5" name="Shape 3"/>
          <p:cNvSpPr/>
          <p:nvPr/>
        </p:nvSpPr>
        <p:spPr>
          <a:xfrm>
            <a:off x="713232" y="1819656"/>
            <a:ext cx="109728" cy="109728"/>
          </a:xfrm>
          <a:prstGeom prst="ellipse">
            <a:avLst/>
          </a:prstGeom>
          <a:solidFill>
            <a:srgbClr val="E5645B"/>
          </a:solidFill>
          <a:ln/>
        </p:spPr>
      </p:sp>
      <p:sp>
        <p:nvSpPr>
          <p:cNvPr id="6" name="Shape 4"/>
          <p:cNvSpPr/>
          <p:nvPr/>
        </p:nvSpPr>
        <p:spPr>
          <a:xfrm>
            <a:off x="914400" y="1819656"/>
            <a:ext cx="109728" cy="109728"/>
          </a:xfrm>
          <a:prstGeom prst="ellipse">
            <a:avLst/>
          </a:prstGeom>
          <a:solidFill>
            <a:srgbClr val="F2C85B"/>
          </a:solidFill>
          <a:ln/>
        </p:spPr>
      </p:sp>
      <p:sp>
        <p:nvSpPr>
          <p:cNvPr id="7" name="Shape 5"/>
          <p:cNvSpPr/>
          <p:nvPr/>
        </p:nvSpPr>
        <p:spPr>
          <a:xfrm>
            <a:off x="1115568" y="1819656"/>
            <a:ext cx="109728" cy="109728"/>
          </a:xfrm>
          <a:prstGeom prst="ellipse">
            <a:avLst/>
          </a:prstGeom>
          <a:solidFill>
            <a:srgbClr val="5CC97A"/>
          </a:solidFill>
          <a:ln/>
        </p:spPr>
      </p:sp>
      <p:sp>
        <p:nvSpPr>
          <p:cNvPr id="8" name="Text 6"/>
          <p:cNvSpPr txBox="1"/>
          <p:nvPr/>
        </p:nvSpPr>
        <p:spPr>
          <a:xfrm>
            <a:off x="749808" y="2020824"/>
            <a:ext cx="6583680" cy="2231136"/>
          </a:xfrm>
          <a:prstGeom prst="rect">
            <a:avLst/>
          </a:prstGeom>
          <a:noFill/>
          <a:ln/>
        </p:spPr>
        <p:txBody>
          <a:bodyPr wrap="square" lIns="0" tIns="0" rIns="0" bIns="0" rtlCol="0" anchor="t"/>
          <a:lstStyle/>
          <a:p>
            <a:pPr marL="0" indent="0">
              <a:lnSpc>
                <a:spcPct val="104000"/>
              </a:lnSpc>
              <a:buNone/>
            </a:pPr>
            <a:r>
              <a:rPr lang="en-US" sz="1600" dirty="0">
                <a:solidFill>
                  <a:srgbClr val="E8EEF4"/>
                </a:solidFill>
                <a:latin typeface="Courier New" pitchFamily="34" charset="0"/>
                <a:ea typeface="Courier New" pitchFamily="34" charset="-122"/>
                <a:cs typeface="Courier New" pitchFamily="34" charset="-120"/>
              </a:rPr>
              <a:t>print("Chatbot: Hi! Type 'bye' anytime to exit.")</a:t>
            </a:r>
            <a:endParaRPr lang="en-US" sz="1600" dirty="0"/>
          </a:p>
          <a:p>
            <a:pPr marL="0" indent="0">
              <a:lnSpc>
                <a:spcPct val="104000"/>
              </a:lnSpc>
              <a:buNone/>
            </a:pPr>
            <a:r>
              <a:rPr lang="en-US" sz="1600" dirty="0">
                <a:solidFill>
                  <a:srgbClr val="E8EEF4"/>
                </a:solidFill>
                <a:latin typeface="Courier New" pitchFamily="34" charset="0"/>
                <a:ea typeface="Courier New" pitchFamily="34" charset="-122"/>
                <a:cs typeface="Courier New" pitchFamily="34" charset="-120"/>
              </a:rPr>
              <a:t>while True:</a:t>
            </a:r>
            <a:endParaRPr lang="en-US" sz="1600" dirty="0"/>
          </a:p>
          <a:p>
            <a:pPr marL="0" indent="0">
              <a:lnSpc>
                <a:spcPct val="104000"/>
              </a:lnSpc>
              <a:buNone/>
            </a:pPr>
            <a:r>
              <a:rPr lang="en-US" sz="1600" dirty="0">
                <a:solidFill>
                  <a:srgbClr val="E8EEF4"/>
                </a:solidFill>
                <a:latin typeface="Courier New" pitchFamily="34" charset="0"/>
                <a:ea typeface="Courier New" pitchFamily="34" charset="-122"/>
                <a:cs typeface="Courier New" pitchFamily="34" charset="-120"/>
              </a:rPr>
              <a:t>    user_input = input("You: ")</a:t>
            </a:r>
            <a:endParaRPr lang="en-US" sz="1600" dirty="0"/>
          </a:p>
          <a:p>
            <a:pPr marL="0" indent="0">
              <a:lnSpc>
                <a:spcPct val="104000"/>
              </a:lnSpc>
              <a:buNone/>
            </a:pPr>
            <a:r>
              <a:rPr lang="en-US" sz="1600" dirty="0">
                <a:solidFill>
                  <a:srgbClr val="E8EEF4"/>
                </a:solidFill>
                <a:latin typeface="Courier New" pitchFamily="34" charset="0"/>
                <a:ea typeface="Courier New" pitchFamily="34" charset="-122"/>
                <a:cs typeface="Courier New" pitchFamily="34" charset="-120"/>
              </a:rPr>
              <a:t>    if "bye" in user_input.lower():</a:t>
            </a:r>
            <a:endParaRPr lang="en-US" sz="1600" dirty="0"/>
          </a:p>
          <a:p>
            <a:pPr marL="0" indent="0">
              <a:lnSpc>
                <a:spcPct val="104000"/>
              </a:lnSpc>
              <a:buNone/>
            </a:pPr>
            <a:r>
              <a:rPr lang="en-US" sz="1600" dirty="0">
                <a:solidFill>
                  <a:srgbClr val="E8EEF4"/>
                </a:solidFill>
                <a:latin typeface="Courier New" pitchFamily="34" charset="0"/>
                <a:ea typeface="Courier New" pitchFamily="34" charset="-122"/>
                <a:cs typeface="Courier New" pitchFamily="34" charset="-120"/>
              </a:rPr>
              <a:t>        print("Chatbot: Bye! Have a great day.")</a:t>
            </a:r>
            <a:endParaRPr lang="en-US" sz="1600" dirty="0"/>
          </a:p>
          <a:p>
            <a:pPr marL="0" indent="0">
              <a:lnSpc>
                <a:spcPct val="104000"/>
              </a:lnSpc>
              <a:buNone/>
            </a:pPr>
            <a:r>
              <a:rPr lang="en-US" sz="1600" dirty="0">
                <a:solidFill>
                  <a:srgbClr val="E8EEF4"/>
                </a:solidFill>
                <a:latin typeface="Courier New" pitchFamily="34" charset="0"/>
                <a:ea typeface="Courier New" pitchFamily="34" charset="-122"/>
                <a:cs typeface="Courier New" pitchFamily="34" charset="-120"/>
              </a:rPr>
              <a:t>        break</a:t>
            </a:r>
            <a:endParaRPr lang="en-US" sz="1600" dirty="0"/>
          </a:p>
          <a:p>
            <a:pPr marL="0" indent="0">
              <a:lnSpc>
                <a:spcPct val="104000"/>
              </a:lnSpc>
              <a:buNone/>
            </a:pPr>
            <a:r>
              <a:rPr lang="en-US" sz="1600" dirty="0">
                <a:solidFill>
                  <a:srgbClr val="E8EEF4"/>
                </a:solidFill>
                <a:latin typeface="Courier New" pitchFamily="34" charset="0"/>
                <a:ea typeface="Courier New" pitchFamily="34" charset="-122"/>
                <a:cs typeface="Courier New" pitchFamily="34" charset="-120"/>
              </a:rPr>
              <a:t>    response = chatbot_response(user_input)</a:t>
            </a:r>
            <a:endParaRPr lang="en-US" sz="1600" dirty="0"/>
          </a:p>
          <a:p>
            <a:pPr marL="0" indent="0">
              <a:lnSpc>
                <a:spcPct val="104000"/>
              </a:lnSpc>
              <a:buNone/>
            </a:pPr>
            <a:r>
              <a:rPr lang="en-US" sz="1600" dirty="0">
                <a:solidFill>
                  <a:srgbClr val="E8EEF4"/>
                </a:solidFill>
                <a:latin typeface="Courier New" pitchFamily="34" charset="0"/>
                <a:ea typeface="Courier New" pitchFamily="34" charset="-122"/>
                <a:cs typeface="Courier New" pitchFamily="34" charset="-120"/>
              </a:rPr>
              <a:t>    print("Chatbot:", response)</a:t>
            </a:r>
            <a:endParaRPr lang="en-US" sz="1600" dirty="0"/>
          </a:p>
        </p:txBody>
      </p:sp>
      <p:sp>
        <p:nvSpPr>
          <p:cNvPr id="9" name="Shape 7"/>
          <p:cNvSpPr/>
          <p:nvPr/>
        </p:nvSpPr>
        <p:spPr>
          <a:xfrm>
            <a:off x="548640" y="4526280"/>
            <a:ext cx="6949440" cy="1371600"/>
          </a:xfrm>
          <a:prstGeom prst="roundRect">
            <a:avLst>
              <a:gd name="adj" fmla="val 4000"/>
            </a:avLst>
          </a:prstGeom>
          <a:solidFill>
            <a:srgbClr val="EAF3EC"/>
          </a:solidFill>
          <a:ln w="12700">
            <a:solidFill>
              <a:srgbClr val="BFDFC8"/>
            </a:solidFill>
            <a:prstDash val="solid"/>
          </a:ln>
        </p:spPr>
      </p:sp>
      <p:sp>
        <p:nvSpPr>
          <p:cNvPr id="10" name="Text 8"/>
          <p:cNvSpPr txBox="1"/>
          <p:nvPr/>
        </p:nvSpPr>
        <p:spPr>
          <a:xfrm>
            <a:off x="685800" y="4599432"/>
            <a:ext cx="6675120" cy="274320"/>
          </a:xfrm>
          <a:prstGeom prst="rect">
            <a:avLst/>
          </a:prstGeom>
          <a:noFill/>
          <a:ln/>
        </p:spPr>
        <p:txBody>
          <a:bodyPr wrap="square" lIns="0" tIns="0" rIns="0" bIns="0" rtlCol="0" anchor="ctr"/>
          <a:lstStyle/>
          <a:p>
            <a:pPr marL="0" indent="0">
              <a:buNone/>
            </a:pPr>
            <a:r>
              <a:rPr lang="en-US" sz="1600" b="1" kern="0" spc="100" dirty="0">
                <a:solidFill>
                  <a:srgbClr val="3F9142"/>
                </a:solidFill>
                <a:latin typeface="Calibri" pitchFamily="34" charset="0"/>
                <a:ea typeface="Calibri" pitchFamily="34" charset="-122"/>
                <a:cs typeface="Calibri" pitchFamily="34" charset="-120"/>
              </a:rPr>
              <a:t>OUTPUT</a:t>
            </a:r>
            <a:endParaRPr lang="en-US" sz="1600" dirty="0"/>
          </a:p>
        </p:txBody>
      </p:sp>
      <p:sp>
        <p:nvSpPr>
          <p:cNvPr id="11" name="Text 9"/>
          <p:cNvSpPr txBox="1"/>
          <p:nvPr/>
        </p:nvSpPr>
        <p:spPr>
          <a:xfrm>
            <a:off x="685800" y="4892040"/>
            <a:ext cx="6675120" cy="914400"/>
          </a:xfrm>
          <a:prstGeom prst="rect">
            <a:avLst/>
          </a:prstGeom>
          <a:noFill/>
          <a:ln/>
        </p:spPr>
        <p:txBody>
          <a:bodyPr wrap="square" lIns="0" tIns="0" rIns="0" bIns="0" rtlCol="0" anchor="t"/>
          <a:lstStyle/>
          <a:p>
            <a:pPr marL="0" indent="0">
              <a:lnSpc>
                <a:spcPct val="104000"/>
              </a:lnSpc>
              <a:buNone/>
            </a:pPr>
            <a:r>
              <a:rPr lang="en-US" sz="1600" dirty="0">
                <a:solidFill>
                  <a:srgbClr val="234A2B"/>
                </a:solidFill>
                <a:latin typeface="Courier New" pitchFamily="34" charset="0"/>
                <a:ea typeface="Courier New" pitchFamily="34" charset="-122"/>
                <a:cs typeface="Courier New" pitchFamily="34" charset="-120"/>
              </a:rPr>
              <a:t>You: hello</a:t>
            </a:r>
            <a:endParaRPr lang="en-US" sz="1600" dirty="0"/>
          </a:p>
          <a:p>
            <a:pPr marL="0" indent="0">
              <a:lnSpc>
                <a:spcPct val="104000"/>
              </a:lnSpc>
              <a:buNone/>
            </a:pPr>
            <a:r>
              <a:rPr lang="en-US" sz="1600" dirty="0">
                <a:solidFill>
                  <a:srgbClr val="234A2B"/>
                </a:solidFill>
                <a:latin typeface="Courier New" pitchFamily="34" charset="0"/>
                <a:ea typeface="Courier New" pitchFamily="34" charset="-122"/>
                <a:cs typeface="Courier New" pitchFamily="34" charset="-120"/>
              </a:rPr>
              <a:t>Chatbot: Hi there! How can I help?</a:t>
            </a:r>
            <a:endParaRPr lang="en-US" sz="1600" dirty="0"/>
          </a:p>
          <a:p>
            <a:pPr marL="0" indent="0">
              <a:lnSpc>
                <a:spcPct val="104000"/>
              </a:lnSpc>
              <a:buNone/>
            </a:pPr>
            <a:r>
              <a:rPr lang="en-US" sz="1600" dirty="0">
                <a:solidFill>
                  <a:srgbClr val="234A2B"/>
                </a:solidFill>
                <a:latin typeface="Courier New" pitchFamily="34" charset="0"/>
                <a:ea typeface="Courier New" pitchFamily="34" charset="-122"/>
                <a:cs typeface="Courier New" pitchFamily="34" charset="-120"/>
              </a:rPr>
              <a:t>You: bye</a:t>
            </a:r>
            <a:endParaRPr lang="en-US" sz="1600" dirty="0"/>
          </a:p>
          <a:p>
            <a:pPr marL="0" indent="0">
              <a:lnSpc>
                <a:spcPct val="104000"/>
              </a:lnSpc>
              <a:buNone/>
            </a:pPr>
            <a:r>
              <a:rPr lang="en-US" sz="1600" dirty="0">
                <a:solidFill>
                  <a:srgbClr val="234A2B"/>
                </a:solidFill>
                <a:latin typeface="Courier New" pitchFamily="34" charset="0"/>
                <a:ea typeface="Courier New" pitchFamily="34" charset="-122"/>
                <a:cs typeface="Courier New" pitchFamily="34" charset="-120"/>
              </a:rPr>
              <a:t>Chatbot: Bye! Have a great day.</a:t>
            </a:r>
            <a:endParaRPr lang="en-US" sz="1600" dirty="0"/>
          </a:p>
        </p:txBody>
      </p:sp>
      <p:sp>
        <p:nvSpPr>
          <p:cNvPr id="12" name="Text 10"/>
          <p:cNvSpPr txBox="1"/>
          <p:nvPr/>
        </p:nvSpPr>
        <p:spPr>
          <a:xfrm>
            <a:off x="7726680" y="1691640"/>
            <a:ext cx="3931920" cy="274320"/>
          </a:xfrm>
          <a:prstGeom prst="rect">
            <a:avLst/>
          </a:prstGeom>
          <a:noFill/>
          <a:ln/>
        </p:spPr>
        <p:txBody>
          <a:bodyPr wrap="square" lIns="0" tIns="0" rIns="0" bIns="0" rtlCol="0" anchor="ctr"/>
          <a:lstStyle/>
          <a:p>
            <a:pPr marL="0" indent="0">
              <a:buNone/>
            </a:pPr>
            <a:r>
              <a:rPr lang="en-US" sz="1600" b="1" kern="0" spc="120" dirty="0">
                <a:solidFill>
                  <a:srgbClr val="2E86AB"/>
                </a:solidFill>
                <a:latin typeface="Calibri" pitchFamily="34" charset="0"/>
                <a:ea typeface="Calibri" pitchFamily="34" charset="-122"/>
                <a:cs typeface="Calibri" pitchFamily="34" charset="-120"/>
              </a:rPr>
              <a:t>WHY A while LOOP</a:t>
            </a:r>
            <a:endParaRPr lang="en-US" sz="1600" dirty="0"/>
          </a:p>
        </p:txBody>
      </p:sp>
      <p:sp>
        <p:nvSpPr>
          <p:cNvPr id="13" name="Shape 11"/>
          <p:cNvSpPr/>
          <p:nvPr/>
        </p:nvSpPr>
        <p:spPr>
          <a:xfrm>
            <a:off x="7726680" y="2011680"/>
            <a:ext cx="3931920" cy="621792"/>
          </a:xfrm>
          <a:prstGeom prst="roundRect">
            <a:avLst>
              <a:gd name="adj" fmla="val 10294"/>
            </a:avLst>
          </a:prstGeom>
          <a:solidFill>
            <a:srgbClr val="142A45"/>
          </a:solidFill>
          <a:ln/>
        </p:spPr>
      </p:sp>
      <p:sp>
        <p:nvSpPr>
          <p:cNvPr id="14" name="Text 12"/>
          <p:cNvSpPr txBox="1"/>
          <p:nvPr/>
        </p:nvSpPr>
        <p:spPr>
          <a:xfrm>
            <a:off x="7836408" y="2011680"/>
            <a:ext cx="3712464" cy="62179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Show a message</a:t>
            </a:r>
            <a:endParaRPr lang="en-US" sz="1600" dirty="0"/>
          </a:p>
        </p:txBody>
      </p:sp>
      <p:sp>
        <p:nvSpPr>
          <p:cNvPr id="15" name="Text 13"/>
          <p:cNvSpPr txBox="1"/>
          <p:nvPr/>
        </p:nvSpPr>
        <p:spPr>
          <a:xfrm>
            <a:off x="7726680" y="2633472"/>
            <a:ext cx="3931920" cy="146304"/>
          </a:xfrm>
          <a:prstGeom prst="rect">
            <a:avLst/>
          </a:prstGeom>
          <a:noFill/>
          <a:ln/>
        </p:spPr>
        <p:txBody>
          <a:bodyPr wrap="square" lIns="0" tIns="0" rIns="0" bIns="0" rtlCol="0" anchor="ctr"/>
          <a:lstStyle/>
          <a:p>
            <a:pPr marL="0" indent="0" algn="ctr">
              <a:buNone/>
            </a:pPr>
            <a:r>
              <a:rPr lang="en-US" sz="1600" b="1" dirty="0">
                <a:solidFill>
                  <a:srgbClr val="2E86AB"/>
                </a:solidFill>
                <a:latin typeface="Calibri" pitchFamily="34" charset="0"/>
                <a:ea typeface="Calibri" pitchFamily="34" charset="-122"/>
                <a:cs typeface="Calibri" pitchFamily="34" charset="-120"/>
              </a:rPr>
              <a:t>↓</a:t>
            </a:r>
            <a:endParaRPr lang="en-US" sz="1600" dirty="0"/>
          </a:p>
        </p:txBody>
      </p:sp>
      <p:sp>
        <p:nvSpPr>
          <p:cNvPr id="16" name="Shape 14"/>
          <p:cNvSpPr/>
          <p:nvPr/>
        </p:nvSpPr>
        <p:spPr>
          <a:xfrm>
            <a:off x="7726680" y="2779776"/>
            <a:ext cx="3931920" cy="621792"/>
          </a:xfrm>
          <a:prstGeom prst="roundRect">
            <a:avLst>
              <a:gd name="adj" fmla="val 10294"/>
            </a:avLst>
          </a:prstGeom>
          <a:solidFill>
            <a:srgbClr val="142A45"/>
          </a:solidFill>
          <a:ln/>
        </p:spPr>
      </p:sp>
      <p:sp>
        <p:nvSpPr>
          <p:cNvPr id="17" name="Text 15"/>
          <p:cNvSpPr txBox="1"/>
          <p:nvPr/>
        </p:nvSpPr>
        <p:spPr>
          <a:xfrm>
            <a:off x="7836408" y="2779776"/>
            <a:ext cx="3712464" cy="62179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Read user input</a:t>
            </a:r>
            <a:endParaRPr lang="en-US" sz="1600" dirty="0"/>
          </a:p>
        </p:txBody>
      </p:sp>
      <p:sp>
        <p:nvSpPr>
          <p:cNvPr id="18" name="Text 16"/>
          <p:cNvSpPr txBox="1"/>
          <p:nvPr/>
        </p:nvSpPr>
        <p:spPr>
          <a:xfrm>
            <a:off x="7726680" y="3401568"/>
            <a:ext cx="3931920" cy="146304"/>
          </a:xfrm>
          <a:prstGeom prst="rect">
            <a:avLst/>
          </a:prstGeom>
          <a:noFill/>
          <a:ln/>
        </p:spPr>
        <p:txBody>
          <a:bodyPr wrap="square" lIns="0" tIns="0" rIns="0" bIns="0" rtlCol="0" anchor="ctr"/>
          <a:lstStyle/>
          <a:p>
            <a:pPr marL="0" indent="0" algn="ctr">
              <a:buNone/>
            </a:pPr>
            <a:r>
              <a:rPr lang="en-US" sz="1600" b="1" dirty="0">
                <a:solidFill>
                  <a:srgbClr val="2E86AB"/>
                </a:solidFill>
                <a:latin typeface="Calibri" pitchFamily="34" charset="0"/>
                <a:ea typeface="Calibri" pitchFamily="34" charset="-122"/>
                <a:cs typeface="Calibri" pitchFamily="34" charset="-120"/>
              </a:rPr>
              <a:t>↓</a:t>
            </a:r>
            <a:endParaRPr lang="en-US" sz="1600" dirty="0"/>
          </a:p>
        </p:txBody>
      </p:sp>
      <p:sp>
        <p:nvSpPr>
          <p:cNvPr id="19" name="Shape 17"/>
          <p:cNvSpPr/>
          <p:nvPr/>
        </p:nvSpPr>
        <p:spPr>
          <a:xfrm>
            <a:off x="7726680" y="3547872"/>
            <a:ext cx="3931920" cy="621792"/>
          </a:xfrm>
          <a:prstGeom prst="roundRect">
            <a:avLst>
              <a:gd name="adj" fmla="val 10294"/>
            </a:avLst>
          </a:prstGeom>
          <a:solidFill>
            <a:srgbClr val="142A45"/>
          </a:solidFill>
          <a:ln/>
        </p:spPr>
      </p:sp>
      <p:sp>
        <p:nvSpPr>
          <p:cNvPr id="20" name="Text 18"/>
          <p:cNvSpPr txBox="1"/>
          <p:nvPr/>
        </p:nvSpPr>
        <p:spPr>
          <a:xfrm>
            <a:off x="7836408" y="3547872"/>
            <a:ext cx="3712464" cy="62179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Check for exit word</a:t>
            </a:r>
            <a:endParaRPr lang="en-US" sz="1600" dirty="0"/>
          </a:p>
        </p:txBody>
      </p:sp>
      <p:sp>
        <p:nvSpPr>
          <p:cNvPr id="21" name="Text 19"/>
          <p:cNvSpPr txBox="1"/>
          <p:nvPr/>
        </p:nvSpPr>
        <p:spPr>
          <a:xfrm>
            <a:off x="7726680" y="4169664"/>
            <a:ext cx="3931920" cy="146304"/>
          </a:xfrm>
          <a:prstGeom prst="rect">
            <a:avLst/>
          </a:prstGeom>
          <a:noFill/>
          <a:ln/>
        </p:spPr>
        <p:txBody>
          <a:bodyPr wrap="square" lIns="0" tIns="0" rIns="0" bIns="0" rtlCol="0" anchor="ctr"/>
          <a:lstStyle/>
          <a:p>
            <a:pPr marL="0" indent="0" algn="ctr">
              <a:buNone/>
            </a:pPr>
            <a:r>
              <a:rPr lang="en-US" sz="1600" b="1" dirty="0">
                <a:solidFill>
                  <a:srgbClr val="2E86AB"/>
                </a:solidFill>
                <a:latin typeface="Calibri" pitchFamily="34" charset="0"/>
                <a:ea typeface="Calibri" pitchFamily="34" charset="-122"/>
                <a:cs typeface="Calibri" pitchFamily="34" charset="-120"/>
              </a:rPr>
              <a:t>↓</a:t>
            </a:r>
            <a:endParaRPr lang="en-US" sz="1600" dirty="0"/>
          </a:p>
        </p:txBody>
      </p:sp>
      <p:sp>
        <p:nvSpPr>
          <p:cNvPr id="22" name="Shape 20"/>
          <p:cNvSpPr/>
          <p:nvPr/>
        </p:nvSpPr>
        <p:spPr>
          <a:xfrm>
            <a:off x="7726680" y="4315968"/>
            <a:ext cx="3931920" cy="621792"/>
          </a:xfrm>
          <a:prstGeom prst="roundRect">
            <a:avLst>
              <a:gd name="adj" fmla="val 10294"/>
            </a:avLst>
          </a:prstGeom>
          <a:solidFill>
            <a:srgbClr val="142A45"/>
          </a:solidFill>
          <a:ln/>
        </p:spPr>
      </p:sp>
      <p:sp>
        <p:nvSpPr>
          <p:cNvPr id="23" name="Text 21"/>
          <p:cNvSpPr txBox="1"/>
          <p:nvPr/>
        </p:nvSpPr>
        <p:spPr>
          <a:xfrm>
            <a:off x="7836408" y="4315968"/>
            <a:ext cx="3712464" cy="62179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Call chatbot_response()</a:t>
            </a:r>
            <a:endParaRPr lang="en-US" sz="1600" dirty="0"/>
          </a:p>
        </p:txBody>
      </p:sp>
      <p:sp>
        <p:nvSpPr>
          <p:cNvPr id="24" name="Text 22"/>
          <p:cNvSpPr txBox="1"/>
          <p:nvPr/>
        </p:nvSpPr>
        <p:spPr>
          <a:xfrm>
            <a:off x="7726680" y="4937760"/>
            <a:ext cx="3931920" cy="146304"/>
          </a:xfrm>
          <a:prstGeom prst="rect">
            <a:avLst/>
          </a:prstGeom>
          <a:noFill/>
          <a:ln/>
        </p:spPr>
        <p:txBody>
          <a:bodyPr wrap="square" lIns="0" tIns="0" rIns="0" bIns="0" rtlCol="0" anchor="ctr"/>
          <a:lstStyle/>
          <a:p>
            <a:pPr marL="0" indent="0" algn="ctr">
              <a:buNone/>
            </a:pPr>
            <a:r>
              <a:rPr lang="en-US" sz="1600" b="1" dirty="0">
                <a:solidFill>
                  <a:srgbClr val="2E86AB"/>
                </a:solidFill>
                <a:latin typeface="Calibri" pitchFamily="34" charset="0"/>
                <a:ea typeface="Calibri" pitchFamily="34" charset="-122"/>
                <a:cs typeface="Calibri" pitchFamily="34" charset="-120"/>
              </a:rPr>
              <a:t>↓</a:t>
            </a:r>
            <a:endParaRPr lang="en-US" sz="1600" dirty="0"/>
          </a:p>
        </p:txBody>
      </p:sp>
      <p:sp>
        <p:nvSpPr>
          <p:cNvPr id="25" name="Shape 23"/>
          <p:cNvSpPr/>
          <p:nvPr/>
        </p:nvSpPr>
        <p:spPr>
          <a:xfrm>
            <a:off x="7726680" y="5084064"/>
            <a:ext cx="3931920" cy="621792"/>
          </a:xfrm>
          <a:prstGeom prst="roundRect">
            <a:avLst>
              <a:gd name="adj" fmla="val 10294"/>
            </a:avLst>
          </a:prstGeom>
          <a:solidFill>
            <a:srgbClr val="FFC857"/>
          </a:solidFill>
          <a:ln/>
        </p:spPr>
      </p:sp>
      <p:sp>
        <p:nvSpPr>
          <p:cNvPr id="26" name="Text 24"/>
          <p:cNvSpPr txBox="1"/>
          <p:nvPr/>
        </p:nvSpPr>
        <p:spPr>
          <a:xfrm>
            <a:off x="7836408" y="5084064"/>
            <a:ext cx="3712464" cy="621792"/>
          </a:xfrm>
          <a:prstGeom prst="rect">
            <a:avLst/>
          </a:prstGeom>
          <a:noFill/>
          <a:ln/>
        </p:spPr>
        <p:txBody>
          <a:bodyPr wrap="square" lIns="0" tIns="0" rIns="0" bIns="0" rtlCol="0" anchor="ctr"/>
          <a:lstStyle/>
          <a:p>
            <a:pPr marL="0" indent="0" algn="ctr">
              <a:buNone/>
            </a:pPr>
            <a:r>
              <a:rPr lang="en-US" sz="1600" b="1" dirty="0">
                <a:solidFill>
                  <a:srgbClr val="0B1930"/>
                </a:solidFill>
                <a:latin typeface="Calibri" pitchFamily="34" charset="0"/>
                <a:ea typeface="Calibri" pitchFamily="34" charset="-122"/>
                <a:cs typeface="Calibri" pitchFamily="34" charset="-120"/>
              </a:rPr>
              <a:t>Print the reply — repeat</a:t>
            </a:r>
            <a:endParaRPr lang="en-US" sz="1600" dirty="0"/>
          </a:p>
        </p:txBody>
      </p:sp>
      <p:sp>
        <p:nvSpPr>
          <p:cNvPr id="27" name="Text 25"/>
          <p:cNvSpPr txBox="1"/>
          <p:nvPr/>
        </p:nvSpPr>
        <p:spPr>
          <a:xfrm>
            <a:off x="548640" y="6455664"/>
            <a:ext cx="9418320" cy="292608"/>
          </a:xfrm>
          <a:prstGeom prst="rect">
            <a:avLst/>
          </a:prstGeom>
          <a:noFill/>
          <a:ln/>
        </p:spPr>
        <p:txBody>
          <a:bodyPr wrap="square" lIns="0" tIns="0" rIns="0" bIns="0" rtlCol="0" anchor="ctr"/>
          <a:lstStyle/>
          <a:p>
            <a:pPr marL="0" indent="0">
              <a:buNone/>
            </a:pPr>
            <a:r>
              <a:rPr lang="en-US" sz="1600" dirty="0">
                <a:solidFill>
                  <a:srgbClr val="5B6B79"/>
                </a:solidFill>
                <a:latin typeface="Calibri" pitchFamily="34" charset="0"/>
                <a:ea typeface="Calibri" pitchFamily="34" charset="-122"/>
                <a:cs typeface="Calibri" pitchFamily="34" charset="-120"/>
              </a:rPr>
              <a:t>AI Practical 1  •  Development Environment, Python &amp; Rule-Based Chatbot</a:t>
            </a:r>
            <a:endParaRPr lang="en-US" sz="1600" dirty="0"/>
          </a:p>
        </p:txBody>
      </p:sp>
      <p:sp>
        <p:nvSpPr>
          <p:cNvPr id="28" name="Text 26"/>
          <p:cNvSpPr txBox="1"/>
          <p:nvPr/>
        </p:nvSpPr>
        <p:spPr>
          <a:xfrm>
            <a:off x="11247120" y="6455664"/>
            <a:ext cx="457200" cy="292608"/>
          </a:xfrm>
          <a:prstGeom prst="rect">
            <a:avLst/>
          </a:prstGeom>
          <a:noFill/>
          <a:ln/>
        </p:spPr>
        <p:txBody>
          <a:bodyPr wrap="square" lIns="0" tIns="0" rIns="0" bIns="0" rtlCol="0" anchor="ctr"/>
          <a:lstStyle/>
          <a:p>
            <a:pPr marL="0" indent="0" algn="r">
              <a:buNone/>
            </a:pPr>
            <a:r>
              <a:rPr lang="en-US" sz="1600" dirty="0">
                <a:solidFill>
                  <a:srgbClr val="5B6B79"/>
                </a:solidFill>
                <a:latin typeface="Calibri" pitchFamily="34" charset="0"/>
                <a:ea typeface="Calibri" pitchFamily="34" charset="-122"/>
                <a:cs typeface="Calibri" pitchFamily="34" charset="-120"/>
              </a:rPr>
              <a:t>25</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7FA"/>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0515600" cy="310896"/>
          </a:xfrm>
          <a:prstGeom prst="rect">
            <a:avLst/>
          </a:prstGeom>
          <a:noFill/>
          <a:ln/>
        </p:spPr>
        <p:txBody>
          <a:bodyPr wrap="square" lIns="0" tIns="0" rIns="0" bIns="0" rtlCol="0" anchor="ctr"/>
          <a:lstStyle/>
          <a:p>
            <a:pPr marL="0" indent="0">
              <a:buNone/>
            </a:pPr>
            <a:r>
              <a:rPr lang="en-US" sz="1600" b="1" kern="0" spc="200" dirty="0">
                <a:solidFill>
                  <a:srgbClr val="2E86AB"/>
                </a:solidFill>
                <a:latin typeface="Calibri" pitchFamily="34" charset="0"/>
                <a:ea typeface="Calibri" pitchFamily="34" charset="-122"/>
                <a:cs typeface="Calibri" pitchFamily="34" charset="-120"/>
              </a:rPr>
              <a:t>SECTION D — BUILDING THE CHATBOT</a:t>
            </a:r>
            <a:endParaRPr lang="en-US" sz="1600" dirty="0"/>
          </a:p>
        </p:txBody>
      </p:sp>
      <p:sp>
        <p:nvSpPr>
          <p:cNvPr id="3" name="Text 1"/>
          <p:cNvSpPr txBox="1"/>
          <p:nvPr/>
        </p:nvSpPr>
        <p:spPr>
          <a:xfrm>
            <a:off x="548640" y="603504"/>
            <a:ext cx="11064240" cy="731520"/>
          </a:xfrm>
          <a:prstGeom prst="rect">
            <a:avLst/>
          </a:prstGeom>
          <a:noFill/>
          <a:ln/>
        </p:spPr>
        <p:txBody>
          <a:bodyPr wrap="square" lIns="0" tIns="0" rIns="0" bIns="0" rtlCol="0" anchor="ctr"/>
          <a:lstStyle/>
          <a:p>
            <a:pPr marL="0" indent="0">
              <a:buNone/>
            </a:pPr>
            <a:r>
              <a:rPr lang="en-US" sz="2800" b="1" dirty="0">
                <a:solidFill>
                  <a:srgbClr val="142A45"/>
                </a:solidFill>
                <a:latin typeface="Cambria" pitchFamily="34" charset="0"/>
                <a:ea typeface="Cambria" pitchFamily="34" charset="-122"/>
                <a:cs typeface="Cambria" pitchFamily="34" charset="-120"/>
              </a:rPr>
              <a:t>The Complete Program</a:t>
            </a:r>
            <a:endParaRPr lang="en-US" sz="2800" dirty="0"/>
          </a:p>
        </p:txBody>
      </p:sp>
      <p:sp>
        <p:nvSpPr>
          <p:cNvPr id="4" name="Text 2"/>
          <p:cNvSpPr txBox="1"/>
          <p:nvPr/>
        </p:nvSpPr>
        <p:spPr>
          <a:xfrm>
            <a:off x="548640" y="1143000"/>
            <a:ext cx="10789920" cy="274320"/>
          </a:xfrm>
          <a:prstGeom prst="rect">
            <a:avLst/>
          </a:prstGeom>
          <a:noFill/>
          <a:ln/>
        </p:spPr>
        <p:txBody>
          <a:bodyPr wrap="square" lIns="0" tIns="0" rIns="0" bIns="0" rtlCol="0" anchor="ctr"/>
          <a:lstStyle/>
          <a:p>
            <a:pPr marL="0" indent="0">
              <a:buNone/>
            </a:pPr>
            <a:r>
              <a:rPr lang="en-US" sz="1600" dirty="0">
                <a:solidFill>
                  <a:srgbClr val="5B6B79"/>
                </a:solidFill>
                <a:latin typeface="Calibri" pitchFamily="34" charset="0"/>
                <a:ea typeface="Calibri" pitchFamily="34" charset="-122"/>
                <a:cs typeface="Calibri" pitchFamily="34" charset="-120"/>
              </a:rPr>
              <a:t>Everything from Steps 1–3, combined into one runnable file.</a:t>
            </a:r>
            <a:endParaRPr lang="en-US" sz="1600" dirty="0"/>
          </a:p>
        </p:txBody>
      </p:sp>
      <p:sp>
        <p:nvSpPr>
          <p:cNvPr id="5" name="Shape 3"/>
          <p:cNvSpPr/>
          <p:nvPr/>
        </p:nvSpPr>
        <p:spPr>
          <a:xfrm>
            <a:off x="548640" y="1554480"/>
            <a:ext cx="5532120" cy="4709160"/>
          </a:xfrm>
          <a:prstGeom prst="roundRect">
            <a:avLst>
              <a:gd name="adj" fmla="val 1553"/>
            </a:avLst>
          </a:prstGeom>
          <a:solidFill>
            <a:srgbClr val="0D1B2E"/>
          </a:solidFill>
          <a:ln/>
        </p:spPr>
      </p:sp>
      <p:sp>
        <p:nvSpPr>
          <p:cNvPr id="6" name="Shape 4"/>
          <p:cNvSpPr/>
          <p:nvPr/>
        </p:nvSpPr>
        <p:spPr>
          <a:xfrm>
            <a:off x="713232" y="1682496"/>
            <a:ext cx="109728" cy="109728"/>
          </a:xfrm>
          <a:prstGeom prst="ellipse">
            <a:avLst/>
          </a:prstGeom>
          <a:solidFill>
            <a:srgbClr val="E5645B"/>
          </a:solidFill>
          <a:ln/>
        </p:spPr>
      </p:sp>
      <p:sp>
        <p:nvSpPr>
          <p:cNvPr id="7" name="Shape 5"/>
          <p:cNvSpPr/>
          <p:nvPr/>
        </p:nvSpPr>
        <p:spPr>
          <a:xfrm>
            <a:off x="914400" y="1682496"/>
            <a:ext cx="109728" cy="109728"/>
          </a:xfrm>
          <a:prstGeom prst="ellipse">
            <a:avLst/>
          </a:prstGeom>
          <a:solidFill>
            <a:srgbClr val="F2C85B"/>
          </a:solidFill>
          <a:ln/>
        </p:spPr>
      </p:sp>
      <p:sp>
        <p:nvSpPr>
          <p:cNvPr id="8" name="Shape 6"/>
          <p:cNvSpPr/>
          <p:nvPr/>
        </p:nvSpPr>
        <p:spPr>
          <a:xfrm>
            <a:off x="1115568" y="1682496"/>
            <a:ext cx="109728" cy="109728"/>
          </a:xfrm>
          <a:prstGeom prst="ellipse">
            <a:avLst/>
          </a:prstGeom>
          <a:solidFill>
            <a:srgbClr val="5CC97A"/>
          </a:solidFill>
          <a:ln/>
        </p:spPr>
      </p:sp>
      <p:sp>
        <p:nvSpPr>
          <p:cNvPr id="9" name="Text 7"/>
          <p:cNvSpPr txBox="1"/>
          <p:nvPr/>
        </p:nvSpPr>
        <p:spPr>
          <a:xfrm>
            <a:off x="749808" y="1883664"/>
            <a:ext cx="5166360" cy="4288536"/>
          </a:xfrm>
          <a:prstGeom prst="rect">
            <a:avLst/>
          </a:prstGeom>
          <a:noFill/>
          <a:ln/>
        </p:spPr>
        <p:txBody>
          <a:bodyPr wrap="square" lIns="0" tIns="0" rIns="0" bIns="0" rtlCol="0" anchor="t"/>
          <a:lstStyle/>
          <a:p>
            <a:pPr marL="0" indent="0">
              <a:lnSpc>
                <a:spcPct val="104000"/>
              </a:lnSpc>
              <a:buNone/>
            </a:pPr>
            <a:r>
              <a:rPr lang="en-US" sz="1600" dirty="0">
                <a:solidFill>
                  <a:srgbClr val="E8EEF4"/>
                </a:solidFill>
                <a:latin typeface="Courier New" pitchFamily="34" charset="0"/>
                <a:ea typeface="Courier New" pitchFamily="34" charset="-122"/>
                <a:cs typeface="Courier New" pitchFamily="34" charset="-120"/>
              </a:rPr>
              <a:t>def chatbot_response(user_input):</a:t>
            </a:r>
            <a:endParaRPr lang="en-US" sz="1600" dirty="0"/>
          </a:p>
          <a:p>
            <a:pPr marL="0" indent="0">
              <a:lnSpc>
                <a:spcPct val="104000"/>
              </a:lnSpc>
              <a:buNone/>
            </a:pPr>
            <a:r>
              <a:rPr lang="en-US" sz="1600" dirty="0">
                <a:solidFill>
                  <a:srgbClr val="E8EEF4"/>
                </a:solidFill>
                <a:latin typeface="Courier New" pitchFamily="34" charset="0"/>
                <a:ea typeface="Courier New" pitchFamily="34" charset="-122"/>
                <a:cs typeface="Courier New" pitchFamily="34" charset="-120"/>
              </a:rPr>
              <a:t>    user_input = user_input.lower()</a:t>
            </a:r>
            <a:endParaRPr lang="en-US" sz="1600" dirty="0"/>
          </a:p>
          <a:p>
            <a:pPr marL="0" indent="0">
              <a:lnSpc>
                <a:spcPct val="104000"/>
              </a:lnSpc>
              <a:buNone/>
            </a:pPr>
            <a:r>
              <a:rPr lang="en-US" sz="1600" dirty="0">
                <a:solidFill>
                  <a:srgbClr val="E8EEF4"/>
                </a:solidFill>
                <a:latin typeface="Courier New" pitchFamily="34" charset="0"/>
                <a:ea typeface="Courier New" pitchFamily="34" charset="-122"/>
                <a:cs typeface="Courier New" pitchFamily="34" charset="-120"/>
              </a:rPr>
              <a:t>    if "hello" in user_input or "hi" in user_input:</a:t>
            </a:r>
            <a:endParaRPr lang="en-US" sz="1600" dirty="0"/>
          </a:p>
          <a:p>
            <a:pPr marL="0" indent="0">
              <a:lnSpc>
                <a:spcPct val="104000"/>
              </a:lnSpc>
              <a:buNone/>
            </a:pPr>
            <a:r>
              <a:rPr lang="en-US" sz="1600" dirty="0">
                <a:solidFill>
                  <a:srgbClr val="E8EEF4"/>
                </a:solidFill>
                <a:latin typeface="Courier New" pitchFamily="34" charset="0"/>
                <a:ea typeface="Courier New" pitchFamily="34" charset="-122"/>
                <a:cs typeface="Courier New" pitchFamily="34" charset="-120"/>
              </a:rPr>
              <a:t>        return "Hi there! How can I help?"</a:t>
            </a:r>
            <a:endParaRPr lang="en-US" sz="1600" dirty="0"/>
          </a:p>
          <a:p>
            <a:pPr marL="0" indent="0">
              <a:lnSpc>
                <a:spcPct val="104000"/>
              </a:lnSpc>
              <a:buNone/>
            </a:pPr>
            <a:r>
              <a:rPr lang="en-US" sz="1600" dirty="0">
                <a:solidFill>
                  <a:srgbClr val="E8EEF4"/>
                </a:solidFill>
                <a:latin typeface="Courier New" pitchFamily="34" charset="0"/>
                <a:ea typeface="Courier New" pitchFamily="34" charset="-122"/>
                <a:cs typeface="Courier New" pitchFamily="34" charset="-120"/>
              </a:rPr>
              <a:t>    elif "your name" in user_input:</a:t>
            </a:r>
            <a:endParaRPr lang="en-US" sz="1600" dirty="0"/>
          </a:p>
          <a:p>
            <a:pPr marL="0" indent="0">
              <a:lnSpc>
                <a:spcPct val="104000"/>
              </a:lnSpc>
              <a:buNone/>
            </a:pPr>
            <a:r>
              <a:rPr lang="en-US" sz="1600" dirty="0">
                <a:solidFill>
                  <a:srgbClr val="E8EEF4"/>
                </a:solidFill>
                <a:latin typeface="Courier New" pitchFamily="34" charset="0"/>
                <a:ea typeface="Courier New" pitchFamily="34" charset="-122"/>
                <a:cs typeface="Courier New" pitchFamily="34" charset="-120"/>
              </a:rPr>
              <a:t>        return "I am a rule-based chatbot!"</a:t>
            </a:r>
            <a:endParaRPr lang="en-US" sz="1600" dirty="0"/>
          </a:p>
          <a:p>
            <a:pPr marL="0" indent="0">
              <a:lnSpc>
                <a:spcPct val="104000"/>
              </a:lnSpc>
              <a:buNone/>
            </a:pPr>
            <a:r>
              <a:rPr lang="en-US" sz="1600" dirty="0">
                <a:solidFill>
                  <a:srgbClr val="E8EEF4"/>
                </a:solidFill>
                <a:latin typeface="Courier New" pitchFamily="34" charset="0"/>
                <a:ea typeface="Courier New" pitchFamily="34" charset="-122"/>
                <a:cs typeface="Courier New" pitchFamily="34" charset="-120"/>
              </a:rPr>
              <a:t>    elif "how are you" in user_input:</a:t>
            </a:r>
            <a:endParaRPr lang="en-US" sz="1600" dirty="0"/>
          </a:p>
          <a:p>
            <a:pPr marL="0" indent="0">
              <a:lnSpc>
                <a:spcPct val="104000"/>
              </a:lnSpc>
              <a:buNone/>
            </a:pPr>
            <a:r>
              <a:rPr lang="en-US" sz="1600" dirty="0">
                <a:solidFill>
                  <a:srgbClr val="E8EEF4"/>
                </a:solidFill>
                <a:latin typeface="Courier New" pitchFamily="34" charset="0"/>
                <a:ea typeface="Courier New" pitchFamily="34" charset="-122"/>
                <a:cs typeface="Courier New" pitchFamily="34" charset="-120"/>
              </a:rPr>
              <a:t>        return "Just a program, thanks for asking!"</a:t>
            </a:r>
            <a:endParaRPr lang="en-US" sz="1600" dirty="0"/>
          </a:p>
          <a:p>
            <a:pPr marL="0" indent="0">
              <a:lnSpc>
                <a:spcPct val="104000"/>
              </a:lnSpc>
              <a:buNone/>
            </a:pPr>
            <a:r>
              <a:rPr lang="en-US" sz="1600" dirty="0">
                <a:solidFill>
                  <a:srgbClr val="E8EEF4"/>
                </a:solidFill>
                <a:latin typeface="Courier New" pitchFamily="34" charset="0"/>
                <a:ea typeface="Courier New" pitchFamily="34" charset="-122"/>
                <a:cs typeface="Courier New" pitchFamily="34" charset="-120"/>
              </a:rPr>
              <a:t>    elif "thank" in user_input:</a:t>
            </a:r>
            <a:endParaRPr lang="en-US" sz="1600" dirty="0"/>
          </a:p>
          <a:p>
            <a:pPr marL="0" indent="0">
              <a:lnSpc>
                <a:spcPct val="104000"/>
              </a:lnSpc>
              <a:buNone/>
            </a:pPr>
            <a:r>
              <a:rPr lang="en-US" sz="1600" dirty="0">
                <a:solidFill>
                  <a:srgbClr val="E8EEF4"/>
                </a:solidFill>
                <a:latin typeface="Courier New" pitchFamily="34" charset="0"/>
                <a:ea typeface="Courier New" pitchFamily="34" charset="-122"/>
                <a:cs typeface="Courier New" pitchFamily="34" charset="-120"/>
              </a:rPr>
              <a:t>        return "You are welcome!"</a:t>
            </a:r>
            <a:endParaRPr lang="en-US" sz="1600" dirty="0"/>
          </a:p>
          <a:p>
            <a:pPr marL="0" indent="0">
              <a:lnSpc>
                <a:spcPct val="104000"/>
              </a:lnSpc>
              <a:buNone/>
            </a:pPr>
            <a:r>
              <a:rPr lang="en-US" sz="1600" dirty="0">
                <a:solidFill>
                  <a:srgbClr val="E8EEF4"/>
                </a:solidFill>
                <a:latin typeface="Courier New" pitchFamily="34" charset="0"/>
                <a:ea typeface="Courier New" pitchFamily="34" charset="-122"/>
                <a:cs typeface="Courier New" pitchFamily="34" charset="-120"/>
              </a:rPr>
              <a:t>    else:</a:t>
            </a:r>
            <a:endParaRPr lang="en-US" sz="1600" dirty="0"/>
          </a:p>
          <a:p>
            <a:pPr marL="0" indent="0">
              <a:lnSpc>
                <a:spcPct val="104000"/>
              </a:lnSpc>
              <a:buNone/>
            </a:pPr>
            <a:r>
              <a:rPr lang="en-US" sz="1600" dirty="0">
                <a:solidFill>
                  <a:srgbClr val="E8EEF4"/>
                </a:solidFill>
                <a:latin typeface="Courier New" pitchFamily="34" charset="0"/>
                <a:ea typeface="Courier New" pitchFamily="34" charset="-122"/>
                <a:cs typeface="Courier New" pitchFamily="34" charset="-120"/>
              </a:rPr>
              <a:t>        return "Sorry, I did not understand."</a:t>
            </a:r>
            <a:endParaRPr lang="en-US" sz="1600" dirty="0"/>
          </a:p>
        </p:txBody>
      </p:sp>
      <p:sp>
        <p:nvSpPr>
          <p:cNvPr id="10" name="Shape 8"/>
          <p:cNvSpPr/>
          <p:nvPr/>
        </p:nvSpPr>
        <p:spPr>
          <a:xfrm>
            <a:off x="6217920" y="1554480"/>
            <a:ext cx="5394960" cy="4709160"/>
          </a:xfrm>
          <a:prstGeom prst="roundRect">
            <a:avLst>
              <a:gd name="adj" fmla="val 1553"/>
            </a:avLst>
          </a:prstGeom>
          <a:solidFill>
            <a:srgbClr val="0D1B2E"/>
          </a:solidFill>
          <a:ln/>
        </p:spPr>
      </p:sp>
      <p:sp>
        <p:nvSpPr>
          <p:cNvPr id="11" name="Shape 9"/>
          <p:cNvSpPr/>
          <p:nvPr/>
        </p:nvSpPr>
        <p:spPr>
          <a:xfrm>
            <a:off x="6382512" y="1682496"/>
            <a:ext cx="109728" cy="109728"/>
          </a:xfrm>
          <a:prstGeom prst="ellipse">
            <a:avLst/>
          </a:prstGeom>
          <a:solidFill>
            <a:srgbClr val="E5645B"/>
          </a:solidFill>
          <a:ln/>
        </p:spPr>
      </p:sp>
      <p:sp>
        <p:nvSpPr>
          <p:cNvPr id="12" name="Shape 10"/>
          <p:cNvSpPr/>
          <p:nvPr/>
        </p:nvSpPr>
        <p:spPr>
          <a:xfrm>
            <a:off x="6583680" y="1682496"/>
            <a:ext cx="109728" cy="109728"/>
          </a:xfrm>
          <a:prstGeom prst="ellipse">
            <a:avLst/>
          </a:prstGeom>
          <a:solidFill>
            <a:srgbClr val="F2C85B"/>
          </a:solidFill>
          <a:ln/>
        </p:spPr>
      </p:sp>
      <p:sp>
        <p:nvSpPr>
          <p:cNvPr id="13" name="Shape 11"/>
          <p:cNvSpPr/>
          <p:nvPr/>
        </p:nvSpPr>
        <p:spPr>
          <a:xfrm>
            <a:off x="6784848" y="1682496"/>
            <a:ext cx="109728" cy="109728"/>
          </a:xfrm>
          <a:prstGeom prst="ellipse">
            <a:avLst/>
          </a:prstGeom>
          <a:solidFill>
            <a:srgbClr val="5CC97A"/>
          </a:solidFill>
          <a:ln/>
        </p:spPr>
      </p:sp>
      <p:sp>
        <p:nvSpPr>
          <p:cNvPr id="14" name="Text 12"/>
          <p:cNvSpPr txBox="1"/>
          <p:nvPr/>
        </p:nvSpPr>
        <p:spPr>
          <a:xfrm>
            <a:off x="6419088" y="1883664"/>
            <a:ext cx="5029200" cy="4288536"/>
          </a:xfrm>
          <a:prstGeom prst="rect">
            <a:avLst/>
          </a:prstGeom>
          <a:noFill/>
          <a:ln/>
        </p:spPr>
        <p:txBody>
          <a:bodyPr wrap="square" lIns="0" tIns="0" rIns="0" bIns="0" rtlCol="0" anchor="t"/>
          <a:lstStyle/>
          <a:p>
            <a:pPr marL="0" indent="0">
              <a:lnSpc>
                <a:spcPct val="104000"/>
              </a:lnSpc>
              <a:buNone/>
            </a:pPr>
            <a:r>
              <a:rPr lang="en-US" sz="1600" dirty="0">
                <a:solidFill>
                  <a:srgbClr val="8FD694"/>
                </a:solidFill>
                <a:latin typeface="Courier New" pitchFamily="34" charset="0"/>
                <a:ea typeface="Courier New" pitchFamily="34" charset="-122"/>
                <a:cs typeface="Courier New" pitchFamily="34" charset="-120"/>
              </a:rPr>
              <a:t># ...continued: run the conversation</a:t>
            </a:r>
            <a:endParaRPr lang="en-US" sz="1600" dirty="0"/>
          </a:p>
          <a:p>
            <a:pPr marL="0" indent="0">
              <a:lnSpc>
                <a:spcPct val="104000"/>
              </a:lnSpc>
              <a:buNone/>
            </a:pPr>
            <a:endParaRPr lang="en-US" sz="1600" dirty="0"/>
          </a:p>
          <a:p>
            <a:pPr marL="0" indent="0">
              <a:lnSpc>
                <a:spcPct val="104000"/>
              </a:lnSpc>
              <a:buNone/>
            </a:pPr>
            <a:r>
              <a:rPr lang="en-US" sz="1600" dirty="0">
                <a:solidFill>
                  <a:srgbClr val="E8EEF4"/>
                </a:solidFill>
                <a:latin typeface="Courier New" pitchFamily="34" charset="0"/>
                <a:ea typeface="Courier New" pitchFamily="34" charset="-122"/>
                <a:cs typeface="Courier New" pitchFamily="34" charset="-120"/>
              </a:rPr>
              <a:t>print("Chatbot: Hi! Type 'bye' to exit.")</a:t>
            </a:r>
            <a:endParaRPr lang="en-US" sz="1600" dirty="0"/>
          </a:p>
          <a:p>
            <a:pPr marL="0" indent="0">
              <a:lnSpc>
                <a:spcPct val="104000"/>
              </a:lnSpc>
              <a:buNone/>
            </a:pPr>
            <a:r>
              <a:rPr lang="en-US" sz="1600" dirty="0">
                <a:solidFill>
                  <a:srgbClr val="E8EEF4"/>
                </a:solidFill>
                <a:latin typeface="Courier New" pitchFamily="34" charset="0"/>
                <a:ea typeface="Courier New" pitchFamily="34" charset="-122"/>
                <a:cs typeface="Courier New" pitchFamily="34" charset="-120"/>
              </a:rPr>
              <a:t>while True:</a:t>
            </a:r>
            <a:endParaRPr lang="en-US" sz="1600" dirty="0"/>
          </a:p>
          <a:p>
            <a:pPr marL="0" indent="0">
              <a:lnSpc>
                <a:spcPct val="104000"/>
              </a:lnSpc>
              <a:buNone/>
            </a:pPr>
            <a:r>
              <a:rPr lang="en-US" sz="1600" dirty="0">
                <a:solidFill>
                  <a:srgbClr val="E8EEF4"/>
                </a:solidFill>
                <a:latin typeface="Courier New" pitchFamily="34" charset="0"/>
                <a:ea typeface="Courier New" pitchFamily="34" charset="-122"/>
                <a:cs typeface="Courier New" pitchFamily="34" charset="-120"/>
              </a:rPr>
              <a:t>    user_input = input("You: ")</a:t>
            </a:r>
            <a:endParaRPr lang="en-US" sz="1600" dirty="0"/>
          </a:p>
          <a:p>
            <a:pPr marL="0" indent="0">
              <a:lnSpc>
                <a:spcPct val="104000"/>
              </a:lnSpc>
              <a:buNone/>
            </a:pPr>
            <a:r>
              <a:rPr lang="en-US" sz="1600" dirty="0">
                <a:solidFill>
                  <a:srgbClr val="E8EEF4"/>
                </a:solidFill>
                <a:latin typeface="Courier New" pitchFamily="34" charset="0"/>
                <a:ea typeface="Courier New" pitchFamily="34" charset="-122"/>
                <a:cs typeface="Courier New" pitchFamily="34" charset="-120"/>
              </a:rPr>
              <a:t>    if "bye" in user_input.lower():</a:t>
            </a:r>
            <a:endParaRPr lang="en-US" sz="1600" dirty="0"/>
          </a:p>
          <a:p>
            <a:pPr marL="0" indent="0">
              <a:lnSpc>
                <a:spcPct val="104000"/>
              </a:lnSpc>
              <a:buNone/>
            </a:pPr>
            <a:r>
              <a:rPr lang="en-US" sz="1600" dirty="0">
                <a:solidFill>
                  <a:srgbClr val="E8EEF4"/>
                </a:solidFill>
                <a:latin typeface="Courier New" pitchFamily="34" charset="0"/>
                <a:ea typeface="Courier New" pitchFamily="34" charset="-122"/>
                <a:cs typeface="Courier New" pitchFamily="34" charset="-120"/>
              </a:rPr>
              <a:t>        print("Chatbot: Bye!")</a:t>
            </a:r>
            <a:endParaRPr lang="en-US" sz="1600" dirty="0"/>
          </a:p>
          <a:p>
            <a:pPr marL="0" indent="0">
              <a:lnSpc>
                <a:spcPct val="104000"/>
              </a:lnSpc>
              <a:buNone/>
            </a:pPr>
            <a:r>
              <a:rPr lang="en-US" sz="1600" dirty="0">
                <a:solidFill>
                  <a:srgbClr val="E8EEF4"/>
                </a:solidFill>
                <a:latin typeface="Courier New" pitchFamily="34" charset="0"/>
                <a:ea typeface="Courier New" pitchFamily="34" charset="-122"/>
                <a:cs typeface="Courier New" pitchFamily="34" charset="-120"/>
              </a:rPr>
              <a:t>        break</a:t>
            </a:r>
            <a:endParaRPr lang="en-US" sz="1600" dirty="0"/>
          </a:p>
          <a:p>
            <a:pPr marL="0" indent="0">
              <a:lnSpc>
                <a:spcPct val="104000"/>
              </a:lnSpc>
              <a:buNone/>
            </a:pPr>
            <a:r>
              <a:rPr lang="en-US" sz="1600" dirty="0">
                <a:solidFill>
                  <a:srgbClr val="E8EEF4"/>
                </a:solidFill>
                <a:latin typeface="Courier New" pitchFamily="34" charset="0"/>
                <a:ea typeface="Courier New" pitchFamily="34" charset="-122"/>
                <a:cs typeface="Courier New" pitchFamily="34" charset="-120"/>
              </a:rPr>
              <a:t>    print("Chatbot:",</a:t>
            </a:r>
            <a:endParaRPr lang="en-US" sz="1600" dirty="0"/>
          </a:p>
          <a:p>
            <a:pPr marL="0" indent="0">
              <a:lnSpc>
                <a:spcPct val="104000"/>
              </a:lnSpc>
              <a:buNone/>
            </a:pPr>
            <a:r>
              <a:rPr lang="en-US" sz="1600" dirty="0">
                <a:solidFill>
                  <a:srgbClr val="E8EEF4"/>
                </a:solidFill>
                <a:latin typeface="Courier New" pitchFamily="34" charset="0"/>
                <a:ea typeface="Courier New" pitchFamily="34" charset="-122"/>
                <a:cs typeface="Courier New" pitchFamily="34" charset="-120"/>
              </a:rPr>
              <a:t>          chatbot_response(user_input))</a:t>
            </a:r>
            <a:endParaRPr lang="en-US" sz="1600" dirty="0"/>
          </a:p>
        </p:txBody>
      </p:sp>
      <p:sp>
        <p:nvSpPr>
          <p:cNvPr id="15" name="Text 13"/>
          <p:cNvSpPr txBox="1"/>
          <p:nvPr/>
        </p:nvSpPr>
        <p:spPr>
          <a:xfrm>
            <a:off x="548640" y="6455664"/>
            <a:ext cx="9418320" cy="292608"/>
          </a:xfrm>
          <a:prstGeom prst="rect">
            <a:avLst/>
          </a:prstGeom>
          <a:noFill/>
          <a:ln/>
        </p:spPr>
        <p:txBody>
          <a:bodyPr wrap="square" lIns="0" tIns="0" rIns="0" bIns="0" rtlCol="0" anchor="ctr"/>
          <a:lstStyle/>
          <a:p>
            <a:pPr marL="0" indent="0">
              <a:buNone/>
            </a:pPr>
            <a:r>
              <a:rPr lang="en-US" sz="1600" dirty="0">
                <a:solidFill>
                  <a:srgbClr val="5B6B79"/>
                </a:solidFill>
                <a:latin typeface="Calibri" pitchFamily="34" charset="0"/>
                <a:ea typeface="Calibri" pitchFamily="34" charset="-122"/>
                <a:cs typeface="Calibri" pitchFamily="34" charset="-120"/>
              </a:rPr>
              <a:t>AI Practical 1  •  Development Environment, Python &amp; Rule-Based Chatbot</a:t>
            </a:r>
            <a:endParaRPr lang="en-US" sz="1600" dirty="0"/>
          </a:p>
        </p:txBody>
      </p:sp>
      <p:sp>
        <p:nvSpPr>
          <p:cNvPr id="16" name="Text 14"/>
          <p:cNvSpPr txBox="1"/>
          <p:nvPr/>
        </p:nvSpPr>
        <p:spPr>
          <a:xfrm>
            <a:off x="11247120" y="6455664"/>
            <a:ext cx="457200" cy="292608"/>
          </a:xfrm>
          <a:prstGeom prst="rect">
            <a:avLst/>
          </a:prstGeom>
          <a:noFill/>
          <a:ln/>
        </p:spPr>
        <p:txBody>
          <a:bodyPr wrap="square" lIns="0" tIns="0" rIns="0" bIns="0" rtlCol="0" anchor="ctr"/>
          <a:lstStyle/>
          <a:p>
            <a:pPr marL="0" indent="0" algn="r">
              <a:buNone/>
            </a:pPr>
            <a:r>
              <a:rPr lang="en-US" sz="1600" dirty="0">
                <a:solidFill>
                  <a:srgbClr val="5B6B79"/>
                </a:solidFill>
                <a:latin typeface="Calibri" pitchFamily="34" charset="0"/>
                <a:ea typeface="Calibri" pitchFamily="34" charset="-122"/>
                <a:cs typeface="Calibri" pitchFamily="34" charset="-120"/>
              </a:rPr>
              <a:t>26</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7FA"/>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0515600" cy="310896"/>
          </a:xfrm>
          <a:prstGeom prst="rect">
            <a:avLst/>
          </a:prstGeom>
          <a:noFill/>
          <a:ln/>
        </p:spPr>
        <p:txBody>
          <a:bodyPr wrap="square" lIns="0" tIns="0" rIns="0" bIns="0" rtlCol="0" anchor="ctr"/>
          <a:lstStyle/>
          <a:p>
            <a:pPr marL="0" indent="0">
              <a:buNone/>
            </a:pPr>
            <a:r>
              <a:rPr lang="en-US" sz="1600" b="1" kern="0" spc="200" dirty="0">
                <a:solidFill>
                  <a:srgbClr val="2E86AB"/>
                </a:solidFill>
                <a:latin typeface="Calibri" pitchFamily="34" charset="0"/>
                <a:ea typeface="Calibri" pitchFamily="34" charset="-122"/>
                <a:cs typeface="Calibri" pitchFamily="34" charset="-120"/>
              </a:rPr>
              <a:t>SECTION D — HANDS-ON EXERCISE</a:t>
            </a:r>
            <a:endParaRPr lang="en-US" sz="1600" dirty="0"/>
          </a:p>
        </p:txBody>
      </p:sp>
      <p:sp>
        <p:nvSpPr>
          <p:cNvPr id="3" name="Text 1"/>
          <p:cNvSpPr txBox="1"/>
          <p:nvPr/>
        </p:nvSpPr>
        <p:spPr>
          <a:xfrm>
            <a:off x="548640" y="603504"/>
            <a:ext cx="11064240" cy="731520"/>
          </a:xfrm>
          <a:prstGeom prst="rect">
            <a:avLst/>
          </a:prstGeom>
          <a:noFill/>
          <a:ln/>
        </p:spPr>
        <p:txBody>
          <a:bodyPr wrap="square" lIns="0" tIns="0" rIns="0" bIns="0" rtlCol="0" anchor="ctr"/>
          <a:lstStyle/>
          <a:p>
            <a:pPr marL="0" indent="0">
              <a:buNone/>
            </a:pPr>
            <a:r>
              <a:rPr lang="en-US" sz="3300" b="1" dirty="0">
                <a:solidFill>
                  <a:srgbClr val="142A45"/>
                </a:solidFill>
                <a:latin typeface="Cambria" pitchFamily="34" charset="0"/>
                <a:ea typeface="Cambria" pitchFamily="34" charset="-122"/>
                <a:cs typeface="Cambria" pitchFamily="34" charset="-120"/>
              </a:rPr>
              <a:t>Testing and Extending Your Chatbot</a:t>
            </a:r>
            <a:endParaRPr lang="en-US" sz="3300" dirty="0"/>
          </a:p>
        </p:txBody>
      </p:sp>
      <p:sp>
        <p:nvSpPr>
          <p:cNvPr id="4" name="Shape 2"/>
          <p:cNvSpPr/>
          <p:nvPr/>
        </p:nvSpPr>
        <p:spPr>
          <a:xfrm>
            <a:off x="548640" y="1691640"/>
            <a:ext cx="5394960" cy="4297680"/>
          </a:xfrm>
          <a:prstGeom prst="roundRect">
            <a:avLst>
              <a:gd name="adj" fmla="val 1702"/>
            </a:avLst>
          </a:prstGeom>
          <a:solidFill>
            <a:srgbClr val="FFFFFF"/>
          </a:solidFill>
          <a:ln w="12700">
            <a:solidFill>
              <a:srgbClr val="DDE3EA"/>
            </a:solidFill>
            <a:prstDash val="solid"/>
          </a:ln>
          <a:effectLst>
            <a:outerShdw blurRad="76200" dist="25400" dir="5400000" algn="bl" rotWithShape="0">
              <a:srgbClr val="142A45">
                <a:alpha val="12000"/>
              </a:srgbClr>
            </a:outerShdw>
          </a:effectLst>
        </p:spPr>
      </p:sp>
      <p:sp>
        <p:nvSpPr>
          <p:cNvPr id="5" name="Text 3"/>
          <p:cNvSpPr txBox="1"/>
          <p:nvPr/>
        </p:nvSpPr>
        <p:spPr>
          <a:xfrm>
            <a:off x="777240" y="1874520"/>
            <a:ext cx="4937760" cy="274320"/>
          </a:xfrm>
          <a:prstGeom prst="rect">
            <a:avLst/>
          </a:prstGeom>
          <a:noFill/>
          <a:ln/>
        </p:spPr>
        <p:txBody>
          <a:bodyPr wrap="square" lIns="0" tIns="0" rIns="0" bIns="0" rtlCol="0" anchor="ctr"/>
          <a:lstStyle/>
          <a:p>
            <a:pPr marL="0" indent="0">
              <a:buNone/>
            </a:pPr>
            <a:r>
              <a:rPr lang="en-US" sz="1600" b="1" kern="0" spc="150" dirty="0">
                <a:solidFill>
                  <a:srgbClr val="2E86AB"/>
                </a:solidFill>
                <a:latin typeface="Calibri" pitchFamily="34" charset="0"/>
                <a:ea typeface="Calibri" pitchFamily="34" charset="-122"/>
                <a:cs typeface="Calibri" pitchFamily="34" charset="-120"/>
              </a:rPr>
              <a:t>TEST THESE INPUTS</a:t>
            </a:r>
            <a:endParaRPr lang="en-US" sz="1600" dirty="0"/>
          </a:p>
        </p:txBody>
      </p:sp>
      <p:sp>
        <p:nvSpPr>
          <p:cNvPr id="6" name="Shape 4"/>
          <p:cNvSpPr/>
          <p:nvPr/>
        </p:nvSpPr>
        <p:spPr>
          <a:xfrm>
            <a:off x="777240" y="2295144"/>
            <a:ext cx="274320" cy="274320"/>
          </a:xfrm>
          <a:prstGeom prst="ellipse">
            <a:avLst/>
          </a:prstGeom>
          <a:solidFill>
            <a:srgbClr val="2E86AB"/>
          </a:solidFill>
          <a:ln/>
        </p:spPr>
      </p:sp>
      <p:sp>
        <p:nvSpPr>
          <p:cNvPr id="7" name="Text 5"/>
          <p:cNvSpPr txBox="1"/>
          <p:nvPr/>
        </p:nvSpPr>
        <p:spPr>
          <a:xfrm>
            <a:off x="777240" y="2295144"/>
            <a:ext cx="274320" cy="27432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a:t>
            </a:r>
            <a:endParaRPr lang="en-US" sz="1700" dirty="0"/>
          </a:p>
        </p:txBody>
      </p:sp>
      <p:sp>
        <p:nvSpPr>
          <p:cNvPr id="8" name="Text 6"/>
          <p:cNvSpPr txBox="1"/>
          <p:nvPr/>
        </p:nvSpPr>
        <p:spPr>
          <a:xfrm>
            <a:off x="1188720" y="2240280"/>
            <a:ext cx="4480560" cy="457200"/>
          </a:xfrm>
          <a:prstGeom prst="rect">
            <a:avLst/>
          </a:prstGeom>
          <a:noFill/>
          <a:ln/>
        </p:spPr>
        <p:txBody>
          <a:bodyPr wrap="square" lIns="0" tIns="0" rIns="0" bIns="0" rtlCol="0" anchor="ctr"/>
          <a:lstStyle/>
          <a:p>
            <a:pPr marL="0" indent="0">
              <a:buNone/>
            </a:pPr>
            <a:r>
              <a:rPr lang="en-US" sz="1700" dirty="0">
                <a:solidFill>
                  <a:srgbClr val="1B2430"/>
                </a:solidFill>
                <a:latin typeface="Courier New" pitchFamily="34" charset="0"/>
                <a:ea typeface="Courier New" pitchFamily="34" charset="-122"/>
                <a:cs typeface="Courier New" pitchFamily="34" charset="-120"/>
              </a:rPr>
              <a:t>"Hello!"</a:t>
            </a:r>
            <a:endParaRPr lang="en-US" sz="1700" dirty="0"/>
          </a:p>
        </p:txBody>
      </p:sp>
      <p:sp>
        <p:nvSpPr>
          <p:cNvPr id="9" name="Shape 7"/>
          <p:cNvSpPr/>
          <p:nvPr/>
        </p:nvSpPr>
        <p:spPr>
          <a:xfrm>
            <a:off x="777240" y="2862072"/>
            <a:ext cx="274320" cy="274320"/>
          </a:xfrm>
          <a:prstGeom prst="ellipse">
            <a:avLst/>
          </a:prstGeom>
          <a:solidFill>
            <a:srgbClr val="2E86AB"/>
          </a:solidFill>
          <a:ln/>
        </p:spPr>
      </p:sp>
      <p:sp>
        <p:nvSpPr>
          <p:cNvPr id="10" name="Text 8"/>
          <p:cNvSpPr txBox="1"/>
          <p:nvPr/>
        </p:nvSpPr>
        <p:spPr>
          <a:xfrm>
            <a:off x="777240" y="2862072"/>
            <a:ext cx="274320" cy="27432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a:t>
            </a:r>
            <a:endParaRPr lang="en-US" sz="1700" dirty="0"/>
          </a:p>
        </p:txBody>
      </p:sp>
      <p:sp>
        <p:nvSpPr>
          <p:cNvPr id="11" name="Text 9"/>
          <p:cNvSpPr txBox="1"/>
          <p:nvPr/>
        </p:nvSpPr>
        <p:spPr>
          <a:xfrm>
            <a:off x="1188720" y="2807208"/>
            <a:ext cx="4480560" cy="457200"/>
          </a:xfrm>
          <a:prstGeom prst="rect">
            <a:avLst/>
          </a:prstGeom>
          <a:noFill/>
          <a:ln/>
        </p:spPr>
        <p:txBody>
          <a:bodyPr wrap="square" lIns="0" tIns="0" rIns="0" bIns="0" rtlCol="0" anchor="ctr"/>
          <a:lstStyle/>
          <a:p>
            <a:pPr marL="0" indent="0">
              <a:buNone/>
            </a:pPr>
            <a:r>
              <a:rPr lang="en-US" sz="1700" dirty="0">
                <a:solidFill>
                  <a:srgbClr val="1B2430"/>
                </a:solidFill>
                <a:latin typeface="Courier New" pitchFamily="34" charset="0"/>
                <a:ea typeface="Courier New" pitchFamily="34" charset="-122"/>
                <a:cs typeface="Courier New" pitchFamily="34" charset="-120"/>
              </a:rPr>
              <a:t>"What is your name?"</a:t>
            </a:r>
            <a:endParaRPr lang="en-US" sz="1700" dirty="0"/>
          </a:p>
        </p:txBody>
      </p:sp>
      <p:sp>
        <p:nvSpPr>
          <p:cNvPr id="12" name="Shape 10"/>
          <p:cNvSpPr/>
          <p:nvPr/>
        </p:nvSpPr>
        <p:spPr>
          <a:xfrm>
            <a:off x="777240" y="3429000"/>
            <a:ext cx="274320" cy="274320"/>
          </a:xfrm>
          <a:prstGeom prst="ellipse">
            <a:avLst/>
          </a:prstGeom>
          <a:solidFill>
            <a:srgbClr val="2E86AB"/>
          </a:solidFill>
          <a:ln/>
        </p:spPr>
      </p:sp>
      <p:sp>
        <p:nvSpPr>
          <p:cNvPr id="13" name="Text 11"/>
          <p:cNvSpPr txBox="1"/>
          <p:nvPr/>
        </p:nvSpPr>
        <p:spPr>
          <a:xfrm>
            <a:off x="777240" y="3429000"/>
            <a:ext cx="274320" cy="27432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a:t>
            </a:r>
            <a:endParaRPr lang="en-US" sz="1700" dirty="0"/>
          </a:p>
        </p:txBody>
      </p:sp>
      <p:sp>
        <p:nvSpPr>
          <p:cNvPr id="14" name="Text 12"/>
          <p:cNvSpPr txBox="1"/>
          <p:nvPr/>
        </p:nvSpPr>
        <p:spPr>
          <a:xfrm>
            <a:off x="1188720" y="3374136"/>
            <a:ext cx="4480560" cy="457200"/>
          </a:xfrm>
          <a:prstGeom prst="rect">
            <a:avLst/>
          </a:prstGeom>
          <a:noFill/>
          <a:ln/>
        </p:spPr>
        <p:txBody>
          <a:bodyPr wrap="square" lIns="0" tIns="0" rIns="0" bIns="0" rtlCol="0" anchor="ctr"/>
          <a:lstStyle/>
          <a:p>
            <a:pPr marL="0" indent="0">
              <a:buNone/>
            </a:pPr>
            <a:r>
              <a:rPr lang="en-US" sz="1700" dirty="0">
                <a:solidFill>
                  <a:srgbClr val="1B2430"/>
                </a:solidFill>
                <a:latin typeface="Courier New" pitchFamily="34" charset="0"/>
                <a:ea typeface="Courier New" pitchFamily="34" charset="-122"/>
                <a:cs typeface="Courier New" pitchFamily="34" charset="-120"/>
              </a:rPr>
              <a:t>"How are you doing?"</a:t>
            </a:r>
            <a:endParaRPr lang="en-US" sz="1700" dirty="0"/>
          </a:p>
        </p:txBody>
      </p:sp>
      <p:sp>
        <p:nvSpPr>
          <p:cNvPr id="15" name="Shape 13"/>
          <p:cNvSpPr/>
          <p:nvPr/>
        </p:nvSpPr>
        <p:spPr>
          <a:xfrm>
            <a:off x="777240" y="3995928"/>
            <a:ext cx="274320" cy="274320"/>
          </a:xfrm>
          <a:prstGeom prst="ellipse">
            <a:avLst/>
          </a:prstGeom>
          <a:solidFill>
            <a:srgbClr val="2E86AB"/>
          </a:solidFill>
          <a:ln/>
        </p:spPr>
      </p:sp>
      <p:sp>
        <p:nvSpPr>
          <p:cNvPr id="16" name="Text 14"/>
          <p:cNvSpPr txBox="1"/>
          <p:nvPr/>
        </p:nvSpPr>
        <p:spPr>
          <a:xfrm>
            <a:off x="777240" y="3995928"/>
            <a:ext cx="274320" cy="27432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a:t>
            </a:r>
            <a:endParaRPr lang="en-US" sz="1700" dirty="0"/>
          </a:p>
        </p:txBody>
      </p:sp>
      <p:sp>
        <p:nvSpPr>
          <p:cNvPr id="17" name="Text 15"/>
          <p:cNvSpPr txBox="1"/>
          <p:nvPr/>
        </p:nvSpPr>
        <p:spPr>
          <a:xfrm>
            <a:off x="1188720" y="3941064"/>
            <a:ext cx="4480560" cy="457200"/>
          </a:xfrm>
          <a:prstGeom prst="rect">
            <a:avLst/>
          </a:prstGeom>
          <a:noFill/>
          <a:ln/>
        </p:spPr>
        <p:txBody>
          <a:bodyPr wrap="square" lIns="0" tIns="0" rIns="0" bIns="0" rtlCol="0" anchor="ctr"/>
          <a:lstStyle/>
          <a:p>
            <a:pPr marL="0" indent="0">
              <a:buNone/>
            </a:pPr>
            <a:r>
              <a:rPr lang="en-US" sz="1700" dirty="0">
                <a:solidFill>
                  <a:srgbClr val="1B2430"/>
                </a:solidFill>
                <a:latin typeface="Courier New" pitchFamily="34" charset="0"/>
                <a:ea typeface="Courier New" pitchFamily="34" charset="-122"/>
                <a:cs typeface="Courier New" pitchFamily="34" charset="-120"/>
              </a:rPr>
              <a:t>"asdkjfh random text"</a:t>
            </a:r>
            <a:endParaRPr lang="en-US" sz="1700" dirty="0"/>
          </a:p>
        </p:txBody>
      </p:sp>
      <p:sp>
        <p:nvSpPr>
          <p:cNvPr id="18" name="Shape 16"/>
          <p:cNvSpPr/>
          <p:nvPr/>
        </p:nvSpPr>
        <p:spPr>
          <a:xfrm>
            <a:off x="777240" y="4562856"/>
            <a:ext cx="274320" cy="274320"/>
          </a:xfrm>
          <a:prstGeom prst="ellipse">
            <a:avLst/>
          </a:prstGeom>
          <a:solidFill>
            <a:srgbClr val="2E86AB"/>
          </a:solidFill>
          <a:ln/>
        </p:spPr>
      </p:sp>
      <p:sp>
        <p:nvSpPr>
          <p:cNvPr id="19" name="Text 17"/>
          <p:cNvSpPr txBox="1"/>
          <p:nvPr/>
        </p:nvSpPr>
        <p:spPr>
          <a:xfrm>
            <a:off x="777240" y="4562856"/>
            <a:ext cx="274320" cy="27432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a:t>
            </a:r>
            <a:endParaRPr lang="en-US" sz="1700" dirty="0"/>
          </a:p>
        </p:txBody>
      </p:sp>
      <p:sp>
        <p:nvSpPr>
          <p:cNvPr id="20" name="Text 18"/>
          <p:cNvSpPr txBox="1"/>
          <p:nvPr/>
        </p:nvSpPr>
        <p:spPr>
          <a:xfrm>
            <a:off x="1188720" y="4507992"/>
            <a:ext cx="4480560" cy="457200"/>
          </a:xfrm>
          <a:prstGeom prst="rect">
            <a:avLst/>
          </a:prstGeom>
          <a:noFill/>
          <a:ln/>
        </p:spPr>
        <p:txBody>
          <a:bodyPr wrap="square" lIns="0" tIns="0" rIns="0" bIns="0" rtlCol="0" anchor="ctr"/>
          <a:lstStyle/>
          <a:p>
            <a:pPr marL="0" indent="0">
              <a:buNone/>
            </a:pPr>
            <a:r>
              <a:rPr lang="en-US" sz="1700" dirty="0">
                <a:solidFill>
                  <a:srgbClr val="1B2430"/>
                </a:solidFill>
                <a:latin typeface="Courier New" pitchFamily="34" charset="0"/>
                <a:ea typeface="Courier New" pitchFamily="34" charset="-122"/>
                <a:cs typeface="Courier New" pitchFamily="34" charset="-120"/>
              </a:rPr>
              <a:t>"thank you so much"</a:t>
            </a:r>
            <a:endParaRPr lang="en-US" sz="1700" dirty="0"/>
          </a:p>
        </p:txBody>
      </p:sp>
      <p:sp>
        <p:nvSpPr>
          <p:cNvPr id="21" name="Shape 19"/>
          <p:cNvSpPr/>
          <p:nvPr/>
        </p:nvSpPr>
        <p:spPr>
          <a:xfrm>
            <a:off x="777240" y="5129784"/>
            <a:ext cx="274320" cy="274320"/>
          </a:xfrm>
          <a:prstGeom prst="ellipse">
            <a:avLst/>
          </a:prstGeom>
          <a:solidFill>
            <a:srgbClr val="2E86AB"/>
          </a:solidFill>
          <a:ln/>
        </p:spPr>
      </p:sp>
      <p:sp>
        <p:nvSpPr>
          <p:cNvPr id="22" name="Text 20"/>
          <p:cNvSpPr txBox="1"/>
          <p:nvPr/>
        </p:nvSpPr>
        <p:spPr>
          <a:xfrm>
            <a:off x="777240" y="5129784"/>
            <a:ext cx="274320" cy="27432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a:t>
            </a:r>
            <a:endParaRPr lang="en-US" sz="1700" dirty="0"/>
          </a:p>
        </p:txBody>
      </p:sp>
      <p:sp>
        <p:nvSpPr>
          <p:cNvPr id="23" name="Text 21"/>
          <p:cNvSpPr txBox="1"/>
          <p:nvPr/>
        </p:nvSpPr>
        <p:spPr>
          <a:xfrm>
            <a:off x="1188720" y="5074920"/>
            <a:ext cx="4480560" cy="457200"/>
          </a:xfrm>
          <a:prstGeom prst="rect">
            <a:avLst/>
          </a:prstGeom>
          <a:noFill/>
          <a:ln/>
        </p:spPr>
        <p:txBody>
          <a:bodyPr wrap="square" lIns="0" tIns="0" rIns="0" bIns="0" rtlCol="0" anchor="ctr"/>
          <a:lstStyle/>
          <a:p>
            <a:pPr marL="0" indent="0">
              <a:buNone/>
            </a:pPr>
            <a:r>
              <a:rPr lang="en-US" sz="1700" dirty="0">
                <a:solidFill>
                  <a:srgbClr val="1B2430"/>
                </a:solidFill>
                <a:latin typeface="Courier New" pitchFamily="34" charset="0"/>
                <a:ea typeface="Courier New" pitchFamily="34" charset="-122"/>
                <a:cs typeface="Courier New" pitchFamily="34" charset="-120"/>
              </a:rPr>
              <a:t>"bye"</a:t>
            </a:r>
            <a:endParaRPr lang="en-US" sz="1700" dirty="0"/>
          </a:p>
        </p:txBody>
      </p:sp>
      <p:sp>
        <p:nvSpPr>
          <p:cNvPr id="24" name="Shape 22"/>
          <p:cNvSpPr/>
          <p:nvPr/>
        </p:nvSpPr>
        <p:spPr>
          <a:xfrm>
            <a:off x="6263640" y="1691640"/>
            <a:ext cx="5349240" cy="4297680"/>
          </a:xfrm>
          <a:prstGeom prst="roundRect">
            <a:avLst>
              <a:gd name="adj" fmla="val 1702"/>
            </a:avLst>
          </a:prstGeom>
          <a:solidFill>
            <a:srgbClr val="FFF7E6"/>
          </a:solidFill>
          <a:ln w="12700">
            <a:solidFill>
              <a:srgbClr val="DDE3EA"/>
            </a:solidFill>
            <a:prstDash val="solid"/>
          </a:ln>
          <a:effectLst>
            <a:outerShdw blurRad="76200" dist="25400" dir="5400000" algn="bl" rotWithShape="0">
              <a:srgbClr val="142A45">
                <a:alpha val="12000"/>
              </a:srgbClr>
            </a:outerShdw>
          </a:effectLst>
        </p:spPr>
      </p:sp>
      <p:sp>
        <p:nvSpPr>
          <p:cNvPr id="25" name="Text 23"/>
          <p:cNvSpPr txBox="1"/>
          <p:nvPr/>
        </p:nvSpPr>
        <p:spPr>
          <a:xfrm>
            <a:off x="6492240" y="1874520"/>
            <a:ext cx="4892040" cy="274320"/>
          </a:xfrm>
          <a:prstGeom prst="rect">
            <a:avLst/>
          </a:prstGeom>
          <a:noFill/>
          <a:ln/>
        </p:spPr>
        <p:txBody>
          <a:bodyPr wrap="square" lIns="0" tIns="0" rIns="0" bIns="0" rtlCol="0" anchor="ctr"/>
          <a:lstStyle/>
          <a:p>
            <a:pPr marL="0" indent="0">
              <a:buNone/>
            </a:pPr>
            <a:r>
              <a:rPr lang="en-US" sz="1600" b="1" kern="0" spc="150" dirty="0">
                <a:solidFill>
                  <a:srgbClr val="B5651D"/>
                </a:solidFill>
                <a:latin typeface="Calibri" pitchFamily="34" charset="0"/>
                <a:ea typeface="Calibri" pitchFamily="34" charset="-122"/>
                <a:cs typeface="Calibri" pitchFamily="34" charset="-120"/>
              </a:rPr>
              <a:t>NOW EXTEND IT</a:t>
            </a:r>
            <a:endParaRPr lang="en-US" sz="1600" dirty="0"/>
          </a:p>
        </p:txBody>
      </p:sp>
      <p:sp>
        <p:nvSpPr>
          <p:cNvPr id="26" name="Text 24"/>
          <p:cNvSpPr txBox="1"/>
          <p:nvPr/>
        </p:nvSpPr>
        <p:spPr>
          <a:xfrm>
            <a:off x="6492240" y="2240280"/>
            <a:ext cx="4892040" cy="3657600"/>
          </a:xfrm>
          <a:prstGeom prst="rect">
            <a:avLst/>
          </a:prstGeom>
          <a:noFill/>
          <a:ln/>
        </p:spPr>
        <p:txBody>
          <a:bodyPr wrap="square" lIns="0" tIns="0" rIns="0" bIns="0" rtlCol="0" anchor="t"/>
          <a:lstStyle/>
          <a:p>
            <a:pPr marL="0" indent="0">
              <a:lnSpc>
                <a:spcPct val="120000"/>
              </a:lnSpc>
              <a:buNone/>
            </a:pPr>
            <a:r>
              <a:rPr lang="en-US" sz="1800" b="1" dirty="0">
                <a:solidFill>
                  <a:srgbClr val="142A45"/>
                </a:solidFill>
                <a:latin typeface="Calibri" pitchFamily="34" charset="0"/>
                <a:ea typeface="Calibri" pitchFamily="34" charset="-122"/>
                <a:cs typeface="Calibri" pitchFamily="34" charset="-120"/>
              </a:rPr>
              <a:t>1. </a:t>
            </a:r>
            <a:r>
              <a:rPr lang="en-US" sz="1800" dirty="0">
                <a:solidFill>
                  <a:srgbClr val="1B2430"/>
                </a:solidFill>
                <a:latin typeface="Calibri" pitchFamily="34" charset="0"/>
                <a:ea typeface="Calibri" pitchFamily="34" charset="-122"/>
                <a:cs typeface="Calibri" pitchFamily="34" charset="-120"/>
              </a:rPr>
              <a:t>Add three new elif rules of your own (e.g. “joke”, “help”, “age”).
</a:t>
            </a:r>
            <a:r>
              <a:rPr lang="en-US" sz="1800" b="1" dirty="0">
                <a:solidFill>
                  <a:srgbClr val="142A45"/>
                </a:solidFill>
                <a:latin typeface="Calibri" pitchFamily="34" charset="0"/>
                <a:ea typeface="Calibri" pitchFamily="34" charset="-122"/>
                <a:cs typeface="Calibri" pitchFamily="34" charset="-120"/>
              </a:rPr>
              <a:t>2. </a:t>
            </a:r>
            <a:r>
              <a:rPr lang="en-US" sz="1800" dirty="0">
                <a:solidFill>
                  <a:srgbClr val="1B2430"/>
                </a:solidFill>
                <a:latin typeface="Calibri" pitchFamily="34" charset="0"/>
                <a:ea typeface="Calibri" pitchFamily="34" charset="-122"/>
                <a:cs typeface="Calibri" pitchFamily="34" charset="-120"/>
              </a:rPr>
              <a:t>Ask for the user's name once at the start, and personalise every reply with it using an f-string.
</a:t>
            </a:r>
            <a:r>
              <a:rPr lang="en-US" sz="1800" b="1" dirty="0">
                <a:solidFill>
                  <a:srgbClr val="142A45"/>
                </a:solidFill>
                <a:latin typeface="Calibri" pitchFamily="34" charset="0"/>
                <a:ea typeface="Calibri" pitchFamily="34" charset="-122"/>
                <a:cs typeface="Calibri" pitchFamily="34" charset="-120"/>
              </a:rPr>
              <a:t>3. </a:t>
            </a:r>
            <a:r>
              <a:rPr lang="en-US" sz="1800" dirty="0">
                <a:solidFill>
                  <a:srgbClr val="1B2430"/>
                </a:solidFill>
                <a:latin typeface="Calibri" pitchFamily="34" charset="0"/>
                <a:ea typeface="Calibri" pitchFamily="34" charset="-122"/>
                <a:cs typeface="Calibri" pitchFamily="34" charset="-120"/>
              </a:rPr>
              <a:t>Try an input that matches none of your rules — confirm the fallback still works.
</a:t>
            </a:r>
            <a:r>
              <a:rPr lang="en-US" sz="1800" b="1" dirty="0">
                <a:solidFill>
                  <a:srgbClr val="142A45"/>
                </a:solidFill>
                <a:latin typeface="Calibri" pitchFamily="34" charset="0"/>
                <a:ea typeface="Calibri" pitchFamily="34" charset="-122"/>
                <a:cs typeface="Calibri" pitchFamily="34" charset="-120"/>
              </a:rPr>
              <a:t>4. </a:t>
            </a:r>
            <a:r>
              <a:rPr lang="en-US" sz="1800" dirty="0">
                <a:solidFill>
                  <a:srgbClr val="1B2430"/>
                </a:solidFill>
                <a:latin typeface="Calibri" pitchFamily="34" charset="0"/>
                <a:ea typeface="Calibri" pitchFamily="34" charset="-122"/>
                <a:cs typeface="Calibri" pitchFamily="34" charset="-120"/>
              </a:rPr>
              <a:t>Save your finished file — you will build on it in a future practical.</a:t>
            </a:r>
            <a:endParaRPr lang="en-US" sz="1800" dirty="0"/>
          </a:p>
        </p:txBody>
      </p:sp>
      <p:sp>
        <p:nvSpPr>
          <p:cNvPr id="27" name="Text 25"/>
          <p:cNvSpPr txBox="1"/>
          <p:nvPr/>
        </p:nvSpPr>
        <p:spPr>
          <a:xfrm>
            <a:off x="548640" y="6455664"/>
            <a:ext cx="9418320" cy="292608"/>
          </a:xfrm>
          <a:prstGeom prst="rect">
            <a:avLst/>
          </a:prstGeom>
          <a:noFill/>
          <a:ln/>
        </p:spPr>
        <p:txBody>
          <a:bodyPr wrap="square" lIns="0" tIns="0" rIns="0" bIns="0" rtlCol="0" anchor="ctr"/>
          <a:lstStyle/>
          <a:p>
            <a:pPr marL="0" indent="0">
              <a:buNone/>
            </a:pPr>
            <a:r>
              <a:rPr lang="en-US" sz="1600" dirty="0">
                <a:solidFill>
                  <a:srgbClr val="5B6B79"/>
                </a:solidFill>
                <a:latin typeface="Calibri" pitchFamily="34" charset="0"/>
                <a:ea typeface="Calibri" pitchFamily="34" charset="-122"/>
                <a:cs typeface="Calibri" pitchFamily="34" charset="-120"/>
              </a:rPr>
              <a:t>AI Practical 1  •  Development Environment, Python &amp; Rule-Based Chatbot</a:t>
            </a:r>
            <a:endParaRPr lang="en-US" sz="1600" dirty="0"/>
          </a:p>
        </p:txBody>
      </p:sp>
      <p:sp>
        <p:nvSpPr>
          <p:cNvPr id="28" name="Text 26"/>
          <p:cNvSpPr txBox="1"/>
          <p:nvPr/>
        </p:nvSpPr>
        <p:spPr>
          <a:xfrm>
            <a:off x="11247120" y="6455664"/>
            <a:ext cx="457200" cy="292608"/>
          </a:xfrm>
          <a:prstGeom prst="rect">
            <a:avLst/>
          </a:prstGeom>
          <a:noFill/>
          <a:ln/>
        </p:spPr>
        <p:txBody>
          <a:bodyPr wrap="square" lIns="0" tIns="0" rIns="0" bIns="0" rtlCol="0" anchor="ctr"/>
          <a:lstStyle/>
          <a:p>
            <a:pPr marL="0" indent="0" algn="r">
              <a:buNone/>
            </a:pPr>
            <a:r>
              <a:rPr lang="en-US" sz="1600" dirty="0">
                <a:solidFill>
                  <a:srgbClr val="5B6B79"/>
                </a:solidFill>
                <a:latin typeface="Calibri" pitchFamily="34" charset="0"/>
                <a:ea typeface="Calibri" pitchFamily="34" charset="-122"/>
                <a:cs typeface="Calibri" pitchFamily="34" charset="-120"/>
              </a:rPr>
              <a:t>27</a:t>
            </a:r>
            <a:endParaRPr 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7FA"/>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0515600" cy="310896"/>
          </a:xfrm>
          <a:prstGeom prst="rect">
            <a:avLst/>
          </a:prstGeom>
          <a:noFill/>
          <a:ln/>
        </p:spPr>
        <p:txBody>
          <a:bodyPr wrap="square" lIns="0" tIns="0" rIns="0" bIns="0" rtlCol="0" anchor="ctr"/>
          <a:lstStyle/>
          <a:p>
            <a:pPr marL="0" indent="0">
              <a:buNone/>
            </a:pPr>
            <a:r>
              <a:rPr lang="en-US" sz="1600" b="1" kern="0" spc="200" dirty="0">
                <a:solidFill>
                  <a:srgbClr val="2E86AB"/>
                </a:solidFill>
                <a:latin typeface="Calibri" pitchFamily="34" charset="0"/>
                <a:ea typeface="Calibri" pitchFamily="34" charset="-122"/>
                <a:cs typeface="Calibri" pitchFamily="34" charset="-120"/>
              </a:rPr>
              <a:t>SECTION E — REFLECTION</a:t>
            </a:r>
            <a:endParaRPr lang="en-US" sz="1600" dirty="0"/>
          </a:p>
        </p:txBody>
      </p:sp>
      <p:sp>
        <p:nvSpPr>
          <p:cNvPr id="3" name="Text 1"/>
          <p:cNvSpPr txBox="1"/>
          <p:nvPr/>
        </p:nvSpPr>
        <p:spPr>
          <a:xfrm>
            <a:off x="548640" y="603504"/>
            <a:ext cx="11064240" cy="731520"/>
          </a:xfrm>
          <a:prstGeom prst="rect">
            <a:avLst/>
          </a:prstGeom>
          <a:noFill/>
          <a:ln/>
        </p:spPr>
        <p:txBody>
          <a:bodyPr wrap="square" lIns="0" tIns="0" rIns="0" bIns="0" rtlCol="0" anchor="ctr"/>
          <a:lstStyle/>
          <a:p>
            <a:pPr marL="0" indent="0">
              <a:buNone/>
            </a:pPr>
            <a:r>
              <a:rPr lang="en-US" sz="3300" b="1" dirty="0">
                <a:solidFill>
                  <a:srgbClr val="142A45"/>
                </a:solidFill>
                <a:latin typeface="Cambria" pitchFamily="34" charset="0"/>
                <a:ea typeface="Cambria" pitchFamily="34" charset="-122"/>
                <a:cs typeface="Cambria" pitchFamily="34" charset="-120"/>
              </a:rPr>
              <a:t>Why Does This Chatbot Seem “AI-like”?</a:t>
            </a:r>
            <a:endParaRPr lang="en-US" sz="3300" dirty="0"/>
          </a:p>
        </p:txBody>
      </p:sp>
      <p:sp>
        <p:nvSpPr>
          <p:cNvPr id="4" name="Text 2"/>
          <p:cNvSpPr txBox="1"/>
          <p:nvPr/>
        </p:nvSpPr>
        <p:spPr>
          <a:xfrm>
            <a:off x="548640" y="1234440"/>
            <a:ext cx="10789920" cy="365760"/>
          </a:xfrm>
          <a:prstGeom prst="rect">
            <a:avLst/>
          </a:prstGeom>
          <a:noFill/>
          <a:ln/>
        </p:spPr>
        <p:txBody>
          <a:bodyPr wrap="square" lIns="0" tIns="0" rIns="0" bIns="0" rtlCol="0" anchor="ctr"/>
          <a:lstStyle/>
          <a:p>
            <a:pPr marL="0" indent="0">
              <a:buNone/>
            </a:pPr>
            <a:r>
              <a:rPr lang="en-US" sz="1700" dirty="0">
                <a:solidFill>
                  <a:srgbClr val="5B6B79"/>
                </a:solidFill>
                <a:latin typeface="Calibri" pitchFamily="34" charset="0"/>
                <a:ea typeface="Calibri" pitchFamily="34" charset="-122"/>
                <a:cs typeface="Calibri" pitchFamily="34" charset="-120"/>
              </a:rPr>
              <a:t>It feels intelligent because of what we, as humans, project onto it — not because it understands.</a:t>
            </a:r>
            <a:endParaRPr lang="en-US" sz="1700" dirty="0"/>
          </a:p>
        </p:txBody>
      </p:sp>
      <p:sp>
        <p:nvSpPr>
          <p:cNvPr id="5" name="Shape 3"/>
          <p:cNvSpPr/>
          <p:nvPr/>
        </p:nvSpPr>
        <p:spPr>
          <a:xfrm>
            <a:off x="548640" y="1783080"/>
            <a:ext cx="5349240" cy="4206240"/>
          </a:xfrm>
          <a:prstGeom prst="roundRect">
            <a:avLst>
              <a:gd name="adj" fmla="val 1739"/>
            </a:avLst>
          </a:prstGeom>
          <a:solidFill>
            <a:srgbClr val="142A45"/>
          </a:solidFill>
          <a:ln w="12700">
            <a:solidFill>
              <a:srgbClr val="DDE3EA"/>
            </a:solidFill>
            <a:prstDash val="solid"/>
          </a:ln>
          <a:effectLst>
            <a:outerShdw blurRad="76200" dist="25400" dir="5400000" algn="bl" rotWithShape="0">
              <a:srgbClr val="142A45">
                <a:alpha val="12000"/>
              </a:srgbClr>
            </a:outerShdw>
          </a:effectLst>
        </p:spPr>
      </p:sp>
      <p:sp>
        <p:nvSpPr>
          <p:cNvPr id="6" name="Text 4"/>
          <p:cNvSpPr txBox="1"/>
          <p:nvPr/>
        </p:nvSpPr>
        <p:spPr>
          <a:xfrm>
            <a:off x="777240" y="1965960"/>
            <a:ext cx="4892040" cy="274320"/>
          </a:xfrm>
          <a:prstGeom prst="rect">
            <a:avLst/>
          </a:prstGeom>
          <a:noFill/>
          <a:ln/>
        </p:spPr>
        <p:txBody>
          <a:bodyPr wrap="square" lIns="0" tIns="0" rIns="0" bIns="0" rtlCol="0" anchor="ctr"/>
          <a:lstStyle/>
          <a:p>
            <a:pPr marL="0" indent="0">
              <a:buNone/>
            </a:pPr>
            <a:r>
              <a:rPr lang="en-US" sz="1600" b="1" kern="0" spc="120" dirty="0">
                <a:solidFill>
                  <a:srgbClr val="FFC857"/>
                </a:solidFill>
                <a:latin typeface="Calibri" pitchFamily="34" charset="0"/>
                <a:ea typeface="Calibri" pitchFamily="34" charset="-122"/>
                <a:cs typeface="Calibri" pitchFamily="34" charset="-120"/>
              </a:rPr>
              <a:t>WHAT THE USER PERCEIVES</a:t>
            </a:r>
            <a:endParaRPr lang="en-US" sz="1600" dirty="0"/>
          </a:p>
        </p:txBody>
      </p:sp>
      <p:sp>
        <p:nvSpPr>
          <p:cNvPr id="7" name="Text 5"/>
          <p:cNvSpPr txBox="1"/>
          <p:nvPr/>
        </p:nvSpPr>
        <p:spPr>
          <a:xfrm>
            <a:off x="777240" y="2377440"/>
            <a:ext cx="4892040" cy="731520"/>
          </a:xfrm>
          <a:prstGeom prst="rect">
            <a:avLst/>
          </a:prstGeom>
          <a:noFill/>
          <a:ln/>
        </p:spPr>
        <p:txBody>
          <a:bodyPr wrap="square" lIns="0" tIns="0" rIns="0" bIns="0" rtlCol="0" anchor="ctr"/>
          <a:lstStyle/>
          <a:p>
            <a:pPr marL="0" indent="0">
              <a:buNone/>
            </a:pPr>
            <a:r>
              <a:rPr lang="en-US" sz="1800" i="1" dirty="0">
                <a:solidFill>
                  <a:srgbClr val="CADCFC"/>
                </a:solidFill>
                <a:latin typeface="Cambria" pitchFamily="34" charset="0"/>
                <a:ea typeface="Cambria" pitchFamily="34" charset="-122"/>
                <a:cs typeface="Cambria" pitchFamily="34" charset="-120"/>
              </a:rPr>
              <a:t>“It answered my question directly.”</a:t>
            </a:r>
            <a:endParaRPr lang="en-US" sz="1800" dirty="0"/>
          </a:p>
        </p:txBody>
      </p:sp>
      <p:sp>
        <p:nvSpPr>
          <p:cNvPr id="8" name="Text 6"/>
          <p:cNvSpPr txBox="1"/>
          <p:nvPr/>
        </p:nvSpPr>
        <p:spPr>
          <a:xfrm>
            <a:off x="777240" y="3200400"/>
            <a:ext cx="4892040" cy="731520"/>
          </a:xfrm>
          <a:prstGeom prst="rect">
            <a:avLst/>
          </a:prstGeom>
          <a:noFill/>
          <a:ln/>
        </p:spPr>
        <p:txBody>
          <a:bodyPr wrap="square" lIns="0" tIns="0" rIns="0" bIns="0" rtlCol="0" anchor="ctr"/>
          <a:lstStyle/>
          <a:p>
            <a:pPr marL="0" indent="0">
              <a:buNone/>
            </a:pPr>
            <a:r>
              <a:rPr lang="en-US" sz="1800" i="1" dirty="0">
                <a:solidFill>
                  <a:srgbClr val="CADCFC"/>
                </a:solidFill>
                <a:latin typeface="Cambria" pitchFamily="34" charset="0"/>
                <a:ea typeface="Cambria" pitchFamily="34" charset="-122"/>
                <a:cs typeface="Cambria" pitchFamily="34" charset="-120"/>
              </a:rPr>
              <a:t>“It responds differently to different things I say.”</a:t>
            </a:r>
            <a:endParaRPr lang="en-US" sz="1800" dirty="0"/>
          </a:p>
        </p:txBody>
      </p:sp>
      <p:sp>
        <p:nvSpPr>
          <p:cNvPr id="9" name="Text 7"/>
          <p:cNvSpPr txBox="1"/>
          <p:nvPr/>
        </p:nvSpPr>
        <p:spPr>
          <a:xfrm>
            <a:off x="777240" y="4023360"/>
            <a:ext cx="4892040" cy="731520"/>
          </a:xfrm>
          <a:prstGeom prst="rect">
            <a:avLst/>
          </a:prstGeom>
          <a:noFill/>
          <a:ln/>
        </p:spPr>
        <p:txBody>
          <a:bodyPr wrap="square" lIns="0" tIns="0" rIns="0" bIns="0" rtlCol="0" anchor="ctr"/>
          <a:lstStyle/>
          <a:p>
            <a:pPr marL="0" indent="0">
              <a:buNone/>
            </a:pPr>
            <a:r>
              <a:rPr lang="en-US" sz="1800" i="1" dirty="0">
                <a:solidFill>
                  <a:srgbClr val="CADCFC"/>
                </a:solidFill>
                <a:latin typeface="Cambria" pitchFamily="34" charset="0"/>
                <a:ea typeface="Cambria" pitchFamily="34" charset="-122"/>
                <a:cs typeface="Cambria" pitchFamily="34" charset="-120"/>
              </a:rPr>
              <a:t>“It feels like a real back-and-forth conversation.”</a:t>
            </a:r>
            <a:endParaRPr lang="en-US" sz="1800" dirty="0"/>
          </a:p>
        </p:txBody>
      </p:sp>
      <p:sp>
        <p:nvSpPr>
          <p:cNvPr id="10" name="Text 8"/>
          <p:cNvSpPr txBox="1"/>
          <p:nvPr/>
        </p:nvSpPr>
        <p:spPr>
          <a:xfrm>
            <a:off x="777240" y="4846320"/>
            <a:ext cx="4892040" cy="731520"/>
          </a:xfrm>
          <a:prstGeom prst="rect">
            <a:avLst/>
          </a:prstGeom>
          <a:noFill/>
          <a:ln/>
        </p:spPr>
        <p:txBody>
          <a:bodyPr wrap="square" lIns="0" tIns="0" rIns="0" bIns="0" rtlCol="0" anchor="ctr"/>
          <a:lstStyle/>
          <a:p>
            <a:pPr marL="0" indent="0">
              <a:buNone/>
            </a:pPr>
            <a:r>
              <a:rPr lang="en-US" sz="1800" i="1" dirty="0">
                <a:solidFill>
                  <a:srgbClr val="CADCFC"/>
                </a:solidFill>
                <a:latin typeface="Cambria" pitchFamily="34" charset="0"/>
                <a:ea typeface="Cambria" pitchFamily="34" charset="-122"/>
                <a:cs typeface="Cambria" pitchFamily="34" charset="-120"/>
              </a:rPr>
              <a:t>“It seems to know things about itself.”</a:t>
            </a:r>
            <a:endParaRPr lang="en-US" sz="1800" dirty="0"/>
          </a:p>
        </p:txBody>
      </p:sp>
      <p:sp>
        <p:nvSpPr>
          <p:cNvPr id="11" name="Shape 9"/>
          <p:cNvSpPr/>
          <p:nvPr/>
        </p:nvSpPr>
        <p:spPr>
          <a:xfrm>
            <a:off x="6263640" y="1783080"/>
            <a:ext cx="5349240" cy="4206240"/>
          </a:xfrm>
          <a:prstGeom prst="roundRect">
            <a:avLst>
              <a:gd name="adj" fmla="val 1739"/>
            </a:avLst>
          </a:prstGeom>
          <a:solidFill>
            <a:srgbClr val="EAF0F6"/>
          </a:solidFill>
          <a:ln w="12700">
            <a:solidFill>
              <a:srgbClr val="DDE3EA"/>
            </a:solidFill>
            <a:prstDash val="solid"/>
          </a:ln>
          <a:effectLst>
            <a:outerShdw blurRad="76200" dist="25400" dir="5400000" algn="bl" rotWithShape="0">
              <a:srgbClr val="142A45">
                <a:alpha val="12000"/>
              </a:srgbClr>
            </a:outerShdw>
          </a:effectLst>
        </p:spPr>
      </p:sp>
      <p:sp>
        <p:nvSpPr>
          <p:cNvPr id="12" name="Text 10"/>
          <p:cNvSpPr txBox="1"/>
          <p:nvPr/>
        </p:nvSpPr>
        <p:spPr>
          <a:xfrm>
            <a:off x="6492240" y="1965960"/>
            <a:ext cx="4892040" cy="274320"/>
          </a:xfrm>
          <a:prstGeom prst="rect">
            <a:avLst/>
          </a:prstGeom>
          <a:noFill/>
          <a:ln/>
        </p:spPr>
        <p:txBody>
          <a:bodyPr wrap="square" lIns="0" tIns="0" rIns="0" bIns="0" rtlCol="0" anchor="ctr"/>
          <a:lstStyle/>
          <a:p>
            <a:pPr marL="0" indent="0">
              <a:buNone/>
            </a:pPr>
            <a:r>
              <a:rPr lang="en-US" sz="1600" b="1" kern="0" spc="120" dirty="0">
                <a:solidFill>
                  <a:srgbClr val="2E86AB"/>
                </a:solidFill>
                <a:latin typeface="Calibri" pitchFamily="34" charset="0"/>
                <a:ea typeface="Calibri" pitchFamily="34" charset="-122"/>
                <a:cs typeface="Calibri" pitchFamily="34" charset="-120"/>
              </a:rPr>
              <a:t>WHAT IS ACTUALLY HAPPENING</a:t>
            </a:r>
            <a:endParaRPr lang="en-US" sz="1600" dirty="0"/>
          </a:p>
        </p:txBody>
      </p:sp>
      <p:sp>
        <p:nvSpPr>
          <p:cNvPr id="13" name="Text 11"/>
          <p:cNvSpPr txBox="1"/>
          <p:nvPr/>
        </p:nvSpPr>
        <p:spPr>
          <a:xfrm>
            <a:off x="6492240" y="2377440"/>
            <a:ext cx="4892040" cy="731520"/>
          </a:xfrm>
          <a:prstGeom prst="rect">
            <a:avLst/>
          </a:prstGeom>
          <a:noFill/>
          <a:ln/>
        </p:spPr>
        <p:txBody>
          <a:bodyPr wrap="square" lIns="0" tIns="0" rIns="0" bIns="0" rtlCol="0" anchor="ctr"/>
          <a:lstStyle/>
          <a:p>
            <a:pPr marL="0" indent="0">
              <a:buNone/>
            </a:pPr>
            <a:r>
              <a:rPr lang="en-US" sz="1800" dirty="0">
                <a:solidFill>
                  <a:srgbClr val="1B2430"/>
                </a:solidFill>
                <a:latin typeface="Calibri" pitchFamily="34" charset="0"/>
                <a:ea typeface="Calibri" pitchFamily="34" charset="-122"/>
                <a:cs typeface="Calibri" pitchFamily="34" charset="-120"/>
              </a:rPr>
              <a:t>A keyword happened to be in a pre-written list</a:t>
            </a:r>
            <a:endParaRPr lang="en-US" sz="1800" dirty="0"/>
          </a:p>
        </p:txBody>
      </p:sp>
      <p:sp>
        <p:nvSpPr>
          <p:cNvPr id="14" name="Text 12"/>
          <p:cNvSpPr txBox="1"/>
          <p:nvPr/>
        </p:nvSpPr>
        <p:spPr>
          <a:xfrm>
            <a:off x="6492240" y="3200400"/>
            <a:ext cx="4892040" cy="731520"/>
          </a:xfrm>
          <a:prstGeom prst="rect">
            <a:avLst/>
          </a:prstGeom>
          <a:noFill/>
          <a:ln/>
        </p:spPr>
        <p:txBody>
          <a:bodyPr wrap="square" lIns="0" tIns="0" rIns="0" bIns="0" rtlCol="0" anchor="ctr"/>
          <a:lstStyle/>
          <a:p>
            <a:pPr marL="0" indent="0">
              <a:buNone/>
            </a:pPr>
            <a:r>
              <a:rPr lang="en-US" sz="1800" dirty="0">
                <a:solidFill>
                  <a:srgbClr val="1B2430"/>
                </a:solidFill>
                <a:latin typeface="Calibri" pitchFamily="34" charset="0"/>
                <a:ea typeface="Calibri" pitchFamily="34" charset="-122"/>
                <a:cs typeface="Calibri" pitchFamily="34" charset="-120"/>
              </a:rPr>
              <a:t>Different keywords trigger different elif branches</a:t>
            </a:r>
            <a:endParaRPr lang="en-US" sz="1800" dirty="0"/>
          </a:p>
        </p:txBody>
      </p:sp>
      <p:sp>
        <p:nvSpPr>
          <p:cNvPr id="15" name="Text 13"/>
          <p:cNvSpPr txBox="1"/>
          <p:nvPr/>
        </p:nvSpPr>
        <p:spPr>
          <a:xfrm>
            <a:off x="6492240" y="4023360"/>
            <a:ext cx="4892040" cy="731520"/>
          </a:xfrm>
          <a:prstGeom prst="rect">
            <a:avLst/>
          </a:prstGeom>
          <a:noFill/>
          <a:ln/>
        </p:spPr>
        <p:txBody>
          <a:bodyPr wrap="square" lIns="0" tIns="0" rIns="0" bIns="0" rtlCol="0" anchor="ctr"/>
          <a:lstStyle/>
          <a:p>
            <a:pPr marL="0" indent="0">
              <a:buNone/>
            </a:pPr>
            <a:r>
              <a:rPr lang="en-US" sz="1800" dirty="0">
                <a:solidFill>
                  <a:srgbClr val="1B2430"/>
                </a:solidFill>
                <a:latin typeface="Calibri" pitchFamily="34" charset="0"/>
                <a:ea typeface="Calibri" pitchFamily="34" charset="-122"/>
                <a:cs typeface="Calibri" pitchFamily="34" charset="-120"/>
              </a:rPr>
              <a:t>The while loop simply repeats the same single-turn check</a:t>
            </a:r>
            <a:endParaRPr lang="en-US" sz="1800" dirty="0"/>
          </a:p>
        </p:txBody>
      </p:sp>
      <p:sp>
        <p:nvSpPr>
          <p:cNvPr id="16" name="Text 14"/>
          <p:cNvSpPr txBox="1"/>
          <p:nvPr/>
        </p:nvSpPr>
        <p:spPr>
          <a:xfrm>
            <a:off x="6492240" y="4846320"/>
            <a:ext cx="4892040" cy="731520"/>
          </a:xfrm>
          <a:prstGeom prst="rect">
            <a:avLst/>
          </a:prstGeom>
          <a:noFill/>
          <a:ln/>
        </p:spPr>
        <p:txBody>
          <a:bodyPr wrap="square" lIns="0" tIns="0" rIns="0" bIns="0" rtlCol="0" anchor="ctr"/>
          <a:lstStyle/>
          <a:p>
            <a:pPr marL="0" indent="0">
              <a:buNone/>
            </a:pPr>
            <a:r>
              <a:rPr lang="en-US" sz="1800" dirty="0">
                <a:solidFill>
                  <a:srgbClr val="1B2430"/>
                </a:solidFill>
                <a:latin typeface="Calibri" pitchFamily="34" charset="0"/>
                <a:ea typeface="Calibri" pitchFamily="34" charset="-122"/>
                <a:cs typeface="Calibri" pitchFamily="34" charset="-120"/>
              </a:rPr>
              <a:t>A hardcoded string was returned for that one rule</a:t>
            </a:r>
            <a:endParaRPr lang="en-US" sz="1800" dirty="0"/>
          </a:p>
        </p:txBody>
      </p:sp>
      <p:sp>
        <p:nvSpPr>
          <p:cNvPr id="17" name="Text 15"/>
          <p:cNvSpPr txBox="1"/>
          <p:nvPr/>
        </p:nvSpPr>
        <p:spPr>
          <a:xfrm>
            <a:off x="548640" y="6455664"/>
            <a:ext cx="9418320" cy="292608"/>
          </a:xfrm>
          <a:prstGeom prst="rect">
            <a:avLst/>
          </a:prstGeom>
          <a:noFill/>
          <a:ln/>
        </p:spPr>
        <p:txBody>
          <a:bodyPr wrap="square" lIns="0" tIns="0" rIns="0" bIns="0" rtlCol="0" anchor="ctr"/>
          <a:lstStyle/>
          <a:p>
            <a:pPr marL="0" indent="0">
              <a:buNone/>
            </a:pPr>
            <a:r>
              <a:rPr lang="en-US" sz="1600" dirty="0">
                <a:solidFill>
                  <a:srgbClr val="5B6B79"/>
                </a:solidFill>
                <a:latin typeface="Calibri" pitchFamily="34" charset="0"/>
                <a:ea typeface="Calibri" pitchFamily="34" charset="-122"/>
                <a:cs typeface="Calibri" pitchFamily="34" charset="-120"/>
              </a:rPr>
              <a:t>AI Practical 1  •  Development Environment, Python &amp; Rule-Based Chatbot</a:t>
            </a:r>
            <a:endParaRPr lang="en-US" sz="1600" dirty="0"/>
          </a:p>
        </p:txBody>
      </p:sp>
      <p:sp>
        <p:nvSpPr>
          <p:cNvPr id="18" name="Text 16"/>
          <p:cNvSpPr txBox="1"/>
          <p:nvPr/>
        </p:nvSpPr>
        <p:spPr>
          <a:xfrm>
            <a:off x="11247120" y="6455664"/>
            <a:ext cx="457200" cy="292608"/>
          </a:xfrm>
          <a:prstGeom prst="rect">
            <a:avLst/>
          </a:prstGeom>
          <a:noFill/>
          <a:ln/>
        </p:spPr>
        <p:txBody>
          <a:bodyPr wrap="square" lIns="0" tIns="0" rIns="0" bIns="0" rtlCol="0" anchor="ctr"/>
          <a:lstStyle/>
          <a:p>
            <a:pPr marL="0" indent="0" algn="r">
              <a:buNone/>
            </a:pPr>
            <a:r>
              <a:rPr lang="en-US" sz="1600" dirty="0">
                <a:solidFill>
                  <a:srgbClr val="5B6B79"/>
                </a:solidFill>
                <a:latin typeface="Calibri" pitchFamily="34" charset="0"/>
                <a:ea typeface="Calibri" pitchFamily="34" charset="-122"/>
                <a:cs typeface="Calibri" pitchFamily="34" charset="-120"/>
              </a:rPr>
              <a:t>28</a:t>
            </a:r>
            <a:endParaRPr lang="en-US"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7FA"/>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0515600" cy="310896"/>
          </a:xfrm>
          <a:prstGeom prst="rect">
            <a:avLst/>
          </a:prstGeom>
          <a:noFill/>
          <a:ln/>
        </p:spPr>
        <p:txBody>
          <a:bodyPr wrap="square" lIns="0" tIns="0" rIns="0" bIns="0" rtlCol="0" anchor="ctr"/>
          <a:lstStyle/>
          <a:p>
            <a:pPr marL="0" indent="0">
              <a:buNone/>
            </a:pPr>
            <a:r>
              <a:rPr lang="en-US" sz="1600" b="1" kern="0" spc="200" dirty="0">
                <a:solidFill>
                  <a:srgbClr val="2E86AB"/>
                </a:solidFill>
                <a:latin typeface="Calibri" pitchFamily="34" charset="0"/>
                <a:ea typeface="Calibri" pitchFamily="34" charset="-122"/>
                <a:cs typeface="Calibri" pitchFamily="34" charset="-120"/>
              </a:rPr>
              <a:t>SECTION E — REFLECTION</a:t>
            </a:r>
            <a:endParaRPr lang="en-US" sz="1600" dirty="0"/>
          </a:p>
        </p:txBody>
      </p:sp>
      <p:sp>
        <p:nvSpPr>
          <p:cNvPr id="3" name="Text 1"/>
          <p:cNvSpPr txBox="1"/>
          <p:nvPr/>
        </p:nvSpPr>
        <p:spPr>
          <a:xfrm>
            <a:off x="548640" y="603504"/>
            <a:ext cx="11064240" cy="731520"/>
          </a:xfrm>
          <a:prstGeom prst="rect">
            <a:avLst/>
          </a:prstGeom>
          <a:noFill/>
          <a:ln/>
        </p:spPr>
        <p:txBody>
          <a:bodyPr wrap="square" lIns="0" tIns="0" rIns="0" bIns="0" rtlCol="0" anchor="ctr"/>
          <a:lstStyle/>
          <a:p>
            <a:pPr marL="0" indent="0">
              <a:buNone/>
            </a:pPr>
            <a:r>
              <a:rPr lang="en-US" sz="3300" b="1" dirty="0">
                <a:solidFill>
                  <a:srgbClr val="142A45"/>
                </a:solidFill>
                <a:latin typeface="Cambria" pitchFamily="34" charset="0"/>
                <a:ea typeface="Cambria" pitchFamily="34" charset="-122"/>
                <a:cs typeface="Cambria" pitchFamily="34" charset="-120"/>
              </a:rPr>
              <a:t>Limitations of Rule-Based AI</a:t>
            </a:r>
            <a:endParaRPr lang="en-US" sz="33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3429000"/>
        </p:xfrm>
        <a:graphic>
          <a:graphicData uri="http://schemas.openxmlformats.org/drawingml/2006/table">
            <a:tbl>
              <a:tblPr/>
              <a:tblGrid>
                <a:gridCol w="237744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gridCol w="4389120">
                  <a:extLst>
                    <a:ext uri="{9D8B030D-6E8A-4147-A177-3AD203B41FA5}">
                      <a16:colId xmlns:a16="http://schemas.microsoft.com/office/drawing/2014/main" val="20002"/>
                    </a:ext>
                  </a:extLst>
                </a:gridCol>
              </a:tblGrid>
              <a:tr h="571500">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Capability</a:t>
                      </a:r>
                      <a:endParaRPr lang="en-US" sz="1600" dirty="0">
                        <a:latin typeface="Calibri" charset="0"/>
                        <a:ea typeface="Calibri" charset="0"/>
                        <a:cs typeface="Calibri" charset="0"/>
                      </a:endParaRPr>
                    </a:p>
                  </a:txBody>
                  <a:tcPr marL="45720" marR="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142A45"/>
                    </a:solidFill>
                  </a:tcPr>
                </a:tc>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Rule-Based Chatbot (today)</a:t>
                      </a:r>
                      <a:endParaRPr lang="en-US" sz="1600" dirty="0">
                        <a:latin typeface="Calibri" charset="0"/>
                        <a:ea typeface="Calibri" charset="0"/>
                        <a:cs typeface="Calibri" charset="0"/>
                      </a:endParaRPr>
                    </a:p>
                  </a:txBody>
                  <a:tcPr marL="45720" marR="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142A45"/>
                    </a:solidFill>
                  </a:tcPr>
                </a:tc>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Modern AI / ML Systems</a:t>
                      </a:r>
                      <a:endParaRPr lang="en-US" sz="1600" dirty="0">
                        <a:latin typeface="Calibri" charset="0"/>
                        <a:ea typeface="Calibri" charset="0"/>
                        <a:cs typeface="Calibri" charset="0"/>
                      </a:endParaRPr>
                    </a:p>
                  </a:txBody>
                  <a:tcPr marL="45720" marR="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142A45"/>
                    </a:solidFill>
                  </a:tcPr>
                </a:tc>
                <a:extLst>
                  <a:ext uri="{0D108BD9-81ED-4DB2-BD59-A6C34878D82A}">
                    <a16:rowId xmlns:a16="http://schemas.microsoft.com/office/drawing/2014/main" val="10000"/>
                  </a:ext>
                </a:extLst>
              </a:tr>
              <a:tr h="571500">
                <a:tc>
                  <a:txBody>
                    <a:bodyPr/>
                    <a:lstStyle/>
                    <a:p>
                      <a:pPr marL="0" indent="0" algn="l">
                        <a:buNone/>
                      </a:pPr>
                      <a:r>
                        <a:rPr lang="en-US" sz="1600" b="1" dirty="0">
                          <a:solidFill>
                            <a:srgbClr val="1B2430"/>
                          </a:solidFill>
                          <a:latin typeface="Calibri" pitchFamily="34" charset="0"/>
                          <a:ea typeface="Calibri" pitchFamily="34" charset="-122"/>
                          <a:cs typeface="Calibri" pitchFamily="34" charset="-120"/>
                        </a:rPr>
                        <a:t>Handling unseen input</a:t>
                      </a:r>
                      <a:endParaRPr lang="en-US" sz="1600" dirty="0">
                        <a:latin typeface="Calibri" charset="0"/>
                        <a:ea typeface="Calibri" charset="0"/>
                        <a:cs typeface="Calibri" charset="0"/>
                      </a:endParaRPr>
                    </a:p>
                  </a:txBody>
                  <a:tcPr marL="45720" marR="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2430"/>
                          </a:solidFill>
                          <a:latin typeface="Calibri" pitchFamily="34" charset="0"/>
                          <a:ea typeface="Calibri" pitchFamily="34" charset="-122"/>
                          <a:cs typeface="Calibri" pitchFamily="34" charset="-120"/>
                        </a:rPr>
                        <a:t>Fails silently — falls back to a generic reply</a:t>
                      </a:r>
                      <a:endParaRPr lang="en-US" sz="1600" dirty="0">
                        <a:latin typeface="Calibri" charset="0"/>
                        <a:ea typeface="Calibri" charset="0"/>
                        <a:cs typeface="Calibri" charset="0"/>
                      </a:endParaRPr>
                    </a:p>
                  </a:txBody>
                  <a:tcPr marL="45720" marR="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2430"/>
                          </a:solidFill>
                          <a:latin typeface="Calibri" pitchFamily="34" charset="0"/>
                          <a:ea typeface="Calibri" pitchFamily="34" charset="-122"/>
                          <a:cs typeface="Calibri" pitchFamily="34" charset="-120"/>
                        </a:rPr>
                        <a:t>Generalises from patterns learned in data</a:t>
                      </a:r>
                      <a:endParaRPr lang="en-US" sz="1600" dirty="0">
                        <a:latin typeface="Calibri" charset="0"/>
                        <a:ea typeface="Calibri" charset="0"/>
                        <a:cs typeface="Calibri" charset="0"/>
                      </a:endParaRPr>
                    </a:p>
                  </a:txBody>
                  <a:tcPr marL="45720" marR="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71500">
                <a:tc>
                  <a:txBody>
                    <a:bodyPr/>
                    <a:lstStyle/>
                    <a:p>
                      <a:pPr marL="0" indent="0" algn="l">
                        <a:buNone/>
                      </a:pPr>
                      <a:r>
                        <a:rPr lang="en-US" sz="1600" b="1" dirty="0">
                          <a:solidFill>
                            <a:srgbClr val="1B2430"/>
                          </a:solidFill>
                          <a:latin typeface="Calibri" pitchFamily="34" charset="0"/>
                          <a:ea typeface="Calibri" pitchFamily="34" charset="-122"/>
                          <a:cs typeface="Calibri" pitchFamily="34" charset="-120"/>
                        </a:rPr>
                        <a:t>Learning over time</a:t>
                      </a:r>
                      <a:endParaRPr lang="en-US" sz="1600" dirty="0">
                        <a:latin typeface="Calibri" charset="0"/>
                        <a:ea typeface="Calibri" charset="0"/>
                        <a:cs typeface="Calibri" charset="0"/>
                      </a:endParaRPr>
                    </a:p>
                  </a:txBody>
                  <a:tcPr marL="45720" marR="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EEF2F6"/>
                    </a:solidFill>
                  </a:tcPr>
                </a:tc>
                <a:tc>
                  <a:txBody>
                    <a:bodyPr/>
                    <a:lstStyle/>
                    <a:p>
                      <a:pPr marL="0" indent="0" algn="l">
                        <a:buNone/>
                      </a:pPr>
                      <a:r>
                        <a:rPr lang="en-US" sz="1600" dirty="0">
                          <a:solidFill>
                            <a:srgbClr val="1B2430"/>
                          </a:solidFill>
                          <a:latin typeface="Calibri" pitchFamily="34" charset="0"/>
                          <a:ea typeface="Calibri" pitchFamily="34" charset="-122"/>
                          <a:cs typeface="Calibri" pitchFamily="34" charset="-120"/>
                        </a:rPr>
                        <a:t>Never improves; rules are fixed by the programmer</a:t>
                      </a:r>
                      <a:endParaRPr lang="en-US" sz="1600" dirty="0">
                        <a:latin typeface="Calibri" charset="0"/>
                        <a:ea typeface="Calibri" charset="0"/>
                        <a:cs typeface="Calibri" charset="0"/>
                      </a:endParaRPr>
                    </a:p>
                  </a:txBody>
                  <a:tcPr marL="45720" marR="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EEF2F6"/>
                    </a:solidFill>
                  </a:tcPr>
                </a:tc>
                <a:tc>
                  <a:txBody>
                    <a:bodyPr/>
                    <a:lstStyle/>
                    <a:p>
                      <a:pPr marL="0" indent="0" algn="l">
                        <a:buNone/>
                      </a:pPr>
                      <a:r>
                        <a:rPr lang="en-US" sz="1600" dirty="0">
                          <a:solidFill>
                            <a:srgbClr val="1B2430"/>
                          </a:solidFill>
                          <a:latin typeface="Calibri" pitchFamily="34" charset="0"/>
                          <a:ea typeface="Calibri" pitchFamily="34" charset="-122"/>
                          <a:cs typeface="Calibri" pitchFamily="34" charset="-120"/>
                        </a:rPr>
                        <a:t>Can improve as more data is seen</a:t>
                      </a:r>
                      <a:endParaRPr lang="en-US" sz="1600" dirty="0">
                        <a:latin typeface="Calibri" charset="0"/>
                        <a:ea typeface="Calibri" charset="0"/>
                        <a:cs typeface="Calibri" charset="0"/>
                      </a:endParaRPr>
                    </a:p>
                  </a:txBody>
                  <a:tcPr marL="45720" marR="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EEF2F6"/>
                    </a:solidFill>
                  </a:tcPr>
                </a:tc>
                <a:extLst>
                  <a:ext uri="{0D108BD9-81ED-4DB2-BD59-A6C34878D82A}">
                    <a16:rowId xmlns:a16="http://schemas.microsoft.com/office/drawing/2014/main" val="10002"/>
                  </a:ext>
                </a:extLst>
              </a:tr>
              <a:tr h="571500">
                <a:tc>
                  <a:txBody>
                    <a:bodyPr/>
                    <a:lstStyle/>
                    <a:p>
                      <a:pPr marL="0" indent="0" algn="l">
                        <a:buNone/>
                      </a:pPr>
                      <a:r>
                        <a:rPr lang="en-US" sz="1600" b="1" dirty="0">
                          <a:solidFill>
                            <a:srgbClr val="1B2430"/>
                          </a:solidFill>
                          <a:latin typeface="Calibri" pitchFamily="34" charset="0"/>
                          <a:ea typeface="Calibri" pitchFamily="34" charset="-122"/>
                          <a:cs typeface="Calibri" pitchFamily="34" charset="-120"/>
                        </a:rPr>
                        <a:t>Understanding context</a:t>
                      </a:r>
                      <a:endParaRPr lang="en-US" sz="1600" dirty="0">
                        <a:latin typeface="Calibri" charset="0"/>
                        <a:ea typeface="Calibri" charset="0"/>
                        <a:cs typeface="Calibri" charset="0"/>
                      </a:endParaRPr>
                    </a:p>
                  </a:txBody>
                  <a:tcPr marL="45720" marR="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2430"/>
                          </a:solidFill>
                          <a:latin typeface="Calibri" pitchFamily="34" charset="0"/>
                          <a:ea typeface="Calibri" pitchFamily="34" charset="-122"/>
                          <a:cs typeface="Calibri" pitchFamily="34" charset="-120"/>
                        </a:rPr>
                        <a:t>No memory of earlier turns in the conversation</a:t>
                      </a:r>
                      <a:endParaRPr lang="en-US" sz="1600" dirty="0">
                        <a:latin typeface="Calibri" charset="0"/>
                        <a:ea typeface="Calibri" charset="0"/>
                        <a:cs typeface="Calibri" charset="0"/>
                      </a:endParaRPr>
                    </a:p>
                  </a:txBody>
                  <a:tcPr marL="45720" marR="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2430"/>
                          </a:solidFill>
                          <a:latin typeface="Calibri" pitchFamily="34" charset="0"/>
                          <a:ea typeface="Calibri" pitchFamily="34" charset="-122"/>
                          <a:cs typeface="Calibri" pitchFamily="34" charset="-120"/>
                        </a:rPr>
                        <a:t>Can track context across a conversation</a:t>
                      </a:r>
                      <a:endParaRPr lang="en-US" sz="1600" dirty="0">
                        <a:latin typeface="Calibri" charset="0"/>
                        <a:ea typeface="Calibri" charset="0"/>
                        <a:cs typeface="Calibri" charset="0"/>
                      </a:endParaRPr>
                    </a:p>
                  </a:txBody>
                  <a:tcPr marL="45720" marR="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71500">
                <a:tc>
                  <a:txBody>
                    <a:bodyPr/>
                    <a:lstStyle/>
                    <a:p>
                      <a:pPr marL="0" indent="0" algn="l">
                        <a:buNone/>
                      </a:pPr>
                      <a:r>
                        <a:rPr lang="en-US" sz="1600" b="1" dirty="0">
                          <a:solidFill>
                            <a:srgbClr val="1B2430"/>
                          </a:solidFill>
                          <a:latin typeface="Calibri" pitchFamily="34" charset="0"/>
                          <a:ea typeface="Calibri" pitchFamily="34" charset="-122"/>
                          <a:cs typeface="Calibri" pitchFamily="34" charset="-120"/>
                        </a:rPr>
                        <a:t>Handling ambiguity / typos</a:t>
                      </a:r>
                      <a:endParaRPr lang="en-US" sz="1600" dirty="0">
                        <a:latin typeface="Calibri" charset="0"/>
                        <a:ea typeface="Calibri" charset="0"/>
                        <a:cs typeface="Calibri" charset="0"/>
                      </a:endParaRPr>
                    </a:p>
                  </a:txBody>
                  <a:tcPr marL="45720" marR="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EEF2F6"/>
                    </a:solidFill>
                  </a:tcPr>
                </a:tc>
                <a:tc>
                  <a:txBody>
                    <a:bodyPr/>
                    <a:lstStyle/>
                    <a:p>
                      <a:pPr marL="0" indent="0" algn="l">
                        <a:buNone/>
                      </a:pPr>
                      <a:r>
                        <a:rPr lang="en-US" sz="1600" dirty="0">
                          <a:solidFill>
                            <a:srgbClr val="1B2430"/>
                          </a:solidFill>
                          <a:latin typeface="Calibri" pitchFamily="34" charset="0"/>
                          <a:ea typeface="Calibri" pitchFamily="34" charset="-122"/>
                          <a:cs typeface="Calibri" pitchFamily="34" charset="-120"/>
                        </a:rPr>
                        <a:t>Breaks on misspellings or unexpected phrasing</a:t>
                      </a:r>
                      <a:endParaRPr lang="en-US" sz="1600" dirty="0">
                        <a:latin typeface="Calibri" charset="0"/>
                        <a:ea typeface="Calibri" charset="0"/>
                        <a:cs typeface="Calibri" charset="0"/>
                      </a:endParaRPr>
                    </a:p>
                  </a:txBody>
                  <a:tcPr marL="45720" marR="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EEF2F6"/>
                    </a:solidFill>
                  </a:tcPr>
                </a:tc>
                <a:tc>
                  <a:txBody>
                    <a:bodyPr/>
                    <a:lstStyle/>
                    <a:p>
                      <a:pPr marL="0" indent="0" algn="l">
                        <a:buNone/>
                      </a:pPr>
                      <a:r>
                        <a:rPr lang="en-US" sz="1600" dirty="0">
                          <a:solidFill>
                            <a:srgbClr val="1B2430"/>
                          </a:solidFill>
                          <a:latin typeface="Calibri" pitchFamily="34" charset="0"/>
                          <a:ea typeface="Calibri" pitchFamily="34" charset="-122"/>
                          <a:cs typeface="Calibri" pitchFamily="34" charset="-120"/>
                        </a:rPr>
                        <a:t>More robust to variation and noise</a:t>
                      </a:r>
                      <a:endParaRPr lang="en-US" sz="1600" dirty="0">
                        <a:latin typeface="Calibri" charset="0"/>
                        <a:ea typeface="Calibri" charset="0"/>
                        <a:cs typeface="Calibri" charset="0"/>
                      </a:endParaRPr>
                    </a:p>
                  </a:txBody>
                  <a:tcPr marL="45720" marR="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EEF2F6"/>
                    </a:solidFill>
                  </a:tcPr>
                </a:tc>
                <a:extLst>
                  <a:ext uri="{0D108BD9-81ED-4DB2-BD59-A6C34878D82A}">
                    <a16:rowId xmlns:a16="http://schemas.microsoft.com/office/drawing/2014/main" val="10004"/>
                  </a:ext>
                </a:extLst>
              </a:tr>
              <a:tr h="571500">
                <a:tc>
                  <a:txBody>
                    <a:bodyPr/>
                    <a:lstStyle/>
                    <a:p>
                      <a:pPr marL="0" indent="0" algn="l">
                        <a:buNone/>
                      </a:pPr>
                      <a:r>
                        <a:rPr lang="en-US" sz="1600" b="1" dirty="0">
                          <a:solidFill>
                            <a:srgbClr val="1B2430"/>
                          </a:solidFill>
                          <a:latin typeface="Calibri" pitchFamily="34" charset="0"/>
                          <a:ea typeface="Calibri" pitchFamily="34" charset="-122"/>
                          <a:cs typeface="Calibri" pitchFamily="34" charset="-120"/>
                        </a:rPr>
                        <a:t>Scalability</a:t>
                      </a:r>
                      <a:endParaRPr lang="en-US" sz="1600" dirty="0">
                        <a:latin typeface="Calibri" charset="0"/>
                        <a:ea typeface="Calibri" charset="0"/>
                        <a:cs typeface="Calibri" charset="0"/>
                      </a:endParaRPr>
                    </a:p>
                  </a:txBody>
                  <a:tcPr marL="45720" marR="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2430"/>
                          </a:solidFill>
                          <a:latin typeface="Calibri" pitchFamily="34" charset="0"/>
                          <a:ea typeface="Calibri" pitchFamily="34" charset="-122"/>
                          <a:cs typeface="Calibri" pitchFamily="34" charset="-120"/>
                        </a:rPr>
                        <a:t>Every new topic needs a hand-written rule</a:t>
                      </a:r>
                      <a:endParaRPr lang="en-US" sz="1600" dirty="0">
                        <a:latin typeface="Calibri" charset="0"/>
                        <a:ea typeface="Calibri" charset="0"/>
                        <a:cs typeface="Calibri" charset="0"/>
                      </a:endParaRPr>
                    </a:p>
                  </a:txBody>
                  <a:tcPr marL="45720" marR="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marL="0" indent="0" algn="l">
                        <a:buNone/>
                      </a:pPr>
                      <a:r>
                        <a:rPr lang="en-US" sz="1600" dirty="0">
                          <a:solidFill>
                            <a:srgbClr val="1B2430"/>
                          </a:solidFill>
                          <a:latin typeface="Calibri" pitchFamily="34" charset="0"/>
                          <a:ea typeface="Calibri" pitchFamily="34" charset="-122"/>
                          <a:cs typeface="Calibri" pitchFamily="34" charset="-120"/>
                        </a:rPr>
                        <a:t>Learns broad behaviour from examples</a:t>
                      </a:r>
                      <a:endParaRPr lang="en-US" sz="1600" dirty="0">
                        <a:latin typeface="Calibri" charset="0"/>
                        <a:ea typeface="Calibri" charset="0"/>
                        <a:cs typeface="Calibri" charset="0"/>
                      </a:endParaRPr>
                    </a:p>
                  </a:txBody>
                  <a:tcPr marL="45720" marR="4572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Shape 2"/>
          <p:cNvSpPr/>
          <p:nvPr/>
        </p:nvSpPr>
        <p:spPr>
          <a:xfrm>
            <a:off x="548640" y="5257800"/>
            <a:ext cx="11064240" cy="960120"/>
          </a:xfrm>
          <a:prstGeom prst="roundRect">
            <a:avLst>
              <a:gd name="adj" fmla="val 7619"/>
            </a:avLst>
          </a:prstGeom>
          <a:solidFill>
            <a:srgbClr val="FBEAEA"/>
          </a:solidFill>
          <a:ln w="12700">
            <a:solidFill>
              <a:srgbClr val="DDE3EA"/>
            </a:solidFill>
            <a:prstDash val="solid"/>
          </a:ln>
          <a:effectLst>
            <a:outerShdw blurRad="76200" dist="25400" dir="5400000" algn="bl" rotWithShape="0">
              <a:srgbClr val="142A45">
                <a:alpha val="12000"/>
              </a:srgbClr>
            </a:outerShdw>
          </a:effectLst>
        </p:spPr>
      </p:sp>
      <p:sp>
        <p:nvSpPr>
          <p:cNvPr id="6" name="Text 3"/>
          <p:cNvSpPr txBox="1"/>
          <p:nvPr/>
        </p:nvSpPr>
        <p:spPr>
          <a:xfrm>
            <a:off x="777240" y="5257800"/>
            <a:ext cx="10607040" cy="960120"/>
          </a:xfrm>
          <a:prstGeom prst="rect">
            <a:avLst/>
          </a:prstGeom>
          <a:noFill/>
          <a:ln/>
        </p:spPr>
        <p:txBody>
          <a:bodyPr wrap="square" lIns="0" tIns="0" rIns="0" bIns="0" rtlCol="0" anchor="ctr"/>
          <a:lstStyle/>
          <a:p>
            <a:pPr marL="0" indent="0">
              <a:buNone/>
            </a:pPr>
            <a:r>
              <a:rPr lang="en-US" sz="1800" b="1" dirty="0">
                <a:solidFill>
                  <a:srgbClr val="8A2E2E"/>
                </a:solidFill>
                <a:latin typeface="Calibri" pitchFamily="34" charset="0"/>
                <a:ea typeface="Calibri" pitchFamily="34" charset="-122"/>
                <a:cs typeface="Calibri" pitchFamily="34" charset="-120"/>
              </a:rPr>
              <a:t>Takeaway:  </a:t>
            </a:r>
            <a:r>
              <a:rPr lang="en-US" sz="1700" dirty="0">
                <a:solidFill>
                  <a:srgbClr val="1B2430"/>
                </a:solidFill>
                <a:latin typeface="Calibri" pitchFamily="34" charset="0"/>
                <a:ea typeface="Calibri" pitchFamily="34" charset="-122"/>
                <a:cs typeface="Calibri" pitchFamily="34" charset="-120"/>
              </a:rPr>
              <a:t>Rule-based systems are a useful starting point and are still used where behaviour must be fully predictable — but they cannot learn or adapt. This gap is exactly what the rest of this course (search, knowledge representation, and machine learning) will address.</a:t>
            </a:r>
            <a:endParaRPr lang="en-US" sz="1800" dirty="0"/>
          </a:p>
        </p:txBody>
      </p:sp>
      <p:sp>
        <p:nvSpPr>
          <p:cNvPr id="7" name="Text 4"/>
          <p:cNvSpPr txBox="1"/>
          <p:nvPr/>
        </p:nvSpPr>
        <p:spPr>
          <a:xfrm>
            <a:off x="548640" y="6455664"/>
            <a:ext cx="9418320" cy="292608"/>
          </a:xfrm>
          <a:prstGeom prst="rect">
            <a:avLst/>
          </a:prstGeom>
          <a:noFill/>
          <a:ln/>
        </p:spPr>
        <p:txBody>
          <a:bodyPr wrap="square" lIns="0" tIns="0" rIns="0" bIns="0" rtlCol="0" anchor="ctr"/>
          <a:lstStyle/>
          <a:p>
            <a:pPr marL="0" indent="0">
              <a:buNone/>
            </a:pPr>
            <a:r>
              <a:rPr lang="en-US" sz="1600" dirty="0">
                <a:solidFill>
                  <a:srgbClr val="5B6B79"/>
                </a:solidFill>
                <a:latin typeface="Calibri" pitchFamily="34" charset="0"/>
                <a:ea typeface="Calibri" pitchFamily="34" charset="-122"/>
                <a:cs typeface="Calibri" pitchFamily="34" charset="-120"/>
              </a:rPr>
              <a:t>AI Practical 1  •  Development Environment, Python &amp; Rule-Based Chatbot</a:t>
            </a:r>
            <a:endParaRPr lang="en-US" sz="1600" dirty="0"/>
          </a:p>
        </p:txBody>
      </p:sp>
      <p:sp>
        <p:nvSpPr>
          <p:cNvPr id="8" name="Text 5"/>
          <p:cNvSpPr txBox="1"/>
          <p:nvPr/>
        </p:nvSpPr>
        <p:spPr>
          <a:xfrm>
            <a:off x="11247120" y="6455664"/>
            <a:ext cx="457200" cy="292608"/>
          </a:xfrm>
          <a:prstGeom prst="rect">
            <a:avLst/>
          </a:prstGeom>
          <a:noFill/>
          <a:ln/>
        </p:spPr>
        <p:txBody>
          <a:bodyPr wrap="square" lIns="0" tIns="0" rIns="0" bIns="0" rtlCol="0" anchor="ctr"/>
          <a:lstStyle/>
          <a:p>
            <a:pPr marL="0" indent="0" algn="r">
              <a:buNone/>
            </a:pPr>
            <a:r>
              <a:rPr lang="en-US" sz="1600" dirty="0">
                <a:solidFill>
                  <a:srgbClr val="5B6B79"/>
                </a:solidFill>
                <a:latin typeface="Calibri" pitchFamily="34" charset="0"/>
                <a:ea typeface="Calibri" pitchFamily="34" charset="-122"/>
                <a:cs typeface="Calibri" pitchFamily="34" charset="-120"/>
              </a:rPr>
              <a:t>29</a:t>
            </a:r>
            <a:endParaRPr lang="en-US" sz="1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B1930"/>
        </a:solidFill>
        <a:effectLst/>
      </p:bgPr>
    </p:bg>
    <p:spTree>
      <p:nvGrpSpPr>
        <p:cNvPr id="1" name=""/>
        <p:cNvGrpSpPr/>
        <p:nvPr/>
      </p:nvGrpSpPr>
      <p:grpSpPr>
        <a:xfrm>
          <a:off x="0" y="0"/>
          <a:ext cx="0" cy="0"/>
          <a:chOff x="0" y="0"/>
          <a:chExt cx="0" cy="0"/>
        </a:xfrm>
      </p:grpSpPr>
      <p:sp>
        <p:nvSpPr>
          <p:cNvPr id="2" name="Shape 0"/>
          <p:cNvSpPr/>
          <p:nvPr/>
        </p:nvSpPr>
        <p:spPr>
          <a:xfrm rot="1200000">
            <a:off x="9418320" y="-1005840"/>
            <a:ext cx="4206240" cy="4206240"/>
          </a:xfrm>
          <a:prstGeom prst="roundRect">
            <a:avLst>
              <a:gd name="adj" fmla="val 21739"/>
            </a:avLst>
          </a:prstGeom>
          <a:solidFill>
            <a:srgbClr val="17325A"/>
          </a:solidFill>
          <a:ln/>
        </p:spPr>
      </p:sp>
      <p:sp>
        <p:nvSpPr>
          <p:cNvPr id="3" name="Shape 1"/>
          <p:cNvSpPr/>
          <p:nvPr/>
        </p:nvSpPr>
        <p:spPr>
          <a:xfrm rot="480000">
            <a:off x="10332720" y="4846320"/>
            <a:ext cx="2194560" cy="2194560"/>
          </a:xfrm>
          <a:prstGeom prst="roundRect">
            <a:avLst>
              <a:gd name="adj" fmla="val 25000"/>
            </a:avLst>
          </a:prstGeom>
          <a:solidFill>
            <a:srgbClr val="2E86AB"/>
          </a:solidFill>
          <a:ln/>
        </p:spPr>
      </p:sp>
      <p:sp>
        <p:nvSpPr>
          <p:cNvPr id="4" name="Text 2"/>
          <p:cNvSpPr txBox="1"/>
          <p:nvPr/>
        </p:nvSpPr>
        <p:spPr>
          <a:xfrm>
            <a:off x="640080" y="411480"/>
            <a:ext cx="7315200" cy="292608"/>
          </a:xfrm>
          <a:prstGeom prst="rect">
            <a:avLst/>
          </a:prstGeom>
          <a:noFill/>
          <a:ln/>
        </p:spPr>
        <p:txBody>
          <a:bodyPr wrap="square" lIns="0" tIns="0" rIns="0" bIns="0" rtlCol="0" anchor="ctr"/>
          <a:lstStyle/>
          <a:p>
            <a:pPr marL="0" indent="0">
              <a:buNone/>
            </a:pPr>
            <a:r>
              <a:rPr lang="en-US" sz="1700" b="1" kern="0" spc="200" dirty="0">
                <a:solidFill>
                  <a:srgbClr val="FFC857"/>
                </a:solidFill>
                <a:latin typeface="Calibri" pitchFamily="34" charset="0"/>
                <a:ea typeface="Calibri" pitchFamily="34" charset="-122"/>
                <a:cs typeface="Calibri" pitchFamily="34" charset="-120"/>
              </a:rPr>
              <a:t>PRACTICAL 1 — WRAP-UP</a:t>
            </a:r>
            <a:endParaRPr lang="en-US" sz="1700" dirty="0"/>
          </a:p>
        </p:txBody>
      </p:sp>
      <p:sp>
        <p:nvSpPr>
          <p:cNvPr id="5" name="Text 3"/>
          <p:cNvSpPr txBox="1"/>
          <p:nvPr/>
        </p:nvSpPr>
        <p:spPr>
          <a:xfrm>
            <a:off x="640080" y="731520"/>
            <a:ext cx="7772400" cy="640080"/>
          </a:xfrm>
          <a:prstGeom prst="rect">
            <a:avLst/>
          </a:prstGeom>
          <a:noFill/>
          <a:ln/>
        </p:spPr>
        <p:txBody>
          <a:bodyPr wrap="square" lIns="0" tIns="0" rIns="0" bIns="0" rtlCol="0" anchor="ctr"/>
          <a:lstStyle/>
          <a:p>
            <a:pPr marL="0" indent="0">
              <a:buNone/>
            </a:pPr>
            <a:r>
              <a:rPr lang="en-US" sz="3300" b="1" dirty="0">
                <a:solidFill>
                  <a:srgbClr val="FFFFFF"/>
                </a:solidFill>
                <a:latin typeface="Cambria" pitchFamily="34" charset="0"/>
                <a:ea typeface="Cambria" pitchFamily="34" charset="-122"/>
                <a:cs typeface="Cambria" pitchFamily="34" charset="-120"/>
              </a:rPr>
              <a:t>Summary &amp; What's Next</a:t>
            </a:r>
            <a:endParaRPr lang="en-US" sz="3300" dirty="0"/>
          </a:p>
        </p:txBody>
      </p:sp>
      <p:sp>
        <p:nvSpPr>
          <p:cNvPr id="6" name="Text 4"/>
          <p:cNvSpPr txBox="1"/>
          <p:nvPr/>
        </p:nvSpPr>
        <p:spPr>
          <a:xfrm>
            <a:off x="640080" y="1463040"/>
            <a:ext cx="6035040" cy="274320"/>
          </a:xfrm>
          <a:prstGeom prst="rect">
            <a:avLst/>
          </a:prstGeom>
          <a:noFill/>
          <a:ln/>
        </p:spPr>
        <p:txBody>
          <a:bodyPr wrap="square" lIns="0" tIns="0" rIns="0" bIns="0" rtlCol="0" anchor="ctr"/>
          <a:lstStyle/>
          <a:p>
            <a:pPr marL="0" indent="0">
              <a:buNone/>
            </a:pPr>
            <a:r>
              <a:rPr lang="en-US" sz="1600" b="1" kern="0" spc="150" dirty="0">
                <a:solidFill>
                  <a:srgbClr val="FFC857"/>
                </a:solidFill>
                <a:latin typeface="Calibri" pitchFamily="34" charset="0"/>
                <a:ea typeface="Calibri" pitchFamily="34" charset="-122"/>
                <a:cs typeface="Calibri" pitchFamily="34" charset="-120"/>
              </a:rPr>
              <a:t>TODAY YOU:</a:t>
            </a:r>
            <a:endParaRPr lang="en-US" sz="1600" dirty="0"/>
          </a:p>
        </p:txBody>
      </p:sp>
      <p:sp>
        <p:nvSpPr>
          <p:cNvPr id="7" name="Shape 5"/>
          <p:cNvSpPr/>
          <p:nvPr/>
        </p:nvSpPr>
        <p:spPr>
          <a:xfrm>
            <a:off x="640080" y="1929384"/>
            <a:ext cx="274320" cy="274320"/>
          </a:xfrm>
          <a:prstGeom prst="ellipse">
            <a:avLst/>
          </a:prstGeom>
          <a:solidFill>
            <a:srgbClr val="2FA86B"/>
          </a:solidFill>
          <a:ln/>
        </p:spPr>
      </p:sp>
      <p:sp>
        <p:nvSpPr>
          <p:cNvPr id="8" name="Text 6"/>
          <p:cNvSpPr txBox="1"/>
          <p:nvPr/>
        </p:nvSpPr>
        <p:spPr>
          <a:xfrm>
            <a:off x="640080" y="1929384"/>
            <a:ext cx="274320" cy="27432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a:t>
            </a:r>
            <a:endParaRPr lang="en-US" sz="1700" dirty="0"/>
          </a:p>
        </p:txBody>
      </p:sp>
      <p:sp>
        <p:nvSpPr>
          <p:cNvPr id="9" name="Text 7"/>
          <p:cNvSpPr txBox="1"/>
          <p:nvPr/>
        </p:nvSpPr>
        <p:spPr>
          <a:xfrm>
            <a:off x="1051560" y="1783080"/>
            <a:ext cx="5623560" cy="566928"/>
          </a:xfrm>
          <a:prstGeom prst="rect">
            <a:avLst/>
          </a:prstGeom>
          <a:noFill/>
          <a:ln/>
        </p:spPr>
        <p:txBody>
          <a:bodyPr wrap="square" lIns="0" tIns="0" rIns="0" bIns="0" rtlCol="0" anchor="ctr"/>
          <a:lstStyle/>
          <a:p>
            <a:pPr marL="0" indent="0">
              <a:buNone/>
            </a:pPr>
            <a:r>
              <a:rPr lang="en-US" sz="1600" dirty="0">
                <a:solidFill>
                  <a:srgbClr val="FFFFFF"/>
                </a:solidFill>
                <a:latin typeface="Calibri" pitchFamily="34" charset="0"/>
                <a:ea typeface="Calibri" pitchFamily="34" charset="-122"/>
                <a:cs typeface="Calibri" pitchFamily="34" charset="-120"/>
              </a:rPr>
              <a:t>Set up a Python environment (Anaconda / Colab)</a:t>
            </a:r>
            <a:endParaRPr lang="en-US" sz="1600" dirty="0"/>
          </a:p>
        </p:txBody>
      </p:sp>
      <p:sp>
        <p:nvSpPr>
          <p:cNvPr id="10" name="Shape 8"/>
          <p:cNvSpPr/>
          <p:nvPr/>
        </p:nvSpPr>
        <p:spPr>
          <a:xfrm>
            <a:off x="640080" y="2496312"/>
            <a:ext cx="274320" cy="274320"/>
          </a:xfrm>
          <a:prstGeom prst="ellipse">
            <a:avLst/>
          </a:prstGeom>
          <a:solidFill>
            <a:srgbClr val="2FA86B"/>
          </a:solidFill>
          <a:ln/>
        </p:spPr>
      </p:sp>
      <p:sp>
        <p:nvSpPr>
          <p:cNvPr id="11" name="Text 9"/>
          <p:cNvSpPr txBox="1"/>
          <p:nvPr/>
        </p:nvSpPr>
        <p:spPr>
          <a:xfrm>
            <a:off x="640080" y="2496312"/>
            <a:ext cx="274320" cy="27432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a:t>
            </a:r>
            <a:endParaRPr lang="en-US" sz="1700" dirty="0"/>
          </a:p>
        </p:txBody>
      </p:sp>
      <p:sp>
        <p:nvSpPr>
          <p:cNvPr id="12" name="Text 10"/>
          <p:cNvSpPr txBox="1"/>
          <p:nvPr/>
        </p:nvSpPr>
        <p:spPr>
          <a:xfrm>
            <a:off x="1051560" y="2350008"/>
            <a:ext cx="5623560" cy="566928"/>
          </a:xfrm>
          <a:prstGeom prst="rect">
            <a:avLst/>
          </a:prstGeom>
          <a:noFill/>
          <a:ln/>
        </p:spPr>
        <p:txBody>
          <a:bodyPr wrap="square" lIns="0" tIns="0" rIns="0" bIns="0" rtlCol="0" anchor="ctr"/>
          <a:lstStyle/>
          <a:p>
            <a:pPr marL="0" indent="0">
              <a:buNone/>
            </a:pPr>
            <a:r>
              <a:rPr lang="en-US" sz="1600" dirty="0">
                <a:solidFill>
                  <a:srgbClr val="FFFFFF"/>
                </a:solidFill>
                <a:latin typeface="Calibri" pitchFamily="34" charset="0"/>
                <a:ea typeface="Calibri" pitchFamily="34" charset="-122"/>
                <a:cs typeface="Calibri" pitchFamily="34" charset="-120"/>
              </a:rPr>
              <a:t>Learned core Python: variables, input, conditions, functions, lists</a:t>
            </a:r>
            <a:endParaRPr lang="en-US" sz="1600" dirty="0"/>
          </a:p>
        </p:txBody>
      </p:sp>
      <p:sp>
        <p:nvSpPr>
          <p:cNvPr id="13" name="Shape 11"/>
          <p:cNvSpPr/>
          <p:nvPr/>
        </p:nvSpPr>
        <p:spPr>
          <a:xfrm>
            <a:off x="640080" y="3063240"/>
            <a:ext cx="274320" cy="274320"/>
          </a:xfrm>
          <a:prstGeom prst="ellipse">
            <a:avLst/>
          </a:prstGeom>
          <a:solidFill>
            <a:srgbClr val="2FA86B"/>
          </a:solidFill>
          <a:ln/>
        </p:spPr>
      </p:sp>
      <p:sp>
        <p:nvSpPr>
          <p:cNvPr id="14" name="Text 12"/>
          <p:cNvSpPr txBox="1"/>
          <p:nvPr/>
        </p:nvSpPr>
        <p:spPr>
          <a:xfrm>
            <a:off x="640080" y="3063240"/>
            <a:ext cx="274320" cy="27432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a:t>
            </a:r>
            <a:endParaRPr lang="en-US" sz="1700" dirty="0"/>
          </a:p>
        </p:txBody>
      </p:sp>
      <p:sp>
        <p:nvSpPr>
          <p:cNvPr id="15" name="Text 13"/>
          <p:cNvSpPr txBox="1"/>
          <p:nvPr/>
        </p:nvSpPr>
        <p:spPr>
          <a:xfrm>
            <a:off x="1051560" y="2916936"/>
            <a:ext cx="5623560" cy="566928"/>
          </a:xfrm>
          <a:prstGeom prst="rect">
            <a:avLst/>
          </a:prstGeom>
          <a:noFill/>
          <a:ln/>
        </p:spPr>
        <p:txBody>
          <a:bodyPr wrap="square" lIns="0" tIns="0" rIns="0" bIns="0" rtlCol="0" anchor="ctr"/>
          <a:lstStyle/>
          <a:p>
            <a:pPr marL="0" indent="0">
              <a:buNone/>
            </a:pPr>
            <a:r>
              <a:rPr lang="en-US" sz="1600" dirty="0">
                <a:solidFill>
                  <a:srgbClr val="FFFFFF"/>
                </a:solidFill>
                <a:latin typeface="Calibri" pitchFamily="34" charset="0"/>
                <a:ea typeface="Calibri" pitchFamily="34" charset="-122"/>
                <a:cs typeface="Calibri" pitchFamily="34" charset="-120"/>
              </a:rPr>
              <a:t>Designed and coded a rule-based chatbot from scratch</a:t>
            </a:r>
            <a:endParaRPr lang="en-US" sz="1600" dirty="0"/>
          </a:p>
        </p:txBody>
      </p:sp>
      <p:sp>
        <p:nvSpPr>
          <p:cNvPr id="16" name="Shape 14"/>
          <p:cNvSpPr/>
          <p:nvPr/>
        </p:nvSpPr>
        <p:spPr>
          <a:xfrm>
            <a:off x="640080" y="3630168"/>
            <a:ext cx="274320" cy="274320"/>
          </a:xfrm>
          <a:prstGeom prst="ellipse">
            <a:avLst/>
          </a:prstGeom>
          <a:solidFill>
            <a:srgbClr val="2FA86B"/>
          </a:solidFill>
          <a:ln/>
        </p:spPr>
      </p:sp>
      <p:sp>
        <p:nvSpPr>
          <p:cNvPr id="17" name="Text 15"/>
          <p:cNvSpPr txBox="1"/>
          <p:nvPr/>
        </p:nvSpPr>
        <p:spPr>
          <a:xfrm>
            <a:off x="640080" y="3630168"/>
            <a:ext cx="274320" cy="27432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a:t>
            </a:r>
            <a:endParaRPr lang="en-US" sz="1700" dirty="0"/>
          </a:p>
        </p:txBody>
      </p:sp>
      <p:sp>
        <p:nvSpPr>
          <p:cNvPr id="18" name="Text 16"/>
          <p:cNvSpPr txBox="1"/>
          <p:nvPr/>
        </p:nvSpPr>
        <p:spPr>
          <a:xfrm>
            <a:off x="1051560" y="3483864"/>
            <a:ext cx="5623560" cy="566928"/>
          </a:xfrm>
          <a:prstGeom prst="rect">
            <a:avLst/>
          </a:prstGeom>
          <a:noFill/>
          <a:ln/>
        </p:spPr>
        <p:txBody>
          <a:bodyPr wrap="square" lIns="0" tIns="0" rIns="0" bIns="0" rtlCol="0" anchor="ctr"/>
          <a:lstStyle/>
          <a:p>
            <a:pPr marL="0" indent="0">
              <a:buNone/>
            </a:pPr>
            <a:r>
              <a:rPr lang="en-US" sz="1600" dirty="0">
                <a:solidFill>
                  <a:srgbClr val="FFFFFF"/>
                </a:solidFill>
                <a:latin typeface="Calibri" pitchFamily="34" charset="0"/>
                <a:ea typeface="Calibri" pitchFamily="34" charset="-122"/>
                <a:cs typeface="Calibri" pitchFamily="34" charset="-120"/>
              </a:rPr>
              <a:t>Explained why it feels “AI-like”, and where it breaks down</a:t>
            </a:r>
            <a:endParaRPr lang="en-US" sz="1600" dirty="0"/>
          </a:p>
        </p:txBody>
      </p:sp>
      <p:sp>
        <p:nvSpPr>
          <p:cNvPr id="19" name="Text 17"/>
          <p:cNvSpPr txBox="1"/>
          <p:nvPr/>
        </p:nvSpPr>
        <p:spPr>
          <a:xfrm>
            <a:off x="640080" y="4160520"/>
            <a:ext cx="6035040" cy="274320"/>
          </a:xfrm>
          <a:prstGeom prst="rect">
            <a:avLst/>
          </a:prstGeom>
          <a:noFill/>
          <a:ln/>
        </p:spPr>
        <p:txBody>
          <a:bodyPr wrap="square" lIns="0" tIns="0" rIns="0" bIns="0" rtlCol="0" anchor="ctr"/>
          <a:lstStyle/>
          <a:p>
            <a:pPr marL="0" indent="0">
              <a:buNone/>
            </a:pPr>
            <a:r>
              <a:rPr lang="en-US" sz="1600" b="1" kern="0" spc="150" dirty="0">
                <a:solidFill>
                  <a:srgbClr val="FFC857"/>
                </a:solidFill>
                <a:latin typeface="Calibri" pitchFamily="34" charset="0"/>
                <a:ea typeface="Calibri" pitchFamily="34" charset="-122"/>
                <a:cs typeface="Calibri" pitchFamily="34" charset="-120"/>
              </a:rPr>
              <a:t>COMING NEXT IN THIS COURSE:</a:t>
            </a:r>
            <a:endParaRPr lang="en-US" sz="1600" dirty="0"/>
          </a:p>
        </p:txBody>
      </p:sp>
      <p:sp>
        <p:nvSpPr>
          <p:cNvPr id="20" name="Text 18"/>
          <p:cNvSpPr txBox="1"/>
          <p:nvPr/>
        </p:nvSpPr>
        <p:spPr>
          <a:xfrm>
            <a:off x="640080" y="4480560"/>
            <a:ext cx="2926080" cy="457200"/>
          </a:xfrm>
          <a:prstGeom prst="rect">
            <a:avLst/>
          </a:prstGeom>
          <a:noFill/>
          <a:ln/>
        </p:spPr>
        <p:txBody>
          <a:bodyPr wrap="square" lIns="0" tIns="0" rIns="0" bIns="0" rtlCol="0" anchor="ctr"/>
          <a:lstStyle/>
          <a:p>
            <a:pPr marL="0" indent="0">
              <a:buNone/>
            </a:pPr>
            <a:r>
              <a:rPr lang="en-US" sz="1700" b="1" dirty="0">
                <a:solidFill>
                  <a:srgbClr val="FFC857"/>
                </a:solidFill>
                <a:latin typeface="Calibri" pitchFamily="34" charset="0"/>
                <a:ea typeface="Calibri" pitchFamily="34" charset="-122"/>
                <a:cs typeface="Calibri" pitchFamily="34" charset="-120"/>
              </a:rPr>
              <a:t>→  </a:t>
            </a:r>
            <a:r>
              <a:rPr lang="en-US" sz="1700" dirty="0">
                <a:solidFill>
                  <a:srgbClr val="CADCFC"/>
                </a:solidFill>
                <a:latin typeface="Calibri" pitchFamily="34" charset="0"/>
                <a:ea typeface="Calibri" pitchFamily="34" charset="-122"/>
                <a:cs typeface="Calibri" pitchFamily="34" charset="-120"/>
              </a:rPr>
              <a:t>Problem solving as search</a:t>
            </a:r>
            <a:endParaRPr lang="en-US" sz="1700" dirty="0"/>
          </a:p>
        </p:txBody>
      </p:sp>
      <p:sp>
        <p:nvSpPr>
          <p:cNvPr id="21" name="Text 19"/>
          <p:cNvSpPr txBox="1"/>
          <p:nvPr/>
        </p:nvSpPr>
        <p:spPr>
          <a:xfrm>
            <a:off x="3703320" y="4480560"/>
            <a:ext cx="2926080" cy="457200"/>
          </a:xfrm>
          <a:prstGeom prst="rect">
            <a:avLst/>
          </a:prstGeom>
          <a:noFill/>
          <a:ln/>
        </p:spPr>
        <p:txBody>
          <a:bodyPr wrap="square" lIns="0" tIns="0" rIns="0" bIns="0" rtlCol="0" anchor="ctr"/>
          <a:lstStyle/>
          <a:p>
            <a:pPr marL="0" indent="0">
              <a:buNone/>
            </a:pPr>
            <a:r>
              <a:rPr lang="en-US" sz="1700" b="1" dirty="0">
                <a:solidFill>
                  <a:srgbClr val="FFC857"/>
                </a:solidFill>
                <a:latin typeface="Calibri" pitchFamily="34" charset="0"/>
                <a:ea typeface="Calibri" pitchFamily="34" charset="-122"/>
                <a:cs typeface="Calibri" pitchFamily="34" charset="-120"/>
              </a:rPr>
              <a:t>→  </a:t>
            </a:r>
            <a:r>
              <a:rPr lang="en-US" sz="1700" dirty="0">
                <a:solidFill>
                  <a:srgbClr val="CADCFC"/>
                </a:solidFill>
                <a:latin typeface="Calibri" pitchFamily="34" charset="0"/>
                <a:ea typeface="Calibri" pitchFamily="34" charset="-122"/>
                <a:cs typeface="Calibri" pitchFamily="34" charset="-120"/>
              </a:rPr>
              <a:t>Knowledge representation</a:t>
            </a:r>
            <a:endParaRPr lang="en-US" sz="1700" dirty="0"/>
          </a:p>
        </p:txBody>
      </p:sp>
      <p:sp>
        <p:nvSpPr>
          <p:cNvPr id="22" name="Text 20"/>
          <p:cNvSpPr txBox="1"/>
          <p:nvPr/>
        </p:nvSpPr>
        <p:spPr>
          <a:xfrm>
            <a:off x="640080" y="4983480"/>
            <a:ext cx="2926080" cy="457200"/>
          </a:xfrm>
          <a:prstGeom prst="rect">
            <a:avLst/>
          </a:prstGeom>
          <a:noFill/>
          <a:ln/>
        </p:spPr>
        <p:txBody>
          <a:bodyPr wrap="square" lIns="0" tIns="0" rIns="0" bIns="0" rtlCol="0" anchor="ctr"/>
          <a:lstStyle/>
          <a:p>
            <a:pPr marL="0" indent="0">
              <a:buNone/>
            </a:pPr>
            <a:r>
              <a:rPr lang="en-US" sz="1700" b="1" dirty="0">
                <a:solidFill>
                  <a:srgbClr val="FFC857"/>
                </a:solidFill>
                <a:latin typeface="Calibri" pitchFamily="34" charset="0"/>
                <a:ea typeface="Calibri" pitchFamily="34" charset="-122"/>
                <a:cs typeface="Calibri" pitchFamily="34" charset="-120"/>
              </a:rPr>
              <a:t>→  </a:t>
            </a:r>
            <a:r>
              <a:rPr lang="en-US" sz="1700" dirty="0">
                <a:solidFill>
                  <a:srgbClr val="CADCFC"/>
                </a:solidFill>
                <a:latin typeface="Calibri" pitchFamily="34" charset="0"/>
                <a:ea typeface="Calibri" pitchFamily="34" charset="-122"/>
                <a:cs typeface="Calibri" pitchFamily="34" charset="-120"/>
              </a:rPr>
              <a:t>Introduction to machine learning</a:t>
            </a:r>
            <a:endParaRPr lang="en-US" sz="1700" dirty="0"/>
          </a:p>
        </p:txBody>
      </p:sp>
      <p:sp>
        <p:nvSpPr>
          <p:cNvPr id="23" name="Text 21"/>
          <p:cNvSpPr txBox="1"/>
          <p:nvPr/>
        </p:nvSpPr>
        <p:spPr>
          <a:xfrm>
            <a:off x="3703320" y="4983480"/>
            <a:ext cx="2926080" cy="457200"/>
          </a:xfrm>
          <a:prstGeom prst="rect">
            <a:avLst/>
          </a:prstGeom>
          <a:noFill/>
          <a:ln/>
        </p:spPr>
        <p:txBody>
          <a:bodyPr wrap="square" lIns="0" tIns="0" rIns="0" bIns="0" rtlCol="0" anchor="ctr"/>
          <a:lstStyle/>
          <a:p>
            <a:pPr marL="0" indent="0">
              <a:buNone/>
            </a:pPr>
            <a:r>
              <a:rPr lang="en-US" sz="1700" b="1" dirty="0">
                <a:solidFill>
                  <a:srgbClr val="FFC857"/>
                </a:solidFill>
                <a:latin typeface="Calibri" pitchFamily="34" charset="0"/>
                <a:ea typeface="Calibri" pitchFamily="34" charset="-122"/>
                <a:cs typeface="Calibri" pitchFamily="34" charset="-120"/>
              </a:rPr>
              <a:t>→  </a:t>
            </a:r>
            <a:r>
              <a:rPr lang="en-US" sz="1700" dirty="0">
                <a:solidFill>
                  <a:srgbClr val="CADCFC"/>
                </a:solidFill>
                <a:latin typeface="Calibri" pitchFamily="34" charset="0"/>
                <a:ea typeface="Calibri" pitchFamily="34" charset="-122"/>
                <a:cs typeface="Calibri" pitchFamily="34" charset="-120"/>
              </a:rPr>
              <a:t>Natural language processing</a:t>
            </a:r>
            <a:endParaRPr lang="en-US" sz="1700" dirty="0"/>
          </a:p>
        </p:txBody>
      </p:sp>
      <p:sp>
        <p:nvSpPr>
          <p:cNvPr id="24" name="Shape 22"/>
          <p:cNvSpPr/>
          <p:nvPr/>
        </p:nvSpPr>
        <p:spPr>
          <a:xfrm>
            <a:off x="7040880" y="1463040"/>
            <a:ext cx="4572000" cy="4160520"/>
          </a:xfrm>
          <a:prstGeom prst="roundRect">
            <a:avLst>
              <a:gd name="adj" fmla="val 1758"/>
            </a:avLst>
          </a:prstGeom>
          <a:solidFill>
            <a:srgbClr val="0F2544"/>
          </a:solidFill>
          <a:ln w="12700">
            <a:solidFill>
              <a:srgbClr val="1E3A5F"/>
            </a:solidFill>
            <a:prstDash val="solid"/>
          </a:ln>
          <a:effectLst>
            <a:outerShdw blurRad="76200" dist="25400" dir="5400000" algn="bl" rotWithShape="0">
              <a:srgbClr val="142A45">
                <a:alpha val="12000"/>
              </a:srgbClr>
            </a:outerShdw>
          </a:effectLst>
        </p:spPr>
      </p:sp>
      <p:sp>
        <p:nvSpPr>
          <p:cNvPr id="25" name="Text 23"/>
          <p:cNvSpPr txBox="1"/>
          <p:nvPr/>
        </p:nvSpPr>
        <p:spPr>
          <a:xfrm>
            <a:off x="7269480" y="1645920"/>
            <a:ext cx="4114800" cy="274320"/>
          </a:xfrm>
          <a:prstGeom prst="rect">
            <a:avLst/>
          </a:prstGeom>
          <a:noFill/>
          <a:ln/>
        </p:spPr>
        <p:txBody>
          <a:bodyPr wrap="square" lIns="0" tIns="0" rIns="0" bIns="0" rtlCol="0" anchor="ctr"/>
          <a:lstStyle/>
          <a:p>
            <a:pPr marL="0" indent="0">
              <a:buNone/>
            </a:pPr>
            <a:r>
              <a:rPr lang="en-US" sz="1600" b="1" kern="0" spc="120" dirty="0">
                <a:solidFill>
                  <a:srgbClr val="FFC857"/>
                </a:solidFill>
                <a:latin typeface="Calibri" pitchFamily="34" charset="0"/>
                <a:ea typeface="Calibri" pitchFamily="34" charset="-122"/>
                <a:cs typeface="Calibri" pitchFamily="34" charset="-120"/>
              </a:rPr>
              <a:t>LAB TASK / HOMEWORK</a:t>
            </a:r>
            <a:endParaRPr lang="en-US" sz="1600" dirty="0"/>
          </a:p>
        </p:txBody>
      </p:sp>
      <p:sp>
        <p:nvSpPr>
          <p:cNvPr id="26" name="Text 24"/>
          <p:cNvSpPr txBox="1"/>
          <p:nvPr/>
        </p:nvSpPr>
        <p:spPr>
          <a:xfrm>
            <a:off x="7269480" y="2011680"/>
            <a:ext cx="4114800" cy="3383280"/>
          </a:xfrm>
          <a:prstGeom prst="rect">
            <a:avLst/>
          </a:prstGeom>
          <a:noFill/>
          <a:ln/>
        </p:spPr>
        <p:txBody>
          <a:bodyPr wrap="square" lIns="0" tIns="0" rIns="0" bIns="0" rtlCol="0" anchor="t"/>
          <a:lstStyle/>
          <a:p>
            <a:pPr marL="0" indent="0">
              <a:lnSpc>
                <a:spcPct val="120000"/>
              </a:lnSpc>
              <a:buNone/>
            </a:pPr>
            <a:r>
              <a:rPr lang="en-US" b="1" dirty="0">
                <a:solidFill>
                  <a:srgbClr val="FFC857"/>
                </a:solidFill>
                <a:latin typeface="Calibri" pitchFamily="34" charset="0"/>
                <a:ea typeface="Calibri" pitchFamily="34" charset="-122"/>
                <a:cs typeface="Calibri" pitchFamily="34" charset="-120"/>
              </a:rPr>
              <a:t>1. </a:t>
            </a:r>
            <a:r>
              <a:rPr lang="en-US" sz="1800" dirty="0">
                <a:solidFill>
                  <a:srgbClr val="CADCFC"/>
                </a:solidFill>
                <a:latin typeface="Calibri" pitchFamily="34" charset="0"/>
                <a:ea typeface="Calibri" pitchFamily="34" charset="-122"/>
                <a:cs typeface="Calibri" pitchFamily="34" charset="-120"/>
              </a:rPr>
              <a:t>Finish extending your chatbot with at least 3 new rules.
</a:t>
            </a:r>
            <a:r>
              <a:rPr lang="en-US" sz="1800" b="1" dirty="0">
                <a:solidFill>
                  <a:srgbClr val="FFC857"/>
                </a:solidFill>
                <a:latin typeface="Calibri" pitchFamily="34" charset="0"/>
                <a:ea typeface="Calibri" pitchFamily="34" charset="-122"/>
                <a:cs typeface="Calibri" pitchFamily="34" charset="-120"/>
              </a:rPr>
              <a:t>2. </a:t>
            </a:r>
            <a:r>
              <a:rPr lang="en-US" sz="1800" dirty="0">
                <a:solidFill>
                  <a:srgbClr val="CADCFC"/>
                </a:solidFill>
                <a:latin typeface="Calibri" pitchFamily="34" charset="0"/>
                <a:ea typeface="Calibri" pitchFamily="34" charset="-122"/>
                <a:cs typeface="Calibri" pitchFamily="34" charset="-120"/>
              </a:rPr>
              <a:t>Personalise it with the user's name using an f-string.
</a:t>
            </a:r>
            <a:r>
              <a:rPr lang="en-US" sz="1800" b="1" dirty="0">
                <a:solidFill>
                  <a:srgbClr val="FFC857"/>
                </a:solidFill>
                <a:latin typeface="Calibri" pitchFamily="34" charset="0"/>
                <a:ea typeface="Calibri" pitchFamily="34" charset="-122"/>
                <a:cs typeface="Calibri" pitchFamily="34" charset="-120"/>
              </a:rPr>
              <a:t>3. </a:t>
            </a:r>
            <a:r>
              <a:rPr lang="en-US" sz="1800" dirty="0">
                <a:solidFill>
                  <a:srgbClr val="CADCFC"/>
                </a:solidFill>
                <a:latin typeface="Calibri" pitchFamily="34" charset="0"/>
                <a:ea typeface="Calibri" pitchFamily="34" charset="-122"/>
                <a:cs typeface="Calibri" pitchFamily="34" charset="-120"/>
              </a:rPr>
              <a:t>Write 3–4 sentences (as a comment) on one limitation you personally observed.
</a:t>
            </a:r>
            <a:r>
              <a:rPr lang="en-US" sz="1800" b="1" dirty="0">
                <a:solidFill>
                  <a:srgbClr val="FFC857"/>
                </a:solidFill>
                <a:latin typeface="Calibri" pitchFamily="34" charset="0"/>
                <a:ea typeface="Calibri" pitchFamily="34" charset="-122"/>
                <a:cs typeface="Calibri" pitchFamily="34" charset="-120"/>
              </a:rPr>
              <a:t>4. </a:t>
            </a:r>
            <a:r>
              <a:rPr lang="en-US" sz="1800" dirty="0">
                <a:solidFill>
                  <a:srgbClr val="CADCFC"/>
                </a:solidFill>
                <a:latin typeface="Calibri" pitchFamily="34" charset="0"/>
                <a:ea typeface="Calibri" pitchFamily="34" charset="-122"/>
                <a:cs typeface="Calibri" pitchFamily="34" charset="-120"/>
              </a:rPr>
              <a:t>Submit your .py or .ipynb file before the next practical.</a:t>
            </a:r>
            <a:endParaRPr lang="en-US" sz="1800" dirty="0"/>
          </a:p>
        </p:txBody>
      </p:sp>
      <p:sp>
        <p:nvSpPr>
          <p:cNvPr id="27" name="Text 25"/>
          <p:cNvSpPr txBox="1"/>
          <p:nvPr/>
        </p:nvSpPr>
        <p:spPr>
          <a:xfrm>
            <a:off x="548640" y="6455664"/>
            <a:ext cx="9418320" cy="292608"/>
          </a:xfrm>
          <a:prstGeom prst="rect">
            <a:avLst/>
          </a:prstGeom>
          <a:noFill/>
          <a:ln/>
        </p:spPr>
        <p:txBody>
          <a:bodyPr wrap="square" lIns="0" tIns="0" rIns="0" bIns="0" rtlCol="0" anchor="ctr"/>
          <a:lstStyle/>
          <a:p>
            <a:pPr marL="0" indent="0">
              <a:buNone/>
            </a:pPr>
            <a:r>
              <a:rPr lang="en-US" sz="1600" dirty="0">
                <a:solidFill>
                  <a:srgbClr val="5B6B79"/>
                </a:solidFill>
                <a:latin typeface="Calibri" pitchFamily="34" charset="0"/>
                <a:ea typeface="Calibri" pitchFamily="34" charset="-122"/>
                <a:cs typeface="Calibri" pitchFamily="34" charset="-120"/>
              </a:rPr>
              <a:t>AI Practical 1  •  Development Environment, Python &amp; Rule-Based Chatbot</a:t>
            </a:r>
            <a:endParaRPr lang="en-US" sz="1600" dirty="0"/>
          </a:p>
        </p:txBody>
      </p:sp>
      <p:sp>
        <p:nvSpPr>
          <p:cNvPr id="28" name="Text 26"/>
          <p:cNvSpPr txBox="1"/>
          <p:nvPr/>
        </p:nvSpPr>
        <p:spPr>
          <a:xfrm>
            <a:off x="11247120" y="6455664"/>
            <a:ext cx="457200" cy="292608"/>
          </a:xfrm>
          <a:prstGeom prst="rect">
            <a:avLst/>
          </a:prstGeom>
          <a:noFill/>
          <a:ln/>
        </p:spPr>
        <p:txBody>
          <a:bodyPr wrap="square" lIns="0" tIns="0" rIns="0" bIns="0" rtlCol="0" anchor="ctr"/>
          <a:lstStyle/>
          <a:p>
            <a:pPr marL="0" indent="0" algn="r">
              <a:buNone/>
            </a:pPr>
            <a:r>
              <a:rPr lang="en-US" sz="1600" dirty="0">
                <a:solidFill>
                  <a:srgbClr val="5B6B79"/>
                </a:solidFill>
                <a:latin typeface="Calibri" pitchFamily="34" charset="0"/>
                <a:ea typeface="Calibri" pitchFamily="34" charset="-122"/>
                <a:cs typeface="Calibri" pitchFamily="34" charset="-120"/>
              </a:rPr>
              <a:t>30</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6179</Words>
  <Application>Microsoft Macintosh PowerPoint</Application>
  <PresentationFormat>Widescreen</PresentationFormat>
  <Paragraphs>674</Paragraphs>
  <Slides>30</Slides>
  <Notes>30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Practical 1: Development Environment, Python &amp; Rule-Based Chatbot</dc:title>
  <dc:subject>PptxGenJS Presentation</dc:subject>
  <dc:creator>Dr. Ghulam Ali</dc:creator>
  <cp:lastModifiedBy>Ali Huzaifah</cp:lastModifiedBy>
  <cp:revision>1</cp:revision>
  <dcterms:created xsi:type="dcterms:W3CDTF">2026-09-12T03:27:51Z</dcterms:created>
  <dcterms:modified xsi:type="dcterms:W3CDTF">2026-09-16T06:06:57Z</dcterms:modified>
</cp:coreProperties>
</file>