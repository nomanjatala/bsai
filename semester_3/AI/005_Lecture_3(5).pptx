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rts/chart1.xml" ContentType="application/vnd.openxmlformats-officedocument.drawingml.chart+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5" d="100"/>
          <a:sy n="75" d="100"/>
        </p:scale>
        <p:origin x="46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a:pPr>
            <a:r>
              <a:rPr lang="en-GB"/>
              <a:t>Illustrative memory growth vs. depth (branching factor b = 2)</a:t>
            </a:r>
          </a:p>
        </c:rich>
      </c:tx>
      <c:overlay val="0"/>
    </c:title>
    <c:autoTitleDeleted val="0"/>
    <c:plotArea>
      <c:layout/>
      <c:barChart>
        <c:barDir val="col"/>
        <c:grouping val="clustered"/>
        <c:varyColors val="0"/>
        <c:ser>
          <c:idx val="0"/>
          <c:order val="0"/>
          <c:tx>
            <c:strRef>
              <c:f>Sheet1!$B$1</c:f>
              <c:strCache>
                <c:ptCount val="1"/>
                <c:pt idx="0">
                  <c:v>BFS — frontier size, O(bᵈ)</c:v>
                </c:pt>
              </c:strCache>
            </c:strRef>
          </c:tx>
          <c:spPr>
            <a:solidFill>
              <a:srgbClr val="14213D"/>
            </a:solidFill>
            <a:effectLst/>
          </c:spPr>
          <c:invertIfNegative val="0"/>
          <c:dLbls>
            <c:numFmt formatCode="#,##0" sourceLinked="0"/>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0</c:v>
                </c:pt>
                <c:pt idx="1">
                  <c:v>1</c:v>
                </c:pt>
                <c:pt idx="2">
                  <c:v>2</c:v>
                </c:pt>
                <c:pt idx="3">
                  <c:v>3</c:v>
                </c:pt>
                <c:pt idx="4">
                  <c:v>4</c:v>
                </c:pt>
                <c:pt idx="5">
                  <c:v>5</c:v>
                </c:pt>
                <c:pt idx="6">
                  <c:v>6</c:v>
                </c:pt>
              </c:strCache>
            </c:strRef>
          </c:cat>
          <c:val>
            <c:numRef>
              <c:f>Sheet1!$B$2:$B$8</c:f>
              <c:numCache>
                <c:formatCode>General</c:formatCode>
                <c:ptCount val="7"/>
                <c:pt idx="0">
                  <c:v>1</c:v>
                </c:pt>
                <c:pt idx="1">
                  <c:v>2</c:v>
                </c:pt>
                <c:pt idx="2">
                  <c:v>4</c:v>
                </c:pt>
                <c:pt idx="3">
                  <c:v>8</c:v>
                </c:pt>
                <c:pt idx="4">
                  <c:v>16</c:v>
                </c:pt>
                <c:pt idx="5">
                  <c:v>32</c:v>
                </c:pt>
                <c:pt idx="6">
                  <c:v>64</c:v>
                </c:pt>
              </c:numCache>
            </c:numRef>
          </c:val>
          <c:extLst>
            <c:ext xmlns:c16="http://schemas.microsoft.com/office/drawing/2014/chart" uri="{C3380CC4-5D6E-409C-BE32-E72D297353CC}">
              <c16:uniqueId val="{00000000-AB32-5945-A597-D0C0F9883E05}"/>
            </c:ext>
          </c:extLst>
        </c:ser>
        <c:ser>
          <c:idx val="1"/>
          <c:order val="1"/>
          <c:tx>
            <c:strRef>
              <c:f>Sheet1!$C$1</c:f>
              <c:strCache>
                <c:ptCount val="1"/>
                <c:pt idx="0">
                  <c:v>DFS — active path size, O(b·m)</c:v>
                </c:pt>
              </c:strCache>
            </c:strRef>
          </c:tx>
          <c:spPr>
            <a:solidFill>
              <a:srgbClr val="C9A227"/>
            </a:solidFill>
            <a:effectLst/>
          </c:spPr>
          <c:invertIfNegative val="0"/>
          <c:dLbls>
            <c:numFmt formatCode="#,##0" sourceLinked="0"/>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0</c:v>
                </c:pt>
                <c:pt idx="1">
                  <c:v>1</c:v>
                </c:pt>
                <c:pt idx="2">
                  <c:v>2</c:v>
                </c:pt>
                <c:pt idx="3">
                  <c:v>3</c:v>
                </c:pt>
                <c:pt idx="4">
                  <c:v>4</c:v>
                </c:pt>
                <c:pt idx="5">
                  <c:v>5</c:v>
                </c:pt>
                <c:pt idx="6">
                  <c:v>6</c:v>
                </c:pt>
              </c:strCache>
            </c:strRef>
          </c:cat>
          <c:val>
            <c:numRef>
              <c:f>Sheet1!$C$2:$C$8</c:f>
              <c:numCache>
                <c:formatCode>General</c:formatCode>
                <c:ptCount val="7"/>
                <c:pt idx="0">
                  <c:v>0</c:v>
                </c:pt>
                <c:pt idx="1">
                  <c:v>2</c:v>
                </c:pt>
                <c:pt idx="2">
                  <c:v>4</c:v>
                </c:pt>
                <c:pt idx="3">
                  <c:v>6</c:v>
                </c:pt>
                <c:pt idx="4">
                  <c:v>8</c:v>
                </c:pt>
                <c:pt idx="5">
                  <c:v>10</c:v>
                </c:pt>
                <c:pt idx="6">
                  <c:v>12</c:v>
                </c:pt>
              </c:numCache>
            </c:numRef>
          </c:val>
          <c:extLst>
            <c:ext xmlns:c16="http://schemas.microsoft.com/office/drawing/2014/chart" uri="{C3380CC4-5D6E-409C-BE32-E72D297353CC}">
              <c16:uniqueId val="{00000001-AB32-5945-A597-D0C0F9883E0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title>
          <c:tx>
            <c:rich>
              <a:bodyPr/>
              <a:lstStyle/>
              <a:p>
                <a:pPr>
                  <a:defRPr/>
                </a:pPr>
                <a:r>
                  <a:rPr lang="en-GB"/>
                  <a:t>Depth</a:t>
                </a:r>
              </a:p>
            </c:rich>
          </c:tx>
          <c:overlay val="0"/>
        </c:title>
        <c:numFmt formatCode="General" sourceLinked="1"/>
        <c:majorTickMark val="out"/>
        <c:minorTickMark val="none"/>
        <c:tickLblPos val="low"/>
        <c:spPr>
          <a:ln w="12700" cap="flat">
            <a:solidFill>
              <a:srgbClr val="888888"/>
            </a:solidFill>
            <a:prstDash val="solid"/>
            <a:round/>
          </a:ln>
        </c:spPr>
        <c:crossAx val="2094734552"/>
        <c:crosses val="autoZero"/>
        <c:auto val="1"/>
        <c:lblAlgn val="ctr"/>
        <c:lblOffset val="100"/>
        <c:noMultiLvlLbl val="1"/>
      </c:catAx>
      <c:valAx>
        <c:axId val="2094734552"/>
        <c:scaling>
          <c:orientation val="minMax"/>
        </c:scaling>
        <c:delete val="0"/>
        <c:axPos val="l"/>
        <c:majorGridlines>
          <c:spPr>
            <a:ln w="9525" cap="flat">
              <a:solidFill>
                <a:srgbClr val="D7DEEA"/>
              </a:solidFill>
              <a:prstDash val="solid"/>
              <a:round/>
            </a:ln>
          </c:spPr>
        </c:majorGridlines>
        <c:title>
          <c:tx>
            <c:rich>
              <a:bodyPr/>
              <a:lstStyle/>
              <a:p>
                <a:pPr>
                  <a:defRPr/>
                </a:pPr>
                <a:r>
                  <a:rPr lang="en-GB"/>
                  <a:t>Nodes held in memory</a:t>
                </a:r>
              </a:p>
            </c:rich>
          </c:tx>
          <c:overlay val="0"/>
        </c:title>
        <c:numFmt formatCode="General" sourceLinked="0"/>
        <c:majorTickMark val="out"/>
        <c:minorTickMark val="none"/>
        <c:tickLblPos val="nextTo"/>
        <c:spPr>
          <a:ln w="12700" cap="flat">
            <a:solidFill>
              <a:srgbClr val="888888"/>
            </a:solidFill>
            <a:prstDash val="solid"/>
            <a:round/>
          </a:ln>
        </c:spPr>
        <c:crossAx val="2094734554"/>
        <c:crosses val="autoZero"/>
        <c:crossBetween val="between"/>
      </c:valAx>
      <c:spPr>
        <a:noFill/>
        <a:ln>
          <a:noFill/>
        </a:ln>
        <a:effectLst/>
      </c:spPr>
    </c:plotArea>
    <c:legend>
      <c:legendPos val="b"/>
      <c:overlay val="0"/>
    </c:legend>
    <c:plotVisOnly val="1"/>
    <c:dispBlanksAs val="span"/>
    <c:showDLblsOverMax val="1"/>
  </c:chart>
  <c:spPr>
    <a:noFill/>
    <a:ln>
      <a:noFill/>
    </a:ln>
    <a:effectLst/>
  </c:spPr>
  <c:txPr>
    <a:bodyPr/>
    <a:lstStyle/>
    <a:p>
      <a:pPr>
        <a:defRPr sz="1200"/>
      </a:pPr>
      <a:endParaRPr lang="en-PK"/>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27938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students to Lecture 3. Frame the lecture as the bridge between everyday problem-solving intuition and the formal machinery AI uses to search for solutions. Tell students that everything today builds toward three concrete algorithms — BFS, DFS, and UCS — but that those algorithms only make sense once we understand HOW an AI system represents a problem in the first place. Point to the diagram on the right and explain it informally: nodes are states the agent could be in, edges are actions that move it from one state to another, and the highlighted gold path A→B→D→G is one possible solution — a sequence of actions from where the agent starts to where it wants to be. Mention that later in the lecture we will compute exactly this kind of path by hand for three different strategies and see that they do not always agree on which path is 'best'. Set expectations: this is a 1.5–2 hour lecture with worked examples on the board, and students should have pencil and paper ready to trace the algorithms themselves, not just watch. Transition: 'Let's begin by asking a more basic question — why does an intelligent agent need to search at all?'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asking students: 'Before a robot moves even one step, what has it already computed?' Lead them to see that planning a route is itself a computational problem, distinct from executing it. Walk through the pipeline diagram top to bottom: a real problem is abstracted into a set of possible states, the actions available define how one state leads to another, search explores that space, and a solution is a validated sequence of actions. For each real-world example on the left, briefly name the implicit state (robot's position, puzzle configuration, current city, board position) so students start recognizing the pattern before we formalize it on the next slides. Common student confusion: they conflate 'search' with 'trial and error in the real world.' Clarify that AI search usually happens entirely inside a model of the problem, without physically executing untested actions — this is why simulation/representation quality matters so much. Transition: 'To make this pipeline precise enough to program, we need a formal definition of what a search problem actually consists of. That is where we go next.'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through the objectives at a brisk pace, but pause on numbers 8 and 9 (completeness and optimality) — tell students explicitly that these two properties are the analytical backbone of the entire lecture and will reappear as a running refrain after every algorithm. Also flag number 7: students will be expected to trace algorithm execution by hand on an exam, not just recite definitions, so encourage them to actually work through the worked examples with pencil and paper rather than passively watching. This is a good moment to mention how these objectives map to assessment — if this course has quizzes or assignments on search tracing, mention it here. Transition: 'To achieve objective 1 — formulating a problem — we first need to agree on exactly what a formal search problem is made of. Let's build that definition from the ground up, starting with a familiar example: route planning.'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core idea before touching notation: a real-world problem must be translated into states/actions/transitions/goal/cost before any algorithm can touch it. This translation step is invisible in many textbook examples because it has already been done for the student — make it visible here. Use the running example: ask the class to informally guess what a 'state' would be for the route-planning problem (most will say 'the current city') before you formalize it on the next slides. Stress the abstraction point at the bottom: a good state representation is not 'more detailed is better' — it should contain exactly the information needed to determine legal future actions, nothing more. Over-detailed states blow up the state space unnecessarily; under-detailed states make the problem unsolvable or ill-defined. Common misconception to preempt here: 'An AI search algorithm can work without defining the problem first.' Correct this directly — no search algorithm operates on an unformalized problem; formulation is a mandatory prerequisite, not an optional design choice. Transition: 'Let's now write down, symbol by symbol, exactly what a formal search problem consists of.'</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tuple as an inventory, not as something to be memorized abstractly: 'Every one of these six items must be defined before we can run any search algorithm.' Point at each symbol as you say its name aloud. Walk the table row by row, but keep it brief here since each component gets its own dedicated slide next — the goal of this slide is only to show the whole skeleton at once so students see how the parts relate before diving into each one. Worth flagging now: Result(s,a) is a function, not a set — for a deterministic problem it returns exactly one resulting state, which is an assumption we are implicitly making throughout this lecture (we are not yet discussing non-deterministic or stochastic action outcomes). Likely confusion: students sometimes think 'Goal' is a single state (like a specific city). Preempt this by noting Goal(s) is written as a *test* — a function returning true/false — precisely because some problems have multiple acceptable goal states (e.g., checkmate can occur in many different board configurations). Transition: 'Let's now examine each of these six components individually, beginning with where the agent starts — the initial state.'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precision: 'the robot is somewhere in the building' is not an acceptable initial state — 'the robot is at coordinate (1,1) facing north' is. Ask students why vagueness here would break the algorithms we study later (answer: BFS/DFS/UCS all reason about distance/cost FROM the initial state, so an ill-defined s0 makes every subsequent computation meaningless). Walk through the four examples, asking students to supply the implicit state representation for one of them themselves (e.g., 'what data structure would represent the 8-puzzle's initial state?' → typically a 3x3 array or a length-9 tuple). Note that some problems have a single fixed initial state (this course's examples), while others define a *set* of possible initial states — mention this exists as a generalization but that we treat s0 as a single known state throughout this lecture for simplicity. Transition: 'Now that we know where the agent starts, we need to know what it is allowed to do from there — that is the role of actions.'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diagram on the right to make the key point concrete: from this particular state s, three actions are legal (solid gold arrows) and one, DOWN, is not (dashed red arrow, perhaps blocked by a wall or the edge of the grid). A(s) is therefore state-dependent, not a fixed global list. Ask students: 'If we only wrote down a single global list of actions — UP, DOWN, LEFT, RIGHT — without checking legality per state, what would go wrong when we try to apply Result(s, DOWN) here?' Lead them to see this is precisely the transition model's job, previewing the next slide. For the route-planning example, emphasize that the action set naturally comes from the map's connectivity — you cannot 'Travel' to a city with no direct road, so A(s) is exactly the set of cities directly reachable from the current one. Transition: 'Once we know which actions are legal, we need to know exactly what happens when we take one — that is the transition model.'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numeric example slowly: state (2,3), action RIGHT, result (2,4) — this is the simplest possible transition, incrementing one coordinate. Then point to the grid on the right, which shows the same idea spatially: one agent position where RIGHT is legal and produces a new open cell, and one where RIGHT is blocked by a wall and is therefore not part of A(s) at all. Make the connection back to Slide 7 explicit: Result(s,a) is only ever evaluated for actions a that are already known to be in A(s); a well-formed problem formulation never asks Result to handle an illegal action. This is also a natural moment to mention determinism: in this course, Result(s,a) returns exactly one state. Briefly note (without going deep) that some real-world problems have uncertain outcomes, which requires more advanced models beyond the scope of this lecture. Transition: 'Once we can apply actions and get new states, how does the agent know when it has actually succeeded? That is the goal test.'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Pose the distinction as a question first: 'Is chess's goal a single board position?' Students usually say no once they think about it — there are countless distinct checkmating positions. This is exactly why we define Goal as a test/predicate rather than a single target state. Walk through each table row and, for at least the route-planning and 8-puzzle rows, ask a student to state Goal(s) in their own words before revealing the table's phrasing. Flag a subtlety that becomes important later: WHEN the goal test is applied — when a state is generated (early goal test) versus only when it is popped for expansion (late goal test) — is an implementation choice. In this lecture, for consistency across BFS, DFS and UCS, we always apply the goal test at expansion time (when a node is popped from the frontier), which is required for UCS to remain correct. Transition: 'The last ingredient is how we compare different solutions once more than one path reaches a goal — that requires path cost.'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g(n) as the running total, not a per-step value — it's the cost of the entire path from s0 up to node n, which is why it's written as a sum. Make sure students can distinguish 'cost of this one action' (Cost(s,a,s')) from 'cost of the whole path so far' (g(n)). Spend time on the distinction between unit-cost and weighted problems — this single distinction is the reason the whole lecture eventually needs three different algorithms instead of one. In unit-cost problems, fewer actions always means lower cost, so BFS (which minimizes actions) happens to also minimize cost. In weighted problems this breaks down completely, which we will see concretely in the 'Why BFS Is Not Enough' slide later. This is a good place to explicitly preview the sentence: 'Right now, hold onto this idea — a route with MORE road segments can still be CHEAPER overall than a route with fewer segments. We will see an exact numeric example of this soon, and it's the entire reason Uniform Cost Search exists.' Transition: 'We now have all five components. Let's put them together into one complete, worked formulation, using a maze.'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to show the whole formulation process end-to-end on one concrete, visual problem before we move into abstract state-space theory. Point at the grid and, for each row of the table, physically point to the corresponding feature in the maze (S cell, an open '.' cell, a '#' wall, the G cell). Ask the class: 'From the S cell, is DOWN a legal action?' (yes, moves to an open cell) and 'From the S cell, is RIGHT a legal action?' (yes) — then ask about a cell adjacent to a wall to reinforce that A(s) depends on position. Point out that this is a uniform-cost problem (step cost = 1 everywhere), which is exactly the condition under which, as we'll prove shortly, BFS is guaranteed to find the optimal (least-cost) solution — foreshadowing Slide 23. Optional in-class exercise: ask students to count, by inspection, the minimum number of moves from S to G (a good warm-up before formal BFS is introduced). Transition: 'With a complete, worked example in hand, let's zoom out and formalize the idea of a *state* and a *state space* in general — the structures every search algorithm operates over.'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the definition with a test students can apply themselves: 'does this representation tell us everything we need to decide legal next actions?' If yes, it's a sufficient state; if it's missing information the transition model needs, it's an incomplete state representation. Walk through the table, and for the route-finding row, ask explicitly: 'Does the state need to record which cities we already visited?' The answer depends on the problem variant — for simple shortest-route problems, no (the state is just the current city); for a traveling-salesperson-style problem that must visit every city, yes, the state would need to include the visited set. Use this to show state design is a modeling decision, not a fixed rule. The info card at the bottom is worth dwelling on, because it sets up the state vs. node distinction two slides from now — students often want to bake path history into the state itself, and this is the moment to explain why that's usually unnecessary and often wasteful. Transition: 'Once we can define individual states, the natural next question is: what is the set of ALL states reachable this way? That is the state space.'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graph picture as simply a visualization of ideas students already accepted: every state is a node, every legal action is an edge. The transition model Result(s,a) from Slide 8 is literally what draws each edge. Emphasize that the state space is typically implicit and enormous (sometimes infinite) — we never draw the whole thing on paper; the search algorithm generates only the small part of it that it actually needs to visit, node by node, edge by edge, as it runs. The small state → action → state' diagram is meant to nail down notation cleanly before we look at a full worked graph next: point out that 'Result(s,a) = s'' is literally the same relationship as the labeled edge above it. Transition: 'Let's now look at a full, concrete state-space graph, with more than one path from start to goal, and see how these pieces fit together.'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time students see a state space with genuinely more than one route to the goal — use it to make the point explicit: a state-space GRAPH (as opposed to a tree) can have multiple distinct paths between the same two states. Trace both paths aloud: A-B-E-G in gold, A-C-F-G in dashed blue. Ask: 'With no cost information given, is one of these paths objectively better than the other?' The expected answer is no — without cost or a notion of depth-optimality, both are equally valid solutions; which one gets returned is a property of the SEARCH STRATEGY, not the problem. This directly foreshadows the rest of the lecture: BFS will pick the path reached at the shallowest depth, DFS will pick whichever branch it commits to first, and UCS will pick the cheapest one once weights are added (Slide 33 revisits almost this exact shape as a weighted graph). Transition: 'To talk precisely about how algorithms explore this graph, we need to be careful about terminology — specifically, the difference between a state, a search node, and a search tree.'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terms are used loosely (and often interchangeably, incorrectly) in casual discussion — this slide exists to make students precise. Node ≠ State is the single most important distinction: many different nodes can wrap the same state if that state is reachable by more than one path. Point to the five-field breakdown of a node at the bottom. Ask: 'Why would a node need to store its parent?' (answer: to reconstruct the solution path once the goal is found, by following parent pointers back to the root) and 'Why does it need g(n)?' (answer: needed for path-cost comparisons, critical for UCS, and useful for reporting solution quality even in BFS/DFS). Clarify Search Tree vs. State-Space Graph carefully: the state-space graph is fixed by the problem itself; the search tree is something the ALGORITHM constructs as it runs, and its shape depends on which algorithm you use and in what order it expands nodes — two different algorithms build two different search trees over the exact same state-space graph. Transition: 'With this vocabulary settled, we can precisely describe what a search algorithm is doing at any moment — which nodes it has already dealt with, and which it still has to consider. That is the frontier and the explored set.'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introduces vocabulary that will appear in every trace table for the rest of the lecture (Frontier and Explored columns), so make sure the terms are crisp before moving on. Use the diagram on the right as a paused snapshot mid-algorithm: A was expanded first, then B; both are now 'explored' (dark). Their children — C, D (from A) and E, F (from B) — are sitting in the frontier (gold outline), generated but not yet processed. G, H, I don't exist in the algorithm's view yet because nothing that would generate them has been expanded. Ask: 'If the algorithm expands C next, does C generate any new frontier nodes?' (No — C is a leaf in this tree, so expanding it simply moves it into the explored set without adding anything new.) This is worth doing because trace tables later will have exactly these 'no new children' steps and students should not find them confusing. Transition: 'We now have every concept we need — states, actions, the state space, nodes, frontier, and explored set. It's time to see the first family of algorithms that actually move through this space: uninformed search.'</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uninformed search precisely, then immediately contrast it with informed search using the small table on the right — but explicitly tell students we are NOT teaching heuristics, admissibility, or A* today; that table is only a placeholder to locate today's material within the bigger picture of search. A common early misconception: students sometimes think 'uninformed' means 'random' or 'unintelligent.' Correct this: uninformed strategies are still completely systematic and deterministic (given a fixed tie-breaking rule) — they simply don't use problem-specific guidance about which direction looks more promising. Emphasize the five bullet points as an exhaustive list — an uninformed algorithm is NOT allowed to peek at anything else, such as straight-line distance on a map. This restriction is exactly what next lecture's heuristic functions will lift. Transition: 'There are three classical uninformed strategies, and they differ from each other in exactly one structural choice: which node they pick to expand next. Let's see all three at once before studying each in depth.'</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conceptual anchor slide for the rest of the lecture — make sure students leave with the single unifying idea stated in the bottom card: BFS, DFS and UCS are the SAME algorithm skeleton, differing only in the frontier's data structure. Everything that follows (completeness, optimality, complexity) traces back to this one structural choice. Go column by column: FIFO queue → oldest-generated node leaves first → shallow nodes get expanded before deep ones → breadth-first behavior emerges naturally. LIFO stack → newest-generated node leaves first → the algorithm keeps diving into whatever it just discovered → depth-first behavior emerges naturally. Priority queue ordered by g(n) → cheapest-so-far node leaves first → cost-first behavior emerges naturally. Preview misconception to plant now, revisited later: 'UCS is simply BFS with different terminology.' It is not — BFS's FIFO order and UCS's cost-ordering coincide only when every action has equal cost; in general they select completely different nodes. Transition: 'Let's now study each of these three data-structure-driven strategies in full depth, starting with the one most people find first: Breadth-First Search.'</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depth carefully before anything else: depth of a node = number of actions (edges) from the root to that node, NOT the number of states. The root A is at depth 0. Use the tree with depth guides on the left to make the 'ripple' metaphor concrete: BFS will fully finish depth 0, then fully finish depth 1 (B, C, D), then fully finish depth 2 (E, F, G), only THEN moving to depth 3 (H, I). Ask students to predict, just from the picture, which node BFS reaches last if it must visit every node: it will be whichever depth-3 node is expanded last in left-to-right, breadth-first order. Transition: 'To enforce this level-by-level order mechanically, BFS relies on one very specific data structure for its frontier: a FIFO queue. Let's see exactly how that works.'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table row by row as a literal simulation: start with the frontier holding just [A]; A is popped (removed from front) and expanded, its children B, C, D are pushed onto the BACK of the queue, giving [B, C, D]. Then B is popped from the FRONT (not C or D, even though the notation lists B first for a reason — front of queue), expanded, and its children E, F are appended to the back, giving [C, D, E, F]. Stress the FIFO mechanic explicitly with a physical analogy: a queue/line at a shop — the person who arrived first is served first, regardless of how many new people join the back of the line afterward. Transition: 'Let's now run BFS completely, from start to goal, on our standard example tree, and track every single step in a full trace table.'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full-length trace — walk through it slowly, ideally re-deriving one or two rows live rather than just reading them off the slide, so students see the mechanics rather than memorize the answer. Point out the crucial structural fact: because goal-testing happens at EXPANSION (when a node is popped), not at generation, I is generated back in Step 6 (when F is expanded) but is not confirmed as the goal until Step 9, when it finally reaches the front of the queue and is popped. Ask students why this matters: it means BFS does real, sometimes 'wasted-looking' work (expanding G, H) even after the goal has technically already been discovered — this is the cost of using a consistent, simple expansion rule. Also point out Step 3 and Step 5 and Step 8: expanding a leaf node (C, E, H) adds nothing new to the frontier — the frontier can shrink even while the explored set grows, and that's completely normal. Ask a check-for-understanding question here: 'Looking at the frontier column after Step 2, which node will BFS expand next, and why?' (Answer: C — it's at the front of the FIFO queue, having been generated before D, E, F.) Transition: 'Now that we've found I, let's extract the actual solution path and talk about what path length means here.'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Reconstruct the path by following parent pointers backward from I: I's parent is F, F's parent is B, B's parent is A. Written forward, that is A → B → F → I. Hammer the states-vs-actions distinction explicitly, since it is a very common source of off-by-one errors on exams: 4 states are visited along this path (A, B, F, I) but only 3 actions connect them. 'Path length' in this course always refers to the number of actions unless stated otherwise. Connect back to the depth diagram from Slide 19: I sits at depth 3, and BFS, by construction, cannot report a solution at a depth shallower than the true shallowest depth of any goal node — that's the content of the optimality claim we prove formally on the next slide. Transition: 'We've now seen BFS find A SOLUTION. The next question is sharper: can we PROVE it always finds a solution, and that this solution is the best one? That is completeness and optimality.'</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completeness and optimality as PROOFS, not assertions — the badges say 'YES', but the value of this slide is entirely in the two paragraphs explaining WHY, so read them aloud rather than skipping to the verdicts. For completeness, stress the phrase 'finite branching factor' — ask students what could break completeness (an infinite branching factor at some state, meaning infinitely many actions from one state, would prevent BFS from ever finishing a level). This is a standard assumption, not a triviality. For optimality, drill on the conditional: 'when every action has the same step cost.' This is the hinge for the entire rest of the lecture — write it on the board if possible. Ask: 'What happens to this argument if one action costs 1 and another costs 100?' Students should recognize that shallow no longer implies cheap, which directly motivates UCS. Address the misconception card explicitly and ask students to restate, in their own words, why it's false — this primes them for Slide 30's concrete numeric counterexample. Transition: 'Before moving to DFS, we need to be honest about BFS's biggest practical cost — not time, but memory. Let's quantify both.'</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b and d carefully with the running tree: in our example tree, branching is irregular (A has 3 children, B has 2, D has 1), so b is the MAXIMUM branching factor across all states, used as a worst-case bound. Use the growing-dots illustration on the right to make O(b^d) visceral rather than abstract: with a branching factor of just 3, by depth 2 there are already 9 nodes at that single level; by depth 10 there would be 3^10 ≈ 59,000 nodes just at the frontier's deepest level. Make the time/space distinction explicit: BFS's time complexity is also O(b^d) because in the worst case it must generate every node up to depth d — but the practically fatal constraint is usually memory, since a modern machine can often out-wait a slow computation but cannot exceed its physical RAM. Common misconception to preempt: 'more time-efficient algorithms are always better.' In practice, an algorithm that runs out of memory never finishes at all, regardless of how fast it would have been — this is why DFS's very different memory profile, coming up next, is often preferred despite its own weaknesses. Transition: 'Let's now turn to a strategy that takes the opposite structural approach entirely: Depth-First Search.'</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numbered visiting order (1 through 6) drawn on the diagram: A, B, E, F, H, I. Emphasize the key phrase 'deep before wide': after A, DFS does NOT look at C or D at all yet — it dives into B's subtree completely first. Point out E specifically: E is a leaf with no children, so after visiting it DFS must BACKTRACK up to B's other child, F, rather than returning all the way to A. This backtracking behavior is the defining mechanical feature of depth-first search, and it's driven entirely by the stack data structure we look at next. Ask: 'If E had children of its own, would DFS visit them before backtracking to F?' Yes — DFS always fully exhausts the deepest available branch before giving up on it, however deep that branch goes. Transition: 'This backtracking behavior comes directly from a stack. Let's see exactly how LIFO ordering produces it.'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table as a literal stack simulation: children of A (B, C, D) are pushed so that B ends up on TOP (children are pushed in reverse order — D, then C, then B — specifically so that left-to-right reading order is preserved when popping). Point out that after A is expanded, B (top of stack) is popped next — not D, even though D was generated. This is the opposite of BFS, where B was ALSO expanded next but for a different reason (FIFO order, not stack position) — a good moment to note that in this particular tree the two algorithms happen to agree on their second move, which is not a general property, purely coincidental to this tree's shape. When E is popped and found to be a leaf, nothing is pushed — the stack simply shrinks back to [D, C, F], and F (now on top) becomes the next node expanded. This shrink-then-continue pattern IS the backtracking behavior visualized in the previous slide. Transition: 'Let's now run this stack-based process to completion on our standard tree and build a full DFS trace table.'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table alongside the diagram: C and D are NEVER expanded in this run — they sit untouched at the bottom of the stack the entire time, because DFS reached the goal through B's subtree before ever backtracking far enough to try them. This is worth pausing on explicitly: DFS visiting fewer nodes here (6) than BFS did (9, from Slide 21) is NOT a general property of DFS — it happened because I is located down the very first branch DFS chose to explore. If the goal had instead been reachable only through C or D, DFS would have had to exhaust B's entire subtree first, potentially visiting MORE nodes than BFS before backtracking to find it. Ask students: 'What if we had instead pushed children in the order B, C, D (so D ends up on top)? Would the trace change?' Yes completely — DFS would dive into D's subtree first instead of B's. This is the successor-ordering sensitivity flagged at the bottom of the slide. Transition: 'DFS found a solution quickly here — but did it find the BEST solution, and is it guaranteed to find one at all? Let's examine completeness and optimality for DFS, where the answers are considerably less reassuring than they were for BFS.'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small diagram on the left to make incompleteness concrete: DFS commits to A's LEFT child B first (solid red edge), and if that branch continues indefinitely downward (dashed 'infinite branch' below B), DFS never returns to try C — even though C is the goal and sits just one step from A. Distinguish tree-search DFS from graph-search DFS explicitly: graph-search (tracking explored states) fixes the special case of CYCLES, where a state could otherwise be revisited forever. It does NOT fix the more general problem of infinite or merely very deep branches that never repeat a state. For optimality, connect back to the DFS worked example: DFS returned A-B-F-I purely because that's the first branch it fully committed to — it performed no comparison at all with the path through C or D. In this specific tree the returned path happened to be the only path to I (since it's a tree), but in a general graph with multiple paths to the goal, DFS provides no guarantee whatsoever that the first goal it finds is the cheapest, or even the shallowest. Correct the misconception directly: 'DFS always uses very little memory' is also not strictly accurate — DFS's memory advantage (next slide) is real but bounded by max depth, not zero, and pathological problems with very large maximum depth can still use substantial memory. Transition: 'Despite these guarantees failing, DFS has one major practical advantage that keeps it in wide use — let's quantify its memory profile precisely.'</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two formulas side by side and make the qualitative point immediately: BFS's space bound depends on d (solution depth), while DFS's space bound depends on b·m (branching factor times MAXIMUM depth) — a much smaller number when the tree is bushy but not very deep, but potentially a much LARGER number of total nodes visited if m is huge. Use the comparison table to reinforce the exponential-vs-linear framing that will reappear in the Memory Considerations slide near the end of the lecture (Slide 37) — plant that connection now. Directly address both misconceptions on this slide: DFS is not 'always faster' (its time bound uses m, which can exceed d substantially) and does not 'always use very little memory' (O(b·m) is still not free, and pathological cases with very deep trees can be costly). The correct, careful claim is narrower: DFS's memory grows only linearly with depth, rather than exponentially with depth like BFS. Transition: 'We've now fully covered BFS and DFS. Both, in their own way, ignore path cost entirely. Let's see exactly why that becomes a real problem — with actual numbers.'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compute both path costs themselves before you reveal them: A-B-G = 6+4 = 10; A-C-D-G = 2+2+3 = 7. Let the arithmetic land before making the point verbally. Emphasize precisely WHY BFS fails here: BFS's stopping rule is purely about depth (number of edges), so it stops at G via B after only 2 edges, and by the time it would ever consider the 3-edge route through C and D, it has already returned the (worse) answer. BFS is not making a mistake by its own criterion — fewest edges — it is simply optimizing the wrong quantity for a weighted problem. This is the moment to explicitly revisit and resolve the earlier misconception from Slide 23: 'BFS always finds the cheapest solution' is now demonstrated, numerically, to be false whenever step costs are not uniform. Transition: 'We need an algorithm that expands nodes by their cumulative path cost, not their depth. That algorithm is Uniform Cost Search — let's define it precisely.'</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three-card comparison is the single most important takeaway of this slide — make students say the three selection rules aloud: BFS = shallowest, DFS = deepest, UCS = cheapest. All three otherwise run the identical generic algorithm. Reconnect to Slide 10's g(n) definition: this is exactly the same cumulative path cost, now being used as the frontier's sort key instead of merely being reported at the end. Preempt the misconception 'UCS is simply BFS with different terminology' here explicitly: BFS and UCS coincide ONLY in the special case where every action costs exactly 1 — in that case, smallest g(n) and shallowest depth are literally the same quantity. In every other case, they can choose completely different nodes, as we just saw on Slide 30. Transition: 'To implement the rule always pick smallest g(n), UCS needs a data structure that supports efficient minimum extraction — a priority queue. Let's see it in action.'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three frontier entries and ask students to identify the minimum before revealing it: C at g=2 is cheapest, even though it may have been inserted into the frontier before or after B and D — insertion order is irrelevant to a priority queue, only the priority value (g(n)) matters. This is a good moment to contrast concretely with FIFO/LIFO: ask 'If this were a FIFO queue instead, which node would be chosen next?' (whichever was inserted first — impossible to say without knowing insertion order) versus 'With a priority queue, which is chosen?' (always C, unambiguously, because g=2 is smallest). Mention briefly, without over-formalizing, that real implementations use a min-heap for the priority queue to make 'find and remove the minimum' efficient (O(log n) rather than a linear scan) — this is an implementation detail, not something students need to trace by hand, but worth knowing exists. Transition: 'Let's now run UCS to completion on a full weighted graph and see exactly how these cost comparisons play out, step by step.'</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this table carefully — it is the most information-dense slide in the lecture and rewards a slow, deliberate walkthrough. Recompute at least steps 2-4 live: from A (g=0), generate B (g=0+2=2) and C (g=0+5=5). Pop the minimum, B (g=2); generate D (g=2+2=4) and E (g=2+4=6). Pop the minimum among {C:5, D:4, E:6}, which is D (g=4); generate G (g=4+3=7). At Step 4, C (g=5) is popped next — NOT G, even though G is already sitting in the frontier at g=7 — because 5 &lt; 7 at that point. This is an excellent moment to reinforce: UCS always expands the GLOBAL minimum across the entire frontier, not whichever path looks locally promising. At Step 5, E is expanded and would generate G again with g = 6+1 = 7 — exactly tying the g=7 already recorded for G (via D). Since it's not STRICTLY better, UCS keeps the original recorded path (via D), so the final returned solution is A-B-D-G, though A-B-E-G is an equally cheap alternative (this tie is explored further on the next slide). At Step 6, F is expanded and would generate G at g = 6+2 = 8 — worse than the recorded g=7, so this candidate is discarded entirely; G's cost stays at 7. Finally, at Step 7, G is popped (it is now the frontier's minimum) and the goal test succeeds. Transition: 'UCS just proved, by direct cost comparison, that A-B-D-G is (tied for) the cheapest path to G. Let's now state precisely why this always works — UCS's completeness and optimality guarantees.'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the positive-cost assumption for completeness: if a zero-cost or negative-cost cycle existed, g(n) could stay bounded (or decrease) forever along that cycle, and UCS could loop without ever exhausting the space — this is why the assumption is stated explicitly rather than taken for granted. For optimality, make the logical structure explicit: at the moment a goal is popped, every OTHER frontier node has g(n) greater than or equal to the goal's g(n) (that's what popping the minimum means), and every path not yet discovered must pass through some frontier node first (in a graph with positive costs) — so no cheaper solution can exist. This is the same 'exhaust smaller values first' logic as BFS's depth argument, just applied to cost instead of depth. Discuss the tie explicitly using Slide 33's result: A-B-D-G and A-B-E-G both total cost 7. UCS's optimality claim is about the VALUE of the cost, not about which specific tied path gets returned — either would be an equally correct, optimal answer. Close with the 'cheapest ≠ shallowest' distinction, and explicitly ask: 'Give me an example from earlier in the lecture where the cheapest path was NOT the shallowest.' (Slide 30 — the 3-edge path costing 7 beat the 2-edge path costing 10.) Transition: 'We have now fully studied all three algorithms. Time to step back and organize what we've learned — starting with a precise, general definition of completeness and optimality as properties in their own right.'</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define both terms in their own words before you reveal the cards — this is a good cold-call moment since both terms have now been used informally for several slides. Stress logical independence with a thought experiment: imagine a (hypothetical, badly-designed) algorithm that always returns the FIRST solution found, however expensive — that could still be complete (it always finds SOME solution) while never being optimal. Conversely, an algorithm that is designed to find the best solution but might search forever without terminating on some inputs would be optimal-when-it-terminates but not complete. Walk the summary table and make sure the DFS row is understood correctly: 'not guaranteed complete' refers to the general case (infinite/cyclic spaces); on a small finite tree like our worked example, DFS did in fact terminate successfully — completeness is a worst-case guarantee, not a claim that DFS always fails. Transition: 'Let's now assemble everything — completeness, optimality, time, space, strengths, and weaknesses — into one master comparison table for all three algorithms.'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a synthesis, not new material — resist introducing new claims here; instead, for each row, ask the class to recall WHICH earlier slide justified that cell before you confirm it. This retrieval practice cements the material far better than re-explaining it. Spend extra time on the time/space complexity row for UCS, since the footnote's formula (O(b^(1+⌊C*/ε⌋))) is intentionally NOT meant to be memorized in full — the teaching point is only that UCS's complexity depends on the actual cost values in the problem (via C*, the optimal cost, and ε, the smallest step cost) rather than on depth. A problem with many small-cost steps can force UCS to expand many more nodes than BFS would, even though both eventually find a good answer. Use the 'Main weakness' row for UCS to preempt a subtlety covered more in Slide 37: when step costs are small and close together, UCS can end up expanding almost as many nodes as BFS, because many nodes end up with similar g(n) values clustered near the optimal cost. Transition: 'The strengths and weaknesses row keeps mentioning memory — let's now treat memory as its own focused topic, since it is often the deciding factor in choosing an algorithm in practice.'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chart deliberately: at depth 6, BFS's frontier holds an illustrative 64 nodes while DFS's active path holds only 12 — with a larger branching factor (b=3, 4...) or greater depth, this gap becomes dramatically larger, which is exactly why memory (not raw speed) is usually the practical bottleneck that rules BFS out for large problems. Be explicit that the chart's numbers are computed directly from the complexity formulas already derived (Slides 24 and 29) for a simple illustrative branching factor — they are a visualization of the MATH, not a benchmark from running code, and should be understood that way. For UCS, use the three side cards to make a subtler point than the BFS/DFS contrast: UCS's memory usage doesn't map onto a single clean depth-based formula the way BFS and DFS do, because it depends on how many competing paths have similar (close) cumulative costs — a problem with many near-tied paths can force UCS's frontier to grow uncomfortably large even at shallow depth. Ask the class directly: 'If you were deploying a search algorithm on an embedded device with very little RAM, which of the three would you reach for first, and why?' Expect DFS to be the popular answer — use this to reinforce that the 'best' algorithm is context-dependent, not universal. Transition: 'Let's now watch all three algorithms run side by side on the exact same graph, so every difference we've discussed is visible in one place.'</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panel by panel, pointing at the small numbered circles (expansion order) rather than re-deriving from scratch — students have already seen the BFS trace (Slide 21 logic applied to this graph), DFS logic (Slide 27), and the full UCS trace (Slide 33) for this exact graph. The key observation to draw out is in the small-numbered-circle counts: DFS needed only 4 expansions to reach G here, versus 7 for both BFS and UCS — ask 'does this mean DFS is simply the better algorithm?' and lead students to answer no, referring back to the info card: DFS got lucky because the leftmost branch happened to lead straight to the optimal answer. Change the branch ordering, or the graph's shape, and DFS could easily have wasted enormous effort down a dead-end branch instead. Make sure students don't walk away thinking 'BFS, DFS, and UCS usually agree' — say explicitly that this graph was chosen because it's small enough to hand-trace, and that its symmetric 3-edges-to-every-root-to-goal-path structure is what causes BFS and UCS to coincide; Slide 30's graph is the more typical case where they diverge. Ask a synthesis question: 'Which of these three expansion patterns used the least memory at its peak?' (Ask them to look back at frontier/stack sizes from Slides 21, 27, and 33 — DFS's peak stack size was smallest in this example, consistent with its O(b·m) bound.) Transition: 'Let's put everything together and test your understanding with a new graph you haven't seen the answer to yet.'</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(for instructor use — do not reveal on-slide; let students work this out in pairs for 3-5 minutes first).
Setup: initial state S, goal G. Edges (directed, cost shown): S→A (4), S→B (1), A→G (1), B→C (1), C→G (1). Two routes exist: S-A-G (2 edges, cost 4+1=5) and S-B-C-G (3 edges, cost 1+1+1=3).
Q1: initial state = S, goal = G. Q2: A(S) = {go to A, go to B}.
Q3 (BFS, FIFO, tie-break alphabetically among S's children so A before B): expand S -&gt; frontier [A,B]; expand A (generates G) -&gt; frontier [B,G]; expand B (generates C) -&gt; frontier [G,C]; expand G -&gt; goal confirmed. BFS expansion order: S, A, B, G (4 expansions). BFS returns S-A-G, cost 5.
Q4 (DFS, leftmost-first: push B then A so A is on top): pop A, expand (goal? no), push G; pop G -&gt; goal confirmed. DFS expansion order: S, A, G (3 expansions). DFS returns S-A-G, cost 5 — same as BFS here, and NOT the cheapest, because DFS committed to the first branch (A) without ever comparing it to B's branch.
Q5 (UCS, priority queue): frontier after S: {A:4, B:1}. Pop min B(1); expand, generate C: g=1+1=2. Frontier {A:4, C:2}. Pop min C(2); expand, generate G: g=2+1=3. Frontier {A:4, G:3}. Pop min G(3) -&gt; goal confirmed. UCS expansion order: S, B, C, G (4 expansions; A is generated but never expanded). UCS returns S-B-C-G, cost 3 — the cheapest path.
Q6: fewest edges = S-A-G (2 edges) — this is what BFS and DFS both returned here.
Q7: cheapest total cost = S-B-C-G (cost 3) — this is what UCS returned.
Q8: No — the shortest (fewest-edges) path and the cheapest path are DIFFERENT paths in this graph, exactly the scenario introduced on Slide 30.
Q9: only UCS is guaranteed to find the cheapest path; BFS and DFS both returned the more expensive S-A-G route here.
Q10: open-ended — reasonable answer: BFS/UCS generally carry a broader frontier than DFS; in this tiny graph the difference is minor, but the general principle from Slides 24/29/37 is that BFS's and UCS's memory needs can grow much faster than DFS's as the graph grows.
Facilitation tips: circulate while students work in pairs; if a pair finishes early, ask them to also compute g(n) for every node they generate, not just the ones on the winning path. When revealing the solution, reveal Q1-Q5 (the mechanical trace) before Q6-Q10 (the analytical conclusions), so the numeric groundwork is settled before the interpretation.</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vertical chain on the left as a literal recap script — narrate it top to bottom in one breath: 'We started with a real problem, formulated it formally, represented it as a state space, searched that space with three strategies, evaluated them on completeness and optimality, and quantified their time and memory costs.' Reinforce the one-skeleton, three-selection-rules framing on the right one final time — by this point in the lecture students should be able to complete the sentence 'BFS picks ___, DFS picks ___, UCS picks ___' without looking, so consider asking the class to say it aloud together. Read the final question slowly and let it sit for a moment before answering it yourself only partially: acknowledge that today's algorithms treat every unexplored node as equally worth trying, which becomes wasteful in huge state spaces (e.g., chess, large road networks) — then say that next lecture introduces heuristic functions, which give the algorithm an ESTIMATE of how promising a node is, without yet naming A* in technical detail. Explicitly do NOT teach A*, admissibility, or heuristic design today, even if a curious student asks a detailed follow-up — it is fine to say 'great question, that's exactly where we're headed next lecture' and move on. Close logistically: remind students of any homework, reading, or practice problems (trace BFS/DFS/UCS on a new graph is an excellent self-study exercise given everything covered today), and thank the class.</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6"/>
        </a:solidFill>
        <a:effectLst/>
      </p:bgPr>
    </p:bg>
    <p:spTree>
      <p:nvGrpSpPr>
        <p:cNvPr id="1" name=""/>
        <p:cNvGrpSpPr/>
        <p:nvPr/>
      </p:nvGrpSpPr>
      <p:grpSpPr>
        <a:xfrm>
          <a:off x="0" y="0"/>
          <a:ext cx="0" cy="0"/>
          <a:chOff x="0" y="0"/>
          <a:chExt cx="0" cy="0"/>
        </a:xfrm>
      </p:grpSpPr>
      <p:sp>
        <p:nvSpPr>
          <p:cNvPr id="2" name="Text 0"/>
          <p:cNvSpPr txBox="1"/>
          <p:nvPr/>
        </p:nvSpPr>
        <p:spPr>
          <a:xfrm>
            <a:off x="640080" y="960120"/>
            <a:ext cx="6400800" cy="320040"/>
          </a:xfrm>
          <a:prstGeom prst="rect">
            <a:avLst/>
          </a:prstGeom>
          <a:noFill/>
          <a:ln/>
        </p:spPr>
        <p:txBody>
          <a:bodyPr wrap="square"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ARTIFICIAL INTELLIGENCE   ·   BS COMPUTER SCIENCE   ·   LECTURE 3</a:t>
            </a:r>
            <a:endParaRPr lang="en-US" sz="1300" dirty="0"/>
          </a:p>
        </p:txBody>
      </p:sp>
      <p:sp>
        <p:nvSpPr>
          <p:cNvPr id="3" name="Text 1"/>
          <p:cNvSpPr txBox="1"/>
          <p:nvPr/>
        </p:nvSpPr>
        <p:spPr>
          <a:xfrm>
            <a:off x="640080" y="1417320"/>
            <a:ext cx="6309360" cy="1828800"/>
          </a:xfrm>
          <a:prstGeom prst="rect">
            <a:avLst/>
          </a:prstGeom>
          <a:noFill/>
          <a:ln/>
        </p:spPr>
        <p:txBody>
          <a:bodyPr wrap="square" rtlCol="0" anchor="ctr"/>
          <a:lstStyle/>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Problem Formulation and</a:t>
            </a:r>
            <a:endParaRPr lang="en-US" sz="4000" dirty="0"/>
          </a:p>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Uninformed Search</a:t>
            </a:r>
            <a:endParaRPr lang="en-US" sz="4000" dirty="0"/>
          </a:p>
        </p:txBody>
      </p:sp>
      <p:sp>
        <p:nvSpPr>
          <p:cNvPr id="4" name="Text 2"/>
          <p:cNvSpPr txBox="1"/>
          <p:nvPr/>
        </p:nvSpPr>
        <p:spPr>
          <a:xfrm>
            <a:off x="640080" y="3246120"/>
            <a:ext cx="6126480" cy="457200"/>
          </a:xfrm>
          <a:prstGeom prst="rect">
            <a:avLst/>
          </a:prstGeom>
          <a:noFill/>
          <a:ln/>
        </p:spPr>
        <p:txBody>
          <a:bodyPr wrap="square" rtlCol="0" anchor="ctr"/>
          <a:lstStyle/>
          <a:p>
            <a:pPr marL="0" indent="0">
              <a:buNone/>
            </a:pPr>
            <a:r>
              <a:rPr lang="en-US" sz="1800" i="1" dirty="0">
                <a:solidFill>
                  <a:srgbClr val="E7D9A8"/>
                </a:solidFill>
                <a:latin typeface="Cambria" pitchFamily="34" charset="0"/>
                <a:ea typeface="Cambria" pitchFamily="34" charset="-122"/>
                <a:cs typeface="Cambria" pitchFamily="34" charset="-120"/>
              </a:rPr>
              <a:t>From Real-World Problems to Search Algorithms</a:t>
            </a:r>
            <a:endParaRPr lang="en-US" sz="1800" dirty="0"/>
          </a:p>
        </p:txBody>
      </p:sp>
      <p:sp>
        <p:nvSpPr>
          <p:cNvPr id="5" name="Text 3"/>
          <p:cNvSpPr txBox="1"/>
          <p:nvPr/>
        </p:nvSpPr>
        <p:spPr>
          <a:xfrm>
            <a:off x="640080" y="3886200"/>
            <a:ext cx="5943600" cy="822960"/>
          </a:xfrm>
          <a:prstGeom prst="rect">
            <a:avLst/>
          </a:prstGeom>
          <a:noFill/>
          <a:ln/>
        </p:spPr>
        <p:txBody>
          <a:bodyPr wrap="square" rtlCol="0" anchor="ctr"/>
          <a:lstStyle/>
          <a:p>
            <a:pPr marL="0" indent="0">
              <a:lnSpc>
                <a:spcPct val="125000"/>
              </a:lnSpc>
              <a:buNone/>
            </a:pPr>
            <a:r>
              <a:rPr lang="en-US" sz="1300" dirty="0">
                <a:solidFill>
                  <a:srgbClr val="C7CEDE"/>
                </a:solidFill>
                <a:latin typeface="Calibri" pitchFamily="34" charset="0"/>
                <a:ea typeface="Calibri" pitchFamily="34" charset="-122"/>
                <a:cs typeface="Calibri" pitchFamily="34" charset="-120"/>
              </a:rPr>
              <a:t>A formal foundation for how intelligent agents search for solutions — from defining a problem precisely to the first family of systematic search strategies.</a:t>
            </a:r>
            <a:endParaRPr lang="en-US" sz="1300" dirty="0"/>
          </a:p>
        </p:txBody>
      </p:sp>
      <p:sp>
        <p:nvSpPr>
          <p:cNvPr id="6" name="Shape 4"/>
          <p:cNvSpPr/>
          <p:nvPr/>
        </p:nvSpPr>
        <p:spPr>
          <a:xfrm>
            <a:off x="640080" y="5074920"/>
            <a:ext cx="4297680" cy="960120"/>
          </a:xfrm>
          <a:prstGeom prst="roundRect">
            <a:avLst>
              <a:gd name="adj" fmla="val 6667"/>
            </a:avLst>
          </a:prstGeom>
          <a:solidFill>
            <a:srgbClr val="121B38"/>
          </a:solidFill>
          <a:ln w="12700">
            <a:solidFill>
              <a:srgbClr val="263258"/>
            </a:solidFill>
            <a:prstDash val="solid"/>
          </a:ln>
        </p:spPr>
      </p:sp>
      <p:sp>
        <p:nvSpPr>
          <p:cNvPr id="7" name="Text 5"/>
          <p:cNvSpPr txBox="1"/>
          <p:nvPr/>
        </p:nvSpPr>
        <p:spPr>
          <a:xfrm>
            <a:off x="896112" y="5212080"/>
            <a:ext cx="3840480" cy="777240"/>
          </a:xfrm>
          <a:prstGeom prst="rect">
            <a:avLst/>
          </a:prstGeom>
          <a:noFill/>
          <a:ln/>
        </p:spPr>
        <p:txBody>
          <a:bodyPr wrap="square" rtlCol="0" anchor="t"/>
          <a:lstStyle/>
          <a:p>
            <a:pPr marL="0" indent="0">
              <a:lnSpc>
                <a:spcPct val="130000"/>
              </a:lnSpc>
              <a:buNone/>
            </a:pPr>
            <a:r>
              <a:rPr lang="en-US" sz="1100" dirty="0">
                <a:solidFill>
                  <a:srgbClr val="8A93A8"/>
                </a:solidFill>
                <a:latin typeface="Calibri" pitchFamily="34" charset="0"/>
                <a:ea typeface="Calibri" pitchFamily="34" charset="-122"/>
                <a:cs typeface="Calibri" pitchFamily="34" charset="-120"/>
              </a:rPr>
              <a:t>Instructor   </a:t>
            </a:r>
            <a:r>
              <a:rPr lang="en-US" sz="1500" b="1" dirty="0">
                <a:solidFill>
                  <a:srgbClr val="FFFFFF"/>
                </a:solidFill>
                <a:latin typeface="Calibri" pitchFamily="34" charset="0"/>
                <a:ea typeface="Calibri" pitchFamily="34" charset="-122"/>
                <a:cs typeface="Calibri" pitchFamily="34" charset="-120"/>
              </a:rPr>
              <a:t>Dr. Ghulam Ali</a:t>
            </a:r>
            <a:endParaRPr lang="en-US" sz="1100" dirty="0"/>
          </a:p>
          <a:p>
            <a:pPr marL="0" indent="0">
              <a:lnSpc>
                <a:spcPct val="130000"/>
              </a:lnSpc>
              <a:buNone/>
            </a:pPr>
            <a:r>
              <a:rPr lang="en-US" sz="1100" dirty="0">
                <a:solidFill>
                  <a:srgbClr val="8A93A8"/>
                </a:solidFill>
                <a:latin typeface="Calibri" pitchFamily="34" charset="0"/>
                <a:ea typeface="Calibri" pitchFamily="34" charset="-122"/>
                <a:cs typeface="Calibri" pitchFamily="34" charset="-120"/>
              </a:rPr>
              <a:t>Course   </a:t>
            </a:r>
            <a:r>
              <a:rPr lang="en-US" sz="1250" dirty="0">
                <a:solidFill>
                  <a:srgbClr val="D7DEEA"/>
                </a:solidFill>
                <a:latin typeface="Calibri" pitchFamily="34" charset="0"/>
                <a:ea typeface="Calibri" pitchFamily="34" charset="-122"/>
                <a:cs typeface="Calibri" pitchFamily="34" charset="-120"/>
              </a:rPr>
              <a:t>Artificial Intelligence  —  BS Computer Science</a:t>
            </a:r>
            <a:endParaRPr lang="en-US" sz="1100" dirty="0"/>
          </a:p>
        </p:txBody>
      </p:sp>
      <p:sp>
        <p:nvSpPr>
          <p:cNvPr id="8" name="Shape 6"/>
          <p:cNvSpPr/>
          <p:nvPr/>
        </p:nvSpPr>
        <p:spPr>
          <a:xfrm>
            <a:off x="8051193" y="1744866"/>
            <a:ext cx="859733" cy="533628"/>
          </a:xfrm>
          <a:prstGeom prst="line">
            <a:avLst/>
          </a:prstGeom>
          <a:noFill/>
          <a:ln w="17780">
            <a:solidFill>
              <a:srgbClr val="2B3A63"/>
            </a:solidFill>
            <a:prstDash val="solid"/>
          </a:ln>
        </p:spPr>
      </p:sp>
      <p:sp>
        <p:nvSpPr>
          <p:cNvPr id="9" name="Shape 7"/>
          <p:cNvSpPr/>
          <p:nvPr/>
        </p:nvSpPr>
        <p:spPr>
          <a:xfrm>
            <a:off x="8091690" y="1620464"/>
            <a:ext cx="1921739" cy="142351"/>
          </a:xfrm>
          <a:prstGeom prst="line">
            <a:avLst/>
          </a:prstGeom>
          <a:noFill/>
          <a:ln w="17780">
            <a:solidFill>
              <a:srgbClr val="2B3A63"/>
            </a:solidFill>
            <a:prstDash val="solid"/>
          </a:ln>
        </p:spPr>
      </p:sp>
      <p:sp>
        <p:nvSpPr>
          <p:cNvPr id="10" name="Shape 8"/>
          <p:cNvSpPr/>
          <p:nvPr/>
        </p:nvSpPr>
        <p:spPr>
          <a:xfrm flipH="1">
            <a:off x="8822253" y="2682389"/>
            <a:ext cx="232014" cy="670263"/>
          </a:xfrm>
          <a:prstGeom prst="line">
            <a:avLst/>
          </a:prstGeom>
          <a:noFill/>
          <a:ln w="38100">
            <a:solidFill>
              <a:srgbClr val="C9A227"/>
            </a:solidFill>
            <a:prstDash val="solid"/>
          </a:ln>
        </p:spPr>
      </p:sp>
      <p:sp>
        <p:nvSpPr>
          <p:cNvPr id="11" name="Shape 9"/>
          <p:cNvSpPr/>
          <p:nvPr/>
        </p:nvSpPr>
        <p:spPr>
          <a:xfrm>
            <a:off x="9311256" y="2640593"/>
            <a:ext cx="579888" cy="753855"/>
          </a:xfrm>
          <a:prstGeom prst="line">
            <a:avLst/>
          </a:prstGeom>
          <a:noFill/>
          <a:ln w="17780">
            <a:solidFill>
              <a:srgbClr val="2B3A63"/>
            </a:solidFill>
            <a:prstDash val="solid"/>
          </a:ln>
        </p:spPr>
      </p:sp>
      <p:sp>
        <p:nvSpPr>
          <p:cNvPr id="12" name="Shape 10"/>
          <p:cNvSpPr/>
          <p:nvPr/>
        </p:nvSpPr>
        <p:spPr>
          <a:xfrm>
            <a:off x="10460710" y="1995392"/>
            <a:ext cx="475540" cy="581216"/>
          </a:xfrm>
          <a:prstGeom prst="line">
            <a:avLst/>
          </a:prstGeom>
          <a:noFill/>
          <a:ln w="17780">
            <a:solidFill>
              <a:srgbClr val="2B3A63"/>
            </a:solidFill>
            <a:prstDash val="solid"/>
          </a:ln>
        </p:spPr>
      </p:sp>
      <p:sp>
        <p:nvSpPr>
          <p:cNvPr id="13" name="Shape 11"/>
          <p:cNvSpPr/>
          <p:nvPr/>
        </p:nvSpPr>
        <p:spPr>
          <a:xfrm>
            <a:off x="8919181" y="3812900"/>
            <a:ext cx="815397" cy="878120"/>
          </a:xfrm>
          <a:prstGeom prst="line">
            <a:avLst/>
          </a:prstGeom>
          <a:noFill/>
          <a:ln w="38100">
            <a:solidFill>
              <a:srgbClr val="C9A227"/>
            </a:solidFill>
            <a:prstDash val="solid"/>
          </a:ln>
        </p:spPr>
      </p:sp>
      <p:sp>
        <p:nvSpPr>
          <p:cNvPr id="14" name="Shape 12"/>
          <p:cNvSpPr/>
          <p:nvPr/>
        </p:nvSpPr>
        <p:spPr>
          <a:xfrm flipH="1">
            <a:off x="9950464" y="3884639"/>
            <a:ext cx="78712" cy="734642"/>
          </a:xfrm>
          <a:prstGeom prst="line">
            <a:avLst/>
          </a:prstGeom>
          <a:noFill/>
          <a:ln w="17780">
            <a:solidFill>
              <a:srgbClr val="2B3A63"/>
            </a:solidFill>
            <a:prstDash val="solid"/>
          </a:ln>
        </p:spPr>
      </p:sp>
      <p:sp>
        <p:nvSpPr>
          <p:cNvPr id="15" name="Shape 13"/>
          <p:cNvSpPr/>
          <p:nvPr/>
        </p:nvSpPr>
        <p:spPr>
          <a:xfrm flipH="1">
            <a:off x="10056221" y="3027733"/>
            <a:ext cx="918758" cy="1625494"/>
          </a:xfrm>
          <a:prstGeom prst="line">
            <a:avLst/>
          </a:prstGeom>
          <a:noFill/>
          <a:ln w="17780">
            <a:solidFill>
              <a:srgbClr val="2B3A63"/>
            </a:solidFill>
            <a:prstDash val="solid"/>
          </a:ln>
        </p:spPr>
      </p:sp>
      <p:sp>
        <p:nvSpPr>
          <p:cNvPr id="16" name="Shape 14"/>
          <p:cNvSpPr/>
          <p:nvPr/>
        </p:nvSpPr>
        <p:spPr>
          <a:xfrm>
            <a:off x="8051193" y="1744866"/>
            <a:ext cx="859733" cy="533628"/>
          </a:xfrm>
          <a:prstGeom prst="line">
            <a:avLst/>
          </a:prstGeom>
          <a:noFill/>
          <a:ln w="38100">
            <a:solidFill>
              <a:srgbClr val="C9A227"/>
            </a:solidFill>
            <a:prstDash val="solid"/>
          </a:ln>
        </p:spPr>
      </p:sp>
      <p:sp>
        <p:nvSpPr>
          <p:cNvPr id="17" name="Shape 15"/>
          <p:cNvSpPr/>
          <p:nvPr/>
        </p:nvSpPr>
        <p:spPr>
          <a:xfrm>
            <a:off x="7589520" y="1371600"/>
            <a:ext cx="457200" cy="457200"/>
          </a:xfrm>
          <a:prstGeom prst="ellipse">
            <a:avLst/>
          </a:prstGeom>
          <a:solidFill>
            <a:srgbClr val="E7D9A8"/>
          </a:solidFill>
          <a:ln w="19050">
            <a:solidFill>
              <a:srgbClr val="435273"/>
            </a:solidFill>
            <a:prstDash val="solid"/>
          </a:ln>
        </p:spPr>
      </p:sp>
      <p:sp>
        <p:nvSpPr>
          <p:cNvPr id="18" name="Text 16"/>
          <p:cNvSpPr txBox="1"/>
          <p:nvPr/>
        </p:nvSpPr>
        <p:spPr>
          <a:xfrm>
            <a:off x="7589520" y="1371600"/>
            <a:ext cx="457200" cy="457200"/>
          </a:xfrm>
          <a:prstGeom prst="rect">
            <a:avLst/>
          </a:prstGeom>
          <a:noFill/>
          <a:ln/>
        </p:spPr>
        <p:txBody>
          <a:bodyPr wrap="square" rtlCol="0" anchor="ctr"/>
          <a:lstStyle/>
          <a:p>
            <a:pPr marL="0" indent="0" algn="ctr">
              <a:buNone/>
            </a:pPr>
            <a:r>
              <a:rPr lang="en-US" sz="1300" b="1" dirty="0">
                <a:solidFill>
                  <a:srgbClr val="14213D"/>
                </a:solidFill>
                <a:latin typeface="Calibri" pitchFamily="34" charset="0"/>
                <a:ea typeface="Calibri" pitchFamily="34" charset="-122"/>
                <a:cs typeface="Calibri" pitchFamily="34" charset="-120"/>
              </a:rPr>
              <a:t>A</a:t>
            </a:r>
            <a:endParaRPr lang="en-US" sz="1300" dirty="0"/>
          </a:p>
        </p:txBody>
      </p:sp>
      <p:sp>
        <p:nvSpPr>
          <p:cNvPr id="19" name="Shape 17"/>
          <p:cNvSpPr/>
          <p:nvPr/>
        </p:nvSpPr>
        <p:spPr>
          <a:xfrm>
            <a:off x="8915400" y="2194560"/>
            <a:ext cx="457200" cy="457200"/>
          </a:xfrm>
          <a:prstGeom prst="ellipse">
            <a:avLst/>
          </a:prstGeom>
          <a:solidFill>
            <a:srgbClr val="E7D9A8"/>
          </a:solidFill>
          <a:ln w="19050">
            <a:solidFill>
              <a:srgbClr val="435273"/>
            </a:solidFill>
            <a:prstDash val="solid"/>
          </a:ln>
        </p:spPr>
      </p:sp>
      <p:sp>
        <p:nvSpPr>
          <p:cNvPr id="20" name="Text 18"/>
          <p:cNvSpPr txBox="1"/>
          <p:nvPr/>
        </p:nvSpPr>
        <p:spPr>
          <a:xfrm>
            <a:off x="8915400" y="2194560"/>
            <a:ext cx="457200" cy="457200"/>
          </a:xfrm>
          <a:prstGeom prst="rect">
            <a:avLst/>
          </a:prstGeom>
          <a:noFill/>
          <a:ln/>
        </p:spPr>
        <p:txBody>
          <a:bodyPr wrap="square" rtlCol="0" anchor="ctr"/>
          <a:lstStyle/>
          <a:p>
            <a:pPr marL="0" indent="0" algn="ctr">
              <a:buNone/>
            </a:pPr>
            <a:r>
              <a:rPr lang="en-US" sz="1300" b="1" dirty="0">
                <a:solidFill>
                  <a:srgbClr val="14213D"/>
                </a:solidFill>
                <a:latin typeface="Calibri" pitchFamily="34" charset="0"/>
                <a:ea typeface="Calibri" pitchFamily="34" charset="-122"/>
                <a:cs typeface="Calibri" pitchFamily="34" charset="-120"/>
              </a:rPr>
              <a:t>B</a:t>
            </a:r>
            <a:endParaRPr lang="en-US" sz="1300" dirty="0"/>
          </a:p>
        </p:txBody>
      </p:sp>
      <p:sp>
        <p:nvSpPr>
          <p:cNvPr id="21" name="Shape 19"/>
          <p:cNvSpPr/>
          <p:nvPr/>
        </p:nvSpPr>
        <p:spPr>
          <a:xfrm>
            <a:off x="10058400" y="1554480"/>
            <a:ext cx="457200" cy="457200"/>
          </a:xfrm>
          <a:prstGeom prst="ellipse">
            <a:avLst/>
          </a:prstGeom>
          <a:solidFill>
            <a:srgbClr val="435273"/>
          </a:solidFill>
          <a:ln w="19050">
            <a:solidFill>
              <a:srgbClr val="435273"/>
            </a:solidFill>
            <a:prstDash val="solid"/>
          </a:ln>
        </p:spPr>
      </p:sp>
      <p:sp>
        <p:nvSpPr>
          <p:cNvPr id="22" name="Text 20"/>
          <p:cNvSpPr txBox="1"/>
          <p:nvPr/>
        </p:nvSpPr>
        <p:spPr>
          <a:xfrm>
            <a:off x="10058400" y="1554480"/>
            <a:ext cx="457200" cy="457200"/>
          </a:xfrm>
          <a:prstGeom prst="rect">
            <a:avLst/>
          </a:prstGeom>
          <a:noFill/>
          <a:ln/>
        </p:spPr>
        <p:txBody>
          <a:bodyPr wrap="square" rtlCol="0" anchor="ctr"/>
          <a:lstStyle/>
          <a:p>
            <a:pPr marL="0" indent="0" algn="ctr">
              <a:buNone/>
            </a:pPr>
            <a:r>
              <a:rPr lang="en-US" sz="1300" b="1" dirty="0">
                <a:solidFill>
                  <a:srgbClr val="14213D"/>
                </a:solidFill>
                <a:latin typeface="Calibri" pitchFamily="34" charset="0"/>
                <a:ea typeface="Calibri" pitchFamily="34" charset="-122"/>
                <a:cs typeface="Calibri" pitchFamily="34" charset="-120"/>
              </a:rPr>
              <a:t>C</a:t>
            </a:r>
            <a:endParaRPr lang="en-US" sz="1300" dirty="0"/>
          </a:p>
        </p:txBody>
      </p:sp>
      <p:sp>
        <p:nvSpPr>
          <p:cNvPr id="23" name="Shape 21"/>
          <p:cNvSpPr/>
          <p:nvPr/>
        </p:nvSpPr>
        <p:spPr>
          <a:xfrm>
            <a:off x="8503920" y="3383280"/>
            <a:ext cx="457200" cy="457200"/>
          </a:xfrm>
          <a:prstGeom prst="ellipse">
            <a:avLst/>
          </a:prstGeom>
          <a:solidFill>
            <a:srgbClr val="E7D9A8"/>
          </a:solidFill>
          <a:ln w="19050">
            <a:solidFill>
              <a:srgbClr val="435273"/>
            </a:solidFill>
            <a:prstDash val="solid"/>
          </a:ln>
        </p:spPr>
      </p:sp>
      <p:sp>
        <p:nvSpPr>
          <p:cNvPr id="24" name="Text 22"/>
          <p:cNvSpPr txBox="1"/>
          <p:nvPr/>
        </p:nvSpPr>
        <p:spPr>
          <a:xfrm>
            <a:off x="8503920" y="3383280"/>
            <a:ext cx="457200" cy="457200"/>
          </a:xfrm>
          <a:prstGeom prst="rect">
            <a:avLst/>
          </a:prstGeom>
          <a:noFill/>
          <a:ln/>
        </p:spPr>
        <p:txBody>
          <a:bodyPr wrap="square" rtlCol="0" anchor="ctr"/>
          <a:lstStyle/>
          <a:p>
            <a:pPr marL="0" indent="0" algn="ctr">
              <a:buNone/>
            </a:pPr>
            <a:r>
              <a:rPr lang="en-US" sz="1300" b="1" dirty="0">
                <a:solidFill>
                  <a:srgbClr val="14213D"/>
                </a:solidFill>
                <a:latin typeface="Calibri" pitchFamily="34" charset="0"/>
                <a:ea typeface="Calibri" pitchFamily="34" charset="-122"/>
                <a:cs typeface="Calibri" pitchFamily="34" charset="-120"/>
              </a:rPr>
              <a:t>D</a:t>
            </a:r>
            <a:endParaRPr lang="en-US" sz="1300" dirty="0"/>
          </a:p>
        </p:txBody>
      </p:sp>
      <p:sp>
        <p:nvSpPr>
          <p:cNvPr id="25" name="Shape 23"/>
          <p:cNvSpPr/>
          <p:nvPr/>
        </p:nvSpPr>
        <p:spPr>
          <a:xfrm>
            <a:off x="9829800" y="3383280"/>
            <a:ext cx="457200" cy="457200"/>
          </a:xfrm>
          <a:prstGeom prst="ellipse">
            <a:avLst/>
          </a:prstGeom>
          <a:solidFill>
            <a:srgbClr val="435273"/>
          </a:solidFill>
          <a:ln w="19050">
            <a:solidFill>
              <a:srgbClr val="435273"/>
            </a:solidFill>
            <a:prstDash val="solid"/>
          </a:ln>
        </p:spPr>
      </p:sp>
      <p:sp>
        <p:nvSpPr>
          <p:cNvPr id="26" name="Text 24"/>
          <p:cNvSpPr txBox="1"/>
          <p:nvPr/>
        </p:nvSpPr>
        <p:spPr>
          <a:xfrm>
            <a:off x="9829800" y="3383280"/>
            <a:ext cx="457200" cy="457200"/>
          </a:xfrm>
          <a:prstGeom prst="rect">
            <a:avLst/>
          </a:prstGeom>
          <a:noFill/>
          <a:ln/>
        </p:spPr>
        <p:txBody>
          <a:bodyPr wrap="square" rtlCol="0" anchor="ctr"/>
          <a:lstStyle/>
          <a:p>
            <a:pPr marL="0" indent="0" algn="ctr">
              <a:buNone/>
            </a:pPr>
            <a:r>
              <a:rPr lang="en-US" sz="1300" b="1" dirty="0">
                <a:solidFill>
                  <a:srgbClr val="14213D"/>
                </a:solidFill>
                <a:latin typeface="Calibri" pitchFamily="34" charset="0"/>
                <a:ea typeface="Calibri" pitchFamily="34" charset="-122"/>
                <a:cs typeface="Calibri" pitchFamily="34" charset="-120"/>
              </a:rPr>
              <a:t>E</a:t>
            </a:r>
            <a:endParaRPr lang="en-US" sz="1300" dirty="0"/>
          </a:p>
        </p:txBody>
      </p:sp>
      <p:sp>
        <p:nvSpPr>
          <p:cNvPr id="27" name="Shape 25"/>
          <p:cNvSpPr/>
          <p:nvPr/>
        </p:nvSpPr>
        <p:spPr>
          <a:xfrm>
            <a:off x="10881360" y="2560320"/>
            <a:ext cx="457200" cy="457200"/>
          </a:xfrm>
          <a:prstGeom prst="ellipse">
            <a:avLst/>
          </a:prstGeom>
          <a:solidFill>
            <a:srgbClr val="435273"/>
          </a:solidFill>
          <a:ln w="19050">
            <a:solidFill>
              <a:srgbClr val="435273"/>
            </a:solidFill>
            <a:prstDash val="solid"/>
          </a:ln>
        </p:spPr>
      </p:sp>
      <p:sp>
        <p:nvSpPr>
          <p:cNvPr id="28" name="Text 26"/>
          <p:cNvSpPr txBox="1"/>
          <p:nvPr/>
        </p:nvSpPr>
        <p:spPr>
          <a:xfrm>
            <a:off x="10881360" y="2560320"/>
            <a:ext cx="457200" cy="457200"/>
          </a:xfrm>
          <a:prstGeom prst="rect">
            <a:avLst/>
          </a:prstGeom>
          <a:noFill/>
          <a:ln/>
        </p:spPr>
        <p:txBody>
          <a:bodyPr wrap="square" rtlCol="0" anchor="ctr"/>
          <a:lstStyle/>
          <a:p>
            <a:pPr marL="0" indent="0" algn="ctr">
              <a:buNone/>
            </a:pPr>
            <a:r>
              <a:rPr lang="en-US" sz="1300" b="1" dirty="0">
                <a:solidFill>
                  <a:srgbClr val="14213D"/>
                </a:solidFill>
                <a:latin typeface="Calibri" pitchFamily="34" charset="0"/>
                <a:ea typeface="Calibri" pitchFamily="34" charset="-122"/>
                <a:cs typeface="Calibri" pitchFamily="34" charset="-120"/>
              </a:rPr>
              <a:t>F</a:t>
            </a:r>
            <a:endParaRPr lang="en-US" sz="1300" dirty="0"/>
          </a:p>
        </p:txBody>
      </p:sp>
      <p:sp>
        <p:nvSpPr>
          <p:cNvPr id="29" name="Shape 27"/>
          <p:cNvSpPr/>
          <p:nvPr/>
        </p:nvSpPr>
        <p:spPr>
          <a:xfrm>
            <a:off x="9637776" y="4608576"/>
            <a:ext cx="566928" cy="566928"/>
          </a:xfrm>
          <a:prstGeom prst="ellipse">
            <a:avLst/>
          </a:prstGeom>
          <a:solidFill>
            <a:srgbClr val="C9A227"/>
          </a:solidFill>
          <a:ln w="19050">
            <a:solidFill>
              <a:srgbClr val="435273"/>
            </a:solidFill>
            <a:prstDash val="solid"/>
          </a:ln>
        </p:spPr>
      </p:sp>
      <p:sp>
        <p:nvSpPr>
          <p:cNvPr id="30" name="Text 28"/>
          <p:cNvSpPr txBox="1"/>
          <p:nvPr/>
        </p:nvSpPr>
        <p:spPr>
          <a:xfrm>
            <a:off x="9637776" y="4608576"/>
            <a:ext cx="566928" cy="566928"/>
          </a:xfrm>
          <a:prstGeom prst="rect">
            <a:avLst/>
          </a:prstGeom>
          <a:noFill/>
          <a:ln/>
        </p:spPr>
        <p:txBody>
          <a:bodyPr wrap="square" rtlCol="0" anchor="ctr"/>
          <a:lstStyle/>
          <a:p>
            <a:pPr marL="0" indent="0" algn="ctr">
              <a:buNone/>
            </a:pPr>
            <a:r>
              <a:rPr lang="en-US" sz="1300" b="1" dirty="0">
                <a:solidFill>
                  <a:srgbClr val="14213D"/>
                </a:solidFill>
                <a:latin typeface="Calibri" pitchFamily="34" charset="0"/>
                <a:ea typeface="Calibri" pitchFamily="34" charset="-122"/>
                <a:cs typeface="Calibri" pitchFamily="34" charset="-120"/>
              </a:rPr>
              <a:t>G</a:t>
            </a:r>
            <a:endParaRPr lang="en-US" sz="1300" dirty="0"/>
          </a:p>
        </p:txBody>
      </p:sp>
      <p:sp>
        <p:nvSpPr>
          <p:cNvPr id="31" name="Text 29"/>
          <p:cNvSpPr txBox="1"/>
          <p:nvPr/>
        </p:nvSpPr>
        <p:spPr>
          <a:xfrm>
            <a:off x="7040880" y="5623560"/>
            <a:ext cx="4846320" cy="292608"/>
          </a:xfrm>
          <a:prstGeom prst="rect">
            <a:avLst/>
          </a:prstGeom>
          <a:noFill/>
          <a:ln/>
        </p:spPr>
        <p:txBody>
          <a:bodyPr wrap="none" rtlCol="0" anchor="ctr"/>
          <a:lstStyle/>
          <a:p>
            <a:pPr marL="0" indent="0" algn="ctr">
              <a:buNone/>
            </a:pPr>
            <a:r>
              <a:rPr lang="en-US" sz="1400" b="1" dirty="0">
                <a:solidFill>
                  <a:srgbClr val="E7D9A8"/>
                </a:solidFill>
                <a:latin typeface="Courier New" pitchFamily="34" charset="0"/>
                <a:ea typeface="Courier New" pitchFamily="34" charset="-122"/>
                <a:cs typeface="Courier New" pitchFamily="34" charset="-120"/>
              </a:rPr>
              <a:t>A  →  B  →  D  →  G</a:t>
            </a:r>
            <a:endParaRPr lang="en-US" sz="1400" dirty="0"/>
          </a:p>
        </p:txBody>
      </p:sp>
      <p:sp>
        <p:nvSpPr>
          <p:cNvPr id="32" name="Text 30"/>
          <p:cNvSpPr txBox="1"/>
          <p:nvPr/>
        </p:nvSpPr>
        <p:spPr>
          <a:xfrm>
            <a:off x="7040880" y="5943600"/>
            <a:ext cx="4846320" cy="457200"/>
          </a:xfrm>
          <a:prstGeom prst="rect">
            <a:avLst/>
          </a:prstGeom>
          <a:noFill/>
          <a:ln/>
        </p:spPr>
        <p:txBody>
          <a:bodyPr wrap="square" rtlCol="0" anchor="ctr"/>
          <a:lstStyle/>
          <a:p>
            <a:pPr marL="0" indent="0" algn="ctr">
              <a:buNone/>
            </a:pPr>
            <a:r>
              <a:rPr lang="en-US" sz="1050" i="1" dirty="0">
                <a:solidFill>
                  <a:srgbClr val="8A93A8"/>
                </a:solidFill>
                <a:latin typeface="Calibri" pitchFamily="34" charset="0"/>
                <a:ea typeface="Calibri" pitchFamily="34" charset="-122"/>
                <a:cs typeface="Calibri" pitchFamily="34" charset="-120"/>
              </a:rPr>
              <a:t>Search explores a state space to find a path from the initial state to the goal.</a:t>
            </a:r>
            <a:endParaRPr lang="en-US" sz="1050" dirty="0"/>
          </a:p>
        </p:txBody>
      </p:sp>
      <p:sp>
        <p:nvSpPr>
          <p:cNvPr id="33" name="Text 31"/>
          <p:cNvSpPr txBox="1"/>
          <p:nvPr/>
        </p:nvSpPr>
        <p:spPr>
          <a:xfrm>
            <a:off x="10180015" y="6473952"/>
            <a:ext cx="1554480" cy="274320"/>
          </a:xfrm>
          <a:prstGeom prst="rect">
            <a:avLst/>
          </a:prstGeom>
          <a:noFill/>
          <a:ln/>
        </p:spPr>
        <p:txBody>
          <a:bodyPr wrap="square" rtlCol="0" anchor="ctr"/>
          <a:lstStyle/>
          <a:p>
            <a:pPr marL="0" indent="0">
              <a:buNone/>
            </a:pPr>
            <a:r>
              <a:rPr lang="en-US" sz="1000" dirty="0">
                <a:solidFill>
                  <a:srgbClr val="5C6788"/>
                </a:solidFill>
                <a:latin typeface="Calibri" pitchFamily="34" charset="0"/>
                <a:ea typeface="Calibri" pitchFamily="34" charset="-122"/>
                <a:cs typeface="Calibri" pitchFamily="34" charset="-120"/>
              </a:rPr>
              <a:t>Lecture 3</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92608"/>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INTRODUCTION</a:t>
            </a:r>
            <a:endParaRPr lang="en-US" sz="1200" dirty="0"/>
          </a:p>
        </p:txBody>
      </p:sp>
      <p:sp>
        <p:nvSpPr>
          <p:cNvPr id="3" name="Text 1"/>
          <p:cNvSpPr txBox="1"/>
          <p:nvPr/>
        </p:nvSpPr>
        <p:spPr>
          <a:xfrm>
            <a:off x="502920" y="621792"/>
            <a:ext cx="11155680" cy="658368"/>
          </a:xfrm>
          <a:prstGeom prst="rect">
            <a:avLst/>
          </a:prstGeom>
          <a:noFill/>
          <a:ln/>
        </p:spPr>
        <p:txBody>
          <a:bodyPr wrap="square" rtlCol="0" anchor="ctr"/>
          <a:lstStyle/>
          <a:p>
            <a:pPr marL="0" indent="0">
              <a:buNone/>
            </a:pPr>
            <a:r>
              <a:rPr lang="en-US" sz="2900" b="1" dirty="0">
                <a:solidFill>
                  <a:srgbClr val="14213D"/>
                </a:solidFill>
                <a:latin typeface="Cambria" pitchFamily="34" charset="0"/>
                <a:ea typeface="Cambria" pitchFamily="34" charset="-122"/>
                <a:cs typeface="Cambria" pitchFamily="34" charset="-120"/>
              </a:rPr>
              <a:t>Why Search Is Important in AI</a:t>
            </a:r>
            <a:endParaRPr lang="en-US" sz="2900" dirty="0"/>
          </a:p>
        </p:txBody>
      </p:sp>
      <p:sp>
        <p:nvSpPr>
          <p:cNvPr id="4" name="Text 2"/>
          <p:cNvSpPr txBox="1"/>
          <p:nvPr/>
        </p:nvSpPr>
        <p:spPr>
          <a:xfrm>
            <a:off x="502920" y="6473952"/>
            <a:ext cx="7315200" cy="274320"/>
          </a:xfrm>
          <a:prstGeom prst="rect">
            <a:avLst/>
          </a:prstGeom>
          <a:noFill/>
          <a:ln/>
        </p:spPr>
        <p:txBody>
          <a:bodyPr wrap="square" rtlCol="0" anchor="ctr"/>
          <a:lstStyle/>
          <a:p>
            <a:pPr marL="0" indent="0">
              <a:buNone/>
            </a:pPr>
            <a:r>
              <a:rPr lang="en-US" sz="950" b="1" dirty="0">
                <a:solidFill>
                  <a:srgbClr val="6B7280"/>
                </a:solidFill>
                <a:latin typeface="Calibri" pitchFamily="34" charset="0"/>
                <a:ea typeface="Calibri" pitchFamily="34" charset="-122"/>
                <a:cs typeface="Calibri" pitchFamily="34" charset="-120"/>
              </a:rPr>
              <a:t>Artificial Intelligence</a:t>
            </a:r>
            <a:r>
              <a:rPr lang="en-US" sz="950" dirty="0">
                <a:solidFill>
                  <a:srgbClr val="6B7280"/>
                </a:solidFill>
                <a:latin typeface="Calibri" pitchFamily="34" charset="0"/>
                <a:ea typeface="Calibri" pitchFamily="34" charset="-122"/>
                <a:cs typeface="Calibri" pitchFamily="34" charset="-120"/>
              </a:rPr>
              <a:t>   ·   BS Computer Science   ·   Lecture 3</a:t>
            </a:r>
            <a:endParaRPr lang="en-US" sz="950" dirty="0"/>
          </a:p>
        </p:txBody>
      </p:sp>
      <p:sp>
        <p:nvSpPr>
          <p:cNvPr id="5" name="Text 3"/>
          <p:cNvSpPr txBox="1"/>
          <p:nvPr/>
        </p:nvSpPr>
        <p:spPr>
          <a:xfrm>
            <a:off x="8762695" y="6473952"/>
            <a:ext cx="292608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Dr. Ghulam Ali   ·   2</a:t>
            </a:r>
            <a:endParaRPr lang="en-US" sz="950" dirty="0"/>
          </a:p>
        </p:txBody>
      </p:sp>
      <p:sp>
        <p:nvSpPr>
          <p:cNvPr id="6" name="Text 4"/>
          <p:cNvSpPr txBox="1"/>
          <p:nvPr/>
        </p:nvSpPr>
        <p:spPr>
          <a:xfrm>
            <a:off x="502920" y="1417320"/>
            <a:ext cx="5989320" cy="1691640"/>
          </a:xfrm>
          <a:prstGeom prst="rect">
            <a:avLst/>
          </a:prstGeom>
          <a:noFill/>
          <a:ln/>
        </p:spPr>
        <p:txBody>
          <a:bodyPr wrap="square" rtlCol="0" anchor="t"/>
          <a:lstStyle/>
          <a:p>
            <a:pPr marL="0" indent="0">
              <a:lnSpc>
                <a:spcPct val="126000"/>
              </a:lnSpc>
              <a:buNone/>
            </a:pPr>
            <a:r>
              <a:rPr lang="en-US" sz="1300" dirty="0">
                <a:solidFill>
                  <a:srgbClr val="1B2333"/>
                </a:solidFill>
                <a:latin typeface="Calibri" pitchFamily="34" charset="0"/>
                <a:ea typeface="Calibri" pitchFamily="34" charset="-122"/>
                <a:cs typeface="Calibri" pitchFamily="34" charset="-120"/>
              </a:rPr>
              <a:t>An intelligent agent rarely reaches its goal through a single action. Usually it must choose a sequence of actions, and the number of possible sequences grows very quickly as a problem gets larger. AI search formalizes this challenge: before the agent ever acts in the real world, it explores — mentally, inside its own representation of the problem — which states are reachable and which sequence of actions leads to a goal state.</a:t>
            </a:r>
            <a:endParaRPr lang="en-US" sz="1300" dirty="0"/>
          </a:p>
        </p:txBody>
      </p:sp>
      <p:sp>
        <p:nvSpPr>
          <p:cNvPr id="7" name="Text 5"/>
          <p:cNvSpPr txBox="1"/>
          <p:nvPr/>
        </p:nvSpPr>
        <p:spPr>
          <a:xfrm>
            <a:off x="502920" y="3200400"/>
            <a:ext cx="5943600" cy="274320"/>
          </a:xfrm>
          <a:prstGeom prst="rect">
            <a:avLst/>
          </a:prstGeom>
          <a:noFill/>
          <a:ln/>
        </p:spPr>
        <p:txBody>
          <a:bodyPr wrap="square" rtlCol="0" anchor="ctr"/>
          <a:lstStyle/>
          <a:p>
            <a:pPr marL="0" indent="0">
              <a:buNone/>
            </a:pPr>
            <a:r>
              <a:rPr lang="en-US" sz="1150" b="1" kern="0" spc="100" dirty="0">
                <a:solidFill>
                  <a:srgbClr val="435273"/>
                </a:solidFill>
                <a:latin typeface="Calibri" pitchFamily="34" charset="0"/>
                <a:ea typeface="Calibri" pitchFamily="34" charset="-122"/>
                <a:cs typeface="Calibri" pitchFamily="34" charset="-120"/>
              </a:rPr>
              <a:t>SEARCH-BASED PROBLEM SOLVING APPEARS IN:</a:t>
            </a:r>
            <a:endParaRPr lang="en-US" sz="1150" dirty="0"/>
          </a:p>
        </p:txBody>
      </p:sp>
      <p:sp>
        <p:nvSpPr>
          <p:cNvPr id="8" name="Text 6"/>
          <p:cNvSpPr txBox="1"/>
          <p:nvPr/>
        </p:nvSpPr>
        <p:spPr>
          <a:xfrm>
            <a:off x="502920" y="3547872"/>
            <a:ext cx="6035040" cy="2743200"/>
          </a:xfrm>
          <a:prstGeom prst="rect">
            <a:avLst/>
          </a:prstGeom>
          <a:noFill/>
          <a:ln/>
        </p:spPr>
        <p:txBody>
          <a:bodyPr wrap="square" rtlCol="0" anchor="t"/>
          <a:lstStyle/>
          <a:p>
            <a:pPr marL="228600" indent="-228600">
              <a:lnSpc>
                <a:spcPct val="115000"/>
              </a:lnSpc>
              <a:spcAft>
                <a:spcPts val="700"/>
              </a:spcAft>
              <a:buSzPct val="100000"/>
              <a:buChar char="•"/>
            </a:pPr>
            <a:r>
              <a:rPr lang="en-US" sz="1150" dirty="0">
                <a:solidFill>
                  <a:srgbClr val="1B2333"/>
                </a:solidFill>
                <a:latin typeface="Calibri" pitchFamily="34" charset="0"/>
                <a:ea typeface="Calibri" pitchFamily="34" charset="-122"/>
                <a:cs typeface="Calibri" pitchFamily="34" charset="-120"/>
              </a:rPr>
              <a:t>Robot navigation — choosing a sequence of movements through a space that contains obstacles</a:t>
            </a:r>
            <a:endParaRPr lang="en-US" sz="1150" dirty="0"/>
          </a:p>
          <a:p>
            <a:pPr marL="228600" indent="-228600">
              <a:lnSpc>
                <a:spcPct val="115000"/>
              </a:lnSpc>
              <a:spcAft>
                <a:spcPts val="700"/>
              </a:spcAft>
              <a:buSzPct val="100000"/>
              <a:buChar char="•"/>
            </a:pPr>
            <a:r>
              <a:rPr lang="en-US" sz="1150" dirty="0">
                <a:solidFill>
                  <a:srgbClr val="1B2333"/>
                </a:solidFill>
                <a:latin typeface="Calibri" pitchFamily="34" charset="0"/>
                <a:ea typeface="Calibri" pitchFamily="34" charset="-122"/>
                <a:cs typeface="Calibri" pitchFamily="34" charset="-120"/>
              </a:rPr>
              <a:t>Route planning — sequencing road or flight segments from an origin to a destination</a:t>
            </a:r>
            <a:endParaRPr lang="en-US" sz="1150" dirty="0"/>
          </a:p>
          <a:p>
            <a:pPr marL="228600" indent="-228600">
              <a:lnSpc>
                <a:spcPct val="115000"/>
              </a:lnSpc>
              <a:spcAft>
                <a:spcPts val="700"/>
              </a:spcAft>
              <a:buSzPct val="100000"/>
              <a:buChar char="•"/>
            </a:pPr>
            <a:r>
              <a:rPr lang="en-US" sz="1150" dirty="0">
                <a:solidFill>
                  <a:srgbClr val="1B2333"/>
                </a:solidFill>
                <a:latin typeface="Calibri" pitchFamily="34" charset="0"/>
                <a:ea typeface="Calibri" pitchFamily="34" charset="-122"/>
                <a:cs typeface="Calibri" pitchFamily="34" charset="-120"/>
              </a:rPr>
              <a:t>Puzzle solving — sequencing tile or piece moves toward a target configuration (e.g. the 8-puzzle)</a:t>
            </a:r>
            <a:endParaRPr lang="en-US" sz="1150" dirty="0"/>
          </a:p>
          <a:p>
            <a:pPr marL="228600" indent="-228600">
              <a:lnSpc>
                <a:spcPct val="115000"/>
              </a:lnSpc>
              <a:spcAft>
                <a:spcPts val="700"/>
              </a:spcAft>
              <a:buSzPct val="100000"/>
              <a:buChar char="•"/>
            </a:pPr>
            <a:r>
              <a:rPr lang="en-US" sz="1150" dirty="0">
                <a:solidFill>
                  <a:srgbClr val="1B2333"/>
                </a:solidFill>
                <a:latin typeface="Calibri" pitchFamily="34" charset="0"/>
                <a:ea typeface="Calibri" pitchFamily="34" charset="-122"/>
                <a:cs typeface="Calibri" pitchFamily="34" charset="-120"/>
              </a:rPr>
              <a:t>Automated planning — sequencing operations so that a goal condition becomes true</a:t>
            </a:r>
            <a:endParaRPr lang="en-US" sz="1150" dirty="0"/>
          </a:p>
          <a:p>
            <a:pPr marL="228600" indent="-228600">
              <a:lnSpc>
                <a:spcPct val="115000"/>
              </a:lnSpc>
              <a:spcAft>
                <a:spcPts val="700"/>
              </a:spcAft>
              <a:buSzPct val="100000"/>
              <a:buChar char="•"/>
            </a:pPr>
            <a:r>
              <a:rPr lang="en-US" sz="1150" dirty="0">
                <a:solidFill>
                  <a:srgbClr val="1B2333"/>
                </a:solidFill>
                <a:latin typeface="Calibri" pitchFamily="34" charset="0"/>
                <a:ea typeface="Calibri" pitchFamily="34" charset="-122"/>
                <a:cs typeface="Calibri" pitchFamily="34" charset="-120"/>
              </a:rPr>
              <a:t>Game playing — sequencing moves in a state space that an adversary also influences</a:t>
            </a:r>
            <a:endParaRPr lang="en-US" sz="1150" dirty="0"/>
          </a:p>
          <a:p>
            <a:pPr marL="228600" indent="-228600">
              <a:lnSpc>
                <a:spcPct val="115000"/>
              </a:lnSpc>
              <a:spcAft>
                <a:spcPts val="700"/>
              </a:spcAft>
              <a:buSzPct val="100000"/>
              <a:buChar char="•"/>
            </a:pPr>
            <a:r>
              <a:rPr lang="en-US" sz="1150" dirty="0">
                <a:solidFill>
                  <a:srgbClr val="1B2333"/>
                </a:solidFill>
                <a:latin typeface="Calibri" pitchFamily="34" charset="0"/>
                <a:ea typeface="Calibri" pitchFamily="34" charset="-122"/>
                <a:cs typeface="Calibri" pitchFamily="34" charset="-120"/>
              </a:rPr>
              <a:t>Scheduling — sequencing task assignments while respecting time and resource constraints</a:t>
            </a:r>
            <a:endParaRPr lang="en-US" sz="1150" dirty="0"/>
          </a:p>
        </p:txBody>
      </p:sp>
      <p:sp>
        <p:nvSpPr>
          <p:cNvPr id="9" name="Shape 7"/>
          <p:cNvSpPr/>
          <p:nvPr/>
        </p:nvSpPr>
        <p:spPr>
          <a:xfrm>
            <a:off x="7360920" y="1463040"/>
            <a:ext cx="3977640" cy="566928"/>
          </a:xfrm>
          <a:prstGeom prst="roundRect">
            <a:avLst>
              <a:gd name="adj" fmla="val 11290"/>
            </a:avLst>
          </a:prstGeom>
          <a:solidFill>
            <a:srgbClr val="14213D"/>
          </a:solidFill>
          <a:ln/>
        </p:spPr>
      </p:sp>
      <p:sp>
        <p:nvSpPr>
          <p:cNvPr id="10" name="Text 8"/>
          <p:cNvSpPr txBox="1"/>
          <p:nvPr/>
        </p:nvSpPr>
        <p:spPr>
          <a:xfrm>
            <a:off x="7360920" y="1463040"/>
            <a:ext cx="3977640" cy="56692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PROBLEM</a:t>
            </a:r>
            <a:endParaRPr lang="en-US" sz="1400" dirty="0"/>
          </a:p>
        </p:txBody>
      </p:sp>
      <p:sp>
        <p:nvSpPr>
          <p:cNvPr id="11" name="Shape 9"/>
          <p:cNvSpPr/>
          <p:nvPr/>
        </p:nvSpPr>
        <p:spPr>
          <a:xfrm>
            <a:off x="9230868" y="2057400"/>
            <a:ext cx="237744" cy="237744"/>
          </a:xfrm>
          <a:prstGeom prst="downArrow">
            <a:avLst/>
          </a:prstGeom>
          <a:solidFill>
            <a:srgbClr val="C9A227"/>
          </a:solidFill>
          <a:ln/>
        </p:spPr>
      </p:sp>
      <p:sp>
        <p:nvSpPr>
          <p:cNvPr id="12" name="Shape 10"/>
          <p:cNvSpPr/>
          <p:nvPr/>
        </p:nvSpPr>
        <p:spPr>
          <a:xfrm>
            <a:off x="7360920" y="2322576"/>
            <a:ext cx="3977640" cy="566928"/>
          </a:xfrm>
          <a:prstGeom prst="roundRect">
            <a:avLst>
              <a:gd name="adj" fmla="val 11290"/>
            </a:avLst>
          </a:prstGeom>
          <a:solidFill>
            <a:srgbClr val="14213D"/>
          </a:solidFill>
          <a:ln/>
        </p:spPr>
      </p:sp>
      <p:sp>
        <p:nvSpPr>
          <p:cNvPr id="13" name="Text 11"/>
          <p:cNvSpPr txBox="1"/>
          <p:nvPr/>
        </p:nvSpPr>
        <p:spPr>
          <a:xfrm>
            <a:off x="7360920" y="2322576"/>
            <a:ext cx="3977640" cy="56692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POSSIBLE STATES</a:t>
            </a:r>
            <a:endParaRPr lang="en-US" sz="1400" dirty="0"/>
          </a:p>
        </p:txBody>
      </p:sp>
      <p:sp>
        <p:nvSpPr>
          <p:cNvPr id="14" name="Shape 12"/>
          <p:cNvSpPr/>
          <p:nvPr/>
        </p:nvSpPr>
        <p:spPr>
          <a:xfrm>
            <a:off x="9230868" y="2916936"/>
            <a:ext cx="237744" cy="237744"/>
          </a:xfrm>
          <a:prstGeom prst="downArrow">
            <a:avLst/>
          </a:prstGeom>
          <a:solidFill>
            <a:srgbClr val="C9A227"/>
          </a:solidFill>
          <a:ln/>
        </p:spPr>
      </p:sp>
      <p:sp>
        <p:nvSpPr>
          <p:cNvPr id="15" name="Shape 13"/>
          <p:cNvSpPr/>
          <p:nvPr/>
        </p:nvSpPr>
        <p:spPr>
          <a:xfrm>
            <a:off x="7360920" y="3182112"/>
            <a:ext cx="3977640" cy="566928"/>
          </a:xfrm>
          <a:prstGeom prst="roundRect">
            <a:avLst>
              <a:gd name="adj" fmla="val 11290"/>
            </a:avLst>
          </a:prstGeom>
          <a:solidFill>
            <a:srgbClr val="14213D"/>
          </a:solidFill>
          <a:ln/>
        </p:spPr>
      </p:sp>
      <p:sp>
        <p:nvSpPr>
          <p:cNvPr id="16" name="Text 14"/>
          <p:cNvSpPr txBox="1"/>
          <p:nvPr/>
        </p:nvSpPr>
        <p:spPr>
          <a:xfrm>
            <a:off x="7360920" y="3182112"/>
            <a:ext cx="3977640" cy="56692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POSSIBLE ACTIONS</a:t>
            </a:r>
            <a:endParaRPr lang="en-US" sz="1400" dirty="0"/>
          </a:p>
        </p:txBody>
      </p:sp>
      <p:sp>
        <p:nvSpPr>
          <p:cNvPr id="17" name="Shape 15"/>
          <p:cNvSpPr/>
          <p:nvPr/>
        </p:nvSpPr>
        <p:spPr>
          <a:xfrm>
            <a:off x="9230868" y="3776472"/>
            <a:ext cx="237744" cy="237744"/>
          </a:xfrm>
          <a:prstGeom prst="downArrow">
            <a:avLst/>
          </a:prstGeom>
          <a:solidFill>
            <a:srgbClr val="C9A227"/>
          </a:solidFill>
          <a:ln/>
        </p:spPr>
      </p:sp>
      <p:sp>
        <p:nvSpPr>
          <p:cNvPr id="18" name="Shape 16"/>
          <p:cNvSpPr/>
          <p:nvPr/>
        </p:nvSpPr>
        <p:spPr>
          <a:xfrm>
            <a:off x="7360920" y="4041648"/>
            <a:ext cx="3977640" cy="566928"/>
          </a:xfrm>
          <a:prstGeom prst="roundRect">
            <a:avLst>
              <a:gd name="adj" fmla="val 11290"/>
            </a:avLst>
          </a:prstGeom>
          <a:solidFill>
            <a:srgbClr val="C9A227"/>
          </a:solidFill>
          <a:ln/>
        </p:spPr>
      </p:sp>
      <p:sp>
        <p:nvSpPr>
          <p:cNvPr id="19" name="Text 17"/>
          <p:cNvSpPr txBox="1"/>
          <p:nvPr/>
        </p:nvSpPr>
        <p:spPr>
          <a:xfrm>
            <a:off x="7360920" y="4041648"/>
            <a:ext cx="3977640" cy="566928"/>
          </a:xfrm>
          <a:prstGeom prst="rect">
            <a:avLst/>
          </a:prstGeom>
          <a:noFill/>
          <a:ln/>
        </p:spPr>
        <p:txBody>
          <a:bodyPr wrap="square" rtlCol="0" anchor="ctr"/>
          <a:lstStyle/>
          <a:p>
            <a:pPr marL="0" indent="0" algn="ctr">
              <a:buNone/>
            </a:pPr>
            <a:r>
              <a:rPr lang="en-US" sz="1400" b="1" dirty="0">
                <a:solidFill>
                  <a:srgbClr val="0A1226"/>
                </a:solidFill>
                <a:latin typeface="Calibri" pitchFamily="34" charset="0"/>
                <a:ea typeface="Calibri" pitchFamily="34" charset="-122"/>
                <a:cs typeface="Calibri" pitchFamily="34" charset="-120"/>
              </a:rPr>
              <a:t>SEARCH</a:t>
            </a:r>
            <a:endParaRPr lang="en-US" sz="1400" dirty="0"/>
          </a:p>
        </p:txBody>
      </p:sp>
      <p:sp>
        <p:nvSpPr>
          <p:cNvPr id="20" name="Shape 18"/>
          <p:cNvSpPr/>
          <p:nvPr/>
        </p:nvSpPr>
        <p:spPr>
          <a:xfrm>
            <a:off x="9230868" y="4636008"/>
            <a:ext cx="237744" cy="237744"/>
          </a:xfrm>
          <a:prstGeom prst="downArrow">
            <a:avLst/>
          </a:prstGeom>
          <a:solidFill>
            <a:srgbClr val="C9A227"/>
          </a:solidFill>
          <a:ln/>
        </p:spPr>
      </p:sp>
      <p:sp>
        <p:nvSpPr>
          <p:cNvPr id="21" name="Shape 19"/>
          <p:cNvSpPr/>
          <p:nvPr/>
        </p:nvSpPr>
        <p:spPr>
          <a:xfrm>
            <a:off x="7360920" y="4901184"/>
            <a:ext cx="3977640" cy="566928"/>
          </a:xfrm>
          <a:prstGeom prst="roundRect">
            <a:avLst>
              <a:gd name="adj" fmla="val 11290"/>
            </a:avLst>
          </a:prstGeom>
          <a:solidFill>
            <a:srgbClr val="14213D"/>
          </a:solidFill>
          <a:ln/>
        </p:spPr>
      </p:sp>
      <p:sp>
        <p:nvSpPr>
          <p:cNvPr id="22" name="Text 20"/>
          <p:cNvSpPr txBox="1"/>
          <p:nvPr/>
        </p:nvSpPr>
        <p:spPr>
          <a:xfrm>
            <a:off x="7360920" y="4901184"/>
            <a:ext cx="3977640" cy="56692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SOLUTION</a:t>
            </a:r>
            <a:endParaRPr lang="en-US" sz="1400" dirty="0"/>
          </a:p>
        </p:txBody>
      </p:sp>
      <p:sp>
        <p:nvSpPr>
          <p:cNvPr id="23" name="Text 21"/>
          <p:cNvSpPr txBox="1"/>
          <p:nvPr/>
        </p:nvSpPr>
        <p:spPr>
          <a:xfrm>
            <a:off x="7223760" y="5806440"/>
            <a:ext cx="4251960" cy="822960"/>
          </a:xfrm>
          <a:prstGeom prst="rect">
            <a:avLst/>
          </a:prstGeom>
          <a:noFill/>
          <a:ln/>
        </p:spPr>
        <p:txBody>
          <a:bodyPr wrap="square" rtlCol="0" anchor="ctr"/>
          <a:lstStyle/>
          <a:p>
            <a:pPr marL="0" indent="0" algn="ctr">
              <a:lnSpc>
                <a:spcPct val="120000"/>
              </a:lnSpc>
              <a:buNone/>
            </a:pPr>
            <a:r>
              <a:rPr lang="en-US" sz="1100" i="1" dirty="0">
                <a:solidFill>
                  <a:srgbClr val="435273"/>
                </a:solidFill>
                <a:latin typeface="Calibri" pitchFamily="34" charset="0"/>
                <a:ea typeface="Calibri" pitchFamily="34" charset="-122"/>
                <a:cs typeface="Calibri" pitchFamily="34" charset="-120"/>
              </a:rPr>
              <a:t>Search is the mechanism that connects a problem statement to a verified solution — it is the reasoning step performed before acting.</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92608"/>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INTRODUCTION</a:t>
            </a:r>
            <a:endParaRPr lang="en-US" sz="1200" dirty="0"/>
          </a:p>
        </p:txBody>
      </p:sp>
      <p:sp>
        <p:nvSpPr>
          <p:cNvPr id="3" name="Text 1"/>
          <p:cNvSpPr txBox="1"/>
          <p:nvPr/>
        </p:nvSpPr>
        <p:spPr>
          <a:xfrm>
            <a:off x="502920" y="621792"/>
            <a:ext cx="11155680" cy="658368"/>
          </a:xfrm>
          <a:prstGeom prst="rect">
            <a:avLst/>
          </a:prstGeom>
          <a:noFill/>
          <a:ln/>
        </p:spPr>
        <p:txBody>
          <a:bodyPr wrap="square" rtlCol="0" anchor="ctr"/>
          <a:lstStyle/>
          <a:p>
            <a:pPr marL="0" indent="0">
              <a:buNone/>
            </a:pPr>
            <a:r>
              <a:rPr lang="en-US" sz="2900" b="1" dirty="0">
                <a:solidFill>
                  <a:srgbClr val="14213D"/>
                </a:solidFill>
                <a:latin typeface="Cambria" pitchFamily="34" charset="0"/>
                <a:ea typeface="Cambria" pitchFamily="34" charset="-122"/>
                <a:cs typeface="Cambria" pitchFamily="34" charset="-120"/>
              </a:rPr>
              <a:t>Learning Objectives</a:t>
            </a:r>
            <a:endParaRPr lang="en-US" sz="2900" dirty="0"/>
          </a:p>
        </p:txBody>
      </p:sp>
      <p:sp>
        <p:nvSpPr>
          <p:cNvPr id="4" name="Text 2"/>
          <p:cNvSpPr txBox="1"/>
          <p:nvPr/>
        </p:nvSpPr>
        <p:spPr>
          <a:xfrm>
            <a:off x="502920" y="6473952"/>
            <a:ext cx="7315200" cy="274320"/>
          </a:xfrm>
          <a:prstGeom prst="rect">
            <a:avLst/>
          </a:prstGeom>
          <a:noFill/>
          <a:ln/>
        </p:spPr>
        <p:txBody>
          <a:bodyPr wrap="square" rtlCol="0" anchor="ctr"/>
          <a:lstStyle/>
          <a:p>
            <a:pPr marL="0" indent="0">
              <a:buNone/>
            </a:pPr>
            <a:r>
              <a:rPr lang="en-US" sz="950" b="1" dirty="0">
                <a:solidFill>
                  <a:srgbClr val="6B7280"/>
                </a:solidFill>
                <a:latin typeface="Calibri" pitchFamily="34" charset="0"/>
                <a:ea typeface="Calibri" pitchFamily="34" charset="-122"/>
                <a:cs typeface="Calibri" pitchFamily="34" charset="-120"/>
              </a:rPr>
              <a:t>Artificial Intelligence</a:t>
            </a:r>
            <a:r>
              <a:rPr lang="en-US" sz="950" dirty="0">
                <a:solidFill>
                  <a:srgbClr val="6B7280"/>
                </a:solidFill>
                <a:latin typeface="Calibri" pitchFamily="34" charset="0"/>
                <a:ea typeface="Calibri" pitchFamily="34" charset="-122"/>
                <a:cs typeface="Calibri" pitchFamily="34" charset="-120"/>
              </a:rPr>
              <a:t>   ·   BS Computer Science   ·   Lecture 3</a:t>
            </a:r>
            <a:endParaRPr lang="en-US" sz="950" dirty="0"/>
          </a:p>
        </p:txBody>
      </p:sp>
      <p:sp>
        <p:nvSpPr>
          <p:cNvPr id="5" name="Text 3"/>
          <p:cNvSpPr txBox="1"/>
          <p:nvPr/>
        </p:nvSpPr>
        <p:spPr>
          <a:xfrm>
            <a:off x="8762695" y="6473952"/>
            <a:ext cx="292608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Dr. Ghulam Ali   ·   3</a:t>
            </a:r>
            <a:endParaRPr lang="en-US" sz="950" dirty="0"/>
          </a:p>
        </p:txBody>
      </p:sp>
      <p:sp>
        <p:nvSpPr>
          <p:cNvPr id="6" name="Text 4"/>
          <p:cNvSpPr txBox="1"/>
          <p:nvPr/>
        </p:nvSpPr>
        <p:spPr>
          <a:xfrm>
            <a:off x="502920" y="1417320"/>
            <a:ext cx="10972800" cy="320040"/>
          </a:xfrm>
          <a:prstGeom prst="rect">
            <a:avLst/>
          </a:prstGeom>
          <a:noFill/>
          <a:ln/>
        </p:spPr>
        <p:txBody>
          <a:bodyPr wrap="square" rtlCol="0" anchor="ctr"/>
          <a:lstStyle/>
          <a:p>
            <a:pPr marL="0" indent="0">
              <a:buNone/>
            </a:pPr>
            <a:r>
              <a:rPr lang="en-US" sz="1300" i="1" dirty="0">
                <a:solidFill>
                  <a:srgbClr val="435273"/>
                </a:solidFill>
                <a:latin typeface="Calibri" pitchFamily="34" charset="0"/>
                <a:ea typeface="Calibri" pitchFamily="34" charset="-122"/>
                <a:cs typeface="Calibri" pitchFamily="34" charset="-120"/>
              </a:rPr>
              <a:t>By the end of this lecture, students should be able to:</a:t>
            </a:r>
            <a:endParaRPr lang="en-US" sz="1300" dirty="0"/>
          </a:p>
        </p:txBody>
      </p:sp>
      <p:sp>
        <p:nvSpPr>
          <p:cNvPr id="7" name="Shape 5"/>
          <p:cNvSpPr/>
          <p:nvPr/>
        </p:nvSpPr>
        <p:spPr>
          <a:xfrm>
            <a:off x="512064" y="1929384"/>
            <a:ext cx="420624" cy="420624"/>
          </a:xfrm>
          <a:prstGeom prst="ellipse">
            <a:avLst/>
          </a:prstGeom>
          <a:solidFill>
            <a:srgbClr val="C9A227"/>
          </a:solidFill>
          <a:ln/>
        </p:spPr>
      </p:sp>
      <p:sp>
        <p:nvSpPr>
          <p:cNvPr id="8" name="Text 6"/>
          <p:cNvSpPr txBox="1"/>
          <p:nvPr/>
        </p:nvSpPr>
        <p:spPr>
          <a:xfrm>
            <a:off x="512064" y="1929384"/>
            <a:ext cx="420624" cy="420624"/>
          </a:xfrm>
          <a:prstGeom prst="rect">
            <a:avLst/>
          </a:prstGeom>
          <a:noFill/>
          <a:ln/>
        </p:spPr>
        <p:txBody>
          <a:bodyPr wrap="none" rtlCol="0" anchor="ctr"/>
          <a:lstStyle/>
          <a:p>
            <a:pPr marL="0" indent="0" algn="ctr">
              <a:buNone/>
            </a:pPr>
            <a:r>
              <a:rPr lang="en-US" sz="1500" b="1" dirty="0">
                <a:solidFill>
                  <a:srgbClr val="0A1226"/>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1069848" y="1892808"/>
            <a:ext cx="4873752" cy="694944"/>
          </a:xfrm>
          <a:prstGeom prst="rect">
            <a:avLst/>
          </a:prstGeom>
          <a:noFill/>
          <a:ln/>
        </p:spPr>
        <p:txBody>
          <a:bodyPr wrap="square" rtlCol="0" anchor="ctr"/>
          <a:lstStyle/>
          <a:p>
            <a:pPr marL="0" indent="0">
              <a:lnSpc>
                <a:spcPct val="110000"/>
              </a:lnSpc>
              <a:buNone/>
            </a:pPr>
            <a:r>
              <a:rPr lang="en-US" sz="1300" dirty="0">
                <a:solidFill>
                  <a:srgbClr val="1B2333"/>
                </a:solidFill>
                <a:latin typeface="Calibri" pitchFamily="34" charset="0"/>
                <a:ea typeface="Calibri" pitchFamily="34" charset="-122"/>
                <a:cs typeface="Calibri" pitchFamily="34" charset="-120"/>
              </a:rPr>
              <a:t>Formulate a real-world AI problem as a formal search problem</a:t>
            </a:r>
            <a:endParaRPr lang="en-US" sz="1300" dirty="0"/>
          </a:p>
        </p:txBody>
      </p:sp>
      <p:sp>
        <p:nvSpPr>
          <p:cNvPr id="10" name="Shape 8"/>
          <p:cNvSpPr/>
          <p:nvPr/>
        </p:nvSpPr>
        <p:spPr>
          <a:xfrm>
            <a:off x="512064" y="2715768"/>
            <a:ext cx="420624" cy="420624"/>
          </a:xfrm>
          <a:prstGeom prst="ellipse">
            <a:avLst/>
          </a:prstGeom>
          <a:solidFill>
            <a:srgbClr val="C9A227"/>
          </a:solidFill>
          <a:ln/>
        </p:spPr>
      </p:sp>
      <p:sp>
        <p:nvSpPr>
          <p:cNvPr id="11" name="Text 9"/>
          <p:cNvSpPr txBox="1"/>
          <p:nvPr/>
        </p:nvSpPr>
        <p:spPr>
          <a:xfrm>
            <a:off x="512064" y="2715768"/>
            <a:ext cx="420624" cy="420624"/>
          </a:xfrm>
          <a:prstGeom prst="rect">
            <a:avLst/>
          </a:prstGeom>
          <a:noFill/>
          <a:ln/>
        </p:spPr>
        <p:txBody>
          <a:bodyPr wrap="none" rtlCol="0" anchor="ctr"/>
          <a:lstStyle/>
          <a:p>
            <a:pPr marL="0" indent="0" algn="ctr">
              <a:buNone/>
            </a:pPr>
            <a:r>
              <a:rPr lang="en-US" sz="1500" b="1" dirty="0">
                <a:solidFill>
                  <a:srgbClr val="0A1226"/>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1069848" y="2679192"/>
            <a:ext cx="4873752" cy="694944"/>
          </a:xfrm>
          <a:prstGeom prst="rect">
            <a:avLst/>
          </a:prstGeom>
          <a:noFill/>
          <a:ln/>
        </p:spPr>
        <p:txBody>
          <a:bodyPr wrap="square" rtlCol="0" anchor="ctr"/>
          <a:lstStyle/>
          <a:p>
            <a:pPr marL="0" indent="0">
              <a:lnSpc>
                <a:spcPct val="110000"/>
              </a:lnSpc>
              <a:buNone/>
            </a:pPr>
            <a:r>
              <a:rPr lang="en-US" sz="1300" dirty="0">
                <a:solidFill>
                  <a:srgbClr val="1B2333"/>
                </a:solidFill>
                <a:latin typeface="Calibri" pitchFamily="34" charset="0"/>
                <a:ea typeface="Calibri" pitchFamily="34" charset="-122"/>
                <a:cs typeface="Calibri" pitchFamily="34" charset="-120"/>
              </a:rPr>
              <a:t>Identify a problem's initial state and goal test precisely</a:t>
            </a:r>
            <a:endParaRPr lang="en-US" sz="1300" dirty="0"/>
          </a:p>
        </p:txBody>
      </p:sp>
      <p:sp>
        <p:nvSpPr>
          <p:cNvPr id="13" name="Shape 11"/>
          <p:cNvSpPr/>
          <p:nvPr/>
        </p:nvSpPr>
        <p:spPr>
          <a:xfrm>
            <a:off x="512064" y="3502152"/>
            <a:ext cx="420624" cy="420624"/>
          </a:xfrm>
          <a:prstGeom prst="ellipse">
            <a:avLst/>
          </a:prstGeom>
          <a:solidFill>
            <a:srgbClr val="C9A227"/>
          </a:solidFill>
          <a:ln/>
        </p:spPr>
      </p:sp>
      <p:sp>
        <p:nvSpPr>
          <p:cNvPr id="14" name="Text 12"/>
          <p:cNvSpPr txBox="1"/>
          <p:nvPr/>
        </p:nvSpPr>
        <p:spPr>
          <a:xfrm>
            <a:off x="512064" y="3502152"/>
            <a:ext cx="420624" cy="420624"/>
          </a:xfrm>
          <a:prstGeom prst="rect">
            <a:avLst/>
          </a:prstGeom>
          <a:noFill/>
          <a:ln/>
        </p:spPr>
        <p:txBody>
          <a:bodyPr wrap="none" rtlCol="0" anchor="ctr"/>
          <a:lstStyle/>
          <a:p>
            <a:pPr marL="0" indent="0" algn="ctr">
              <a:buNone/>
            </a:pPr>
            <a:r>
              <a:rPr lang="en-US" sz="1500" b="1" dirty="0">
                <a:solidFill>
                  <a:srgbClr val="0A1226"/>
                </a:solidFill>
                <a:latin typeface="Calibri" pitchFamily="34" charset="0"/>
                <a:ea typeface="Calibri" pitchFamily="34" charset="-122"/>
                <a:cs typeface="Calibri" pitchFamily="34" charset="-120"/>
              </a:rPr>
              <a:t>3</a:t>
            </a:r>
            <a:endParaRPr lang="en-US" sz="1500" dirty="0"/>
          </a:p>
        </p:txBody>
      </p:sp>
      <p:sp>
        <p:nvSpPr>
          <p:cNvPr id="15" name="Text 13"/>
          <p:cNvSpPr txBox="1"/>
          <p:nvPr/>
        </p:nvSpPr>
        <p:spPr>
          <a:xfrm>
            <a:off x="1069848" y="3465576"/>
            <a:ext cx="4873752" cy="694944"/>
          </a:xfrm>
          <a:prstGeom prst="rect">
            <a:avLst/>
          </a:prstGeom>
          <a:noFill/>
          <a:ln/>
        </p:spPr>
        <p:txBody>
          <a:bodyPr wrap="square" rtlCol="0" anchor="ctr"/>
          <a:lstStyle/>
          <a:p>
            <a:pPr marL="0" indent="0">
              <a:lnSpc>
                <a:spcPct val="110000"/>
              </a:lnSpc>
              <a:buNone/>
            </a:pPr>
            <a:r>
              <a:rPr lang="en-US" sz="1300" dirty="0">
                <a:solidFill>
                  <a:srgbClr val="1B2333"/>
                </a:solidFill>
                <a:latin typeface="Calibri" pitchFamily="34" charset="0"/>
                <a:ea typeface="Calibri" pitchFamily="34" charset="-122"/>
                <a:cs typeface="Calibri" pitchFamily="34" charset="-120"/>
              </a:rPr>
              <a:t>Define the actions available in a state and its transition model</a:t>
            </a:r>
            <a:endParaRPr lang="en-US" sz="1300" dirty="0"/>
          </a:p>
        </p:txBody>
      </p:sp>
      <p:sp>
        <p:nvSpPr>
          <p:cNvPr id="16" name="Shape 14"/>
          <p:cNvSpPr/>
          <p:nvPr/>
        </p:nvSpPr>
        <p:spPr>
          <a:xfrm>
            <a:off x="512064" y="4288536"/>
            <a:ext cx="420624" cy="420624"/>
          </a:xfrm>
          <a:prstGeom prst="ellipse">
            <a:avLst/>
          </a:prstGeom>
          <a:solidFill>
            <a:srgbClr val="C9A227"/>
          </a:solidFill>
          <a:ln/>
        </p:spPr>
      </p:sp>
      <p:sp>
        <p:nvSpPr>
          <p:cNvPr id="17" name="Text 15"/>
          <p:cNvSpPr txBox="1"/>
          <p:nvPr/>
        </p:nvSpPr>
        <p:spPr>
          <a:xfrm>
            <a:off x="512064" y="4288536"/>
            <a:ext cx="420624" cy="420624"/>
          </a:xfrm>
          <a:prstGeom prst="rect">
            <a:avLst/>
          </a:prstGeom>
          <a:noFill/>
          <a:ln/>
        </p:spPr>
        <p:txBody>
          <a:bodyPr wrap="none" rtlCol="0" anchor="ctr"/>
          <a:lstStyle/>
          <a:p>
            <a:pPr marL="0" indent="0" algn="ctr">
              <a:buNone/>
            </a:pPr>
            <a:r>
              <a:rPr lang="en-US" sz="1500" b="1" dirty="0">
                <a:solidFill>
                  <a:srgbClr val="0A1226"/>
                </a:solidFill>
                <a:latin typeface="Calibri" pitchFamily="34" charset="0"/>
                <a:ea typeface="Calibri" pitchFamily="34" charset="-122"/>
                <a:cs typeface="Calibri" pitchFamily="34" charset="-120"/>
              </a:rPr>
              <a:t>4</a:t>
            </a:r>
            <a:endParaRPr lang="en-US" sz="1500" dirty="0"/>
          </a:p>
        </p:txBody>
      </p:sp>
      <p:sp>
        <p:nvSpPr>
          <p:cNvPr id="18" name="Text 16"/>
          <p:cNvSpPr txBox="1"/>
          <p:nvPr/>
        </p:nvSpPr>
        <p:spPr>
          <a:xfrm>
            <a:off x="1069848" y="4251960"/>
            <a:ext cx="4873752" cy="694944"/>
          </a:xfrm>
          <a:prstGeom prst="rect">
            <a:avLst/>
          </a:prstGeom>
          <a:noFill/>
          <a:ln/>
        </p:spPr>
        <p:txBody>
          <a:bodyPr wrap="square" rtlCol="0" anchor="ctr"/>
          <a:lstStyle/>
          <a:p>
            <a:pPr marL="0" indent="0">
              <a:lnSpc>
                <a:spcPct val="110000"/>
              </a:lnSpc>
              <a:buNone/>
            </a:pPr>
            <a:r>
              <a:rPr lang="en-US" sz="1300" dirty="0">
                <a:solidFill>
                  <a:srgbClr val="1B2333"/>
                </a:solidFill>
                <a:latin typeface="Calibri" pitchFamily="34" charset="0"/>
                <a:ea typeface="Calibri" pitchFamily="34" charset="-122"/>
                <a:cs typeface="Calibri" pitchFamily="34" charset="-120"/>
              </a:rPr>
              <a:t>Represent a problem's state space and reason about its structure</a:t>
            </a:r>
            <a:endParaRPr lang="en-US" sz="1300" dirty="0"/>
          </a:p>
        </p:txBody>
      </p:sp>
      <p:sp>
        <p:nvSpPr>
          <p:cNvPr id="19" name="Shape 17"/>
          <p:cNvSpPr/>
          <p:nvPr/>
        </p:nvSpPr>
        <p:spPr>
          <a:xfrm>
            <a:off x="512064" y="5074920"/>
            <a:ext cx="420624" cy="420624"/>
          </a:xfrm>
          <a:prstGeom prst="ellipse">
            <a:avLst/>
          </a:prstGeom>
          <a:solidFill>
            <a:srgbClr val="C9A227"/>
          </a:solidFill>
          <a:ln/>
        </p:spPr>
      </p:sp>
      <p:sp>
        <p:nvSpPr>
          <p:cNvPr id="20" name="Text 18"/>
          <p:cNvSpPr txBox="1"/>
          <p:nvPr/>
        </p:nvSpPr>
        <p:spPr>
          <a:xfrm>
            <a:off x="512064" y="5074920"/>
            <a:ext cx="420624" cy="420624"/>
          </a:xfrm>
          <a:prstGeom prst="rect">
            <a:avLst/>
          </a:prstGeom>
          <a:noFill/>
          <a:ln/>
        </p:spPr>
        <p:txBody>
          <a:bodyPr wrap="none" rtlCol="0" anchor="ctr"/>
          <a:lstStyle/>
          <a:p>
            <a:pPr marL="0" indent="0" algn="ctr">
              <a:buNone/>
            </a:pPr>
            <a:r>
              <a:rPr lang="en-US" sz="1500" b="1" dirty="0">
                <a:solidFill>
                  <a:srgbClr val="0A1226"/>
                </a:solidFill>
                <a:latin typeface="Calibri" pitchFamily="34" charset="0"/>
                <a:ea typeface="Calibri" pitchFamily="34" charset="-122"/>
                <a:cs typeface="Calibri" pitchFamily="34" charset="-120"/>
              </a:rPr>
              <a:t>5</a:t>
            </a:r>
            <a:endParaRPr lang="en-US" sz="1500" dirty="0"/>
          </a:p>
        </p:txBody>
      </p:sp>
      <p:sp>
        <p:nvSpPr>
          <p:cNvPr id="21" name="Text 19"/>
          <p:cNvSpPr txBox="1"/>
          <p:nvPr/>
        </p:nvSpPr>
        <p:spPr>
          <a:xfrm>
            <a:off x="1069848" y="5038344"/>
            <a:ext cx="4873752" cy="694944"/>
          </a:xfrm>
          <a:prstGeom prst="rect">
            <a:avLst/>
          </a:prstGeom>
          <a:noFill/>
          <a:ln/>
        </p:spPr>
        <p:txBody>
          <a:bodyPr wrap="square" rtlCol="0" anchor="ctr"/>
          <a:lstStyle/>
          <a:p>
            <a:pPr marL="0" indent="0">
              <a:lnSpc>
                <a:spcPct val="110000"/>
              </a:lnSpc>
              <a:buNone/>
            </a:pPr>
            <a:r>
              <a:rPr lang="en-US" sz="1300" dirty="0">
                <a:solidFill>
                  <a:srgbClr val="1B2333"/>
                </a:solidFill>
                <a:latin typeface="Calibri" pitchFamily="34" charset="0"/>
                <a:ea typeface="Calibri" pitchFamily="34" charset="-122"/>
                <a:cs typeface="Calibri" pitchFamily="34" charset="-120"/>
              </a:rPr>
              <a:t>Distinguish a state, a search node, a search tree, and a state-space graph</a:t>
            </a:r>
            <a:endParaRPr lang="en-US" sz="1300" dirty="0"/>
          </a:p>
        </p:txBody>
      </p:sp>
      <p:sp>
        <p:nvSpPr>
          <p:cNvPr id="22" name="Shape 20"/>
          <p:cNvSpPr/>
          <p:nvPr/>
        </p:nvSpPr>
        <p:spPr>
          <a:xfrm>
            <a:off x="512064" y="5861304"/>
            <a:ext cx="420624" cy="420624"/>
          </a:xfrm>
          <a:prstGeom prst="ellipse">
            <a:avLst/>
          </a:prstGeom>
          <a:solidFill>
            <a:srgbClr val="C9A227"/>
          </a:solidFill>
          <a:ln/>
        </p:spPr>
      </p:sp>
      <p:sp>
        <p:nvSpPr>
          <p:cNvPr id="23" name="Text 21"/>
          <p:cNvSpPr txBox="1"/>
          <p:nvPr/>
        </p:nvSpPr>
        <p:spPr>
          <a:xfrm>
            <a:off x="512064" y="5861304"/>
            <a:ext cx="420624" cy="420624"/>
          </a:xfrm>
          <a:prstGeom prst="rect">
            <a:avLst/>
          </a:prstGeom>
          <a:noFill/>
          <a:ln/>
        </p:spPr>
        <p:txBody>
          <a:bodyPr wrap="none" rtlCol="0" anchor="ctr"/>
          <a:lstStyle/>
          <a:p>
            <a:pPr marL="0" indent="0" algn="ctr">
              <a:buNone/>
            </a:pPr>
            <a:r>
              <a:rPr lang="en-US" sz="1500" b="1" dirty="0">
                <a:solidFill>
                  <a:srgbClr val="0A1226"/>
                </a:solidFill>
                <a:latin typeface="Calibri" pitchFamily="34" charset="0"/>
                <a:ea typeface="Calibri" pitchFamily="34" charset="-122"/>
                <a:cs typeface="Calibri" pitchFamily="34" charset="-120"/>
              </a:rPr>
              <a:t>6</a:t>
            </a:r>
            <a:endParaRPr lang="en-US" sz="1500" dirty="0"/>
          </a:p>
        </p:txBody>
      </p:sp>
      <p:sp>
        <p:nvSpPr>
          <p:cNvPr id="24" name="Text 22"/>
          <p:cNvSpPr txBox="1"/>
          <p:nvPr/>
        </p:nvSpPr>
        <p:spPr>
          <a:xfrm>
            <a:off x="1069848" y="5824728"/>
            <a:ext cx="4873752" cy="694944"/>
          </a:xfrm>
          <a:prstGeom prst="rect">
            <a:avLst/>
          </a:prstGeom>
          <a:noFill/>
          <a:ln/>
        </p:spPr>
        <p:txBody>
          <a:bodyPr wrap="square" rtlCol="0" anchor="ctr"/>
          <a:lstStyle/>
          <a:p>
            <a:pPr marL="0" indent="0">
              <a:lnSpc>
                <a:spcPct val="110000"/>
              </a:lnSpc>
              <a:buNone/>
            </a:pPr>
            <a:r>
              <a:rPr lang="en-US" sz="1300" dirty="0">
                <a:solidFill>
                  <a:srgbClr val="1B2333"/>
                </a:solidFill>
                <a:latin typeface="Calibri" pitchFamily="34" charset="0"/>
                <a:ea typeface="Calibri" pitchFamily="34" charset="-122"/>
                <a:cs typeface="Calibri" pitchFamily="34" charset="-120"/>
              </a:rPr>
              <a:t>Explain what makes a search strategy uninformed rather than informed</a:t>
            </a:r>
            <a:endParaRPr lang="en-US" sz="1300" dirty="0"/>
          </a:p>
        </p:txBody>
      </p:sp>
      <p:sp>
        <p:nvSpPr>
          <p:cNvPr id="25" name="Shape 23"/>
          <p:cNvSpPr/>
          <p:nvPr/>
        </p:nvSpPr>
        <p:spPr>
          <a:xfrm>
            <a:off x="6409944" y="1929384"/>
            <a:ext cx="420624" cy="420624"/>
          </a:xfrm>
          <a:prstGeom prst="ellipse">
            <a:avLst/>
          </a:prstGeom>
          <a:solidFill>
            <a:srgbClr val="C9A227"/>
          </a:solidFill>
          <a:ln/>
        </p:spPr>
      </p:sp>
      <p:sp>
        <p:nvSpPr>
          <p:cNvPr id="26" name="Text 24"/>
          <p:cNvSpPr txBox="1"/>
          <p:nvPr/>
        </p:nvSpPr>
        <p:spPr>
          <a:xfrm>
            <a:off x="6409944" y="1929384"/>
            <a:ext cx="420624" cy="420624"/>
          </a:xfrm>
          <a:prstGeom prst="rect">
            <a:avLst/>
          </a:prstGeom>
          <a:noFill/>
          <a:ln/>
        </p:spPr>
        <p:txBody>
          <a:bodyPr wrap="none" rtlCol="0" anchor="ctr"/>
          <a:lstStyle/>
          <a:p>
            <a:pPr marL="0" indent="0" algn="ctr">
              <a:buNone/>
            </a:pPr>
            <a:r>
              <a:rPr lang="en-US" sz="1500" b="1" dirty="0">
                <a:solidFill>
                  <a:srgbClr val="0A1226"/>
                </a:solidFill>
                <a:latin typeface="Calibri" pitchFamily="34" charset="0"/>
                <a:ea typeface="Calibri" pitchFamily="34" charset="-122"/>
                <a:cs typeface="Calibri" pitchFamily="34" charset="-120"/>
              </a:rPr>
              <a:t>7</a:t>
            </a:r>
            <a:endParaRPr lang="en-US" sz="1500" dirty="0"/>
          </a:p>
        </p:txBody>
      </p:sp>
      <p:sp>
        <p:nvSpPr>
          <p:cNvPr id="27" name="Text 25"/>
          <p:cNvSpPr txBox="1"/>
          <p:nvPr/>
        </p:nvSpPr>
        <p:spPr>
          <a:xfrm>
            <a:off x="6967728" y="1892808"/>
            <a:ext cx="4873752" cy="694944"/>
          </a:xfrm>
          <a:prstGeom prst="rect">
            <a:avLst/>
          </a:prstGeom>
          <a:noFill/>
          <a:ln/>
        </p:spPr>
        <p:txBody>
          <a:bodyPr wrap="square" rtlCol="0" anchor="ctr"/>
          <a:lstStyle/>
          <a:p>
            <a:pPr marL="0" indent="0">
              <a:lnSpc>
                <a:spcPct val="110000"/>
              </a:lnSpc>
              <a:buNone/>
            </a:pPr>
            <a:r>
              <a:rPr lang="en-US" sz="1300" dirty="0">
                <a:solidFill>
                  <a:srgbClr val="1B2333"/>
                </a:solidFill>
                <a:latin typeface="Calibri" pitchFamily="34" charset="0"/>
                <a:ea typeface="Calibri" pitchFamily="34" charset="-122"/>
                <a:cs typeface="Calibri" pitchFamily="34" charset="-120"/>
              </a:rPr>
              <a:t>Trace the execution of BFS, DFS, and UCS on a problem by hand</a:t>
            </a:r>
            <a:endParaRPr lang="en-US" sz="1300" dirty="0"/>
          </a:p>
        </p:txBody>
      </p:sp>
      <p:sp>
        <p:nvSpPr>
          <p:cNvPr id="28" name="Shape 26"/>
          <p:cNvSpPr/>
          <p:nvPr/>
        </p:nvSpPr>
        <p:spPr>
          <a:xfrm>
            <a:off x="6409944" y="2715768"/>
            <a:ext cx="420624" cy="420624"/>
          </a:xfrm>
          <a:prstGeom prst="ellipse">
            <a:avLst/>
          </a:prstGeom>
          <a:solidFill>
            <a:srgbClr val="C9A227"/>
          </a:solidFill>
          <a:ln/>
        </p:spPr>
      </p:sp>
      <p:sp>
        <p:nvSpPr>
          <p:cNvPr id="29" name="Text 27"/>
          <p:cNvSpPr txBox="1"/>
          <p:nvPr/>
        </p:nvSpPr>
        <p:spPr>
          <a:xfrm>
            <a:off x="6409944" y="2715768"/>
            <a:ext cx="420624" cy="420624"/>
          </a:xfrm>
          <a:prstGeom prst="rect">
            <a:avLst/>
          </a:prstGeom>
          <a:noFill/>
          <a:ln/>
        </p:spPr>
        <p:txBody>
          <a:bodyPr wrap="none" rtlCol="0" anchor="ctr"/>
          <a:lstStyle/>
          <a:p>
            <a:pPr marL="0" indent="0" algn="ctr">
              <a:buNone/>
            </a:pPr>
            <a:r>
              <a:rPr lang="en-US" sz="1500" b="1" dirty="0">
                <a:solidFill>
                  <a:srgbClr val="0A1226"/>
                </a:solidFill>
                <a:latin typeface="Calibri" pitchFamily="34" charset="0"/>
                <a:ea typeface="Calibri" pitchFamily="34" charset="-122"/>
                <a:cs typeface="Calibri" pitchFamily="34" charset="-120"/>
              </a:rPr>
              <a:t>8</a:t>
            </a:r>
            <a:endParaRPr lang="en-US" sz="1500" dirty="0"/>
          </a:p>
        </p:txBody>
      </p:sp>
      <p:sp>
        <p:nvSpPr>
          <p:cNvPr id="30" name="Text 28"/>
          <p:cNvSpPr txBox="1"/>
          <p:nvPr/>
        </p:nvSpPr>
        <p:spPr>
          <a:xfrm>
            <a:off x="6967728" y="2679192"/>
            <a:ext cx="4873752" cy="694944"/>
          </a:xfrm>
          <a:prstGeom prst="rect">
            <a:avLst/>
          </a:prstGeom>
          <a:noFill/>
          <a:ln/>
        </p:spPr>
        <p:txBody>
          <a:bodyPr wrap="square" rtlCol="0" anchor="ctr"/>
          <a:lstStyle/>
          <a:p>
            <a:pPr marL="0" indent="0">
              <a:lnSpc>
                <a:spcPct val="110000"/>
              </a:lnSpc>
              <a:buNone/>
            </a:pPr>
            <a:r>
              <a:rPr lang="en-US" sz="1300" dirty="0">
                <a:solidFill>
                  <a:srgbClr val="1B2333"/>
                </a:solidFill>
                <a:latin typeface="Calibri" pitchFamily="34" charset="0"/>
                <a:ea typeface="Calibri" pitchFamily="34" charset="-122"/>
                <a:cs typeface="Calibri" pitchFamily="34" charset="-120"/>
              </a:rPr>
              <a:t>Analyze whether a strategy is complete, and under which assumptions</a:t>
            </a:r>
            <a:endParaRPr lang="en-US" sz="1300" dirty="0"/>
          </a:p>
        </p:txBody>
      </p:sp>
      <p:sp>
        <p:nvSpPr>
          <p:cNvPr id="31" name="Shape 29"/>
          <p:cNvSpPr/>
          <p:nvPr/>
        </p:nvSpPr>
        <p:spPr>
          <a:xfrm>
            <a:off x="6409944" y="3502152"/>
            <a:ext cx="420624" cy="420624"/>
          </a:xfrm>
          <a:prstGeom prst="ellipse">
            <a:avLst/>
          </a:prstGeom>
          <a:solidFill>
            <a:srgbClr val="C9A227"/>
          </a:solidFill>
          <a:ln/>
        </p:spPr>
      </p:sp>
      <p:sp>
        <p:nvSpPr>
          <p:cNvPr id="32" name="Text 30"/>
          <p:cNvSpPr txBox="1"/>
          <p:nvPr/>
        </p:nvSpPr>
        <p:spPr>
          <a:xfrm>
            <a:off x="6409944" y="3502152"/>
            <a:ext cx="420624" cy="420624"/>
          </a:xfrm>
          <a:prstGeom prst="rect">
            <a:avLst/>
          </a:prstGeom>
          <a:noFill/>
          <a:ln/>
        </p:spPr>
        <p:txBody>
          <a:bodyPr wrap="none" rtlCol="0" anchor="ctr"/>
          <a:lstStyle/>
          <a:p>
            <a:pPr marL="0" indent="0" algn="ctr">
              <a:buNone/>
            </a:pPr>
            <a:r>
              <a:rPr lang="en-US" sz="1500" b="1" dirty="0">
                <a:solidFill>
                  <a:srgbClr val="0A1226"/>
                </a:solidFill>
                <a:latin typeface="Calibri" pitchFamily="34" charset="0"/>
                <a:ea typeface="Calibri" pitchFamily="34" charset="-122"/>
                <a:cs typeface="Calibri" pitchFamily="34" charset="-120"/>
              </a:rPr>
              <a:t>9</a:t>
            </a:r>
            <a:endParaRPr lang="en-US" sz="1500" dirty="0"/>
          </a:p>
        </p:txBody>
      </p:sp>
      <p:sp>
        <p:nvSpPr>
          <p:cNvPr id="33" name="Text 31"/>
          <p:cNvSpPr txBox="1"/>
          <p:nvPr/>
        </p:nvSpPr>
        <p:spPr>
          <a:xfrm>
            <a:off x="6967728" y="3465576"/>
            <a:ext cx="4873752" cy="694944"/>
          </a:xfrm>
          <a:prstGeom prst="rect">
            <a:avLst/>
          </a:prstGeom>
          <a:noFill/>
          <a:ln/>
        </p:spPr>
        <p:txBody>
          <a:bodyPr wrap="square" rtlCol="0" anchor="ctr"/>
          <a:lstStyle/>
          <a:p>
            <a:pPr marL="0" indent="0">
              <a:lnSpc>
                <a:spcPct val="110000"/>
              </a:lnSpc>
              <a:buNone/>
            </a:pPr>
            <a:r>
              <a:rPr lang="en-US" sz="1300" dirty="0">
                <a:solidFill>
                  <a:srgbClr val="1B2333"/>
                </a:solidFill>
                <a:latin typeface="Calibri" pitchFamily="34" charset="0"/>
                <a:ea typeface="Calibri" pitchFamily="34" charset="-122"/>
                <a:cs typeface="Calibri" pitchFamily="34" charset="-120"/>
              </a:rPr>
              <a:t>Analyze whether a strategy is optimal, and under which assumptions</a:t>
            </a:r>
            <a:endParaRPr lang="en-US" sz="1300" dirty="0"/>
          </a:p>
        </p:txBody>
      </p:sp>
      <p:sp>
        <p:nvSpPr>
          <p:cNvPr id="34" name="Shape 32"/>
          <p:cNvSpPr/>
          <p:nvPr/>
        </p:nvSpPr>
        <p:spPr>
          <a:xfrm>
            <a:off x="6409944" y="4288536"/>
            <a:ext cx="420624" cy="420624"/>
          </a:xfrm>
          <a:prstGeom prst="ellipse">
            <a:avLst/>
          </a:prstGeom>
          <a:solidFill>
            <a:srgbClr val="C9A227"/>
          </a:solidFill>
          <a:ln/>
        </p:spPr>
      </p:sp>
      <p:sp>
        <p:nvSpPr>
          <p:cNvPr id="35" name="Text 33"/>
          <p:cNvSpPr txBox="1"/>
          <p:nvPr/>
        </p:nvSpPr>
        <p:spPr>
          <a:xfrm>
            <a:off x="6409944" y="4288536"/>
            <a:ext cx="420624" cy="420624"/>
          </a:xfrm>
          <a:prstGeom prst="rect">
            <a:avLst/>
          </a:prstGeom>
          <a:noFill/>
          <a:ln/>
        </p:spPr>
        <p:txBody>
          <a:bodyPr wrap="none" rtlCol="0" anchor="ctr"/>
          <a:lstStyle/>
          <a:p>
            <a:pPr marL="0" indent="0" algn="ctr">
              <a:buNone/>
            </a:pPr>
            <a:r>
              <a:rPr lang="en-US" sz="1500" b="1" dirty="0">
                <a:solidFill>
                  <a:srgbClr val="0A1226"/>
                </a:solidFill>
                <a:latin typeface="Calibri" pitchFamily="34" charset="0"/>
                <a:ea typeface="Calibri" pitchFamily="34" charset="-122"/>
                <a:cs typeface="Calibri" pitchFamily="34" charset="-120"/>
              </a:rPr>
              <a:t>10</a:t>
            </a:r>
            <a:endParaRPr lang="en-US" sz="1500" dirty="0"/>
          </a:p>
        </p:txBody>
      </p:sp>
      <p:sp>
        <p:nvSpPr>
          <p:cNvPr id="36" name="Text 34"/>
          <p:cNvSpPr txBox="1"/>
          <p:nvPr/>
        </p:nvSpPr>
        <p:spPr>
          <a:xfrm>
            <a:off x="6967728" y="4251960"/>
            <a:ext cx="4873752" cy="694944"/>
          </a:xfrm>
          <a:prstGeom prst="rect">
            <a:avLst/>
          </a:prstGeom>
          <a:noFill/>
          <a:ln/>
        </p:spPr>
        <p:txBody>
          <a:bodyPr wrap="square" rtlCol="0" anchor="ctr"/>
          <a:lstStyle/>
          <a:p>
            <a:pPr marL="0" indent="0">
              <a:lnSpc>
                <a:spcPct val="110000"/>
              </a:lnSpc>
              <a:buNone/>
            </a:pPr>
            <a:r>
              <a:rPr lang="en-US" sz="1300" dirty="0">
                <a:solidFill>
                  <a:srgbClr val="1B2333"/>
                </a:solidFill>
                <a:latin typeface="Calibri" pitchFamily="34" charset="0"/>
                <a:ea typeface="Calibri" pitchFamily="34" charset="-122"/>
                <a:cs typeface="Calibri" pitchFamily="34" charset="-120"/>
              </a:rPr>
              <a:t>Compare the time and memory requirements of BFS, DFS, and UCS</a:t>
            </a:r>
            <a:endParaRPr lang="en-US" sz="1300" dirty="0"/>
          </a:p>
        </p:txBody>
      </p:sp>
      <p:sp>
        <p:nvSpPr>
          <p:cNvPr id="37" name="Shape 35"/>
          <p:cNvSpPr/>
          <p:nvPr/>
        </p:nvSpPr>
        <p:spPr>
          <a:xfrm>
            <a:off x="6409944" y="5074920"/>
            <a:ext cx="420624" cy="420624"/>
          </a:xfrm>
          <a:prstGeom prst="ellipse">
            <a:avLst/>
          </a:prstGeom>
          <a:solidFill>
            <a:srgbClr val="C9A227"/>
          </a:solidFill>
          <a:ln/>
        </p:spPr>
      </p:sp>
      <p:sp>
        <p:nvSpPr>
          <p:cNvPr id="38" name="Text 36"/>
          <p:cNvSpPr txBox="1"/>
          <p:nvPr/>
        </p:nvSpPr>
        <p:spPr>
          <a:xfrm>
            <a:off x="6409944" y="5074920"/>
            <a:ext cx="420624" cy="420624"/>
          </a:xfrm>
          <a:prstGeom prst="rect">
            <a:avLst/>
          </a:prstGeom>
          <a:noFill/>
          <a:ln/>
        </p:spPr>
        <p:txBody>
          <a:bodyPr wrap="none" rtlCol="0" anchor="ctr"/>
          <a:lstStyle/>
          <a:p>
            <a:pPr marL="0" indent="0" algn="ctr">
              <a:buNone/>
            </a:pPr>
            <a:r>
              <a:rPr lang="en-US" sz="1500" b="1" dirty="0">
                <a:solidFill>
                  <a:srgbClr val="0A1226"/>
                </a:solidFill>
                <a:latin typeface="Calibri" pitchFamily="34" charset="0"/>
                <a:ea typeface="Calibri" pitchFamily="34" charset="-122"/>
                <a:cs typeface="Calibri" pitchFamily="34" charset="-120"/>
              </a:rPr>
              <a:t>11</a:t>
            </a:r>
            <a:endParaRPr lang="en-US" sz="1500" dirty="0"/>
          </a:p>
        </p:txBody>
      </p:sp>
      <p:sp>
        <p:nvSpPr>
          <p:cNvPr id="39" name="Text 37"/>
          <p:cNvSpPr txBox="1"/>
          <p:nvPr/>
        </p:nvSpPr>
        <p:spPr>
          <a:xfrm>
            <a:off x="6967728" y="5038344"/>
            <a:ext cx="4873752" cy="694944"/>
          </a:xfrm>
          <a:prstGeom prst="rect">
            <a:avLst/>
          </a:prstGeom>
          <a:noFill/>
          <a:ln/>
        </p:spPr>
        <p:txBody>
          <a:bodyPr wrap="square" rtlCol="0" anchor="ctr"/>
          <a:lstStyle/>
          <a:p>
            <a:pPr marL="0" indent="0">
              <a:lnSpc>
                <a:spcPct val="110000"/>
              </a:lnSpc>
              <a:buNone/>
            </a:pPr>
            <a:r>
              <a:rPr lang="en-US" sz="1300" dirty="0">
                <a:solidFill>
                  <a:srgbClr val="1B2333"/>
                </a:solidFill>
                <a:latin typeface="Calibri" pitchFamily="34" charset="0"/>
                <a:ea typeface="Calibri" pitchFamily="34" charset="-122"/>
                <a:cs typeface="Calibri" pitchFamily="34" charset="-120"/>
              </a:rPr>
              <a:t>Select an appropriate uninformed strategy given a problem's constraints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92608"/>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PROBLEM FORMULATION</a:t>
            </a:r>
            <a:endParaRPr lang="en-US" sz="1200" dirty="0"/>
          </a:p>
        </p:txBody>
      </p:sp>
      <p:sp>
        <p:nvSpPr>
          <p:cNvPr id="3" name="Text 1"/>
          <p:cNvSpPr txBox="1"/>
          <p:nvPr/>
        </p:nvSpPr>
        <p:spPr>
          <a:xfrm>
            <a:off x="502920" y="621792"/>
            <a:ext cx="11155680" cy="658368"/>
          </a:xfrm>
          <a:prstGeom prst="rect">
            <a:avLst/>
          </a:prstGeom>
          <a:noFill/>
          <a:ln/>
        </p:spPr>
        <p:txBody>
          <a:bodyPr wrap="square" rtlCol="0" anchor="ctr"/>
          <a:lstStyle/>
          <a:p>
            <a:pPr marL="0" indent="0">
              <a:buNone/>
            </a:pPr>
            <a:r>
              <a:rPr lang="en-US" sz="2900" b="1" dirty="0">
                <a:solidFill>
                  <a:srgbClr val="14213D"/>
                </a:solidFill>
                <a:latin typeface="Cambria" pitchFamily="34" charset="0"/>
                <a:ea typeface="Cambria" pitchFamily="34" charset="-122"/>
                <a:cs typeface="Cambria" pitchFamily="34" charset="-120"/>
              </a:rPr>
              <a:t>From Real-World Problem to AI Search Problem</a:t>
            </a:r>
            <a:endParaRPr lang="en-US" sz="2900" dirty="0"/>
          </a:p>
        </p:txBody>
      </p:sp>
      <p:sp>
        <p:nvSpPr>
          <p:cNvPr id="4" name="Text 2"/>
          <p:cNvSpPr txBox="1"/>
          <p:nvPr/>
        </p:nvSpPr>
        <p:spPr>
          <a:xfrm>
            <a:off x="502920" y="6473952"/>
            <a:ext cx="7315200" cy="274320"/>
          </a:xfrm>
          <a:prstGeom prst="rect">
            <a:avLst/>
          </a:prstGeom>
          <a:noFill/>
          <a:ln/>
        </p:spPr>
        <p:txBody>
          <a:bodyPr wrap="square" rtlCol="0" anchor="ctr"/>
          <a:lstStyle/>
          <a:p>
            <a:pPr marL="0" indent="0">
              <a:buNone/>
            </a:pPr>
            <a:r>
              <a:rPr lang="en-US" sz="950" b="1" dirty="0">
                <a:solidFill>
                  <a:srgbClr val="6B7280"/>
                </a:solidFill>
                <a:latin typeface="Calibri" pitchFamily="34" charset="0"/>
                <a:ea typeface="Calibri" pitchFamily="34" charset="-122"/>
                <a:cs typeface="Calibri" pitchFamily="34" charset="-120"/>
              </a:rPr>
              <a:t>Artificial Intelligence</a:t>
            </a:r>
            <a:r>
              <a:rPr lang="en-US" sz="950" dirty="0">
                <a:solidFill>
                  <a:srgbClr val="6B7280"/>
                </a:solidFill>
                <a:latin typeface="Calibri" pitchFamily="34" charset="0"/>
                <a:ea typeface="Calibri" pitchFamily="34" charset="-122"/>
                <a:cs typeface="Calibri" pitchFamily="34" charset="-120"/>
              </a:rPr>
              <a:t>   ·   BS Computer Science   ·   Lecture 3</a:t>
            </a:r>
            <a:endParaRPr lang="en-US" sz="950" dirty="0"/>
          </a:p>
        </p:txBody>
      </p:sp>
      <p:sp>
        <p:nvSpPr>
          <p:cNvPr id="5" name="Text 3"/>
          <p:cNvSpPr txBox="1"/>
          <p:nvPr/>
        </p:nvSpPr>
        <p:spPr>
          <a:xfrm>
            <a:off x="8762695" y="6473952"/>
            <a:ext cx="292608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Dr. Ghulam Ali   ·   4</a:t>
            </a:r>
            <a:endParaRPr lang="en-US" sz="950" dirty="0"/>
          </a:p>
        </p:txBody>
      </p:sp>
      <p:sp>
        <p:nvSpPr>
          <p:cNvPr id="6" name="Text 4"/>
          <p:cNvSpPr txBox="1"/>
          <p:nvPr/>
        </p:nvSpPr>
        <p:spPr>
          <a:xfrm>
            <a:off x="502920" y="1417320"/>
            <a:ext cx="6035040" cy="1920240"/>
          </a:xfrm>
          <a:prstGeom prst="rect">
            <a:avLst/>
          </a:prstGeom>
          <a:noFill/>
          <a:ln/>
        </p:spPr>
        <p:txBody>
          <a:bodyPr wrap="square" rtlCol="0" anchor="t"/>
          <a:lstStyle/>
          <a:p>
            <a:pPr marL="0" indent="0">
              <a:lnSpc>
                <a:spcPct val="126000"/>
              </a:lnSpc>
              <a:buNone/>
            </a:pPr>
            <a:r>
              <a:rPr lang="en-US" sz="1250" dirty="0">
                <a:solidFill>
                  <a:srgbClr val="1B2333"/>
                </a:solidFill>
                <a:latin typeface="Calibri" pitchFamily="34" charset="0"/>
                <a:ea typeface="Calibri" pitchFamily="34" charset="-122"/>
                <a:cs typeface="Calibri" pitchFamily="34" charset="-120"/>
              </a:rPr>
              <a:t>A computer cannot search over a real-world situation directly — a city, a warehouse floor, or a puzzle box is not something an algorithm can manipulate. Before any searching happens, the AI system must abstract the situation into a formal representation: a precise description of the states the world can be in, the actions available, and what counts as success. This step is called problem formulation, and the quality of the abstraction directly determines whether search will succeed, and how efficiently.</a:t>
            </a:r>
            <a:endParaRPr lang="en-US" sz="1250" dirty="0"/>
          </a:p>
        </p:txBody>
      </p:sp>
      <p:sp>
        <p:nvSpPr>
          <p:cNvPr id="7" name="Shape 5"/>
          <p:cNvSpPr/>
          <p:nvPr/>
        </p:nvSpPr>
        <p:spPr>
          <a:xfrm>
            <a:off x="502920" y="3520440"/>
            <a:ext cx="6035040" cy="1371600"/>
          </a:xfrm>
          <a:prstGeom prst="roundRect">
            <a:avLst>
              <a:gd name="adj" fmla="val 5333"/>
            </a:avLst>
          </a:prstGeom>
          <a:solidFill>
            <a:srgbClr val="EAEFF8"/>
          </a:solidFill>
          <a:ln/>
        </p:spPr>
      </p:sp>
      <p:sp>
        <p:nvSpPr>
          <p:cNvPr id="8" name="Shape 6"/>
          <p:cNvSpPr/>
          <p:nvPr/>
        </p:nvSpPr>
        <p:spPr>
          <a:xfrm>
            <a:off x="704088" y="3721608"/>
            <a:ext cx="512064" cy="512064"/>
          </a:xfrm>
          <a:prstGeom prst="ellipse">
            <a:avLst/>
          </a:prstGeom>
          <a:solidFill>
            <a:srgbClr val="C9A227"/>
          </a:solidFill>
          <a:ln/>
        </p:spPr>
      </p:sp>
      <p:sp>
        <p:nvSpPr>
          <p:cNvPr id="9" name="Text 7"/>
          <p:cNvSpPr txBox="1"/>
          <p:nvPr/>
        </p:nvSpPr>
        <p:spPr>
          <a:xfrm>
            <a:off x="704088" y="3721608"/>
            <a:ext cx="512064" cy="512064"/>
          </a:xfrm>
          <a:prstGeom prst="rect">
            <a:avLst/>
          </a:prstGeom>
          <a:noFill/>
          <a:ln/>
        </p:spPr>
        <p:txBody>
          <a:bodyPr wrap="none" rtlCol="0" anchor="ctr"/>
          <a:lstStyle/>
          <a:p>
            <a:pPr marL="0" indent="0" algn="ctr">
              <a:buNone/>
            </a:pPr>
            <a:r>
              <a:rPr lang="en-US" sz="950" b="1" dirty="0">
                <a:solidFill>
                  <a:srgbClr val="0A1226"/>
                </a:solidFill>
                <a:latin typeface="Calibri" pitchFamily="34" charset="0"/>
                <a:ea typeface="Calibri" pitchFamily="34" charset="-122"/>
                <a:cs typeface="Calibri" pitchFamily="34" charset="-120"/>
              </a:rPr>
              <a:t>e.g.</a:t>
            </a:r>
            <a:endParaRPr lang="en-US" sz="950" dirty="0"/>
          </a:p>
        </p:txBody>
      </p:sp>
      <p:sp>
        <p:nvSpPr>
          <p:cNvPr id="10" name="Text 8"/>
          <p:cNvSpPr txBox="1"/>
          <p:nvPr/>
        </p:nvSpPr>
        <p:spPr>
          <a:xfrm>
            <a:off x="1371600" y="3685032"/>
            <a:ext cx="4965192" cy="310896"/>
          </a:xfrm>
          <a:prstGeom prst="rect">
            <a:avLst/>
          </a:prstGeom>
          <a:noFill/>
          <a:ln/>
        </p:spPr>
        <p:txBody>
          <a:bodyPr wrap="square" rtlCol="0" anchor="ctr"/>
          <a:lstStyle/>
          <a:p>
            <a:pPr marL="0" indent="0">
              <a:buNone/>
            </a:pPr>
            <a:r>
              <a:rPr lang="en-US" sz="1400" b="1" dirty="0">
                <a:solidFill>
                  <a:srgbClr val="14213D"/>
                </a:solidFill>
                <a:latin typeface="Calibri" pitchFamily="34" charset="0"/>
                <a:ea typeface="Calibri" pitchFamily="34" charset="-122"/>
                <a:cs typeface="Calibri" pitchFamily="34" charset="-120"/>
              </a:rPr>
              <a:t>Running example for this section</a:t>
            </a:r>
            <a:endParaRPr lang="en-US" sz="1400" dirty="0"/>
          </a:p>
        </p:txBody>
      </p:sp>
      <p:sp>
        <p:nvSpPr>
          <p:cNvPr id="11" name="Text 9"/>
          <p:cNvSpPr txBox="1"/>
          <p:nvPr/>
        </p:nvSpPr>
        <p:spPr>
          <a:xfrm>
            <a:off x="1371600" y="4014216"/>
            <a:ext cx="4965192" cy="841248"/>
          </a:xfrm>
          <a:prstGeom prst="rect">
            <a:avLst/>
          </a:prstGeom>
          <a:noFill/>
          <a:ln/>
        </p:spPr>
        <p:txBody>
          <a:bodyPr wrap="square" rtlCol="0" anchor="t"/>
          <a:lstStyle/>
          <a:p>
            <a:pPr marL="0" indent="0">
              <a:lnSpc>
                <a:spcPct val="112000"/>
              </a:lnSpc>
              <a:buNone/>
            </a:pPr>
            <a:r>
              <a:rPr lang="en-US" sz="1200" dirty="0">
                <a:solidFill>
                  <a:srgbClr val="1B2333"/>
                </a:solidFill>
                <a:latin typeface="Calibri" pitchFamily="34" charset="0"/>
                <a:ea typeface="Calibri" pitchFamily="34" charset="-122"/>
                <a:cs typeface="Calibri" pitchFamily="34" charset="-120"/>
              </a:rPr>
              <a:t>"Find a route from City A to City G." We will formulate this single sentence as a complete formal search problem across the next several slides — states, actions, transitions, goal test, and cost.</a:t>
            </a:r>
            <a:endParaRPr lang="en-US" sz="1200" dirty="0"/>
          </a:p>
        </p:txBody>
      </p:sp>
      <p:sp>
        <p:nvSpPr>
          <p:cNvPr id="12" name="Text 10"/>
          <p:cNvSpPr txBox="1"/>
          <p:nvPr/>
        </p:nvSpPr>
        <p:spPr>
          <a:xfrm>
            <a:off x="502920" y="5074920"/>
            <a:ext cx="6035040" cy="1005840"/>
          </a:xfrm>
          <a:prstGeom prst="rect">
            <a:avLst/>
          </a:prstGeom>
          <a:noFill/>
          <a:ln/>
        </p:spPr>
        <p:txBody>
          <a:bodyPr wrap="square" rtlCol="0" anchor="ctr"/>
          <a:lstStyle/>
          <a:p>
            <a:pPr marL="0" indent="0">
              <a:lnSpc>
                <a:spcPct val="122000"/>
              </a:lnSpc>
              <a:buNone/>
            </a:pPr>
            <a:r>
              <a:rPr lang="en-US" sz="1150" i="1" dirty="0">
                <a:solidFill>
                  <a:srgbClr val="435273"/>
                </a:solidFill>
                <a:latin typeface="Calibri" pitchFamily="34" charset="0"/>
                <a:ea typeface="Calibri" pitchFamily="34" charset="-122"/>
                <a:cs typeface="Calibri" pitchFamily="34" charset="-120"/>
              </a:rPr>
              <a:t>Abstraction keeps only what is relevant to solving the problem — irrelevant details (road color, weather, driver's mood) are deliberately discarded so the state space stays searchable.</a:t>
            </a:r>
            <a:endParaRPr lang="en-US" sz="1150" dirty="0"/>
          </a:p>
        </p:txBody>
      </p:sp>
      <p:sp>
        <p:nvSpPr>
          <p:cNvPr id="13" name="Shape 11"/>
          <p:cNvSpPr/>
          <p:nvPr/>
        </p:nvSpPr>
        <p:spPr>
          <a:xfrm>
            <a:off x="7452360" y="1371600"/>
            <a:ext cx="3886200" cy="457200"/>
          </a:xfrm>
          <a:prstGeom prst="roundRect">
            <a:avLst>
              <a:gd name="adj" fmla="val 14000"/>
            </a:avLst>
          </a:prstGeom>
          <a:solidFill>
            <a:srgbClr val="435273"/>
          </a:solidFill>
          <a:ln/>
        </p:spPr>
      </p:sp>
      <p:sp>
        <p:nvSpPr>
          <p:cNvPr id="14" name="Text 12"/>
          <p:cNvSpPr txBox="1"/>
          <p:nvPr/>
        </p:nvSpPr>
        <p:spPr>
          <a:xfrm>
            <a:off x="7452360" y="1371600"/>
            <a:ext cx="3886200" cy="45720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Real-world problem</a:t>
            </a:r>
            <a:endParaRPr lang="en-US" sz="1350" dirty="0"/>
          </a:p>
        </p:txBody>
      </p:sp>
      <p:sp>
        <p:nvSpPr>
          <p:cNvPr id="15" name="Shape 13"/>
          <p:cNvSpPr/>
          <p:nvPr/>
        </p:nvSpPr>
        <p:spPr>
          <a:xfrm>
            <a:off x="9276588" y="1847088"/>
            <a:ext cx="237744" cy="132588"/>
          </a:xfrm>
          <a:prstGeom prst="downArrow">
            <a:avLst/>
          </a:prstGeom>
          <a:solidFill>
            <a:srgbClr val="C9A227"/>
          </a:solidFill>
          <a:ln/>
        </p:spPr>
      </p:sp>
      <p:sp>
        <p:nvSpPr>
          <p:cNvPr id="16" name="Shape 14"/>
          <p:cNvSpPr/>
          <p:nvPr/>
        </p:nvSpPr>
        <p:spPr>
          <a:xfrm>
            <a:off x="7452360" y="1997964"/>
            <a:ext cx="3886200" cy="457200"/>
          </a:xfrm>
          <a:prstGeom prst="roundRect">
            <a:avLst>
              <a:gd name="adj" fmla="val 14000"/>
            </a:avLst>
          </a:prstGeom>
          <a:solidFill>
            <a:srgbClr val="14213D"/>
          </a:solidFill>
          <a:ln/>
        </p:spPr>
      </p:sp>
      <p:sp>
        <p:nvSpPr>
          <p:cNvPr id="17" name="Text 15"/>
          <p:cNvSpPr txBox="1"/>
          <p:nvPr/>
        </p:nvSpPr>
        <p:spPr>
          <a:xfrm>
            <a:off x="7452360" y="1997964"/>
            <a:ext cx="3886200" cy="45720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States</a:t>
            </a:r>
            <a:endParaRPr lang="en-US" sz="1350" dirty="0"/>
          </a:p>
        </p:txBody>
      </p:sp>
      <p:sp>
        <p:nvSpPr>
          <p:cNvPr id="18" name="Shape 16"/>
          <p:cNvSpPr/>
          <p:nvPr/>
        </p:nvSpPr>
        <p:spPr>
          <a:xfrm>
            <a:off x="9276588" y="2473452"/>
            <a:ext cx="237744" cy="132588"/>
          </a:xfrm>
          <a:prstGeom prst="downArrow">
            <a:avLst/>
          </a:prstGeom>
          <a:solidFill>
            <a:srgbClr val="C9A227"/>
          </a:solidFill>
          <a:ln/>
        </p:spPr>
      </p:sp>
      <p:sp>
        <p:nvSpPr>
          <p:cNvPr id="19" name="Shape 17"/>
          <p:cNvSpPr/>
          <p:nvPr/>
        </p:nvSpPr>
        <p:spPr>
          <a:xfrm>
            <a:off x="7452360" y="2624328"/>
            <a:ext cx="3886200" cy="457200"/>
          </a:xfrm>
          <a:prstGeom prst="roundRect">
            <a:avLst>
              <a:gd name="adj" fmla="val 14000"/>
            </a:avLst>
          </a:prstGeom>
          <a:solidFill>
            <a:srgbClr val="14213D"/>
          </a:solidFill>
          <a:ln/>
        </p:spPr>
      </p:sp>
      <p:sp>
        <p:nvSpPr>
          <p:cNvPr id="20" name="Text 18"/>
          <p:cNvSpPr txBox="1"/>
          <p:nvPr/>
        </p:nvSpPr>
        <p:spPr>
          <a:xfrm>
            <a:off x="7452360" y="2624328"/>
            <a:ext cx="3886200" cy="45720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Actions</a:t>
            </a:r>
            <a:endParaRPr lang="en-US" sz="1350" dirty="0"/>
          </a:p>
        </p:txBody>
      </p:sp>
      <p:sp>
        <p:nvSpPr>
          <p:cNvPr id="21" name="Shape 19"/>
          <p:cNvSpPr/>
          <p:nvPr/>
        </p:nvSpPr>
        <p:spPr>
          <a:xfrm>
            <a:off x="9276588" y="3099816"/>
            <a:ext cx="237744" cy="132588"/>
          </a:xfrm>
          <a:prstGeom prst="downArrow">
            <a:avLst/>
          </a:prstGeom>
          <a:solidFill>
            <a:srgbClr val="C9A227"/>
          </a:solidFill>
          <a:ln/>
        </p:spPr>
      </p:sp>
      <p:sp>
        <p:nvSpPr>
          <p:cNvPr id="22" name="Shape 20"/>
          <p:cNvSpPr/>
          <p:nvPr/>
        </p:nvSpPr>
        <p:spPr>
          <a:xfrm>
            <a:off x="7452360" y="3250692"/>
            <a:ext cx="3886200" cy="457200"/>
          </a:xfrm>
          <a:prstGeom prst="roundRect">
            <a:avLst>
              <a:gd name="adj" fmla="val 14000"/>
            </a:avLst>
          </a:prstGeom>
          <a:solidFill>
            <a:srgbClr val="14213D"/>
          </a:solidFill>
          <a:ln/>
        </p:spPr>
      </p:sp>
      <p:sp>
        <p:nvSpPr>
          <p:cNvPr id="23" name="Text 21"/>
          <p:cNvSpPr txBox="1"/>
          <p:nvPr/>
        </p:nvSpPr>
        <p:spPr>
          <a:xfrm>
            <a:off x="7452360" y="3250692"/>
            <a:ext cx="3886200" cy="45720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Transitions</a:t>
            </a:r>
            <a:endParaRPr lang="en-US" sz="1350" dirty="0"/>
          </a:p>
        </p:txBody>
      </p:sp>
      <p:sp>
        <p:nvSpPr>
          <p:cNvPr id="24" name="Shape 22"/>
          <p:cNvSpPr/>
          <p:nvPr/>
        </p:nvSpPr>
        <p:spPr>
          <a:xfrm>
            <a:off x="9276588" y="3726180"/>
            <a:ext cx="237744" cy="132588"/>
          </a:xfrm>
          <a:prstGeom prst="downArrow">
            <a:avLst/>
          </a:prstGeom>
          <a:solidFill>
            <a:srgbClr val="C9A227"/>
          </a:solidFill>
          <a:ln/>
        </p:spPr>
      </p:sp>
      <p:sp>
        <p:nvSpPr>
          <p:cNvPr id="25" name="Shape 23"/>
          <p:cNvSpPr/>
          <p:nvPr/>
        </p:nvSpPr>
        <p:spPr>
          <a:xfrm>
            <a:off x="7452360" y="3877056"/>
            <a:ext cx="3886200" cy="457200"/>
          </a:xfrm>
          <a:prstGeom prst="roundRect">
            <a:avLst>
              <a:gd name="adj" fmla="val 14000"/>
            </a:avLst>
          </a:prstGeom>
          <a:solidFill>
            <a:srgbClr val="14213D"/>
          </a:solidFill>
          <a:ln/>
        </p:spPr>
      </p:sp>
      <p:sp>
        <p:nvSpPr>
          <p:cNvPr id="26" name="Text 24"/>
          <p:cNvSpPr txBox="1"/>
          <p:nvPr/>
        </p:nvSpPr>
        <p:spPr>
          <a:xfrm>
            <a:off x="7452360" y="3877056"/>
            <a:ext cx="3886200" cy="45720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Goal</a:t>
            </a:r>
            <a:endParaRPr lang="en-US" sz="1350" dirty="0"/>
          </a:p>
        </p:txBody>
      </p:sp>
      <p:sp>
        <p:nvSpPr>
          <p:cNvPr id="27" name="Shape 25"/>
          <p:cNvSpPr/>
          <p:nvPr/>
        </p:nvSpPr>
        <p:spPr>
          <a:xfrm>
            <a:off x="9276588" y="4352544"/>
            <a:ext cx="237744" cy="132588"/>
          </a:xfrm>
          <a:prstGeom prst="downArrow">
            <a:avLst/>
          </a:prstGeom>
          <a:solidFill>
            <a:srgbClr val="C9A227"/>
          </a:solidFill>
          <a:ln/>
        </p:spPr>
      </p:sp>
      <p:sp>
        <p:nvSpPr>
          <p:cNvPr id="28" name="Shape 26"/>
          <p:cNvSpPr/>
          <p:nvPr/>
        </p:nvSpPr>
        <p:spPr>
          <a:xfrm>
            <a:off x="7452360" y="4503420"/>
            <a:ext cx="3886200" cy="457200"/>
          </a:xfrm>
          <a:prstGeom prst="roundRect">
            <a:avLst>
              <a:gd name="adj" fmla="val 14000"/>
            </a:avLst>
          </a:prstGeom>
          <a:solidFill>
            <a:srgbClr val="14213D"/>
          </a:solidFill>
          <a:ln/>
        </p:spPr>
      </p:sp>
      <p:sp>
        <p:nvSpPr>
          <p:cNvPr id="29" name="Text 27"/>
          <p:cNvSpPr txBox="1"/>
          <p:nvPr/>
        </p:nvSpPr>
        <p:spPr>
          <a:xfrm>
            <a:off x="7452360" y="4503420"/>
            <a:ext cx="3886200" cy="45720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Cost</a:t>
            </a:r>
            <a:endParaRPr lang="en-US" sz="1350" dirty="0"/>
          </a:p>
        </p:txBody>
      </p:sp>
      <p:sp>
        <p:nvSpPr>
          <p:cNvPr id="30" name="Shape 28"/>
          <p:cNvSpPr/>
          <p:nvPr/>
        </p:nvSpPr>
        <p:spPr>
          <a:xfrm>
            <a:off x="9276588" y="4978908"/>
            <a:ext cx="237744" cy="132588"/>
          </a:xfrm>
          <a:prstGeom prst="downArrow">
            <a:avLst/>
          </a:prstGeom>
          <a:solidFill>
            <a:srgbClr val="C9A227"/>
          </a:solidFill>
          <a:ln/>
        </p:spPr>
      </p:sp>
      <p:sp>
        <p:nvSpPr>
          <p:cNvPr id="31" name="Shape 29"/>
          <p:cNvSpPr/>
          <p:nvPr/>
        </p:nvSpPr>
        <p:spPr>
          <a:xfrm>
            <a:off x="7452360" y="5129784"/>
            <a:ext cx="3886200" cy="457200"/>
          </a:xfrm>
          <a:prstGeom prst="roundRect">
            <a:avLst>
              <a:gd name="adj" fmla="val 14000"/>
            </a:avLst>
          </a:prstGeom>
          <a:solidFill>
            <a:srgbClr val="C9A227"/>
          </a:solidFill>
          <a:ln/>
        </p:spPr>
      </p:sp>
      <p:sp>
        <p:nvSpPr>
          <p:cNvPr id="32" name="Text 30"/>
          <p:cNvSpPr txBox="1"/>
          <p:nvPr/>
        </p:nvSpPr>
        <p:spPr>
          <a:xfrm>
            <a:off x="7452360" y="5129784"/>
            <a:ext cx="3886200" cy="457200"/>
          </a:xfrm>
          <a:prstGeom prst="rect">
            <a:avLst/>
          </a:prstGeom>
          <a:noFill/>
          <a:ln/>
        </p:spPr>
        <p:txBody>
          <a:bodyPr wrap="square" rtlCol="0" anchor="ctr"/>
          <a:lstStyle/>
          <a:p>
            <a:pPr marL="0" indent="0" algn="ctr">
              <a:buNone/>
            </a:pPr>
            <a:r>
              <a:rPr lang="en-US" sz="1350" b="1" dirty="0">
                <a:solidFill>
                  <a:srgbClr val="0A1226"/>
                </a:solidFill>
                <a:latin typeface="Calibri" pitchFamily="34" charset="0"/>
                <a:ea typeface="Calibri" pitchFamily="34" charset="-122"/>
                <a:cs typeface="Calibri" pitchFamily="34" charset="-120"/>
              </a:rPr>
              <a:t>Search problem</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92608"/>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PROBLEM FORMULATION</a:t>
            </a:r>
            <a:endParaRPr lang="en-US" sz="1200" dirty="0"/>
          </a:p>
        </p:txBody>
      </p:sp>
      <p:sp>
        <p:nvSpPr>
          <p:cNvPr id="3" name="Text 1"/>
          <p:cNvSpPr txBox="1"/>
          <p:nvPr/>
        </p:nvSpPr>
        <p:spPr>
          <a:xfrm>
            <a:off x="502920" y="621792"/>
            <a:ext cx="11155680" cy="658368"/>
          </a:xfrm>
          <a:prstGeom prst="rect">
            <a:avLst/>
          </a:prstGeom>
          <a:noFill/>
          <a:ln/>
        </p:spPr>
        <p:txBody>
          <a:bodyPr wrap="square" rtlCol="0" anchor="ctr"/>
          <a:lstStyle/>
          <a:p>
            <a:pPr marL="0" indent="0">
              <a:buNone/>
            </a:pPr>
            <a:r>
              <a:rPr lang="en-US" sz="2900" b="1" dirty="0">
                <a:solidFill>
                  <a:srgbClr val="14213D"/>
                </a:solidFill>
                <a:latin typeface="Cambria" pitchFamily="34" charset="0"/>
                <a:ea typeface="Cambria" pitchFamily="34" charset="-122"/>
                <a:cs typeface="Cambria" pitchFamily="34" charset="-120"/>
              </a:rPr>
              <a:t>Formal Definition of a Search Problem</a:t>
            </a:r>
            <a:endParaRPr lang="en-US" sz="2900" dirty="0"/>
          </a:p>
        </p:txBody>
      </p:sp>
      <p:sp>
        <p:nvSpPr>
          <p:cNvPr id="4" name="Text 2"/>
          <p:cNvSpPr txBox="1"/>
          <p:nvPr/>
        </p:nvSpPr>
        <p:spPr>
          <a:xfrm>
            <a:off x="502920" y="6473952"/>
            <a:ext cx="7315200" cy="274320"/>
          </a:xfrm>
          <a:prstGeom prst="rect">
            <a:avLst/>
          </a:prstGeom>
          <a:noFill/>
          <a:ln/>
        </p:spPr>
        <p:txBody>
          <a:bodyPr wrap="square" rtlCol="0" anchor="ctr"/>
          <a:lstStyle/>
          <a:p>
            <a:pPr marL="0" indent="0">
              <a:buNone/>
            </a:pPr>
            <a:r>
              <a:rPr lang="en-US" sz="950" b="1" dirty="0">
                <a:solidFill>
                  <a:srgbClr val="6B7280"/>
                </a:solidFill>
                <a:latin typeface="Calibri" pitchFamily="34" charset="0"/>
                <a:ea typeface="Calibri" pitchFamily="34" charset="-122"/>
                <a:cs typeface="Calibri" pitchFamily="34" charset="-120"/>
              </a:rPr>
              <a:t>Artificial Intelligence</a:t>
            </a:r>
            <a:r>
              <a:rPr lang="en-US" sz="950" dirty="0">
                <a:solidFill>
                  <a:srgbClr val="6B7280"/>
                </a:solidFill>
                <a:latin typeface="Calibri" pitchFamily="34" charset="0"/>
                <a:ea typeface="Calibri" pitchFamily="34" charset="-122"/>
                <a:cs typeface="Calibri" pitchFamily="34" charset="-120"/>
              </a:rPr>
              <a:t>   ·   BS Computer Science   ·   Lecture 3</a:t>
            </a:r>
            <a:endParaRPr lang="en-US" sz="950" dirty="0"/>
          </a:p>
        </p:txBody>
      </p:sp>
      <p:sp>
        <p:nvSpPr>
          <p:cNvPr id="5" name="Text 3"/>
          <p:cNvSpPr txBox="1"/>
          <p:nvPr/>
        </p:nvSpPr>
        <p:spPr>
          <a:xfrm>
            <a:off x="8762695" y="6473952"/>
            <a:ext cx="292608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Dr. Ghulam Ali   ·   5</a:t>
            </a:r>
            <a:endParaRPr lang="en-US" sz="950" dirty="0"/>
          </a:p>
        </p:txBody>
      </p:sp>
      <p:sp>
        <p:nvSpPr>
          <p:cNvPr id="6" name="Shape 4"/>
          <p:cNvSpPr/>
          <p:nvPr/>
        </p:nvSpPr>
        <p:spPr>
          <a:xfrm>
            <a:off x="502920" y="1417320"/>
            <a:ext cx="11185855" cy="868680"/>
          </a:xfrm>
          <a:prstGeom prst="roundRect">
            <a:avLst>
              <a:gd name="adj" fmla="val 8421"/>
            </a:avLst>
          </a:prstGeom>
          <a:solidFill>
            <a:srgbClr val="14213D"/>
          </a:solidFill>
          <a:ln/>
        </p:spPr>
      </p:sp>
      <p:sp>
        <p:nvSpPr>
          <p:cNvPr id="7" name="Text 5"/>
          <p:cNvSpPr txBox="1"/>
          <p:nvPr/>
        </p:nvSpPr>
        <p:spPr>
          <a:xfrm>
            <a:off x="502920" y="1417320"/>
            <a:ext cx="11185855" cy="868680"/>
          </a:xfrm>
          <a:prstGeom prst="rect">
            <a:avLst/>
          </a:prstGeom>
          <a:noFill/>
          <a:ln/>
        </p:spPr>
        <p:txBody>
          <a:bodyPr wrap="square" rtlCol="0" anchor="ctr"/>
          <a:lstStyle/>
          <a:p>
            <a:pPr marL="0" indent="0" algn="ctr">
              <a:buNone/>
            </a:pPr>
            <a:r>
              <a:rPr lang="en-US" sz="2600" b="1" i="1" dirty="0">
                <a:solidFill>
                  <a:srgbClr val="FFFFFF"/>
                </a:solidFill>
                <a:latin typeface="Cambria Math" pitchFamily="34" charset="0"/>
                <a:ea typeface="Cambria Math" pitchFamily="34" charset="-122"/>
                <a:cs typeface="Cambria Math" pitchFamily="34" charset="-120"/>
              </a:rPr>
              <a:t>P  =  ( S ,  A ,  Result ,  s₀ ,  Goal ,  Cost )</a:t>
            </a:r>
            <a:endParaRPr lang="en-US" sz="2600" dirty="0"/>
          </a:p>
        </p:txBody>
      </p:sp>
      <p:sp>
        <p:nvSpPr>
          <p:cNvPr id="8" name="Text 6"/>
          <p:cNvSpPr txBox="1"/>
          <p:nvPr/>
        </p:nvSpPr>
        <p:spPr>
          <a:xfrm>
            <a:off x="502920" y="2404872"/>
            <a:ext cx="11185855" cy="365760"/>
          </a:xfrm>
          <a:prstGeom prst="rect">
            <a:avLst/>
          </a:prstGeom>
          <a:noFill/>
          <a:ln/>
        </p:spPr>
        <p:txBody>
          <a:bodyPr wrap="square" rtlCol="0" anchor="ctr"/>
          <a:lstStyle/>
          <a:p>
            <a:pPr marL="0" indent="0">
              <a:buNone/>
            </a:pPr>
            <a:r>
              <a:rPr lang="en-US" sz="1250" i="1" dirty="0">
                <a:solidFill>
                  <a:srgbClr val="435273"/>
                </a:solidFill>
                <a:latin typeface="Calibri" pitchFamily="34" charset="0"/>
                <a:ea typeface="Calibri" pitchFamily="34" charset="-122"/>
                <a:cs typeface="Calibri" pitchFamily="34" charset="-120"/>
              </a:rPr>
              <a:t>A search problem is formally defined as a 6-tuple. Every algorithm in this lecture is written purely in terms of these six components — nothing else is assumed.</a:t>
            </a:r>
            <a:endParaRPr lang="en-US" sz="12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2743200"/>
          <a:ext cx="11201400" cy="3200400"/>
        </p:xfrm>
        <a:graphic>
          <a:graphicData uri="http://schemas.openxmlformats.org/drawingml/2006/table">
            <a:tbl>
              <a:tblPr/>
              <a:tblGrid>
                <a:gridCol w="15544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7635240">
                  <a:extLst>
                    <a:ext uri="{9D8B030D-6E8A-4147-A177-3AD203B41FA5}">
                      <a16:colId xmlns:a16="http://schemas.microsoft.com/office/drawing/2014/main" val="20002"/>
                    </a:ext>
                  </a:extLst>
                </a:gridCol>
              </a:tblGrid>
              <a:tr h="457200">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Symbol</a:t>
                      </a:r>
                      <a:endParaRPr lang="en-US" sz="12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4213D"/>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Name</a:t>
                      </a:r>
                      <a:endParaRPr lang="en-US" sz="12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4213D"/>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Meaning</a:t>
                      </a:r>
                      <a:endParaRPr lang="en-US" sz="12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457200">
                <a:tc>
                  <a:txBody>
                    <a:bodyPr/>
                    <a:lstStyle/>
                    <a:p>
                      <a:pPr marL="0" indent="0" algn="l">
                        <a:buNone/>
                      </a:pPr>
                      <a:r>
                        <a:rPr lang="en-US" sz="1250" dirty="0">
                          <a:solidFill>
                            <a:srgbClr val="1B2333"/>
                          </a:solidFill>
                          <a:latin typeface="Calibri" pitchFamily="34" charset="0"/>
                          <a:ea typeface="Calibri" pitchFamily="34" charset="-122"/>
                          <a:cs typeface="Calibri" pitchFamily="34" charset="-120"/>
                        </a:rPr>
                        <a:t>S</a:t>
                      </a:r>
                      <a:endParaRPr lang="en-US" sz="12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333"/>
                          </a:solidFill>
                          <a:latin typeface="Calibri" pitchFamily="34" charset="0"/>
                          <a:ea typeface="Calibri" pitchFamily="34" charset="-122"/>
                          <a:cs typeface="Calibri" pitchFamily="34" charset="-120"/>
                        </a:rPr>
                        <a:t>State space</a:t>
                      </a:r>
                      <a:endParaRPr lang="en-US" sz="12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333"/>
                          </a:solidFill>
                          <a:latin typeface="Calibri" pitchFamily="34" charset="0"/>
                          <a:ea typeface="Calibri" pitchFamily="34" charset="-122"/>
                          <a:cs typeface="Calibri" pitchFamily="34" charset="-120"/>
                        </a:rPr>
                        <a:t>The set of all states the problem can possibly be in</a:t>
                      </a:r>
                      <a:endParaRPr lang="en-US" sz="12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250" dirty="0">
                          <a:solidFill>
                            <a:srgbClr val="1B2333"/>
                          </a:solidFill>
                          <a:latin typeface="Calibri" pitchFamily="34" charset="0"/>
                          <a:ea typeface="Calibri" pitchFamily="34" charset="-122"/>
                          <a:cs typeface="Calibri" pitchFamily="34" charset="-120"/>
                        </a:rPr>
                        <a:t>A(s)</a:t>
                      </a:r>
                      <a:endParaRPr lang="en-US" sz="12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250" dirty="0">
                          <a:solidFill>
                            <a:srgbClr val="1B2333"/>
                          </a:solidFill>
                          <a:latin typeface="Calibri" pitchFamily="34" charset="0"/>
                          <a:ea typeface="Calibri" pitchFamily="34" charset="-122"/>
                          <a:cs typeface="Calibri" pitchFamily="34" charset="-120"/>
                        </a:rPr>
                        <a:t>Actions</a:t>
                      </a:r>
                      <a:endParaRPr lang="en-US" sz="12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250" dirty="0">
                          <a:solidFill>
                            <a:srgbClr val="1B2333"/>
                          </a:solidFill>
                          <a:latin typeface="Calibri" pitchFamily="34" charset="0"/>
                          <a:ea typeface="Calibri" pitchFamily="34" charset="-122"/>
                          <a:cs typeface="Calibri" pitchFamily="34" charset="-120"/>
                        </a:rPr>
                        <a:t>The actions legally available to the agent while in state s</a:t>
                      </a:r>
                      <a:endParaRPr lang="en-US" sz="12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extLst>
                  <a:ext uri="{0D108BD9-81ED-4DB2-BD59-A6C34878D82A}">
                    <a16:rowId xmlns:a16="http://schemas.microsoft.com/office/drawing/2014/main" val="10002"/>
                  </a:ext>
                </a:extLst>
              </a:tr>
              <a:tr h="457200">
                <a:tc>
                  <a:txBody>
                    <a:bodyPr/>
                    <a:lstStyle/>
                    <a:p>
                      <a:pPr marL="0" indent="0" algn="l">
                        <a:buNone/>
                      </a:pPr>
                      <a:r>
                        <a:rPr lang="en-US" sz="1250" dirty="0">
                          <a:solidFill>
                            <a:srgbClr val="1B2333"/>
                          </a:solidFill>
                          <a:latin typeface="Calibri" pitchFamily="34" charset="0"/>
                          <a:ea typeface="Calibri" pitchFamily="34" charset="-122"/>
                          <a:cs typeface="Calibri" pitchFamily="34" charset="-120"/>
                        </a:rPr>
                        <a:t>Result(s,a)</a:t>
                      </a:r>
                      <a:endParaRPr lang="en-US" sz="12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333"/>
                          </a:solidFill>
                          <a:latin typeface="Calibri" pitchFamily="34" charset="0"/>
                          <a:ea typeface="Calibri" pitchFamily="34" charset="-122"/>
                          <a:cs typeface="Calibri" pitchFamily="34" charset="-120"/>
                        </a:rPr>
                        <a:t>Transition model</a:t>
                      </a:r>
                      <a:endParaRPr lang="en-US" sz="12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333"/>
                          </a:solidFill>
                          <a:latin typeface="Calibri" pitchFamily="34" charset="0"/>
                          <a:ea typeface="Calibri" pitchFamily="34" charset="-122"/>
                          <a:cs typeface="Calibri" pitchFamily="34" charset="-120"/>
                        </a:rPr>
                        <a:t>The state produced when action a is applied in state s</a:t>
                      </a:r>
                      <a:endParaRPr lang="en-US" sz="12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250" dirty="0">
                          <a:solidFill>
                            <a:srgbClr val="1B2333"/>
                          </a:solidFill>
                          <a:latin typeface="Calibri" pitchFamily="34" charset="0"/>
                          <a:ea typeface="Calibri" pitchFamily="34" charset="-122"/>
                          <a:cs typeface="Calibri" pitchFamily="34" charset="-120"/>
                        </a:rPr>
                        <a:t>s₀</a:t>
                      </a:r>
                      <a:endParaRPr lang="en-US" sz="12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250" dirty="0">
                          <a:solidFill>
                            <a:srgbClr val="1B2333"/>
                          </a:solidFill>
                          <a:latin typeface="Calibri" pitchFamily="34" charset="0"/>
                          <a:ea typeface="Calibri" pitchFamily="34" charset="-122"/>
                          <a:cs typeface="Calibri" pitchFamily="34" charset="-120"/>
                        </a:rPr>
                        <a:t>Initial state</a:t>
                      </a:r>
                      <a:endParaRPr lang="en-US" sz="12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250" dirty="0">
                          <a:solidFill>
                            <a:srgbClr val="1B2333"/>
                          </a:solidFill>
                          <a:latin typeface="Calibri" pitchFamily="34" charset="0"/>
                          <a:ea typeface="Calibri" pitchFamily="34" charset="-122"/>
                          <a:cs typeface="Calibri" pitchFamily="34" charset="-120"/>
                        </a:rPr>
                        <a:t>The state the agent starts in, before any action is taken</a:t>
                      </a:r>
                      <a:endParaRPr lang="en-US" sz="12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extLst>
                  <a:ext uri="{0D108BD9-81ED-4DB2-BD59-A6C34878D82A}">
                    <a16:rowId xmlns:a16="http://schemas.microsoft.com/office/drawing/2014/main" val="10004"/>
                  </a:ext>
                </a:extLst>
              </a:tr>
              <a:tr h="457200">
                <a:tc>
                  <a:txBody>
                    <a:bodyPr/>
                    <a:lstStyle/>
                    <a:p>
                      <a:pPr marL="0" indent="0" algn="l">
                        <a:buNone/>
                      </a:pPr>
                      <a:r>
                        <a:rPr lang="en-US" sz="1250" dirty="0">
                          <a:solidFill>
                            <a:srgbClr val="1B2333"/>
                          </a:solidFill>
                          <a:latin typeface="Calibri" pitchFamily="34" charset="0"/>
                          <a:ea typeface="Calibri" pitchFamily="34" charset="-122"/>
                          <a:cs typeface="Calibri" pitchFamily="34" charset="-120"/>
                        </a:rPr>
                        <a:t>Goal(s)</a:t>
                      </a:r>
                      <a:endParaRPr lang="en-US" sz="12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333"/>
                          </a:solidFill>
                          <a:latin typeface="Calibri" pitchFamily="34" charset="0"/>
                          <a:ea typeface="Calibri" pitchFamily="34" charset="-122"/>
                          <a:cs typeface="Calibri" pitchFamily="34" charset="-120"/>
                        </a:rPr>
                        <a:t>Goal test</a:t>
                      </a:r>
                      <a:endParaRPr lang="en-US" sz="12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333"/>
                          </a:solidFill>
                          <a:latin typeface="Calibri" pitchFamily="34" charset="0"/>
                          <a:ea typeface="Calibri" pitchFamily="34" charset="-122"/>
                          <a:cs typeface="Calibri" pitchFamily="34" charset="-120"/>
                        </a:rPr>
                        <a:t>A test returning true if state s satisfies the objective</a:t>
                      </a:r>
                      <a:endParaRPr lang="en-US" sz="12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l">
                        <a:buNone/>
                      </a:pPr>
                      <a:r>
                        <a:rPr lang="en-US" sz="1250" dirty="0">
                          <a:solidFill>
                            <a:srgbClr val="1B2333"/>
                          </a:solidFill>
                          <a:latin typeface="Calibri" pitchFamily="34" charset="0"/>
                          <a:ea typeface="Calibri" pitchFamily="34" charset="-122"/>
                          <a:cs typeface="Calibri" pitchFamily="34" charset="-120"/>
                        </a:rPr>
                        <a:t>Cost(s,a,s')</a:t>
                      </a:r>
                      <a:endParaRPr lang="en-US" sz="12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250" dirty="0">
                          <a:solidFill>
                            <a:srgbClr val="1B2333"/>
                          </a:solidFill>
                          <a:latin typeface="Calibri" pitchFamily="34" charset="0"/>
                          <a:ea typeface="Calibri" pitchFamily="34" charset="-122"/>
                          <a:cs typeface="Calibri" pitchFamily="34" charset="-120"/>
                        </a:rPr>
                        <a:t>Path / step cost</a:t>
                      </a:r>
                      <a:endParaRPr lang="en-US" sz="12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250" dirty="0">
                          <a:solidFill>
                            <a:srgbClr val="1B2333"/>
                          </a:solidFill>
                          <a:latin typeface="Calibri" pitchFamily="34" charset="0"/>
                          <a:ea typeface="Calibri" pitchFamily="34" charset="-122"/>
                          <a:cs typeface="Calibri" pitchFamily="34" charset="-120"/>
                        </a:rPr>
                        <a:t>The numeric cost of moving from s to s' via action a</a:t>
                      </a:r>
                      <a:endParaRPr lang="en-US" sz="12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extLst>
                  <a:ext uri="{0D108BD9-81ED-4DB2-BD59-A6C34878D82A}">
                    <a16:rowId xmlns:a16="http://schemas.microsoft.com/office/drawing/2014/main" val="10006"/>
                  </a:ext>
                </a:extLst>
              </a:tr>
            </a:tbl>
          </a:graphicData>
        </a:graphic>
      </p:graphicFrame>
      <p:sp>
        <p:nvSpPr>
          <p:cNvPr id="10" name="Text 7"/>
          <p:cNvSpPr txBox="1"/>
          <p:nvPr/>
        </p:nvSpPr>
        <p:spPr>
          <a:xfrm>
            <a:off x="502920" y="6263640"/>
            <a:ext cx="10972800" cy="274320"/>
          </a:xfrm>
          <a:prstGeom prst="rect">
            <a:avLst/>
          </a:prstGeom>
          <a:noFill/>
          <a:ln/>
        </p:spPr>
        <p:txBody>
          <a:bodyPr wrap="square" rtlCol="0" anchor="ctr"/>
          <a:lstStyle/>
          <a:p>
            <a:pPr marL="0" indent="0">
              <a:buNone/>
            </a:pPr>
            <a:r>
              <a:rPr lang="en-US" sz="1150" i="1" dirty="0">
                <a:solidFill>
                  <a:srgbClr val="435273"/>
                </a:solidFill>
                <a:latin typeface="Calibri" pitchFamily="34" charset="0"/>
                <a:ea typeface="Calibri" pitchFamily="34" charset="-122"/>
                <a:cs typeface="Calibri" pitchFamily="34" charset="-120"/>
              </a:rPr>
              <a:t>We will devote one full slide to each component, starting with the initial state.</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92608"/>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PROBLEM FORMULATION · COMPONENT 1 OF 5</a:t>
            </a:r>
            <a:endParaRPr lang="en-US" sz="1200" dirty="0"/>
          </a:p>
        </p:txBody>
      </p:sp>
      <p:sp>
        <p:nvSpPr>
          <p:cNvPr id="3" name="Text 1"/>
          <p:cNvSpPr txBox="1"/>
          <p:nvPr/>
        </p:nvSpPr>
        <p:spPr>
          <a:xfrm>
            <a:off x="502920" y="621792"/>
            <a:ext cx="11155680" cy="658368"/>
          </a:xfrm>
          <a:prstGeom prst="rect">
            <a:avLst/>
          </a:prstGeom>
          <a:noFill/>
          <a:ln/>
        </p:spPr>
        <p:txBody>
          <a:bodyPr wrap="square" rtlCol="0" anchor="ctr"/>
          <a:lstStyle/>
          <a:p>
            <a:pPr marL="0" indent="0">
              <a:buNone/>
            </a:pPr>
            <a:r>
              <a:rPr lang="en-US" sz="2900" b="1" dirty="0">
                <a:solidFill>
                  <a:srgbClr val="14213D"/>
                </a:solidFill>
                <a:latin typeface="Cambria" pitchFamily="34" charset="0"/>
                <a:ea typeface="Cambria" pitchFamily="34" charset="-122"/>
                <a:cs typeface="Cambria" pitchFamily="34" charset="-120"/>
              </a:rPr>
              <a:t>The Initial State (s₀)</a:t>
            </a:r>
            <a:endParaRPr lang="en-US" sz="2900" dirty="0"/>
          </a:p>
        </p:txBody>
      </p:sp>
      <p:sp>
        <p:nvSpPr>
          <p:cNvPr id="4" name="Text 2"/>
          <p:cNvSpPr txBox="1"/>
          <p:nvPr/>
        </p:nvSpPr>
        <p:spPr>
          <a:xfrm>
            <a:off x="502920" y="6473952"/>
            <a:ext cx="7315200" cy="274320"/>
          </a:xfrm>
          <a:prstGeom prst="rect">
            <a:avLst/>
          </a:prstGeom>
          <a:noFill/>
          <a:ln/>
        </p:spPr>
        <p:txBody>
          <a:bodyPr wrap="square" rtlCol="0" anchor="ctr"/>
          <a:lstStyle/>
          <a:p>
            <a:pPr marL="0" indent="0">
              <a:buNone/>
            </a:pPr>
            <a:r>
              <a:rPr lang="en-US" sz="950" b="1" dirty="0">
                <a:solidFill>
                  <a:srgbClr val="6B7280"/>
                </a:solidFill>
                <a:latin typeface="Calibri" pitchFamily="34" charset="0"/>
                <a:ea typeface="Calibri" pitchFamily="34" charset="-122"/>
                <a:cs typeface="Calibri" pitchFamily="34" charset="-120"/>
              </a:rPr>
              <a:t>Artificial Intelligence</a:t>
            </a:r>
            <a:r>
              <a:rPr lang="en-US" sz="950" dirty="0">
                <a:solidFill>
                  <a:srgbClr val="6B7280"/>
                </a:solidFill>
                <a:latin typeface="Calibri" pitchFamily="34" charset="0"/>
                <a:ea typeface="Calibri" pitchFamily="34" charset="-122"/>
                <a:cs typeface="Calibri" pitchFamily="34" charset="-120"/>
              </a:rPr>
              <a:t>   ·   BS Computer Science   ·   Lecture 3</a:t>
            </a:r>
            <a:endParaRPr lang="en-US" sz="950" dirty="0"/>
          </a:p>
        </p:txBody>
      </p:sp>
      <p:sp>
        <p:nvSpPr>
          <p:cNvPr id="5" name="Text 3"/>
          <p:cNvSpPr txBox="1"/>
          <p:nvPr/>
        </p:nvSpPr>
        <p:spPr>
          <a:xfrm>
            <a:off x="8762695" y="6473952"/>
            <a:ext cx="292608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Dr. Ghulam Ali   ·   6</a:t>
            </a:r>
            <a:endParaRPr lang="en-US" sz="950" dirty="0"/>
          </a:p>
        </p:txBody>
      </p:sp>
      <p:sp>
        <p:nvSpPr>
          <p:cNvPr id="6" name="Text 4"/>
          <p:cNvSpPr txBox="1"/>
          <p:nvPr/>
        </p:nvSpPr>
        <p:spPr>
          <a:xfrm>
            <a:off x="502920" y="1417320"/>
            <a:ext cx="11185855" cy="960120"/>
          </a:xfrm>
          <a:prstGeom prst="rect">
            <a:avLst/>
          </a:prstGeom>
          <a:noFill/>
          <a:ln/>
        </p:spPr>
        <p:txBody>
          <a:bodyPr wrap="square" rtlCol="0" anchor="ctr"/>
          <a:lstStyle/>
          <a:p>
            <a:pPr marL="0" indent="0">
              <a:lnSpc>
                <a:spcPct val="130000"/>
              </a:lnSpc>
              <a:buNone/>
            </a:pPr>
            <a:r>
              <a:rPr lang="en-US" sz="1350" dirty="0">
                <a:solidFill>
                  <a:srgbClr val="1B2333"/>
                </a:solidFill>
                <a:latin typeface="Calibri" pitchFamily="34" charset="0"/>
                <a:ea typeface="Calibri" pitchFamily="34" charset="-122"/>
                <a:cs typeface="Calibri" pitchFamily="34" charset="-120"/>
              </a:rPr>
              <a:t>The initial state describes precisely where the agent begins — its situation before any action has been taken. Because every path the search explores is measured relative to this starting point, s₀ must be defined with the same precision as every other state in the state space, not left as an informal description.</a:t>
            </a:r>
            <a:endParaRPr lang="en-US" sz="1350" dirty="0"/>
          </a:p>
        </p:txBody>
      </p:sp>
      <p:sp>
        <p:nvSpPr>
          <p:cNvPr id="7" name="Shape 5"/>
          <p:cNvSpPr/>
          <p:nvPr/>
        </p:nvSpPr>
        <p:spPr>
          <a:xfrm>
            <a:off x="502920" y="2606040"/>
            <a:ext cx="5349240" cy="1417320"/>
          </a:xfrm>
          <a:prstGeom prst="roundRect">
            <a:avLst>
              <a:gd name="adj" fmla="val 5161"/>
            </a:avLst>
          </a:prstGeom>
          <a:solidFill>
            <a:srgbClr val="EAEFF8"/>
          </a:solidFill>
          <a:ln/>
        </p:spPr>
      </p:sp>
      <p:sp>
        <p:nvSpPr>
          <p:cNvPr id="8" name="Shape 6"/>
          <p:cNvSpPr/>
          <p:nvPr/>
        </p:nvSpPr>
        <p:spPr>
          <a:xfrm>
            <a:off x="704088" y="2807208"/>
            <a:ext cx="347472" cy="347472"/>
          </a:xfrm>
          <a:prstGeom prst="ellipse">
            <a:avLst/>
          </a:prstGeom>
          <a:solidFill>
            <a:srgbClr val="C9A227"/>
          </a:solidFill>
          <a:ln/>
        </p:spPr>
      </p:sp>
      <p:sp>
        <p:nvSpPr>
          <p:cNvPr id="9" name="Text 7"/>
          <p:cNvSpPr txBox="1"/>
          <p:nvPr/>
        </p:nvSpPr>
        <p:spPr>
          <a:xfrm>
            <a:off x="704088" y="2807208"/>
            <a:ext cx="347472" cy="347472"/>
          </a:xfrm>
          <a:prstGeom prst="rect">
            <a:avLst/>
          </a:prstGeom>
          <a:noFill/>
          <a:ln/>
        </p:spPr>
        <p:txBody>
          <a:bodyPr wrap="none" rtlCol="0" anchor="ctr"/>
          <a:lstStyle/>
          <a:p>
            <a:pPr marL="0" indent="0" algn="ctr">
              <a:buNone/>
            </a:pPr>
            <a:r>
              <a:rPr lang="en-US" sz="1500" b="1" dirty="0">
                <a:solidFill>
                  <a:srgbClr val="0A1226"/>
                </a:solidFill>
                <a:latin typeface="Calibri" pitchFamily="34" charset="0"/>
                <a:ea typeface="Calibri" pitchFamily="34" charset="-122"/>
                <a:cs typeface="Calibri" pitchFamily="34" charset="-120"/>
              </a:rPr>
              <a:t>1</a:t>
            </a:r>
            <a:endParaRPr lang="en-US" sz="1500" dirty="0"/>
          </a:p>
        </p:txBody>
      </p:sp>
      <p:sp>
        <p:nvSpPr>
          <p:cNvPr id="10" name="Text 8"/>
          <p:cNvSpPr txBox="1"/>
          <p:nvPr/>
        </p:nvSpPr>
        <p:spPr>
          <a:xfrm>
            <a:off x="1207008" y="2770632"/>
            <a:ext cx="4443984" cy="310896"/>
          </a:xfrm>
          <a:prstGeom prst="rect">
            <a:avLst/>
          </a:prstGeom>
          <a:noFill/>
          <a:ln/>
        </p:spPr>
        <p:txBody>
          <a:bodyPr wrap="square" rtlCol="0" anchor="ctr"/>
          <a:lstStyle/>
          <a:p>
            <a:pPr marL="0" indent="0">
              <a:buNone/>
            </a:pPr>
            <a:r>
              <a:rPr lang="en-US" sz="1400" b="1" dirty="0">
                <a:solidFill>
                  <a:srgbClr val="14213D"/>
                </a:solidFill>
                <a:latin typeface="Calibri" pitchFamily="34" charset="0"/>
                <a:ea typeface="Calibri" pitchFamily="34" charset="-122"/>
                <a:cs typeface="Calibri" pitchFamily="34" charset="-120"/>
              </a:rPr>
              <a:t>Robot navigation</a:t>
            </a:r>
            <a:endParaRPr lang="en-US" sz="1400" dirty="0"/>
          </a:p>
        </p:txBody>
      </p:sp>
      <p:sp>
        <p:nvSpPr>
          <p:cNvPr id="11" name="Text 9"/>
          <p:cNvSpPr txBox="1"/>
          <p:nvPr/>
        </p:nvSpPr>
        <p:spPr>
          <a:xfrm>
            <a:off x="1207008" y="3099816"/>
            <a:ext cx="4443984" cy="886968"/>
          </a:xfrm>
          <a:prstGeom prst="rect">
            <a:avLst/>
          </a:prstGeom>
          <a:noFill/>
          <a:ln/>
        </p:spPr>
        <p:txBody>
          <a:bodyPr wrap="square" rtlCol="0" anchor="t"/>
          <a:lstStyle/>
          <a:p>
            <a:pPr marL="0" indent="0">
              <a:lnSpc>
                <a:spcPct val="112000"/>
              </a:lnSpc>
              <a:buNone/>
            </a:pPr>
            <a:r>
              <a:rPr lang="en-US" sz="1300" dirty="0">
                <a:solidFill>
                  <a:srgbClr val="1B2333"/>
                </a:solidFill>
                <a:latin typeface="Calibri" pitchFamily="34" charset="0"/>
                <a:ea typeface="Calibri" pitchFamily="34" charset="-122"/>
                <a:cs typeface="Calibri" pitchFamily="34" charset="-120"/>
              </a:rPr>
              <a:t>The robot is in Room A, facing north</a:t>
            </a:r>
            <a:endParaRPr lang="en-US" sz="1300" dirty="0"/>
          </a:p>
        </p:txBody>
      </p:sp>
      <p:sp>
        <p:nvSpPr>
          <p:cNvPr id="12" name="Shape 10"/>
          <p:cNvSpPr/>
          <p:nvPr/>
        </p:nvSpPr>
        <p:spPr>
          <a:xfrm>
            <a:off x="6309360" y="2606040"/>
            <a:ext cx="5349240" cy="1417320"/>
          </a:xfrm>
          <a:prstGeom prst="roundRect">
            <a:avLst>
              <a:gd name="adj" fmla="val 5161"/>
            </a:avLst>
          </a:prstGeom>
          <a:solidFill>
            <a:srgbClr val="EAEFF8"/>
          </a:solidFill>
          <a:ln/>
        </p:spPr>
      </p:sp>
      <p:sp>
        <p:nvSpPr>
          <p:cNvPr id="13" name="Shape 11"/>
          <p:cNvSpPr/>
          <p:nvPr/>
        </p:nvSpPr>
        <p:spPr>
          <a:xfrm>
            <a:off x="6510528" y="2807208"/>
            <a:ext cx="347472" cy="347472"/>
          </a:xfrm>
          <a:prstGeom prst="ellipse">
            <a:avLst/>
          </a:prstGeom>
          <a:solidFill>
            <a:srgbClr val="C9A227"/>
          </a:solidFill>
          <a:ln/>
        </p:spPr>
      </p:sp>
      <p:sp>
        <p:nvSpPr>
          <p:cNvPr id="14" name="Text 12"/>
          <p:cNvSpPr txBox="1"/>
          <p:nvPr/>
        </p:nvSpPr>
        <p:spPr>
          <a:xfrm>
            <a:off x="6510528" y="2807208"/>
            <a:ext cx="347472" cy="347472"/>
          </a:xfrm>
          <a:prstGeom prst="rect">
            <a:avLst/>
          </a:prstGeom>
          <a:noFill/>
          <a:ln/>
        </p:spPr>
        <p:txBody>
          <a:bodyPr wrap="none" rtlCol="0" anchor="ctr"/>
          <a:lstStyle/>
          <a:p>
            <a:pPr marL="0" indent="0" algn="ctr">
              <a:buNone/>
            </a:pPr>
            <a:r>
              <a:rPr lang="en-US" sz="1500" b="1" dirty="0">
                <a:solidFill>
                  <a:srgbClr val="0A1226"/>
                </a:solidFill>
                <a:latin typeface="Calibri" pitchFamily="34" charset="0"/>
                <a:ea typeface="Calibri" pitchFamily="34" charset="-122"/>
                <a:cs typeface="Calibri" pitchFamily="34" charset="-120"/>
              </a:rPr>
              <a:t>2</a:t>
            </a:r>
            <a:endParaRPr lang="en-US" sz="1500" dirty="0"/>
          </a:p>
        </p:txBody>
      </p:sp>
      <p:sp>
        <p:nvSpPr>
          <p:cNvPr id="15" name="Text 13"/>
          <p:cNvSpPr txBox="1"/>
          <p:nvPr/>
        </p:nvSpPr>
        <p:spPr>
          <a:xfrm>
            <a:off x="7013448" y="2770632"/>
            <a:ext cx="4443984" cy="310896"/>
          </a:xfrm>
          <a:prstGeom prst="rect">
            <a:avLst/>
          </a:prstGeom>
          <a:noFill/>
          <a:ln/>
        </p:spPr>
        <p:txBody>
          <a:bodyPr wrap="square" rtlCol="0" anchor="ctr"/>
          <a:lstStyle/>
          <a:p>
            <a:pPr marL="0" indent="0">
              <a:buNone/>
            </a:pPr>
            <a:r>
              <a:rPr lang="en-US" sz="1400" b="1" dirty="0">
                <a:solidFill>
                  <a:srgbClr val="14213D"/>
                </a:solidFill>
                <a:latin typeface="Calibri" pitchFamily="34" charset="0"/>
                <a:ea typeface="Calibri" pitchFamily="34" charset="-122"/>
                <a:cs typeface="Calibri" pitchFamily="34" charset="-120"/>
              </a:rPr>
              <a:t>Route planning</a:t>
            </a:r>
            <a:endParaRPr lang="en-US" sz="1400" dirty="0"/>
          </a:p>
        </p:txBody>
      </p:sp>
      <p:sp>
        <p:nvSpPr>
          <p:cNvPr id="16" name="Text 14"/>
          <p:cNvSpPr txBox="1"/>
          <p:nvPr/>
        </p:nvSpPr>
        <p:spPr>
          <a:xfrm>
            <a:off x="7013448" y="3099816"/>
            <a:ext cx="4443984" cy="886968"/>
          </a:xfrm>
          <a:prstGeom prst="rect">
            <a:avLst/>
          </a:prstGeom>
          <a:noFill/>
          <a:ln/>
        </p:spPr>
        <p:txBody>
          <a:bodyPr wrap="square" rtlCol="0" anchor="t"/>
          <a:lstStyle/>
          <a:p>
            <a:pPr marL="0" indent="0">
              <a:lnSpc>
                <a:spcPct val="112000"/>
              </a:lnSpc>
              <a:buNone/>
            </a:pPr>
            <a:r>
              <a:rPr lang="en-US" sz="1300" dirty="0">
                <a:solidFill>
                  <a:srgbClr val="1B2333"/>
                </a:solidFill>
                <a:latin typeface="Calibri" pitchFamily="34" charset="0"/>
                <a:ea typeface="Calibri" pitchFamily="34" charset="-122"/>
                <a:cs typeface="Calibri" pitchFamily="34" charset="-120"/>
              </a:rPr>
              <a:t>The traveler is currently in Islamabad</a:t>
            </a:r>
            <a:endParaRPr lang="en-US" sz="1300" dirty="0"/>
          </a:p>
        </p:txBody>
      </p:sp>
      <p:sp>
        <p:nvSpPr>
          <p:cNvPr id="17" name="Shape 15"/>
          <p:cNvSpPr/>
          <p:nvPr/>
        </p:nvSpPr>
        <p:spPr>
          <a:xfrm>
            <a:off x="502920" y="4343400"/>
            <a:ext cx="5349240" cy="1417320"/>
          </a:xfrm>
          <a:prstGeom prst="roundRect">
            <a:avLst>
              <a:gd name="adj" fmla="val 5161"/>
            </a:avLst>
          </a:prstGeom>
          <a:solidFill>
            <a:srgbClr val="EAEFF8"/>
          </a:solidFill>
          <a:ln/>
        </p:spPr>
      </p:sp>
      <p:sp>
        <p:nvSpPr>
          <p:cNvPr id="18" name="Shape 16"/>
          <p:cNvSpPr/>
          <p:nvPr/>
        </p:nvSpPr>
        <p:spPr>
          <a:xfrm>
            <a:off x="704088" y="4544568"/>
            <a:ext cx="347472" cy="347472"/>
          </a:xfrm>
          <a:prstGeom prst="ellipse">
            <a:avLst/>
          </a:prstGeom>
          <a:solidFill>
            <a:srgbClr val="C9A227"/>
          </a:solidFill>
          <a:ln/>
        </p:spPr>
      </p:sp>
      <p:sp>
        <p:nvSpPr>
          <p:cNvPr id="19" name="Text 17"/>
          <p:cNvSpPr txBox="1"/>
          <p:nvPr/>
        </p:nvSpPr>
        <p:spPr>
          <a:xfrm>
            <a:off x="704088" y="4544568"/>
            <a:ext cx="347472" cy="347472"/>
          </a:xfrm>
          <a:prstGeom prst="rect">
            <a:avLst/>
          </a:prstGeom>
          <a:noFill/>
          <a:ln/>
        </p:spPr>
        <p:txBody>
          <a:bodyPr wrap="none" rtlCol="0" anchor="ctr"/>
          <a:lstStyle/>
          <a:p>
            <a:pPr marL="0" indent="0" algn="ctr">
              <a:buNone/>
            </a:pPr>
            <a:r>
              <a:rPr lang="en-US" sz="1500" b="1" dirty="0">
                <a:solidFill>
                  <a:srgbClr val="0A1226"/>
                </a:solidFill>
                <a:latin typeface="Calibri" pitchFamily="34" charset="0"/>
                <a:ea typeface="Calibri" pitchFamily="34" charset="-122"/>
                <a:cs typeface="Calibri" pitchFamily="34" charset="-120"/>
              </a:rPr>
              <a:t>3</a:t>
            </a:r>
            <a:endParaRPr lang="en-US" sz="1500" dirty="0"/>
          </a:p>
        </p:txBody>
      </p:sp>
      <p:sp>
        <p:nvSpPr>
          <p:cNvPr id="20" name="Text 18"/>
          <p:cNvSpPr txBox="1"/>
          <p:nvPr/>
        </p:nvSpPr>
        <p:spPr>
          <a:xfrm>
            <a:off x="1207008" y="4507992"/>
            <a:ext cx="4443984" cy="310896"/>
          </a:xfrm>
          <a:prstGeom prst="rect">
            <a:avLst/>
          </a:prstGeom>
          <a:noFill/>
          <a:ln/>
        </p:spPr>
        <p:txBody>
          <a:bodyPr wrap="square" rtlCol="0" anchor="ctr"/>
          <a:lstStyle/>
          <a:p>
            <a:pPr marL="0" indent="0">
              <a:buNone/>
            </a:pPr>
            <a:r>
              <a:rPr lang="en-US" sz="1400" b="1" dirty="0">
                <a:solidFill>
                  <a:srgbClr val="14213D"/>
                </a:solidFill>
                <a:latin typeface="Calibri" pitchFamily="34" charset="0"/>
                <a:ea typeface="Calibri" pitchFamily="34" charset="-122"/>
                <a:cs typeface="Calibri" pitchFamily="34" charset="-120"/>
              </a:rPr>
              <a:t>8-puzzle</a:t>
            </a:r>
            <a:endParaRPr lang="en-US" sz="1400" dirty="0"/>
          </a:p>
        </p:txBody>
      </p:sp>
      <p:sp>
        <p:nvSpPr>
          <p:cNvPr id="21" name="Text 19"/>
          <p:cNvSpPr txBox="1"/>
          <p:nvPr/>
        </p:nvSpPr>
        <p:spPr>
          <a:xfrm>
            <a:off x="1207008" y="4837176"/>
            <a:ext cx="4443984" cy="886968"/>
          </a:xfrm>
          <a:prstGeom prst="rect">
            <a:avLst/>
          </a:prstGeom>
          <a:noFill/>
          <a:ln/>
        </p:spPr>
        <p:txBody>
          <a:bodyPr wrap="square" rtlCol="0" anchor="t"/>
          <a:lstStyle/>
          <a:p>
            <a:pPr marL="0" indent="0">
              <a:lnSpc>
                <a:spcPct val="112000"/>
              </a:lnSpc>
              <a:buNone/>
            </a:pPr>
            <a:r>
              <a:rPr lang="en-US" sz="1300" dirty="0">
                <a:solidFill>
                  <a:srgbClr val="1B2333"/>
                </a:solidFill>
                <a:latin typeface="Calibri" pitchFamily="34" charset="0"/>
                <a:ea typeface="Calibri" pitchFamily="34" charset="-122"/>
                <a:cs typeface="Calibri" pitchFamily="34" charset="-120"/>
              </a:rPr>
              <a:t>Tiles are arranged in a specific starting configuration</a:t>
            </a:r>
            <a:endParaRPr lang="en-US" sz="1300" dirty="0"/>
          </a:p>
        </p:txBody>
      </p:sp>
      <p:sp>
        <p:nvSpPr>
          <p:cNvPr id="22" name="Shape 20"/>
          <p:cNvSpPr/>
          <p:nvPr/>
        </p:nvSpPr>
        <p:spPr>
          <a:xfrm>
            <a:off x="6309360" y="4343400"/>
            <a:ext cx="5349240" cy="1417320"/>
          </a:xfrm>
          <a:prstGeom prst="roundRect">
            <a:avLst>
              <a:gd name="adj" fmla="val 5161"/>
            </a:avLst>
          </a:prstGeom>
          <a:solidFill>
            <a:srgbClr val="EAEFF8"/>
          </a:solidFill>
          <a:ln/>
        </p:spPr>
      </p:sp>
      <p:sp>
        <p:nvSpPr>
          <p:cNvPr id="23" name="Shape 21"/>
          <p:cNvSpPr/>
          <p:nvPr/>
        </p:nvSpPr>
        <p:spPr>
          <a:xfrm>
            <a:off x="6510528" y="4544568"/>
            <a:ext cx="347472" cy="347472"/>
          </a:xfrm>
          <a:prstGeom prst="ellipse">
            <a:avLst/>
          </a:prstGeom>
          <a:solidFill>
            <a:srgbClr val="C9A227"/>
          </a:solidFill>
          <a:ln/>
        </p:spPr>
      </p:sp>
      <p:sp>
        <p:nvSpPr>
          <p:cNvPr id="24" name="Text 22"/>
          <p:cNvSpPr txBox="1"/>
          <p:nvPr/>
        </p:nvSpPr>
        <p:spPr>
          <a:xfrm>
            <a:off x="6510528" y="4544568"/>
            <a:ext cx="347472" cy="347472"/>
          </a:xfrm>
          <a:prstGeom prst="rect">
            <a:avLst/>
          </a:prstGeom>
          <a:noFill/>
          <a:ln/>
        </p:spPr>
        <p:txBody>
          <a:bodyPr wrap="none" rtlCol="0" anchor="ctr"/>
          <a:lstStyle/>
          <a:p>
            <a:pPr marL="0" indent="0" algn="ctr">
              <a:buNone/>
            </a:pPr>
            <a:r>
              <a:rPr lang="en-US" sz="1500" b="1" dirty="0">
                <a:solidFill>
                  <a:srgbClr val="0A1226"/>
                </a:solidFill>
                <a:latin typeface="Calibri" pitchFamily="34" charset="0"/>
                <a:ea typeface="Calibri" pitchFamily="34" charset="-122"/>
                <a:cs typeface="Calibri" pitchFamily="34" charset="-120"/>
              </a:rPr>
              <a:t>4</a:t>
            </a:r>
            <a:endParaRPr lang="en-US" sz="1500" dirty="0"/>
          </a:p>
        </p:txBody>
      </p:sp>
      <p:sp>
        <p:nvSpPr>
          <p:cNvPr id="25" name="Text 23"/>
          <p:cNvSpPr txBox="1"/>
          <p:nvPr/>
        </p:nvSpPr>
        <p:spPr>
          <a:xfrm>
            <a:off x="7013448" y="4507992"/>
            <a:ext cx="4443984" cy="310896"/>
          </a:xfrm>
          <a:prstGeom prst="rect">
            <a:avLst/>
          </a:prstGeom>
          <a:noFill/>
          <a:ln/>
        </p:spPr>
        <p:txBody>
          <a:bodyPr wrap="square" rtlCol="0" anchor="ctr"/>
          <a:lstStyle/>
          <a:p>
            <a:pPr marL="0" indent="0">
              <a:buNone/>
            </a:pPr>
            <a:r>
              <a:rPr lang="en-US" sz="1400" b="1" dirty="0">
                <a:solidFill>
                  <a:srgbClr val="14213D"/>
                </a:solidFill>
                <a:latin typeface="Calibri" pitchFamily="34" charset="0"/>
                <a:ea typeface="Calibri" pitchFamily="34" charset="-122"/>
                <a:cs typeface="Calibri" pitchFamily="34" charset="-120"/>
              </a:rPr>
              <a:t>Chess</a:t>
            </a:r>
            <a:endParaRPr lang="en-US" sz="1400" dirty="0"/>
          </a:p>
        </p:txBody>
      </p:sp>
      <p:sp>
        <p:nvSpPr>
          <p:cNvPr id="26" name="Text 24"/>
          <p:cNvSpPr txBox="1"/>
          <p:nvPr/>
        </p:nvSpPr>
        <p:spPr>
          <a:xfrm>
            <a:off x="7013448" y="4837176"/>
            <a:ext cx="4443984" cy="886968"/>
          </a:xfrm>
          <a:prstGeom prst="rect">
            <a:avLst/>
          </a:prstGeom>
          <a:noFill/>
          <a:ln/>
        </p:spPr>
        <p:txBody>
          <a:bodyPr wrap="square" rtlCol="0" anchor="t"/>
          <a:lstStyle/>
          <a:p>
            <a:pPr marL="0" indent="0">
              <a:lnSpc>
                <a:spcPct val="112000"/>
              </a:lnSpc>
              <a:buNone/>
            </a:pPr>
            <a:r>
              <a:rPr lang="en-US" sz="1300" dirty="0">
                <a:solidFill>
                  <a:srgbClr val="1B2333"/>
                </a:solidFill>
                <a:latin typeface="Calibri" pitchFamily="34" charset="0"/>
                <a:ea typeface="Calibri" pitchFamily="34" charset="-122"/>
                <a:cs typeface="Calibri" pitchFamily="34" charset="-120"/>
              </a:rPr>
              <a:t>The board is at its current, specific position</a:t>
            </a:r>
            <a:endParaRPr lang="en-US" sz="1300" dirty="0"/>
          </a:p>
        </p:txBody>
      </p:sp>
      <p:sp>
        <p:nvSpPr>
          <p:cNvPr id="27" name="Text 25"/>
          <p:cNvSpPr txBox="1"/>
          <p:nvPr/>
        </p:nvSpPr>
        <p:spPr>
          <a:xfrm>
            <a:off x="502920" y="5897880"/>
            <a:ext cx="11155680" cy="365760"/>
          </a:xfrm>
          <a:prstGeom prst="rect">
            <a:avLst/>
          </a:prstGeom>
          <a:noFill/>
          <a:ln/>
        </p:spPr>
        <p:txBody>
          <a:bodyPr wrap="square" rtlCol="0" anchor="ctr"/>
          <a:lstStyle/>
          <a:p>
            <a:pPr marL="0" indent="0">
              <a:buNone/>
            </a:pPr>
            <a:r>
              <a:rPr lang="en-US" sz="1200" i="1" dirty="0">
                <a:solidFill>
                  <a:srgbClr val="435273"/>
                </a:solidFill>
                <a:latin typeface="Calibri" pitchFamily="34" charset="0"/>
                <a:ea typeface="Calibri" pitchFamily="34" charset="-122"/>
                <a:cs typeface="Calibri" pitchFamily="34" charset="-120"/>
              </a:rPr>
              <a:t>A precisely defined initial state is what allows path cost g(n) to be measured consistently for every node in the search.</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92608"/>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PROBLEM FORMULATION · COMPONENT 2 OF 5</a:t>
            </a:r>
            <a:endParaRPr lang="en-US" sz="1200" dirty="0"/>
          </a:p>
        </p:txBody>
      </p:sp>
      <p:sp>
        <p:nvSpPr>
          <p:cNvPr id="3" name="Text 1"/>
          <p:cNvSpPr txBox="1"/>
          <p:nvPr/>
        </p:nvSpPr>
        <p:spPr>
          <a:xfrm>
            <a:off x="502920" y="621792"/>
            <a:ext cx="11155680" cy="658368"/>
          </a:xfrm>
          <a:prstGeom prst="rect">
            <a:avLst/>
          </a:prstGeom>
          <a:noFill/>
          <a:ln/>
        </p:spPr>
        <p:txBody>
          <a:bodyPr wrap="square" rtlCol="0" anchor="ctr"/>
          <a:lstStyle/>
          <a:p>
            <a:pPr marL="0" indent="0">
              <a:buNone/>
            </a:pPr>
            <a:r>
              <a:rPr lang="en-US" sz="2900" b="1" dirty="0">
                <a:solidFill>
                  <a:srgbClr val="14213D"/>
                </a:solidFill>
                <a:latin typeface="Cambria" pitchFamily="34" charset="0"/>
                <a:ea typeface="Cambria" pitchFamily="34" charset="-122"/>
                <a:cs typeface="Cambria" pitchFamily="34" charset="-120"/>
              </a:rPr>
              <a:t>Actions — A(s)</a:t>
            </a:r>
            <a:endParaRPr lang="en-US" sz="2900" dirty="0"/>
          </a:p>
        </p:txBody>
      </p:sp>
      <p:sp>
        <p:nvSpPr>
          <p:cNvPr id="4" name="Text 2"/>
          <p:cNvSpPr txBox="1"/>
          <p:nvPr/>
        </p:nvSpPr>
        <p:spPr>
          <a:xfrm>
            <a:off x="502920" y="6473952"/>
            <a:ext cx="7315200" cy="274320"/>
          </a:xfrm>
          <a:prstGeom prst="rect">
            <a:avLst/>
          </a:prstGeom>
          <a:noFill/>
          <a:ln/>
        </p:spPr>
        <p:txBody>
          <a:bodyPr wrap="square" rtlCol="0" anchor="ctr"/>
          <a:lstStyle/>
          <a:p>
            <a:pPr marL="0" indent="0">
              <a:buNone/>
            </a:pPr>
            <a:r>
              <a:rPr lang="en-US" sz="950" b="1" dirty="0">
                <a:solidFill>
                  <a:srgbClr val="6B7280"/>
                </a:solidFill>
                <a:latin typeface="Calibri" pitchFamily="34" charset="0"/>
                <a:ea typeface="Calibri" pitchFamily="34" charset="-122"/>
                <a:cs typeface="Calibri" pitchFamily="34" charset="-120"/>
              </a:rPr>
              <a:t>Artificial Intelligence</a:t>
            </a:r>
            <a:r>
              <a:rPr lang="en-US" sz="950" dirty="0">
                <a:solidFill>
                  <a:srgbClr val="6B7280"/>
                </a:solidFill>
                <a:latin typeface="Calibri" pitchFamily="34" charset="0"/>
                <a:ea typeface="Calibri" pitchFamily="34" charset="-122"/>
                <a:cs typeface="Calibri" pitchFamily="34" charset="-120"/>
              </a:rPr>
              <a:t>   ·   BS Computer Science   ·   Lecture 3</a:t>
            </a:r>
            <a:endParaRPr lang="en-US" sz="950" dirty="0"/>
          </a:p>
        </p:txBody>
      </p:sp>
      <p:sp>
        <p:nvSpPr>
          <p:cNvPr id="5" name="Text 3"/>
          <p:cNvSpPr txBox="1"/>
          <p:nvPr/>
        </p:nvSpPr>
        <p:spPr>
          <a:xfrm>
            <a:off x="8762695" y="6473952"/>
            <a:ext cx="292608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Dr. Ghulam Ali   ·   7</a:t>
            </a:r>
            <a:endParaRPr lang="en-US" sz="950" dirty="0"/>
          </a:p>
        </p:txBody>
      </p:sp>
      <p:sp>
        <p:nvSpPr>
          <p:cNvPr id="6" name="Text 4"/>
          <p:cNvSpPr txBox="1"/>
          <p:nvPr/>
        </p:nvSpPr>
        <p:spPr>
          <a:xfrm>
            <a:off x="502920" y="1417320"/>
            <a:ext cx="5943600" cy="1417320"/>
          </a:xfrm>
          <a:prstGeom prst="rect">
            <a:avLst/>
          </a:prstGeom>
          <a:noFill/>
          <a:ln/>
        </p:spPr>
        <p:txBody>
          <a:bodyPr wrap="square" rtlCol="0" anchor="ctr"/>
          <a:lstStyle/>
          <a:p>
            <a:pPr marL="0" indent="0">
              <a:lnSpc>
                <a:spcPct val="130000"/>
              </a:lnSpc>
              <a:buNone/>
            </a:pPr>
            <a:r>
              <a:rPr lang="en-US" sz="1350" dirty="0">
                <a:solidFill>
                  <a:srgbClr val="1B2333"/>
                </a:solidFill>
                <a:latin typeface="Calibri" pitchFamily="34" charset="0"/>
                <a:ea typeface="Calibri" pitchFamily="34" charset="-122"/>
                <a:cs typeface="Calibri" pitchFamily="34" charset="-120"/>
              </a:rPr>
              <a:t>A(s) defines the set of actions that are legally available while the agent is in a specific state s. Actions are not global — the set of legal actions can change from state to state (a robot cannot move through a wall it is currently facing, even though 'move forward' is a valid action elsewhere in the state space).</a:t>
            </a:r>
            <a:endParaRPr lang="en-US" sz="1350" dirty="0"/>
          </a:p>
        </p:txBody>
      </p:sp>
      <p:sp>
        <p:nvSpPr>
          <p:cNvPr id="7" name="Text 5"/>
          <p:cNvSpPr txBox="1"/>
          <p:nvPr/>
        </p:nvSpPr>
        <p:spPr>
          <a:xfrm>
            <a:off x="502920" y="2880360"/>
            <a:ext cx="5943600" cy="3108960"/>
          </a:xfrm>
          <a:prstGeom prst="rect">
            <a:avLst/>
          </a:prstGeom>
          <a:noFill/>
          <a:ln/>
        </p:spPr>
        <p:txBody>
          <a:bodyPr wrap="square" rtlCol="0" anchor="t"/>
          <a:lstStyle/>
          <a:p>
            <a:pPr marL="228600" indent="-228600">
              <a:lnSpc>
                <a:spcPct val="115000"/>
              </a:lnSpc>
              <a:buSzPct val="100000"/>
              <a:buChar char="•"/>
            </a:pPr>
            <a:r>
              <a:rPr lang="en-US" sz="1300" b="1" dirty="0">
                <a:solidFill>
                  <a:srgbClr val="1B2333"/>
                </a:solidFill>
                <a:latin typeface="Calibri" pitchFamily="34" charset="0"/>
                <a:ea typeface="Calibri" pitchFamily="34" charset="-122"/>
                <a:cs typeface="Calibri" pitchFamily="34" charset="-120"/>
              </a:rPr>
              <a:t>Robot navigation:  </a:t>
            </a:r>
            <a:r>
              <a:rPr lang="en-US" sz="1300" dirty="0">
                <a:solidFill>
                  <a:srgbClr val="1B2333"/>
                </a:solidFill>
                <a:latin typeface="Calibri" pitchFamily="34" charset="0"/>
                <a:ea typeface="Calibri" pitchFamily="34" charset="-122"/>
                <a:cs typeface="Calibri" pitchFamily="34" charset="-120"/>
              </a:rPr>
              <a:t>UP, DOWN, LEFT, RIGHT — a subset legal at any given cell</a:t>
            </a:r>
            <a:endParaRPr lang="en-US" sz="1300" dirty="0"/>
          </a:p>
          <a:p>
            <a:pPr marL="228600" indent="-228600">
              <a:lnSpc>
                <a:spcPct val="115000"/>
              </a:lnSpc>
              <a:buSzPct val="100000"/>
              <a:buChar char="•"/>
            </a:pPr>
            <a:r>
              <a:rPr lang="en-US" sz="1300" b="1" dirty="0">
                <a:solidFill>
                  <a:srgbClr val="1B2333"/>
                </a:solidFill>
                <a:latin typeface="Calibri" pitchFamily="34" charset="0"/>
                <a:ea typeface="Calibri" pitchFamily="34" charset="-122"/>
                <a:cs typeface="Calibri" pitchFamily="34" charset="-120"/>
              </a:rPr>
              <a:t>Route planning:  </a:t>
            </a:r>
            <a:r>
              <a:rPr lang="en-US" sz="1300" dirty="0">
                <a:solidFill>
                  <a:srgbClr val="1B2333"/>
                </a:solidFill>
                <a:latin typeface="Calibri" pitchFamily="34" charset="0"/>
                <a:ea typeface="Calibri" pitchFamily="34" charset="-122"/>
                <a:cs typeface="Calibri" pitchFamily="34" charset="-120"/>
              </a:rPr>
              <a:t>Travel(CityX → CityY) for each road connected to the current city</a:t>
            </a:r>
            <a:endParaRPr lang="en-US" sz="1300" dirty="0"/>
          </a:p>
          <a:p>
            <a:pPr marL="228600" indent="-228600">
              <a:lnSpc>
                <a:spcPct val="115000"/>
              </a:lnSpc>
              <a:buSzPct val="100000"/>
              <a:buChar char="•"/>
            </a:pPr>
            <a:r>
              <a:rPr lang="en-US" sz="1300" b="1" dirty="0">
                <a:solidFill>
                  <a:srgbClr val="1B2333"/>
                </a:solidFill>
                <a:latin typeface="Calibri" pitchFamily="34" charset="0"/>
                <a:ea typeface="Calibri" pitchFamily="34" charset="-122"/>
                <a:cs typeface="Calibri" pitchFamily="34" charset="-120"/>
              </a:rPr>
              <a:t>8-puzzle:  </a:t>
            </a:r>
            <a:r>
              <a:rPr lang="en-US" sz="1300" dirty="0">
                <a:solidFill>
                  <a:srgbClr val="1B2333"/>
                </a:solidFill>
                <a:latin typeface="Calibri" pitchFamily="34" charset="0"/>
                <a:ea typeface="Calibri" pitchFamily="34" charset="-122"/>
                <a:cs typeface="Calibri" pitchFamily="34" charset="-120"/>
              </a:rPr>
              <a:t>Move the blank tile UP, DOWN, LEFT, or RIGHT into an adjacent cell</a:t>
            </a:r>
            <a:endParaRPr lang="en-US" sz="1300" dirty="0"/>
          </a:p>
        </p:txBody>
      </p:sp>
      <p:sp>
        <p:nvSpPr>
          <p:cNvPr id="8" name="Shape 6"/>
          <p:cNvSpPr/>
          <p:nvPr/>
        </p:nvSpPr>
        <p:spPr>
          <a:xfrm>
            <a:off x="8709660" y="2491740"/>
            <a:ext cx="685800" cy="685800"/>
          </a:xfrm>
          <a:prstGeom prst="ellipse">
            <a:avLst/>
          </a:prstGeom>
          <a:solidFill>
            <a:srgbClr val="14213D"/>
          </a:solidFill>
          <a:ln w="19050">
            <a:solidFill>
              <a:srgbClr val="435273"/>
            </a:solidFill>
            <a:prstDash val="solid"/>
          </a:ln>
        </p:spPr>
      </p:sp>
      <p:sp>
        <p:nvSpPr>
          <p:cNvPr id="9" name="Text 7"/>
          <p:cNvSpPr txBox="1"/>
          <p:nvPr/>
        </p:nvSpPr>
        <p:spPr>
          <a:xfrm>
            <a:off x="8709660" y="2491740"/>
            <a:ext cx="685800" cy="685800"/>
          </a:xfrm>
          <a:prstGeom prst="rect">
            <a:avLst/>
          </a:prstGeom>
          <a:noFill/>
          <a:ln/>
        </p:spPr>
        <p:txBody>
          <a:bodyPr wrap="square" rtlCol="0" anchor="ctr"/>
          <a:lstStyle/>
          <a:p>
            <a:pPr marL="0" indent="0" algn="ctr">
              <a:buNone/>
            </a:pPr>
            <a:r>
              <a:rPr lang="en-US" sz="1300" b="1" dirty="0">
                <a:solidFill>
                  <a:srgbClr val="14213D"/>
                </a:solidFill>
                <a:latin typeface="Calibri" pitchFamily="34" charset="0"/>
                <a:ea typeface="Calibri" pitchFamily="34" charset="-122"/>
                <a:cs typeface="Calibri" pitchFamily="34" charset="-120"/>
              </a:rPr>
              <a:t>s</a:t>
            </a:r>
            <a:endParaRPr lang="en-US" sz="1300" dirty="0"/>
          </a:p>
        </p:txBody>
      </p:sp>
      <p:sp>
        <p:nvSpPr>
          <p:cNvPr id="10" name="Shape 8"/>
          <p:cNvSpPr/>
          <p:nvPr/>
        </p:nvSpPr>
        <p:spPr>
          <a:xfrm>
            <a:off x="8801100" y="1303020"/>
            <a:ext cx="502920" cy="502920"/>
          </a:xfrm>
          <a:prstGeom prst="ellipse">
            <a:avLst/>
          </a:prstGeom>
          <a:solidFill>
            <a:srgbClr val="EAEFF8"/>
          </a:solidFill>
          <a:ln w="19050">
            <a:solidFill>
              <a:srgbClr val="435273"/>
            </a:solidFill>
            <a:prstDash val="solid"/>
          </a:ln>
        </p:spPr>
      </p:sp>
      <p:sp>
        <p:nvSpPr>
          <p:cNvPr id="11" name="Text 9"/>
          <p:cNvSpPr txBox="1"/>
          <p:nvPr/>
        </p:nvSpPr>
        <p:spPr>
          <a:xfrm>
            <a:off x="8801100" y="1303020"/>
            <a:ext cx="502920" cy="502920"/>
          </a:xfrm>
          <a:prstGeom prst="rect">
            <a:avLst/>
          </a:prstGeom>
          <a:noFill/>
          <a:ln/>
        </p:spPr>
        <p:txBody>
          <a:bodyPr wrap="square" rtlCol="0" anchor="ctr"/>
          <a:lstStyle/>
          <a:p>
            <a:pPr marL="0" indent="0" algn="ctr">
              <a:buNone/>
            </a:pPr>
            <a:r>
              <a:rPr lang="en-US" sz="1300" b="1" dirty="0">
                <a:solidFill>
                  <a:srgbClr val="14213D"/>
                </a:solidFill>
                <a:latin typeface="Calibri" pitchFamily="34" charset="0"/>
                <a:ea typeface="Calibri" pitchFamily="34" charset="-122"/>
                <a:cs typeface="Calibri" pitchFamily="34" charset="-120"/>
              </a:rPr>
              <a:t>s'</a:t>
            </a:r>
            <a:endParaRPr lang="en-US" sz="1300" dirty="0"/>
          </a:p>
        </p:txBody>
      </p:sp>
      <p:sp>
        <p:nvSpPr>
          <p:cNvPr id="12" name="Shape 10"/>
          <p:cNvSpPr/>
          <p:nvPr/>
        </p:nvSpPr>
        <p:spPr>
          <a:xfrm flipV="1">
            <a:off x="9052560" y="1847088"/>
            <a:ext cx="9144" cy="694944"/>
          </a:xfrm>
          <a:prstGeom prst="line">
            <a:avLst/>
          </a:prstGeom>
          <a:noFill/>
          <a:ln w="25400">
            <a:solidFill>
              <a:srgbClr val="C9A227"/>
            </a:solidFill>
            <a:prstDash val="solid"/>
          </a:ln>
        </p:spPr>
      </p:sp>
      <p:sp>
        <p:nvSpPr>
          <p:cNvPr id="13" name="Shape 11"/>
          <p:cNvSpPr/>
          <p:nvPr/>
        </p:nvSpPr>
        <p:spPr>
          <a:xfrm>
            <a:off x="8732520" y="2066544"/>
            <a:ext cx="640080" cy="237744"/>
          </a:xfrm>
          <a:prstGeom prst="rect">
            <a:avLst/>
          </a:prstGeom>
          <a:solidFill>
            <a:srgbClr val="F7F9FC"/>
          </a:solidFill>
          <a:ln/>
        </p:spPr>
      </p:sp>
      <p:sp>
        <p:nvSpPr>
          <p:cNvPr id="14" name="Text 12"/>
          <p:cNvSpPr txBox="1"/>
          <p:nvPr/>
        </p:nvSpPr>
        <p:spPr>
          <a:xfrm>
            <a:off x="8732520" y="2066544"/>
            <a:ext cx="640080" cy="237744"/>
          </a:xfrm>
          <a:prstGeom prst="rect">
            <a:avLst/>
          </a:prstGeom>
          <a:noFill/>
          <a:ln/>
        </p:spPr>
        <p:txBody>
          <a:bodyPr wrap="square" rtlCol="0" anchor="ctr"/>
          <a:lstStyle/>
          <a:p>
            <a:pPr marL="0" indent="0" algn="ctr">
              <a:buNone/>
            </a:pPr>
            <a:r>
              <a:rPr lang="en-US" sz="1000" b="1" dirty="0">
                <a:solidFill>
                  <a:srgbClr val="14213D"/>
                </a:solidFill>
                <a:latin typeface="Calibri" pitchFamily="34" charset="0"/>
                <a:ea typeface="Calibri" pitchFamily="34" charset="-122"/>
                <a:cs typeface="Calibri" pitchFamily="34" charset="-120"/>
              </a:rPr>
              <a:t>UP</a:t>
            </a:r>
            <a:endParaRPr lang="en-US" sz="1000" dirty="0"/>
          </a:p>
        </p:txBody>
      </p:sp>
      <p:sp>
        <p:nvSpPr>
          <p:cNvPr id="15" name="Shape 13"/>
          <p:cNvSpPr/>
          <p:nvPr/>
        </p:nvSpPr>
        <p:spPr>
          <a:xfrm>
            <a:off x="10126980" y="2034540"/>
            <a:ext cx="502920" cy="502920"/>
          </a:xfrm>
          <a:prstGeom prst="ellipse">
            <a:avLst/>
          </a:prstGeom>
          <a:solidFill>
            <a:srgbClr val="EAEFF8"/>
          </a:solidFill>
          <a:ln w="19050">
            <a:solidFill>
              <a:srgbClr val="435273"/>
            </a:solidFill>
            <a:prstDash val="solid"/>
          </a:ln>
        </p:spPr>
      </p:sp>
      <p:sp>
        <p:nvSpPr>
          <p:cNvPr id="16" name="Text 14"/>
          <p:cNvSpPr txBox="1"/>
          <p:nvPr/>
        </p:nvSpPr>
        <p:spPr>
          <a:xfrm>
            <a:off x="10126980" y="2034540"/>
            <a:ext cx="502920" cy="502920"/>
          </a:xfrm>
          <a:prstGeom prst="rect">
            <a:avLst/>
          </a:prstGeom>
          <a:noFill/>
          <a:ln/>
        </p:spPr>
        <p:txBody>
          <a:bodyPr wrap="square" rtlCol="0" anchor="ctr"/>
          <a:lstStyle/>
          <a:p>
            <a:pPr marL="0" indent="0" algn="ctr">
              <a:buNone/>
            </a:pPr>
            <a:r>
              <a:rPr lang="en-US" sz="1300" b="1" dirty="0">
                <a:solidFill>
                  <a:srgbClr val="14213D"/>
                </a:solidFill>
                <a:latin typeface="Calibri" pitchFamily="34" charset="0"/>
                <a:ea typeface="Calibri" pitchFamily="34" charset="-122"/>
                <a:cs typeface="Calibri" pitchFamily="34" charset="-120"/>
              </a:rPr>
              <a:t>s'</a:t>
            </a:r>
            <a:endParaRPr lang="en-US" sz="1300" dirty="0"/>
          </a:p>
        </p:txBody>
      </p:sp>
      <p:sp>
        <p:nvSpPr>
          <p:cNvPr id="17" name="Shape 15"/>
          <p:cNvSpPr/>
          <p:nvPr/>
        </p:nvSpPr>
        <p:spPr>
          <a:xfrm flipV="1">
            <a:off x="9322935" y="2397879"/>
            <a:ext cx="785131" cy="324882"/>
          </a:xfrm>
          <a:prstGeom prst="line">
            <a:avLst/>
          </a:prstGeom>
          <a:noFill/>
          <a:ln w="25400">
            <a:solidFill>
              <a:srgbClr val="C9A227"/>
            </a:solidFill>
            <a:prstDash val="solid"/>
          </a:ln>
        </p:spPr>
      </p:sp>
      <p:sp>
        <p:nvSpPr>
          <p:cNvPr id="18" name="Shape 16"/>
          <p:cNvSpPr/>
          <p:nvPr/>
        </p:nvSpPr>
        <p:spPr>
          <a:xfrm>
            <a:off x="9395460" y="2432304"/>
            <a:ext cx="640080" cy="237744"/>
          </a:xfrm>
          <a:prstGeom prst="rect">
            <a:avLst/>
          </a:prstGeom>
          <a:solidFill>
            <a:srgbClr val="F7F9FC"/>
          </a:solidFill>
          <a:ln/>
        </p:spPr>
      </p:sp>
      <p:sp>
        <p:nvSpPr>
          <p:cNvPr id="19" name="Text 17"/>
          <p:cNvSpPr txBox="1"/>
          <p:nvPr/>
        </p:nvSpPr>
        <p:spPr>
          <a:xfrm>
            <a:off x="9395460" y="2432304"/>
            <a:ext cx="640080" cy="237744"/>
          </a:xfrm>
          <a:prstGeom prst="rect">
            <a:avLst/>
          </a:prstGeom>
          <a:noFill/>
          <a:ln/>
        </p:spPr>
        <p:txBody>
          <a:bodyPr wrap="square" rtlCol="0" anchor="ctr"/>
          <a:lstStyle/>
          <a:p>
            <a:pPr marL="0" indent="0" algn="ctr">
              <a:buNone/>
            </a:pPr>
            <a:r>
              <a:rPr lang="en-US" sz="1000" b="1" dirty="0">
                <a:solidFill>
                  <a:srgbClr val="14213D"/>
                </a:solidFill>
                <a:latin typeface="Calibri" pitchFamily="34" charset="0"/>
                <a:ea typeface="Calibri" pitchFamily="34" charset="-122"/>
                <a:cs typeface="Calibri" pitchFamily="34" charset="-120"/>
              </a:rPr>
              <a:t>RIGHT</a:t>
            </a:r>
            <a:endParaRPr lang="en-US" sz="1000" dirty="0"/>
          </a:p>
        </p:txBody>
      </p:sp>
      <p:sp>
        <p:nvSpPr>
          <p:cNvPr id="20" name="Shape 18"/>
          <p:cNvSpPr/>
          <p:nvPr/>
        </p:nvSpPr>
        <p:spPr>
          <a:xfrm>
            <a:off x="10126980" y="3314700"/>
            <a:ext cx="502920" cy="502920"/>
          </a:xfrm>
          <a:prstGeom prst="ellipse">
            <a:avLst/>
          </a:prstGeom>
          <a:solidFill>
            <a:srgbClr val="F1E3E3"/>
          </a:solidFill>
          <a:ln w="19050">
            <a:solidFill>
              <a:srgbClr val="435273"/>
            </a:solidFill>
            <a:prstDash val="solid"/>
          </a:ln>
        </p:spPr>
      </p:sp>
      <p:sp>
        <p:nvSpPr>
          <p:cNvPr id="21" name="Text 19"/>
          <p:cNvSpPr txBox="1"/>
          <p:nvPr/>
        </p:nvSpPr>
        <p:spPr>
          <a:xfrm>
            <a:off x="10126980" y="3314700"/>
            <a:ext cx="502920" cy="502920"/>
          </a:xfrm>
          <a:prstGeom prst="rect">
            <a:avLst/>
          </a:prstGeom>
          <a:noFill/>
          <a:ln/>
        </p:spPr>
        <p:txBody>
          <a:bodyPr wrap="square" rtlCol="0" anchor="ctr"/>
          <a:lstStyle/>
          <a:p>
            <a:pPr marL="0" indent="0" algn="ctr">
              <a:buNone/>
            </a:pPr>
            <a:r>
              <a:rPr lang="en-US" sz="1300" b="1" dirty="0">
                <a:solidFill>
                  <a:srgbClr val="14213D"/>
                </a:solidFill>
                <a:latin typeface="Calibri" pitchFamily="34" charset="0"/>
                <a:ea typeface="Calibri" pitchFamily="34" charset="-122"/>
                <a:cs typeface="Calibri" pitchFamily="34" charset="-120"/>
              </a:rPr>
              <a:t>s'</a:t>
            </a:r>
            <a:endParaRPr lang="en-US" sz="1300" dirty="0"/>
          </a:p>
        </p:txBody>
      </p:sp>
      <p:sp>
        <p:nvSpPr>
          <p:cNvPr id="22" name="Shape 20"/>
          <p:cNvSpPr/>
          <p:nvPr/>
        </p:nvSpPr>
        <p:spPr>
          <a:xfrm>
            <a:off x="9308761" y="2975992"/>
            <a:ext cx="813478" cy="448815"/>
          </a:xfrm>
          <a:prstGeom prst="line">
            <a:avLst/>
          </a:prstGeom>
          <a:noFill/>
          <a:ln w="15875">
            <a:solidFill>
              <a:srgbClr val="9E3B3B"/>
            </a:solidFill>
            <a:prstDash val="dash"/>
          </a:ln>
        </p:spPr>
      </p:sp>
      <p:sp>
        <p:nvSpPr>
          <p:cNvPr id="23" name="Shape 21"/>
          <p:cNvSpPr/>
          <p:nvPr/>
        </p:nvSpPr>
        <p:spPr>
          <a:xfrm>
            <a:off x="9395460" y="3072384"/>
            <a:ext cx="640080" cy="237744"/>
          </a:xfrm>
          <a:prstGeom prst="rect">
            <a:avLst/>
          </a:prstGeom>
          <a:solidFill>
            <a:srgbClr val="F7F9FC"/>
          </a:solidFill>
          <a:ln/>
        </p:spPr>
      </p:sp>
      <p:sp>
        <p:nvSpPr>
          <p:cNvPr id="24" name="Text 22"/>
          <p:cNvSpPr txBox="1"/>
          <p:nvPr/>
        </p:nvSpPr>
        <p:spPr>
          <a:xfrm>
            <a:off x="9395460" y="3072384"/>
            <a:ext cx="640080" cy="237744"/>
          </a:xfrm>
          <a:prstGeom prst="rect">
            <a:avLst/>
          </a:prstGeom>
          <a:noFill/>
          <a:ln/>
        </p:spPr>
        <p:txBody>
          <a:bodyPr wrap="square" rtlCol="0" anchor="ctr"/>
          <a:lstStyle/>
          <a:p>
            <a:pPr marL="0" indent="0" algn="ctr">
              <a:buNone/>
            </a:pPr>
            <a:r>
              <a:rPr lang="en-US" sz="1000" b="1" dirty="0">
                <a:solidFill>
                  <a:srgbClr val="9E3B3B"/>
                </a:solidFill>
                <a:latin typeface="Calibri" pitchFamily="34" charset="0"/>
                <a:ea typeface="Calibri" pitchFamily="34" charset="-122"/>
                <a:cs typeface="Calibri" pitchFamily="34" charset="-120"/>
              </a:rPr>
              <a:t>DOWN?</a:t>
            </a:r>
            <a:endParaRPr lang="en-US" sz="1000" dirty="0"/>
          </a:p>
        </p:txBody>
      </p:sp>
      <p:sp>
        <p:nvSpPr>
          <p:cNvPr id="25" name="Shape 23"/>
          <p:cNvSpPr/>
          <p:nvPr/>
        </p:nvSpPr>
        <p:spPr>
          <a:xfrm>
            <a:off x="8801100" y="3954780"/>
            <a:ext cx="502920" cy="502920"/>
          </a:xfrm>
          <a:prstGeom prst="ellipse">
            <a:avLst/>
          </a:prstGeom>
          <a:solidFill>
            <a:srgbClr val="EAEFF8"/>
          </a:solidFill>
          <a:ln w="19050">
            <a:solidFill>
              <a:srgbClr val="435273"/>
            </a:solidFill>
            <a:prstDash val="solid"/>
          </a:ln>
        </p:spPr>
      </p:sp>
      <p:sp>
        <p:nvSpPr>
          <p:cNvPr id="26" name="Text 24"/>
          <p:cNvSpPr txBox="1"/>
          <p:nvPr/>
        </p:nvSpPr>
        <p:spPr>
          <a:xfrm>
            <a:off x="8801100" y="3954780"/>
            <a:ext cx="502920" cy="502920"/>
          </a:xfrm>
          <a:prstGeom prst="rect">
            <a:avLst/>
          </a:prstGeom>
          <a:noFill/>
          <a:ln/>
        </p:spPr>
        <p:txBody>
          <a:bodyPr wrap="square" rtlCol="0" anchor="ctr"/>
          <a:lstStyle/>
          <a:p>
            <a:pPr marL="0" indent="0" algn="ctr">
              <a:buNone/>
            </a:pPr>
            <a:r>
              <a:rPr lang="en-US" sz="1300" b="1" dirty="0">
                <a:solidFill>
                  <a:srgbClr val="14213D"/>
                </a:solidFill>
                <a:latin typeface="Calibri" pitchFamily="34" charset="0"/>
                <a:ea typeface="Calibri" pitchFamily="34" charset="-122"/>
                <a:cs typeface="Calibri" pitchFamily="34" charset="-120"/>
              </a:rPr>
              <a:t>s'</a:t>
            </a:r>
            <a:endParaRPr lang="en-US" sz="1300" dirty="0"/>
          </a:p>
        </p:txBody>
      </p:sp>
      <p:sp>
        <p:nvSpPr>
          <p:cNvPr id="27" name="Shape 25"/>
          <p:cNvSpPr/>
          <p:nvPr/>
        </p:nvSpPr>
        <p:spPr>
          <a:xfrm>
            <a:off x="9052560" y="3127248"/>
            <a:ext cx="9144" cy="786384"/>
          </a:xfrm>
          <a:prstGeom prst="line">
            <a:avLst/>
          </a:prstGeom>
          <a:noFill/>
          <a:ln w="25400">
            <a:solidFill>
              <a:srgbClr val="C9A227"/>
            </a:solidFill>
            <a:prstDash val="solid"/>
          </a:ln>
        </p:spPr>
      </p:sp>
      <p:sp>
        <p:nvSpPr>
          <p:cNvPr id="28" name="Shape 26"/>
          <p:cNvSpPr/>
          <p:nvPr/>
        </p:nvSpPr>
        <p:spPr>
          <a:xfrm>
            <a:off x="8732520" y="3392424"/>
            <a:ext cx="640080" cy="237744"/>
          </a:xfrm>
          <a:prstGeom prst="rect">
            <a:avLst/>
          </a:prstGeom>
          <a:solidFill>
            <a:srgbClr val="F7F9FC"/>
          </a:solidFill>
          <a:ln/>
        </p:spPr>
      </p:sp>
      <p:sp>
        <p:nvSpPr>
          <p:cNvPr id="29" name="Text 27"/>
          <p:cNvSpPr txBox="1"/>
          <p:nvPr/>
        </p:nvSpPr>
        <p:spPr>
          <a:xfrm>
            <a:off x="8732520" y="3392424"/>
            <a:ext cx="640080" cy="237744"/>
          </a:xfrm>
          <a:prstGeom prst="rect">
            <a:avLst/>
          </a:prstGeom>
          <a:noFill/>
          <a:ln/>
        </p:spPr>
        <p:txBody>
          <a:bodyPr wrap="square" rtlCol="0" anchor="ctr"/>
          <a:lstStyle/>
          <a:p>
            <a:pPr marL="0" indent="0" algn="ctr">
              <a:buNone/>
            </a:pPr>
            <a:r>
              <a:rPr lang="en-US" sz="1000" b="1" dirty="0">
                <a:solidFill>
                  <a:srgbClr val="14213D"/>
                </a:solidFill>
                <a:latin typeface="Calibri" pitchFamily="34" charset="0"/>
                <a:ea typeface="Calibri" pitchFamily="34" charset="-122"/>
                <a:cs typeface="Calibri" pitchFamily="34" charset="-120"/>
              </a:rPr>
              <a:t>LEFT</a:t>
            </a:r>
            <a:endParaRPr lang="en-US" sz="1000" dirty="0"/>
          </a:p>
        </p:txBody>
      </p:sp>
      <p:sp>
        <p:nvSpPr>
          <p:cNvPr id="30" name="Text 28"/>
          <p:cNvSpPr txBox="1"/>
          <p:nvPr/>
        </p:nvSpPr>
        <p:spPr>
          <a:xfrm>
            <a:off x="7132320" y="5074920"/>
            <a:ext cx="4480560" cy="548640"/>
          </a:xfrm>
          <a:prstGeom prst="rect">
            <a:avLst/>
          </a:prstGeom>
          <a:noFill/>
          <a:ln/>
        </p:spPr>
        <p:txBody>
          <a:bodyPr wrap="square" rtlCol="0" anchor="ctr"/>
          <a:lstStyle/>
          <a:p>
            <a:pPr marL="0" indent="0" algn="ctr">
              <a:lnSpc>
                <a:spcPct val="120000"/>
              </a:lnSpc>
              <a:buNone/>
            </a:pPr>
            <a:r>
              <a:rPr lang="en-US" sz="1100" i="1" dirty="0">
                <a:solidFill>
                  <a:srgbClr val="435273"/>
                </a:solidFill>
                <a:latin typeface="Calibri" pitchFamily="34" charset="0"/>
                <a:ea typeface="Calibri" pitchFamily="34" charset="-122"/>
                <a:cs typeface="Calibri" pitchFamily="34" charset="-120"/>
              </a:rPr>
              <a:t>A(s) = { UP, RIGHT, LEFT }  —  DOWN is not legal from this particular state 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92608"/>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PROBLEM FORMULATION · COMPONENT 3 OF 5</a:t>
            </a:r>
            <a:endParaRPr lang="en-US" sz="1200" dirty="0"/>
          </a:p>
        </p:txBody>
      </p:sp>
      <p:sp>
        <p:nvSpPr>
          <p:cNvPr id="3" name="Text 1"/>
          <p:cNvSpPr txBox="1"/>
          <p:nvPr/>
        </p:nvSpPr>
        <p:spPr>
          <a:xfrm>
            <a:off x="502920" y="621792"/>
            <a:ext cx="11155680" cy="658368"/>
          </a:xfrm>
          <a:prstGeom prst="rect">
            <a:avLst/>
          </a:prstGeom>
          <a:noFill/>
          <a:ln/>
        </p:spPr>
        <p:txBody>
          <a:bodyPr wrap="square" rtlCol="0" anchor="ctr"/>
          <a:lstStyle/>
          <a:p>
            <a:pPr marL="0" indent="0">
              <a:buNone/>
            </a:pPr>
            <a:r>
              <a:rPr lang="en-US" sz="2900" b="1" dirty="0">
                <a:solidFill>
                  <a:srgbClr val="14213D"/>
                </a:solidFill>
                <a:latin typeface="Cambria" pitchFamily="34" charset="0"/>
                <a:ea typeface="Cambria" pitchFamily="34" charset="-122"/>
                <a:cs typeface="Cambria" pitchFamily="34" charset="-120"/>
              </a:rPr>
              <a:t>The Transition Model — Result(s, a)</a:t>
            </a:r>
            <a:endParaRPr lang="en-US" sz="2900" dirty="0"/>
          </a:p>
        </p:txBody>
      </p:sp>
      <p:sp>
        <p:nvSpPr>
          <p:cNvPr id="4" name="Text 2"/>
          <p:cNvSpPr txBox="1"/>
          <p:nvPr/>
        </p:nvSpPr>
        <p:spPr>
          <a:xfrm>
            <a:off x="502920" y="6473952"/>
            <a:ext cx="7315200" cy="274320"/>
          </a:xfrm>
          <a:prstGeom prst="rect">
            <a:avLst/>
          </a:prstGeom>
          <a:noFill/>
          <a:ln/>
        </p:spPr>
        <p:txBody>
          <a:bodyPr wrap="square" rtlCol="0" anchor="ctr"/>
          <a:lstStyle/>
          <a:p>
            <a:pPr marL="0" indent="0">
              <a:buNone/>
            </a:pPr>
            <a:r>
              <a:rPr lang="en-US" sz="950" b="1" dirty="0">
                <a:solidFill>
                  <a:srgbClr val="6B7280"/>
                </a:solidFill>
                <a:latin typeface="Calibri" pitchFamily="34" charset="0"/>
                <a:ea typeface="Calibri" pitchFamily="34" charset="-122"/>
                <a:cs typeface="Calibri" pitchFamily="34" charset="-120"/>
              </a:rPr>
              <a:t>Artificial Intelligence</a:t>
            </a:r>
            <a:r>
              <a:rPr lang="en-US" sz="950" dirty="0">
                <a:solidFill>
                  <a:srgbClr val="6B7280"/>
                </a:solidFill>
                <a:latin typeface="Calibri" pitchFamily="34" charset="0"/>
                <a:ea typeface="Calibri" pitchFamily="34" charset="-122"/>
                <a:cs typeface="Calibri" pitchFamily="34" charset="-120"/>
              </a:rPr>
              <a:t>   ·   BS Computer Science   ·   Lecture 3</a:t>
            </a:r>
            <a:endParaRPr lang="en-US" sz="950" dirty="0"/>
          </a:p>
        </p:txBody>
      </p:sp>
      <p:sp>
        <p:nvSpPr>
          <p:cNvPr id="5" name="Text 3"/>
          <p:cNvSpPr txBox="1"/>
          <p:nvPr/>
        </p:nvSpPr>
        <p:spPr>
          <a:xfrm>
            <a:off x="8762695" y="6473952"/>
            <a:ext cx="292608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Dr. Ghulam Ali   ·   8</a:t>
            </a:r>
            <a:endParaRPr lang="en-US" sz="950" dirty="0"/>
          </a:p>
        </p:txBody>
      </p:sp>
      <p:sp>
        <p:nvSpPr>
          <p:cNvPr id="6" name="Text 4"/>
          <p:cNvSpPr txBox="1"/>
          <p:nvPr/>
        </p:nvSpPr>
        <p:spPr>
          <a:xfrm>
            <a:off x="502920" y="1417320"/>
            <a:ext cx="5989320" cy="1051560"/>
          </a:xfrm>
          <a:prstGeom prst="rect">
            <a:avLst/>
          </a:prstGeom>
          <a:noFill/>
          <a:ln/>
        </p:spPr>
        <p:txBody>
          <a:bodyPr wrap="square" rtlCol="0" anchor="ctr"/>
          <a:lstStyle/>
          <a:p>
            <a:pPr marL="0" indent="0">
              <a:lnSpc>
                <a:spcPct val="130000"/>
              </a:lnSpc>
              <a:buNone/>
            </a:pPr>
            <a:r>
              <a:rPr lang="en-US" sz="1350" dirty="0">
                <a:solidFill>
                  <a:srgbClr val="1B2333"/>
                </a:solidFill>
                <a:latin typeface="Calibri" pitchFamily="34" charset="0"/>
                <a:ea typeface="Calibri" pitchFamily="34" charset="-122"/>
                <a:cs typeface="Calibri" pitchFamily="34" charset="-120"/>
              </a:rPr>
              <a:t>The transition model Result(s, a) determines exactly which state results from applying action a while in state s. It is what makes an action's effect precise and predictable — without it, 'move right' would be an instruction with no defined outcome.</a:t>
            </a:r>
            <a:endParaRPr lang="en-US" sz="1350" dirty="0"/>
          </a:p>
        </p:txBody>
      </p:sp>
      <p:sp>
        <p:nvSpPr>
          <p:cNvPr id="7" name="Shape 5"/>
          <p:cNvSpPr/>
          <p:nvPr/>
        </p:nvSpPr>
        <p:spPr>
          <a:xfrm>
            <a:off x="502920" y="2606040"/>
            <a:ext cx="5989320" cy="1417320"/>
          </a:xfrm>
          <a:prstGeom prst="roundRect">
            <a:avLst>
              <a:gd name="adj" fmla="val 3871"/>
            </a:avLst>
          </a:prstGeom>
          <a:solidFill>
            <a:srgbClr val="0A1226"/>
          </a:solidFill>
          <a:ln/>
        </p:spPr>
      </p:sp>
      <p:sp>
        <p:nvSpPr>
          <p:cNvPr id="8" name="Text 6"/>
          <p:cNvSpPr txBox="1"/>
          <p:nvPr/>
        </p:nvSpPr>
        <p:spPr>
          <a:xfrm>
            <a:off x="731520" y="2770632"/>
            <a:ext cx="5532120" cy="1088136"/>
          </a:xfrm>
          <a:prstGeom prst="rect">
            <a:avLst/>
          </a:prstGeom>
          <a:noFill/>
          <a:ln/>
        </p:spPr>
        <p:txBody>
          <a:bodyPr wrap="square" rtlCol="0" anchor="t"/>
          <a:lstStyle/>
          <a:p>
            <a:pPr marL="0" indent="0">
              <a:lnSpc>
                <a:spcPct val="118000"/>
              </a:lnSpc>
              <a:spcAft>
                <a:spcPts val="300"/>
              </a:spcAft>
              <a:buNone/>
            </a:pPr>
            <a:r>
              <a:rPr lang="en-US" sz="1500" dirty="0">
                <a:solidFill>
                  <a:srgbClr val="E7D9A8"/>
                </a:solidFill>
                <a:latin typeface="Courier New" pitchFamily="34" charset="0"/>
                <a:ea typeface="Courier New" pitchFamily="34" charset="-122"/>
                <a:cs typeface="Courier New" pitchFamily="34" charset="-120"/>
              </a:rPr>
              <a:t>Current state:   s  = (2, 3)</a:t>
            </a:r>
            <a:endParaRPr lang="en-US" sz="1500" dirty="0"/>
          </a:p>
          <a:p>
            <a:pPr marL="0" indent="0">
              <a:lnSpc>
                <a:spcPct val="118000"/>
              </a:lnSpc>
              <a:spcAft>
                <a:spcPts val="300"/>
              </a:spcAft>
              <a:buNone/>
            </a:pPr>
            <a:r>
              <a:rPr lang="en-US" sz="1500" dirty="0">
                <a:solidFill>
                  <a:srgbClr val="D7DEEA"/>
                </a:solidFill>
                <a:latin typeface="Courier New" pitchFamily="34" charset="0"/>
                <a:ea typeface="Courier New" pitchFamily="34" charset="-122"/>
                <a:cs typeface="Courier New" pitchFamily="34" charset="-120"/>
              </a:rPr>
              <a:t>Action taken:    a  = RIGHT</a:t>
            </a:r>
            <a:endParaRPr lang="en-US" sz="1500" dirty="0"/>
          </a:p>
          <a:p>
            <a:pPr marL="0" indent="0">
              <a:lnSpc>
                <a:spcPct val="118000"/>
              </a:lnSpc>
              <a:spcAft>
                <a:spcPts val="300"/>
              </a:spcAft>
              <a:buNone/>
            </a:pPr>
            <a:r>
              <a:rPr lang="en-US" sz="1500" dirty="0">
                <a:solidFill>
                  <a:srgbClr val="D7DEEA"/>
                </a:solidFill>
                <a:latin typeface="Courier New" pitchFamily="34" charset="0"/>
                <a:ea typeface="Courier New" pitchFamily="34" charset="-122"/>
                <a:cs typeface="Courier New" pitchFamily="34" charset="-120"/>
              </a:rPr>
              <a:t>Result(s, a)  =  (2, 4)</a:t>
            </a:r>
            <a:endParaRPr lang="en-US" sz="1500" dirty="0"/>
          </a:p>
        </p:txBody>
      </p:sp>
      <p:sp>
        <p:nvSpPr>
          <p:cNvPr id="9" name="Text 7"/>
          <p:cNvSpPr txBox="1"/>
          <p:nvPr/>
        </p:nvSpPr>
        <p:spPr>
          <a:xfrm>
            <a:off x="502920" y="4251960"/>
            <a:ext cx="5989320" cy="1280160"/>
          </a:xfrm>
          <a:prstGeom prst="rect">
            <a:avLst/>
          </a:prstGeom>
          <a:noFill/>
          <a:ln/>
        </p:spPr>
        <p:txBody>
          <a:bodyPr wrap="square" rtlCol="0" anchor="ctr"/>
          <a:lstStyle/>
          <a:p>
            <a:pPr marL="0" indent="0">
              <a:lnSpc>
                <a:spcPct val="130000"/>
              </a:lnSpc>
              <a:buNone/>
            </a:pPr>
            <a:r>
              <a:rPr lang="en-US" sz="1250" i="1" dirty="0">
                <a:solidFill>
                  <a:srgbClr val="435273"/>
                </a:solidFill>
                <a:latin typeface="Calibri" pitchFamily="34" charset="0"/>
                <a:ea typeface="Calibri" pitchFamily="34" charset="-122"/>
                <a:cs typeface="Calibri" pitchFamily="34" charset="-120"/>
              </a:rPr>
              <a:t>Not every action is necessarily legal in every state — a well-formed problem restricts Result(s,a) to states in A(s), and never silently produces an undefined or invalid state.</a:t>
            </a:r>
            <a:endParaRPr lang="en-US" sz="1250" dirty="0"/>
          </a:p>
        </p:txBody>
      </p:sp>
      <p:sp>
        <p:nvSpPr>
          <p:cNvPr id="10" name="Shape 8"/>
          <p:cNvSpPr/>
          <p:nvPr/>
        </p:nvSpPr>
        <p:spPr>
          <a:xfrm>
            <a:off x="7589520" y="2651760"/>
            <a:ext cx="777240" cy="777240"/>
          </a:xfrm>
          <a:prstGeom prst="rect">
            <a:avLst/>
          </a:prstGeom>
          <a:solidFill>
            <a:srgbClr val="FFFFFF"/>
          </a:solidFill>
          <a:ln w="12700">
            <a:solidFill>
              <a:srgbClr val="D7DEEA"/>
            </a:solidFill>
            <a:prstDash val="solid"/>
          </a:ln>
        </p:spPr>
      </p:sp>
      <p:sp>
        <p:nvSpPr>
          <p:cNvPr id="11" name="Shape 9"/>
          <p:cNvSpPr/>
          <p:nvPr/>
        </p:nvSpPr>
        <p:spPr>
          <a:xfrm>
            <a:off x="8366760" y="2651760"/>
            <a:ext cx="777240" cy="777240"/>
          </a:xfrm>
          <a:prstGeom prst="rect">
            <a:avLst/>
          </a:prstGeom>
          <a:solidFill>
            <a:srgbClr val="FFFFFF"/>
          </a:solidFill>
          <a:ln w="12700">
            <a:solidFill>
              <a:srgbClr val="D7DEEA"/>
            </a:solidFill>
            <a:prstDash val="solid"/>
          </a:ln>
        </p:spPr>
      </p:sp>
      <p:sp>
        <p:nvSpPr>
          <p:cNvPr id="12" name="Shape 10"/>
          <p:cNvSpPr/>
          <p:nvPr/>
        </p:nvSpPr>
        <p:spPr>
          <a:xfrm>
            <a:off x="9144000" y="2651760"/>
            <a:ext cx="777240" cy="777240"/>
          </a:xfrm>
          <a:prstGeom prst="rect">
            <a:avLst/>
          </a:prstGeom>
          <a:solidFill>
            <a:srgbClr val="FFFFFF"/>
          </a:solidFill>
          <a:ln w="12700">
            <a:solidFill>
              <a:srgbClr val="D7DEEA"/>
            </a:solidFill>
            <a:prstDash val="solid"/>
          </a:ln>
        </p:spPr>
      </p:sp>
      <p:sp>
        <p:nvSpPr>
          <p:cNvPr id="13" name="Shape 11"/>
          <p:cNvSpPr/>
          <p:nvPr/>
        </p:nvSpPr>
        <p:spPr>
          <a:xfrm>
            <a:off x="7589520" y="3429000"/>
            <a:ext cx="777240" cy="777240"/>
          </a:xfrm>
          <a:prstGeom prst="rect">
            <a:avLst/>
          </a:prstGeom>
          <a:solidFill>
            <a:srgbClr val="FFFFFF"/>
          </a:solidFill>
          <a:ln w="12700">
            <a:solidFill>
              <a:srgbClr val="D7DEEA"/>
            </a:solidFill>
            <a:prstDash val="solid"/>
          </a:ln>
        </p:spPr>
      </p:sp>
      <p:sp>
        <p:nvSpPr>
          <p:cNvPr id="14" name="Shape 12"/>
          <p:cNvSpPr/>
          <p:nvPr/>
        </p:nvSpPr>
        <p:spPr>
          <a:xfrm>
            <a:off x="8366760" y="3429000"/>
            <a:ext cx="777240" cy="777240"/>
          </a:xfrm>
          <a:prstGeom prst="rect">
            <a:avLst/>
          </a:prstGeom>
          <a:solidFill>
            <a:srgbClr val="435273"/>
          </a:solidFill>
          <a:ln w="12700">
            <a:solidFill>
              <a:srgbClr val="D7DEEA"/>
            </a:solidFill>
            <a:prstDash val="solid"/>
          </a:ln>
        </p:spPr>
      </p:sp>
      <p:sp>
        <p:nvSpPr>
          <p:cNvPr id="15" name="Shape 13"/>
          <p:cNvSpPr/>
          <p:nvPr/>
        </p:nvSpPr>
        <p:spPr>
          <a:xfrm>
            <a:off x="9144000" y="3429000"/>
            <a:ext cx="777240" cy="777240"/>
          </a:xfrm>
          <a:prstGeom prst="rect">
            <a:avLst/>
          </a:prstGeom>
          <a:solidFill>
            <a:srgbClr val="FFFFFF"/>
          </a:solidFill>
          <a:ln w="12700">
            <a:solidFill>
              <a:srgbClr val="D7DEEA"/>
            </a:solidFill>
            <a:prstDash val="solid"/>
          </a:ln>
        </p:spPr>
      </p:sp>
      <p:sp>
        <p:nvSpPr>
          <p:cNvPr id="16" name="Shape 14"/>
          <p:cNvSpPr/>
          <p:nvPr/>
        </p:nvSpPr>
        <p:spPr>
          <a:xfrm>
            <a:off x="7589520" y="4206240"/>
            <a:ext cx="777240" cy="777240"/>
          </a:xfrm>
          <a:prstGeom prst="rect">
            <a:avLst/>
          </a:prstGeom>
          <a:solidFill>
            <a:srgbClr val="FFFFFF"/>
          </a:solidFill>
          <a:ln w="12700">
            <a:solidFill>
              <a:srgbClr val="D7DEEA"/>
            </a:solidFill>
            <a:prstDash val="solid"/>
          </a:ln>
        </p:spPr>
      </p:sp>
      <p:sp>
        <p:nvSpPr>
          <p:cNvPr id="17" name="Shape 15"/>
          <p:cNvSpPr/>
          <p:nvPr/>
        </p:nvSpPr>
        <p:spPr>
          <a:xfrm>
            <a:off x="8366760" y="4206240"/>
            <a:ext cx="777240" cy="777240"/>
          </a:xfrm>
          <a:prstGeom prst="rect">
            <a:avLst/>
          </a:prstGeom>
          <a:solidFill>
            <a:srgbClr val="FFFFFF"/>
          </a:solidFill>
          <a:ln w="12700">
            <a:solidFill>
              <a:srgbClr val="D7DEEA"/>
            </a:solidFill>
            <a:prstDash val="solid"/>
          </a:ln>
        </p:spPr>
      </p:sp>
      <p:sp>
        <p:nvSpPr>
          <p:cNvPr id="18" name="Shape 16"/>
          <p:cNvSpPr/>
          <p:nvPr/>
        </p:nvSpPr>
        <p:spPr>
          <a:xfrm>
            <a:off x="9144000" y="4206240"/>
            <a:ext cx="777240" cy="777240"/>
          </a:xfrm>
          <a:prstGeom prst="rect">
            <a:avLst/>
          </a:prstGeom>
          <a:solidFill>
            <a:srgbClr val="FFFFFF"/>
          </a:solidFill>
          <a:ln w="12700">
            <a:solidFill>
              <a:srgbClr val="D7DEEA"/>
            </a:solidFill>
            <a:prstDash val="solid"/>
          </a:ln>
        </p:spPr>
      </p:sp>
      <p:sp>
        <p:nvSpPr>
          <p:cNvPr id="19" name="Shape 17"/>
          <p:cNvSpPr/>
          <p:nvPr/>
        </p:nvSpPr>
        <p:spPr>
          <a:xfrm>
            <a:off x="7790688" y="2852928"/>
            <a:ext cx="365760" cy="365760"/>
          </a:xfrm>
          <a:prstGeom prst="ellipse">
            <a:avLst/>
          </a:prstGeom>
          <a:solidFill>
            <a:srgbClr val="C9A227"/>
          </a:solidFill>
          <a:ln/>
        </p:spPr>
      </p:sp>
      <p:sp>
        <p:nvSpPr>
          <p:cNvPr id="20" name="Shape 18"/>
          <p:cNvSpPr/>
          <p:nvPr/>
        </p:nvSpPr>
        <p:spPr>
          <a:xfrm>
            <a:off x="8156448" y="2916936"/>
            <a:ext cx="210312" cy="237744"/>
          </a:xfrm>
          <a:prstGeom prst="rightArrow">
            <a:avLst/>
          </a:prstGeom>
          <a:solidFill>
            <a:srgbClr val="2E6B4F"/>
          </a:solidFill>
          <a:ln/>
        </p:spPr>
      </p:sp>
      <p:sp>
        <p:nvSpPr>
          <p:cNvPr id="21" name="Shape 19"/>
          <p:cNvSpPr/>
          <p:nvPr/>
        </p:nvSpPr>
        <p:spPr>
          <a:xfrm>
            <a:off x="8567928" y="3630168"/>
            <a:ext cx="365760" cy="365760"/>
          </a:xfrm>
          <a:prstGeom prst="ellipse">
            <a:avLst/>
          </a:prstGeom>
          <a:solidFill>
            <a:srgbClr val="C9A227"/>
          </a:solidFill>
          <a:ln/>
        </p:spPr>
      </p:sp>
      <p:sp>
        <p:nvSpPr>
          <p:cNvPr id="22" name="Text 20"/>
          <p:cNvSpPr txBox="1"/>
          <p:nvPr/>
        </p:nvSpPr>
        <p:spPr>
          <a:xfrm>
            <a:off x="8833104" y="3520440"/>
            <a:ext cx="548640" cy="548640"/>
          </a:xfrm>
          <a:prstGeom prst="rect">
            <a:avLst/>
          </a:prstGeom>
          <a:noFill/>
          <a:ln/>
        </p:spPr>
        <p:txBody>
          <a:bodyPr wrap="square" rtlCol="0" anchor="ctr"/>
          <a:lstStyle/>
          <a:p>
            <a:pPr marL="0" indent="0" algn="ctr">
              <a:buNone/>
            </a:pPr>
            <a:r>
              <a:rPr lang="en-US" sz="2200" b="1" dirty="0">
                <a:solidFill>
                  <a:srgbClr val="9E3B3B"/>
                </a:solidFill>
                <a:latin typeface="Calibri" pitchFamily="34" charset="0"/>
                <a:ea typeface="Calibri" pitchFamily="34" charset="-122"/>
                <a:cs typeface="Calibri" pitchFamily="34" charset="-120"/>
              </a:rPr>
              <a:t>✗</a:t>
            </a:r>
            <a:endParaRPr lang="en-US" sz="2200" dirty="0"/>
          </a:p>
        </p:txBody>
      </p:sp>
      <p:sp>
        <p:nvSpPr>
          <p:cNvPr id="23" name="Text 21"/>
          <p:cNvSpPr txBox="1"/>
          <p:nvPr/>
        </p:nvSpPr>
        <p:spPr>
          <a:xfrm>
            <a:off x="7498080" y="5120640"/>
            <a:ext cx="2606040" cy="640080"/>
          </a:xfrm>
          <a:prstGeom prst="rect">
            <a:avLst/>
          </a:prstGeom>
          <a:noFill/>
          <a:ln/>
        </p:spPr>
        <p:txBody>
          <a:bodyPr wrap="square" rtlCol="0" anchor="ctr"/>
          <a:lstStyle/>
          <a:p>
            <a:pPr marL="0" indent="0">
              <a:lnSpc>
                <a:spcPct val="125000"/>
              </a:lnSpc>
              <a:buNone/>
            </a:pPr>
            <a:r>
              <a:rPr lang="en-US" sz="1100" b="1" dirty="0">
                <a:solidFill>
                  <a:srgbClr val="2E6B4F"/>
                </a:solidFill>
                <a:latin typeface="Calibri" pitchFamily="34" charset="0"/>
                <a:ea typeface="Calibri" pitchFamily="34" charset="-122"/>
                <a:cs typeface="Calibri" pitchFamily="34" charset="-120"/>
              </a:rPr>
              <a:t>Valid:  </a:t>
            </a:r>
            <a:r>
              <a:rPr lang="en-US" sz="1100" dirty="0">
                <a:solidFill>
                  <a:srgbClr val="000000"/>
                </a:solidFill>
                <a:latin typeface="Calibri" pitchFamily="34" charset="0"/>
                <a:ea typeface="Calibri" pitchFamily="34" charset="-122"/>
                <a:cs typeface="Calibri" pitchFamily="34" charset="-120"/>
              </a:rPr>
              <a:t>Result(s,RIGHT) moves into an open cell</a:t>
            </a:r>
            <a:endParaRPr lang="en-US" sz="1100" dirty="0"/>
          </a:p>
          <a:p>
            <a:pPr marL="0" indent="0">
              <a:lnSpc>
                <a:spcPct val="125000"/>
              </a:lnSpc>
              <a:buNone/>
            </a:pPr>
            <a:r>
              <a:rPr lang="en-US" sz="1100" b="1" dirty="0">
                <a:solidFill>
                  <a:srgbClr val="9E3B3B"/>
                </a:solidFill>
                <a:latin typeface="Calibri" pitchFamily="34" charset="0"/>
                <a:ea typeface="Calibri" pitchFamily="34" charset="-122"/>
                <a:cs typeface="Calibri" pitchFamily="34" charset="-120"/>
              </a:rPr>
              <a:t>Invalid:  </a:t>
            </a:r>
            <a:r>
              <a:rPr lang="en-US" sz="1100" dirty="0">
                <a:solidFill>
                  <a:srgbClr val="000000"/>
                </a:solidFill>
                <a:latin typeface="Calibri" pitchFamily="34" charset="0"/>
                <a:ea typeface="Calibri" pitchFamily="34" charset="-122"/>
                <a:cs typeface="Calibri" pitchFamily="34" charset="-120"/>
              </a:rPr>
              <a:t>RIGHT is blocked by a wall — not in A(s)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92608"/>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PROBLEM FORMULATION · COMPONENT 4 OF 5</a:t>
            </a:r>
            <a:endParaRPr lang="en-US" sz="1200" dirty="0"/>
          </a:p>
        </p:txBody>
      </p:sp>
      <p:sp>
        <p:nvSpPr>
          <p:cNvPr id="3" name="Text 1"/>
          <p:cNvSpPr txBox="1"/>
          <p:nvPr/>
        </p:nvSpPr>
        <p:spPr>
          <a:xfrm>
            <a:off x="502920" y="621792"/>
            <a:ext cx="11155680" cy="658368"/>
          </a:xfrm>
          <a:prstGeom prst="rect">
            <a:avLst/>
          </a:prstGeom>
          <a:noFill/>
          <a:ln/>
        </p:spPr>
        <p:txBody>
          <a:bodyPr wrap="square" rtlCol="0" anchor="ctr"/>
          <a:lstStyle/>
          <a:p>
            <a:pPr marL="0" indent="0">
              <a:buNone/>
            </a:pPr>
            <a:r>
              <a:rPr lang="en-US" sz="2900" b="1" dirty="0">
                <a:solidFill>
                  <a:srgbClr val="14213D"/>
                </a:solidFill>
                <a:latin typeface="Cambria" pitchFamily="34" charset="0"/>
                <a:ea typeface="Cambria" pitchFamily="34" charset="-122"/>
                <a:cs typeface="Cambria" pitchFamily="34" charset="-120"/>
              </a:rPr>
              <a:t>The Goal Test — Goal(s)</a:t>
            </a:r>
            <a:endParaRPr lang="en-US" sz="2900" dirty="0"/>
          </a:p>
        </p:txBody>
      </p:sp>
      <p:sp>
        <p:nvSpPr>
          <p:cNvPr id="4" name="Text 2"/>
          <p:cNvSpPr txBox="1"/>
          <p:nvPr/>
        </p:nvSpPr>
        <p:spPr>
          <a:xfrm>
            <a:off x="502920" y="6473952"/>
            <a:ext cx="7315200" cy="274320"/>
          </a:xfrm>
          <a:prstGeom prst="rect">
            <a:avLst/>
          </a:prstGeom>
          <a:noFill/>
          <a:ln/>
        </p:spPr>
        <p:txBody>
          <a:bodyPr wrap="square" rtlCol="0" anchor="ctr"/>
          <a:lstStyle/>
          <a:p>
            <a:pPr marL="0" indent="0">
              <a:buNone/>
            </a:pPr>
            <a:r>
              <a:rPr lang="en-US" sz="950" b="1" dirty="0">
                <a:solidFill>
                  <a:srgbClr val="6B7280"/>
                </a:solidFill>
                <a:latin typeface="Calibri" pitchFamily="34" charset="0"/>
                <a:ea typeface="Calibri" pitchFamily="34" charset="-122"/>
                <a:cs typeface="Calibri" pitchFamily="34" charset="-120"/>
              </a:rPr>
              <a:t>Artificial Intelligence</a:t>
            </a:r>
            <a:r>
              <a:rPr lang="en-US" sz="950" dirty="0">
                <a:solidFill>
                  <a:srgbClr val="6B7280"/>
                </a:solidFill>
                <a:latin typeface="Calibri" pitchFamily="34" charset="0"/>
                <a:ea typeface="Calibri" pitchFamily="34" charset="-122"/>
                <a:cs typeface="Calibri" pitchFamily="34" charset="-120"/>
              </a:rPr>
              <a:t>   ·   BS Computer Science   ·   Lecture 3</a:t>
            </a:r>
            <a:endParaRPr lang="en-US" sz="950" dirty="0"/>
          </a:p>
        </p:txBody>
      </p:sp>
      <p:sp>
        <p:nvSpPr>
          <p:cNvPr id="5" name="Text 3"/>
          <p:cNvSpPr txBox="1"/>
          <p:nvPr/>
        </p:nvSpPr>
        <p:spPr>
          <a:xfrm>
            <a:off x="8762695" y="6473952"/>
            <a:ext cx="292608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Dr. Ghulam Ali   ·   9</a:t>
            </a:r>
            <a:endParaRPr lang="en-US" sz="950" dirty="0"/>
          </a:p>
        </p:txBody>
      </p:sp>
      <p:sp>
        <p:nvSpPr>
          <p:cNvPr id="6" name="Text 4"/>
          <p:cNvSpPr txBox="1"/>
          <p:nvPr/>
        </p:nvSpPr>
        <p:spPr>
          <a:xfrm>
            <a:off x="502920" y="1417320"/>
            <a:ext cx="11185855" cy="914400"/>
          </a:xfrm>
          <a:prstGeom prst="rect">
            <a:avLst/>
          </a:prstGeom>
          <a:noFill/>
          <a:ln/>
        </p:spPr>
        <p:txBody>
          <a:bodyPr wrap="square" rtlCol="0" anchor="ctr"/>
          <a:lstStyle/>
          <a:p>
            <a:pPr marL="0" indent="0">
              <a:lnSpc>
                <a:spcPct val="130000"/>
              </a:lnSpc>
              <a:buNone/>
            </a:pPr>
            <a:r>
              <a:rPr lang="en-US" sz="1350" dirty="0">
                <a:solidFill>
                  <a:srgbClr val="1B2333"/>
                </a:solidFill>
                <a:latin typeface="Calibri" pitchFamily="34" charset="0"/>
                <a:ea typeface="Calibri" pitchFamily="34" charset="-122"/>
                <a:cs typeface="Calibri" pitchFamily="34" charset="-120"/>
              </a:rPr>
              <a:t>Goal(s) is a test — a function returning true or false — that determines whether a given state satisfies the problem's objective. Writing it as a test, rather than as a single fixed state, allows a problem to have many acceptable goal states.</a:t>
            </a:r>
            <a:endParaRPr lang="en-US" sz="13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2423160"/>
          <a:ext cx="11201400" cy="2286000"/>
        </p:xfrm>
        <a:graphic>
          <a:graphicData uri="http://schemas.openxmlformats.org/drawingml/2006/table">
            <a:tbl>
              <a:tblPr/>
              <a:tblGrid>
                <a:gridCol w="3566160">
                  <a:extLst>
                    <a:ext uri="{9D8B030D-6E8A-4147-A177-3AD203B41FA5}">
                      <a16:colId xmlns:a16="http://schemas.microsoft.com/office/drawing/2014/main" val="20000"/>
                    </a:ext>
                  </a:extLst>
                </a:gridCol>
                <a:gridCol w="7635240">
                  <a:extLst>
                    <a:ext uri="{9D8B030D-6E8A-4147-A177-3AD203B41FA5}">
                      <a16:colId xmlns:a16="http://schemas.microsoft.com/office/drawing/2014/main" val="20001"/>
                    </a:ext>
                  </a:extLst>
                </a:gridCol>
              </a:tblGrid>
              <a:tr h="457200">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Problem</a:t>
                      </a:r>
                      <a:endParaRPr lang="en-US" sz="12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4213D"/>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Goal test Goal(s)</a:t>
                      </a:r>
                      <a:endParaRPr lang="en-US" sz="12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457200">
                <a:tc>
                  <a:txBody>
                    <a:bodyPr/>
                    <a:lstStyle/>
                    <a:p>
                      <a:pPr marL="0" indent="0" algn="l">
                        <a:buNone/>
                      </a:pPr>
                      <a:r>
                        <a:rPr lang="en-US" sz="1250" dirty="0">
                          <a:solidFill>
                            <a:srgbClr val="1B2333"/>
                          </a:solidFill>
                          <a:latin typeface="Calibri" pitchFamily="34" charset="0"/>
                          <a:ea typeface="Calibri" pitchFamily="34" charset="-122"/>
                          <a:cs typeface="Calibri" pitchFamily="34" charset="-120"/>
                        </a:rPr>
                        <a:t>Robot navigation</a:t>
                      </a:r>
                      <a:endParaRPr lang="en-US" sz="12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333"/>
                          </a:solidFill>
                          <a:latin typeface="Calibri" pitchFamily="34" charset="0"/>
                          <a:ea typeface="Calibri" pitchFamily="34" charset="-122"/>
                          <a:cs typeface="Calibri" pitchFamily="34" charset="-120"/>
                        </a:rPr>
                        <a:t>current position = destination coordinates</a:t>
                      </a:r>
                      <a:endParaRPr lang="en-US" sz="12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250" dirty="0">
                          <a:solidFill>
                            <a:srgbClr val="1B2333"/>
                          </a:solidFill>
                          <a:latin typeface="Calibri" pitchFamily="34" charset="0"/>
                          <a:ea typeface="Calibri" pitchFamily="34" charset="-122"/>
                          <a:cs typeface="Calibri" pitchFamily="34" charset="-120"/>
                        </a:rPr>
                        <a:t>8-puzzle</a:t>
                      </a:r>
                      <a:endParaRPr lang="en-US" sz="12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250" dirty="0">
                          <a:solidFill>
                            <a:srgbClr val="1B2333"/>
                          </a:solidFill>
                          <a:latin typeface="Calibri" pitchFamily="34" charset="0"/>
                          <a:ea typeface="Calibri" pitchFamily="34" charset="-122"/>
                          <a:cs typeface="Calibri" pitchFamily="34" charset="-120"/>
                        </a:rPr>
                        <a:t>current tile configuration = target configuration</a:t>
                      </a:r>
                      <a:endParaRPr lang="en-US" sz="12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extLst>
                  <a:ext uri="{0D108BD9-81ED-4DB2-BD59-A6C34878D82A}">
                    <a16:rowId xmlns:a16="http://schemas.microsoft.com/office/drawing/2014/main" val="10002"/>
                  </a:ext>
                </a:extLst>
              </a:tr>
              <a:tr h="457200">
                <a:tc>
                  <a:txBody>
                    <a:bodyPr/>
                    <a:lstStyle/>
                    <a:p>
                      <a:pPr marL="0" indent="0" algn="l">
                        <a:buNone/>
                      </a:pPr>
                      <a:r>
                        <a:rPr lang="en-US" sz="1250" dirty="0">
                          <a:solidFill>
                            <a:srgbClr val="1B2333"/>
                          </a:solidFill>
                          <a:latin typeface="Calibri" pitchFamily="34" charset="0"/>
                          <a:ea typeface="Calibri" pitchFamily="34" charset="-122"/>
                          <a:cs typeface="Calibri" pitchFamily="34" charset="-120"/>
                        </a:rPr>
                        <a:t>Route planning</a:t>
                      </a:r>
                      <a:endParaRPr lang="en-US" sz="12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333"/>
                          </a:solidFill>
                          <a:latin typeface="Calibri" pitchFamily="34" charset="0"/>
                          <a:ea typeface="Calibri" pitchFamily="34" charset="-122"/>
                          <a:cs typeface="Calibri" pitchFamily="34" charset="-120"/>
                        </a:rPr>
                        <a:t>current city = destination city</a:t>
                      </a:r>
                      <a:endParaRPr lang="en-US" sz="12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250" dirty="0">
                          <a:solidFill>
                            <a:srgbClr val="1B2333"/>
                          </a:solidFill>
                          <a:latin typeface="Calibri" pitchFamily="34" charset="0"/>
                          <a:ea typeface="Calibri" pitchFamily="34" charset="-122"/>
                          <a:cs typeface="Calibri" pitchFamily="34" charset="-120"/>
                        </a:rPr>
                        <a:t>Chess (checkmate)</a:t>
                      </a:r>
                      <a:endParaRPr lang="en-US" sz="12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250" dirty="0">
                          <a:solidFill>
                            <a:srgbClr val="1B2333"/>
                          </a:solidFill>
                          <a:latin typeface="Calibri" pitchFamily="34" charset="0"/>
                          <a:ea typeface="Calibri" pitchFamily="34" charset="-122"/>
                          <a:cs typeface="Calibri" pitchFamily="34" charset="-120"/>
                        </a:rPr>
                        <a:t>current position is any configuration where the opponent is checkmated</a:t>
                      </a:r>
                      <a:endParaRPr lang="en-US" sz="12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extLst>
                  <a:ext uri="{0D108BD9-81ED-4DB2-BD59-A6C34878D82A}">
                    <a16:rowId xmlns:a16="http://schemas.microsoft.com/office/drawing/2014/main" val="10004"/>
                  </a:ext>
                </a:extLst>
              </a:tr>
            </a:tbl>
          </a:graphicData>
        </a:graphic>
      </p:graphicFrame>
      <p:sp>
        <p:nvSpPr>
          <p:cNvPr id="8" name="Shape 5"/>
          <p:cNvSpPr/>
          <p:nvPr/>
        </p:nvSpPr>
        <p:spPr>
          <a:xfrm>
            <a:off x="502920" y="4709160"/>
            <a:ext cx="11185855" cy="1234440"/>
          </a:xfrm>
          <a:prstGeom prst="roundRect">
            <a:avLst>
              <a:gd name="adj" fmla="val 5926"/>
            </a:avLst>
          </a:prstGeom>
          <a:solidFill>
            <a:srgbClr val="EAEFF8"/>
          </a:solidFill>
          <a:ln/>
        </p:spPr>
      </p:sp>
      <p:sp>
        <p:nvSpPr>
          <p:cNvPr id="9" name="Shape 6"/>
          <p:cNvSpPr/>
          <p:nvPr/>
        </p:nvSpPr>
        <p:spPr>
          <a:xfrm>
            <a:off x="704088" y="4910328"/>
            <a:ext cx="347472" cy="347472"/>
          </a:xfrm>
          <a:prstGeom prst="ellipse">
            <a:avLst/>
          </a:prstGeom>
          <a:solidFill>
            <a:srgbClr val="C9A227"/>
          </a:solidFill>
          <a:ln/>
        </p:spPr>
      </p:sp>
      <p:sp>
        <p:nvSpPr>
          <p:cNvPr id="7" name="Text 7"/>
          <p:cNvSpPr txBox="1"/>
          <p:nvPr/>
        </p:nvSpPr>
        <p:spPr>
          <a:xfrm>
            <a:off x="704088" y="4910328"/>
            <a:ext cx="347472" cy="347472"/>
          </a:xfrm>
          <a:prstGeom prst="rect">
            <a:avLst/>
          </a:prstGeom>
          <a:noFill/>
          <a:ln/>
        </p:spPr>
        <p:txBody>
          <a:bodyPr wrap="none" rtlCol="0" anchor="ctr"/>
          <a:lstStyle/>
          <a:p>
            <a:pPr marL="0" indent="0" algn="ctr">
              <a:buNone/>
            </a:pPr>
            <a:r>
              <a:rPr lang="en-US" sz="1500" b="1" dirty="0">
                <a:solidFill>
                  <a:srgbClr val="0A1226"/>
                </a:solidFill>
                <a:latin typeface="Calibri" pitchFamily="34" charset="0"/>
                <a:ea typeface="Calibri" pitchFamily="34" charset="-122"/>
                <a:cs typeface="Calibri" pitchFamily="34" charset="-120"/>
              </a:rPr>
              <a:t>≠</a:t>
            </a:r>
            <a:endParaRPr lang="en-US" sz="1500" dirty="0"/>
          </a:p>
        </p:txBody>
      </p:sp>
      <p:sp>
        <p:nvSpPr>
          <p:cNvPr id="11" name="Text 8"/>
          <p:cNvSpPr txBox="1"/>
          <p:nvPr/>
        </p:nvSpPr>
        <p:spPr>
          <a:xfrm>
            <a:off x="1207008" y="4873752"/>
            <a:ext cx="10280599" cy="310896"/>
          </a:xfrm>
          <a:prstGeom prst="rect">
            <a:avLst/>
          </a:prstGeom>
          <a:noFill/>
          <a:ln/>
        </p:spPr>
        <p:txBody>
          <a:bodyPr wrap="square" rtlCol="0" anchor="ctr"/>
          <a:lstStyle/>
          <a:p>
            <a:pPr marL="0" indent="0">
              <a:buNone/>
            </a:pPr>
            <a:r>
              <a:rPr lang="en-US" sz="1400" b="1" dirty="0">
                <a:solidFill>
                  <a:srgbClr val="14213D"/>
                </a:solidFill>
                <a:latin typeface="Calibri" pitchFamily="34" charset="0"/>
                <a:ea typeface="Calibri" pitchFamily="34" charset="-122"/>
                <a:cs typeface="Calibri" pitchFamily="34" charset="-120"/>
              </a:rPr>
              <a:t>Goal state  vs.  Goal test — an important distinction</a:t>
            </a:r>
            <a:endParaRPr lang="en-US" sz="1400" dirty="0"/>
          </a:p>
        </p:txBody>
      </p:sp>
      <p:sp>
        <p:nvSpPr>
          <p:cNvPr id="12" name="Text 9"/>
          <p:cNvSpPr txBox="1"/>
          <p:nvPr/>
        </p:nvSpPr>
        <p:spPr>
          <a:xfrm>
            <a:off x="1207008" y="5202936"/>
            <a:ext cx="10280599" cy="704088"/>
          </a:xfrm>
          <a:prstGeom prst="rect">
            <a:avLst/>
          </a:prstGeom>
          <a:noFill/>
          <a:ln/>
        </p:spPr>
        <p:txBody>
          <a:bodyPr wrap="square" rtlCol="0" anchor="t"/>
          <a:lstStyle/>
          <a:p>
            <a:pPr marL="0" indent="0">
              <a:lnSpc>
                <a:spcPct val="112000"/>
              </a:lnSpc>
              <a:buNone/>
            </a:pPr>
            <a:r>
              <a:rPr lang="en-US" sz="1250" dirty="0">
                <a:solidFill>
                  <a:srgbClr val="1B2333"/>
                </a:solidFill>
                <a:latin typeface="Calibri" pitchFamily="34" charset="0"/>
                <a:ea typeface="Calibri" pitchFamily="34" charset="-122"/>
                <a:cs typeface="Calibri" pitchFamily="34" charset="-120"/>
              </a:rPr>
              <a:t>A goal state is one particular state that satisfies the objective. Goal(s) is the procedure that checks whether ANY given state qualifies. A problem may have exactly one goal state (a specific city) or many (any checkmating position) — the goal test handles both uniformly.</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92608"/>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PROBLEM FORMULATION · COMPONENT 5 OF 5</a:t>
            </a:r>
            <a:endParaRPr lang="en-US" sz="1200" dirty="0"/>
          </a:p>
        </p:txBody>
      </p:sp>
      <p:sp>
        <p:nvSpPr>
          <p:cNvPr id="3" name="Text 1"/>
          <p:cNvSpPr txBox="1"/>
          <p:nvPr/>
        </p:nvSpPr>
        <p:spPr>
          <a:xfrm>
            <a:off x="502920" y="621792"/>
            <a:ext cx="11155680" cy="658368"/>
          </a:xfrm>
          <a:prstGeom prst="rect">
            <a:avLst/>
          </a:prstGeom>
          <a:noFill/>
          <a:ln/>
        </p:spPr>
        <p:txBody>
          <a:bodyPr wrap="square" rtlCol="0" anchor="ctr"/>
          <a:lstStyle/>
          <a:p>
            <a:pPr marL="0" indent="0">
              <a:buNone/>
            </a:pPr>
            <a:r>
              <a:rPr lang="en-US" sz="2900" b="1" dirty="0">
                <a:solidFill>
                  <a:srgbClr val="14213D"/>
                </a:solidFill>
                <a:latin typeface="Cambria" pitchFamily="34" charset="0"/>
                <a:ea typeface="Cambria" pitchFamily="34" charset="-122"/>
                <a:cs typeface="Cambria" pitchFamily="34" charset="-120"/>
              </a:rPr>
              <a:t>Path Cost — g(n)</a:t>
            </a:r>
            <a:endParaRPr lang="en-US" sz="2900" dirty="0"/>
          </a:p>
        </p:txBody>
      </p:sp>
      <p:sp>
        <p:nvSpPr>
          <p:cNvPr id="4" name="Text 2"/>
          <p:cNvSpPr txBox="1"/>
          <p:nvPr/>
        </p:nvSpPr>
        <p:spPr>
          <a:xfrm>
            <a:off x="502920" y="6473952"/>
            <a:ext cx="7315200" cy="274320"/>
          </a:xfrm>
          <a:prstGeom prst="rect">
            <a:avLst/>
          </a:prstGeom>
          <a:noFill/>
          <a:ln/>
        </p:spPr>
        <p:txBody>
          <a:bodyPr wrap="square" rtlCol="0" anchor="ctr"/>
          <a:lstStyle/>
          <a:p>
            <a:pPr marL="0" indent="0">
              <a:buNone/>
            </a:pPr>
            <a:r>
              <a:rPr lang="en-US" sz="950" b="1" dirty="0">
                <a:solidFill>
                  <a:srgbClr val="6B7280"/>
                </a:solidFill>
                <a:latin typeface="Calibri" pitchFamily="34" charset="0"/>
                <a:ea typeface="Calibri" pitchFamily="34" charset="-122"/>
                <a:cs typeface="Calibri" pitchFamily="34" charset="-120"/>
              </a:rPr>
              <a:t>Artificial Intelligence</a:t>
            </a:r>
            <a:r>
              <a:rPr lang="en-US" sz="950" dirty="0">
                <a:solidFill>
                  <a:srgbClr val="6B7280"/>
                </a:solidFill>
                <a:latin typeface="Calibri" pitchFamily="34" charset="0"/>
                <a:ea typeface="Calibri" pitchFamily="34" charset="-122"/>
                <a:cs typeface="Calibri" pitchFamily="34" charset="-120"/>
              </a:rPr>
              <a:t>   ·   BS Computer Science   ·   Lecture 3</a:t>
            </a:r>
            <a:endParaRPr lang="en-US" sz="950" dirty="0"/>
          </a:p>
        </p:txBody>
      </p:sp>
      <p:sp>
        <p:nvSpPr>
          <p:cNvPr id="5" name="Text 3"/>
          <p:cNvSpPr txBox="1"/>
          <p:nvPr/>
        </p:nvSpPr>
        <p:spPr>
          <a:xfrm>
            <a:off x="8762695" y="6473952"/>
            <a:ext cx="292608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Dr. Ghulam Ali   ·   10</a:t>
            </a:r>
            <a:endParaRPr lang="en-US" sz="950" dirty="0"/>
          </a:p>
        </p:txBody>
      </p:sp>
      <p:sp>
        <p:nvSpPr>
          <p:cNvPr id="6" name="Text 4"/>
          <p:cNvSpPr txBox="1"/>
          <p:nvPr/>
        </p:nvSpPr>
        <p:spPr>
          <a:xfrm>
            <a:off x="502920" y="1417320"/>
            <a:ext cx="5989320" cy="1234440"/>
          </a:xfrm>
          <a:prstGeom prst="rect">
            <a:avLst/>
          </a:prstGeom>
          <a:noFill/>
          <a:ln/>
        </p:spPr>
        <p:txBody>
          <a:bodyPr wrap="square" rtlCol="0" anchor="ctr"/>
          <a:lstStyle/>
          <a:p>
            <a:pPr marL="0" indent="0">
              <a:lnSpc>
                <a:spcPct val="130000"/>
              </a:lnSpc>
              <a:buNone/>
            </a:pPr>
            <a:r>
              <a:rPr lang="en-US" sz="1350" dirty="0">
                <a:solidFill>
                  <a:srgbClr val="1B2333"/>
                </a:solidFill>
                <a:latin typeface="Calibri" pitchFamily="34" charset="0"/>
                <a:ea typeface="Calibri" pitchFamily="34" charset="-122"/>
                <a:cs typeface="Calibri" pitchFamily="34" charset="-120"/>
              </a:rPr>
              <a:t>Path cost, written g(n), is the cumulative cost of the sequence of actions from the initial state to node n. It lets us compare two different solutions that both reach a goal, and decide which one is preferable — not merely whether a solution exists.</a:t>
            </a:r>
            <a:endParaRPr lang="en-US" sz="1350" dirty="0"/>
          </a:p>
        </p:txBody>
      </p:sp>
      <p:sp>
        <p:nvSpPr>
          <p:cNvPr id="7" name="Shape 5"/>
          <p:cNvSpPr/>
          <p:nvPr/>
        </p:nvSpPr>
        <p:spPr>
          <a:xfrm>
            <a:off x="502920" y="2743200"/>
            <a:ext cx="5989320" cy="1234440"/>
          </a:xfrm>
          <a:prstGeom prst="roundRect">
            <a:avLst>
              <a:gd name="adj" fmla="val 5926"/>
            </a:avLst>
          </a:prstGeom>
          <a:solidFill>
            <a:srgbClr val="EAEFF8"/>
          </a:solidFill>
          <a:ln/>
        </p:spPr>
      </p:sp>
      <p:sp>
        <p:nvSpPr>
          <p:cNvPr id="8" name="Shape 6"/>
          <p:cNvSpPr/>
          <p:nvPr/>
        </p:nvSpPr>
        <p:spPr>
          <a:xfrm>
            <a:off x="704088" y="2944368"/>
            <a:ext cx="347472" cy="347472"/>
          </a:xfrm>
          <a:prstGeom prst="ellipse">
            <a:avLst/>
          </a:prstGeom>
          <a:solidFill>
            <a:srgbClr val="C9A227"/>
          </a:solidFill>
          <a:ln/>
        </p:spPr>
      </p:sp>
      <p:sp>
        <p:nvSpPr>
          <p:cNvPr id="9" name="Text 7"/>
          <p:cNvSpPr txBox="1"/>
          <p:nvPr/>
        </p:nvSpPr>
        <p:spPr>
          <a:xfrm>
            <a:off x="704088" y="2944368"/>
            <a:ext cx="347472" cy="347472"/>
          </a:xfrm>
          <a:prstGeom prst="rect">
            <a:avLst/>
          </a:prstGeom>
          <a:noFill/>
          <a:ln/>
        </p:spPr>
        <p:txBody>
          <a:bodyPr wrap="none" rtlCol="0" anchor="ctr"/>
          <a:lstStyle/>
          <a:p>
            <a:pPr marL="0" indent="0" algn="ctr">
              <a:buNone/>
            </a:pPr>
            <a:r>
              <a:rPr lang="en-US" sz="1500" b="1" dirty="0">
                <a:solidFill>
                  <a:srgbClr val="0A1226"/>
                </a:solidFill>
                <a:latin typeface="Calibri" pitchFamily="34" charset="0"/>
                <a:ea typeface="Calibri" pitchFamily="34" charset="-122"/>
                <a:cs typeface="Calibri" pitchFamily="34" charset="-120"/>
              </a:rPr>
              <a:t>1</a:t>
            </a:r>
            <a:endParaRPr lang="en-US" sz="1500" dirty="0"/>
          </a:p>
        </p:txBody>
      </p:sp>
      <p:sp>
        <p:nvSpPr>
          <p:cNvPr id="10" name="Text 8"/>
          <p:cNvSpPr txBox="1"/>
          <p:nvPr/>
        </p:nvSpPr>
        <p:spPr>
          <a:xfrm>
            <a:off x="1207008" y="2907792"/>
            <a:ext cx="5084064" cy="310896"/>
          </a:xfrm>
          <a:prstGeom prst="rect">
            <a:avLst/>
          </a:prstGeom>
          <a:noFill/>
          <a:ln/>
        </p:spPr>
        <p:txBody>
          <a:bodyPr wrap="square" rtlCol="0" anchor="ctr"/>
          <a:lstStyle/>
          <a:p>
            <a:pPr marL="0" indent="0">
              <a:buNone/>
            </a:pPr>
            <a:r>
              <a:rPr lang="en-US" sz="1400" b="1" dirty="0">
                <a:solidFill>
                  <a:srgbClr val="14213D"/>
                </a:solidFill>
                <a:latin typeface="Calibri" pitchFamily="34" charset="0"/>
                <a:ea typeface="Calibri" pitchFamily="34" charset="-122"/>
                <a:cs typeface="Calibri" pitchFamily="34" charset="-120"/>
              </a:rPr>
              <a:t>Uniform / unit-cost problems</a:t>
            </a:r>
            <a:endParaRPr lang="en-US" sz="1400" dirty="0"/>
          </a:p>
        </p:txBody>
      </p:sp>
      <p:sp>
        <p:nvSpPr>
          <p:cNvPr id="11" name="Text 9"/>
          <p:cNvSpPr txBox="1"/>
          <p:nvPr/>
        </p:nvSpPr>
        <p:spPr>
          <a:xfrm>
            <a:off x="1207008" y="3236976"/>
            <a:ext cx="5084064" cy="704088"/>
          </a:xfrm>
          <a:prstGeom prst="rect">
            <a:avLst/>
          </a:prstGeom>
          <a:noFill/>
          <a:ln/>
        </p:spPr>
        <p:txBody>
          <a:bodyPr wrap="square" rtlCol="0" anchor="t"/>
          <a:lstStyle/>
          <a:p>
            <a:pPr marL="0" indent="0">
              <a:lnSpc>
                <a:spcPct val="112000"/>
              </a:lnSpc>
              <a:buNone/>
            </a:pPr>
            <a:r>
              <a:rPr lang="en-US" sz="1250" dirty="0">
                <a:solidFill>
                  <a:srgbClr val="1B2333"/>
                </a:solidFill>
                <a:latin typeface="Calibri" pitchFamily="34" charset="0"/>
                <a:ea typeface="Calibri" pitchFamily="34" charset="-122"/>
                <a:cs typeface="Calibri" pitchFamily="34" charset="-120"/>
              </a:rPr>
              <a:t>Every action costs exactly 1 (e.g., each grid move). Here, path cost is simply the number of actions taken — depth and cost coincide.</a:t>
            </a:r>
            <a:endParaRPr lang="en-US" sz="1250" dirty="0"/>
          </a:p>
        </p:txBody>
      </p:sp>
      <p:sp>
        <p:nvSpPr>
          <p:cNvPr id="12" name="Shape 10"/>
          <p:cNvSpPr/>
          <p:nvPr/>
        </p:nvSpPr>
        <p:spPr>
          <a:xfrm>
            <a:off x="502920" y="4160520"/>
            <a:ext cx="5989320" cy="1600200"/>
          </a:xfrm>
          <a:prstGeom prst="roundRect">
            <a:avLst>
              <a:gd name="adj" fmla="val 4571"/>
            </a:avLst>
          </a:prstGeom>
          <a:solidFill>
            <a:srgbClr val="EAEFF8"/>
          </a:solidFill>
          <a:ln/>
        </p:spPr>
      </p:sp>
      <p:sp>
        <p:nvSpPr>
          <p:cNvPr id="13" name="Shape 11"/>
          <p:cNvSpPr/>
          <p:nvPr/>
        </p:nvSpPr>
        <p:spPr>
          <a:xfrm>
            <a:off x="704088" y="4361688"/>
            <a:ext cx="347472" cy="347472"/>
          </a:xfrm>
          <a:prstGeom prst="ellipse">
            <a:avLst/>
          </a:prstGeom>
          <a:solidFill>
            <a:srgbClr val="C9A227"/>
          </a:solidFill>
          <a:ln/>
        </p:spPr>
      </p:sp>
      <p:sp>
        <p:nvSpPr>
          <p:cNvPr id="14" name="Text 12"/>
          <p:cNvSpPr txBox="1"/>
          <p:nvPr/>
        </p:nvSpPr>
        <p:spPr>
          <a:xfrm>
            <a:off x="704088" y="4361688"/>
            <a:ext cx="347472" cy="347472"/>
          </a:xfrm>
          <a:prstGeom prst="rect">
            <a:avLst/>
          </a:prstGeom>
          <a:noFill/>
          <a:ln/>
        </p:spPr>
        <p:txBody>
          <a:bodyPr wrap="none" rtlCol="0" anchor="ctr"/>
          <a:lstStyle/>
          <a:p>
            <a:pPr marL="0" indent="0" algn="ctr">
              <a:buNone/>
            </a:pPr>
            <a:r>
              <a:rPr lang="en-US" sz="1500" b="1" dirty="0">
                <a:solidFill>
                  <a:srgbClr val="0A1226"/>
                </a:solidFill>
                <a:latin typeface="Calibri" pitchFamily="34" charset="0"/>
                <a:ea typeface="Calibri" pitchFamily="34" charset="-122"/>
                <a:cs typeface="Calibri" pitchFamily="34" charset="-120"/>
              </a:rPr>
              <a:t>$</a:t>
            </a:r>
            <a:endParaRPr lang="en-US" sz="1500" dirty="0"/>
          </a:p>
        </p:txBody>
      </p:sp>
      <p:sp>
        <p:nvSpPr>
          <p:cNvPr id="15" name="Text 13"/>
          <p:cNvSpPr txBox="1"/>
          <p:nvPr/>
        </p:nvSpPr>
        <p:spPr>
          <a:xfrm>
            <a:off x="1207008" y="4325112"/>
            <a:ext cx="5084064" cy="310896"/>
          </a:xfrm>
          <a:prstGeom prst="rect">
            <a:avLst/>
          </a:prstGeom>
          <a:noFill/>
          <a:ln/>
        </p:spPr>
        <p:txBody>
          <a:bodyPr wrap="square" rtlCol="0" anchor="ctr"/>
          <a:lstStyle/>
          <a:p>
            <a:pPr marL="0" indent="0">
              <a:buNone/>
            </a:pPr>
            <a:r>
              <a:rPr lang="en-US" sz="1400" b="1" dirty="0">
                <a:solidFill>
                  <a:srgbClr val="14213D"/>
                </a:solidFill>
                <a:latin typeface="Calibri" pitchFamily="34" charset="0"/>
                <a:ea typeface="Calibri" pitchFamily="34" charset="-122"/>
                <a:cs typeface="Calibri" pitchFamily="34" charset="-120"/>
              </a:rPr>
              <a:t>Weighted / variable-cost problems</a:t>
            </a:r>
            <a:endParaRPr lang="en-US" sz="1400" dirty="0"/>
          </a:p>
        </p:txBody>
      </p:sp>
      <p:sp>
        <p:nvSpPr>
          <p:cNvPr id="16" name="Text 14"/>
          <p:cNvSpPr txBox="1"/>
          <p:nvPr/>
        </p:nvSpPr>
        <p:spPr>
          <a:xfrm>
            <a:off x="1207008" y="4654296"/>
            <a:ext cx="5084064" cy="1069848"/>
          </a:xfrm>
          <a:prstGeom prst="rect">
            <a:avLst/>
          </a:prstGeom>
          <a:noFill/>
          <a:ln/>
        </p:spPr>
        <p:txBody>
          <a:bodyPr wrap="square" rtlCol="0" anchor="t"/>
          <a:lstStyle/>
          <a:p>
            <a:pPr marL="0" indent="0">
              <a:lnSpc>
                <a:spcPct val="112000"/>
              </a:lnSpc>
              <a:buNone/>
            </a:pPr>
            <a:r>
              <a:rPr lang="en-US" sz="1250" dirty="0">
                <a:solidFill>
                  <a:srgbClr val="1B2333"/>
                </a:solidFill>
                <a:latin typeface="Calibri" pitchFamily="34" charset="0"/>
                <a:ea typeface="Calibri" pitchFamily="34" charset="-122"/>
                <a:cs typeface="Calibri" pitchFamily="34" charset="-120"/>
              </a:rPr>
              <a:t>Cost(s,a,s') can represent distance, travel time, fuel consumed, or monetary price. Here, the number of actions and the total cost can disagree — a route with more segments can still be cheaper overall.</a:t>
            </a:r>
            <a:endParaRPr lang="en-US" sz="1250" dirty="0"/>
          </a:p>
        </p:txBody>
      </p:sp>
      <p:sp>
        <p:nvSpPr>
          <p:cNvPr id="17" name="Shape 15"/>
          <p:cNvSpPr/>
          <p:nvPr/>
        </p:nvSpPr>
        <p:spPr>
          <a:xfrm>
            <a:off x="6903720" y="1417320"/>
            <a:ext cx="4434840" cy="4846320"/>
          </a:xfrm>
          <a:prstGeom prst="roundRect">
            <a:avLst>
              <a:gd name="adj" fmla="val 1649"/>
            </a:avLst>
          </a:prstGeom>
          <a:solidFill>
            <a:srgbClr val="14213D"/>
          </a:solidFill>
          <a:ln/>
        </p:spPr>
      </p:sp>
      <p:sp>
        <p:nvSpPr>
          <p:cNvPr id="18" name="Text 16"/>
          <p:cNvSpPr txBox="1"/>
          <p:nvPr/>
        </p:nvSpPr>
        <p:spPr>
          <a:xfrm>
            <a:off x="7178040" y="1737360"/>
            <a:ext cx="3886200" cy="548640"/>
          </a:xfrm>
          <a:prstGeom prst="rect">
            <a:avLst/>
          </a:prstGeom>
          <a:noFill/>
          <a:ln/>
        </p:spPr>
        <p:txBody>
          <a:bodyPr wrap="square" rtlCol="0" anchor="ctr"/>
          <a:lstStyle/>
          <a:p>
            <a:pPr marL="0" indent="0" algn="ctr">
              <a:buNone/>
            </a:pPr>
            <a:r>
              <a:rPr lang="en-US" sz="1700" b="1" i="1" dirty="0">
                <a:solidFill>
                  <a:srgbClr val="FFFFFF"/>
                </a:solidFill>
                <a:latin typeface="Cambria Math" pitchFamily="34" charset="0"/>
                <a:ea typeface="Cambria Math" pitchFamily="34" charset="-122"/>
                <a:cs typeface="Cambria Math" pitchFamily="34" charset="-120"/>
              </a:rPr>
              <a:t>g(n)  =  Σ  Cost(sᵢ , aᵢ , sᵢ₊₁)</a:t>
            </a:r>
            <a:endParaRPr lang="en-US" sz="1700" dirty="0"/>
          </a:p>
        </p:txBody>
      </p:sp>
      <p:sp>
        <p:nvSpPr>
          <p:cNvPr id="19" name="Text 17"/>
          <p:cNvSpPr txBox="1"/>
          <p:nvPr/>
        </p:nvSpPr>
        <p:spPr>
          <a:xfrm>
            <a:off x="7178040" y="2286000"/>
            <a:ext cx="3886200" cy="320040"/>
          </a:xfrm>
          <a:prstGeom prst="rect">
            <a:avLst/>
          </a:prstGeom>
          <a:noFill/>
          <a:ln/>
        </p:spPr>
        <p:txBody>
          <a:bodyPr wrap="square" rtlCol="0" anchor="ctr"/>
          <a:lstStyle/>
          <a:p>
            <a:pPr marL="0" indent="0" algn="ctr">
              <a:buNone/>
            </a:pPr>
            <a:r>
              <a:rPr lang="en-US" sz="1050" i="1" dirty="0">
                <a:solidFill>
                  <a:srgbClr val="E7D9A8"/>
                </a:solidFill>
                <a:latin typeface="Calibri" pitchFamily="34" charset="0"/>
                <a:ea typeface="Calibri" pitchFamily="34" charset="-122"/>
                <a:cs typeface="Calibri" pitchFamily="34" charset="-120"/>
              </a:rPr>
              <a:t>sum over every step of the path from s₀ to n</a:t>
            </a:r>
            <a:endParaRPr lang="en-US" sz="1050" dirty="0"/>
          </a:p>
        </p:txBody>
      </p:sp>
      <p:sp>
        <p:nvSpPr>
          <p:cNvPr id="20" name="Text 18"/>
          <p:cNvSpPr txBox="1"/>
          <p:nvPr/>
        </p:nvSpPr>
        <p:spPr>
          <a:xfrm>
            <a:off x="7178040" y="2834640"/>
            <a:ext cx="3886200" cy="3200400"/>
          </a:xfrm>
          <a:prstGeom prst="rect">
            <a:avLst/>
          </a:prstGeom>
          <a:noFill/>
          <a:ln/>
        </p:spPr>
        <p:txBody>
          <a:bodyPr wrap="square" rtlCol="0" anchor="t"/>
          <a:lstStyle/>
          <a:p>
            <a:pPr marL="0" indent="0">
              <a:lnSpc>
                <a:spcPct val="125000"/>
              </a:lnSpc>
              <a:spcAft>
                <a:spcPts val="800"/>
              </a:spcAft>
              <a:buNone/>
            </a:pPr>
            <a:r>
              <a:rPr lang="en-US" sz="1200" b="1" dirty="0">
                <a:solidFill>
                  <a:srgbClr val="C9A227"/>
                </a:solidFill>
                <a:latin typeface="Calibri" pitchFamily="34" charset="0"/>
                <a:ea typeface="Calibri" pitchFamily="34" charset="-122"/>
                <a:cs typeface="Calibri" pitchFamily="34" charset="-120"/>
              </a:rPr>
              <a:t>Why this matters for what's ahead:</a:t>
            </a:r>
            <a:endParaRPr lang="en-US" sz="1200" dirty="0"/>
          </a:p>
          <a:p>
            <a:pPr marL="0" indent="0">
              <a:lnSpc>
                <a:spcPct val="125000"/>
              </a:lnSpc>
              <a:spcAft>
                <a:spcPts val="800"/>
              </a:spcAft>
              <a:buNone/>
            </a:pPr>
            <a:r>
              <a:rPr lang="en-US" sz="1200" dirty="0">
                <a:solidFill>
                  <a:srgbClr val="D7DEEA"/>
                </a:solidFill>
                <a:latin typeface="Calibri" pitchFamily="34" charset="0"/>
                <a:ea typeface="Calibri" pitchFamily="34" charset="-122"/>
                <a:cs typeface="Calibri" pitchFamily="34" charset="-120"/>
              </a:rPr>
              <a:t>BFS reasons about depth (number of actions).</a:t>
            </a:r>
            <a:endParaRPr lang="en-US" sz="1200" dirty="0"/>
          </a:p>
          <a:p>
            <a:pPr marL="0" indent="0">
              <a:lnSpc>
                <a:spcPct val="125000"/>
              </a:lnSpc>
              <a:spcAft>
                <a:spcPts val="800"/>
              </a:spcAft>
              <a:buNone/>
            </a:pPr>
            <a:r>
              <a:rPr lang="en-US" sz="1200" dirty="0">
                <a:solidFill>
                  <a:srgbClr val="D7DEEA"/>
                </a:solidFill>
                <a:latin typeface="Calibri" pitchFamily="34" charset="0"/>
                <a:ea typeface="Calibri" pitchFamily="34" charset="-122"/>
                <a:cs typeface="Calibri" pitchFamily="34" charset="-120"/>
              </a:rPr>
              <a:t>DFS reasons about depth, exploring one branch at a time.</a:t>
            </a:r>
            <a:endParaRPr lang="en-US" sz="1200" dirty="0"/>
          </a:p>
          <a:p>
            <a:pPr marL="0" indent="0">
              <a:lnSpc>
                <a:spcPct val="125000"/>
              </a:lnSpc>
              <a:buNone/>
            </a:pPr>
            <a:r>
              <a:rPr lang="en-US" sz="1200" dirty="0">
                <a:solidFill>
                  <a:srgbClr val="D7DEEA"/>
                </a:solidFill>
                <a:latin typeface="Calibri" pitchFamily="34" charset="0"/>
                <a:ea typeface="Calibri" pitchFamily="34" charset="-122"/>
                <a:cs typeface="Calibri" pitchFamily="34" charset="-120"/>
              </a:rPr>
              <a:t>UCS reasons about g(n) directly — it is the first strategy in this lecture built entirely around path cost, which is why it can find a cheaper solution that BFS would overlook.</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92608"/>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PROBLEM FORMULATION</a:t>
            </a:r>
            <a:endParaRPr lang="en-US" sz="1200" dirty="0"/>
          </a:p>
        </p:txBody>
      </p:sp>
      <p:sp>
        <p:nvSpPr>
          <p:cNvPr id="3" name="Text 1"/>
          <p:cNvSpPr txBox="1"/>
          <p:nvPr/>
        </p:nvSpPr>
        <p:spPr>
          <a:xfrm>
            <a:off x="502920" y="621792"/>
            <a:ext cx="11155680" cy="658368"/>
          </a:xfrm>
          <a:prstGeom prst="rect">
            <a:avLst/>
          </a:prstGeom>
          <a:noFill/>
          <a:ln/>
        </p:spPr>
        <p:txBody>
          <a:bodyPr wrap="square" rtlCol="0" anchor="ctr"/>
          <a:lstStyle/>
          <a:p>
            <a:pPr marL="0" indent="0">
              <a:buNone/>
            </a:pPr>
            <a:r>
              <a:rPr lang="en-US" sz="2900" b="1" dirty="0">
                <a:solidFill>
                  <a:srgbClr val="14213D"/>
                </a:solidFill>
                <a:latin typeface="Cambria" pitchFamily="34" charset="0"/>
                <a:ea typeface="Cambria" pitchFamily="34" charset="-122"/>
                <a:cs typeface="Cambria" pitchFamily="34" charset="-120"/>
              </a:rPr>
              <a:t>Complete Worked Formulation: A Maze</a:t>
            </a:r>
            <a:endParaRPr lang="en-US" sz="2900" dirty="0"/>
          </a:p>
        </p:txBody>
      </p:sp>
      <p:sp>
        <p:nvSpPr>
          <p:cNvPr id="4" name="Text 2"/>
          <p:cNvSpPr txBox="1"/>
          <p:nvPr/>
        </p:nvSpPr>
        <p:spPr>
          <a:xfrm>
            <a:off x="502920" y="6473952"/>
            <a:ext cx="7315200" cy="274320"/>
          </a:xfrm>
          <a:prstGeom prst="rect">
            <a:avLst/>
          </a:prstGeom>
          <a:noFill/>
          <a:ln/>
        </p:spPr>
        <p:txBody>
          <a:bodyPr wrap="square" rtlCol="0" anchor="ctr"/>
          <a:lstStyle/>
          <a:p>
            <a:pPr marL="0" indent="0">
              <a:buNone/>
            </a:pPr>
            <a:r>
              <a:rPr lang="en-US" sz="950" b="1" dirty="0">
                <a:solidFill>
                  <a:srgbClr val="6B7280"/>
                </a:solidFill>
                <a:latin typeface="Calibri" pitchFamily="34" charset="0"/>
                <a:ea typeface="Calibri" pitchFamily="34" charset="-122"/>
                <a:cs typeface="Calibri" pitchFamily="34" charset="-120"/>
              </a:rPr>
              <a:t>Artificial Intelligence</a:t>
            </a:r>
            <a:r>
              <a:rPr lang="en-US" sz="950" dirty="0">
                <a:solidFill>
                  <a:srgbClr val="6B7280"/>
                </a:solidFill>
                <a:latin typeface="Calibri" pitchFamily="34" charset="0"/>
                <a:ea typeface="Calibri" pitchFamily="34" charset="-122"/>
                <a:cs typeface="Calibri" pitchFamily="34" charset="-120"/>
              </a:rPr>
              <a:t>   ·   BS Computer Science   ·   Lecture 3</a:t>
            </a:r>
            <a:endParaRPr lang="en-US" sz="950" dirty="0"/>
          </a:p>
        </p:txBody>
      </p:sp>
      <p:sp>
        <p:nvSpPr>
          <p:cNvPr id="5" name="Text 3"/>
          <p:cNvSpPr txBox="1"/>
          <p:nvPr/>
        </p:nvSpPr>
        <p:spPr>
          <a:xfrm>
            <a:off x="8762695" y="6473952"/>
            <a:ext cx="292608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Dr. Ghulam Ali   ·   11</a:t>
            </a:r>
            <a:endParaRPr lang="en-US" sz="950" dirty="0"/>
          </a:p>
        </p:txBody>
      </p:sp>
      <p:sp>
        <p:nvSpPr>
          <p:cNvPr id="6" name="Shape 4"/>
          <p:cNvSpPr/>
          <p:nvPr/>
        </p:nvSpPr>
        <p:spPr>
          <a:xfrm>
            <a:off x="1005840" y="2011680"/>
            <a:ext cx="914400" cy="914400"/>
          </a:xfrm>
          <a:prstGeom prst="rect">
            <a:avLst/>
          </a:prstGeom>
          <a:solidFill>
            <a:srgbClr val="E7D9A8"/>
          </a:solidFill>
          <a:ln w="15875">
            <a:solidFill>
              <a:srgbClr val="D7DEEA"/>
            </a:solidFill>
            <a:prstDash val="solid"/>
          </a:ln>
        </p:spPr>
      </p:sp>
      <p:sp>
        <p:nvSpPr>
          <p:cNvPr id="7" name="Text 5"/>
          <p:cNvSpPr txBox="1"/>
          <p:nvPr/>
        </p:nvSpPr>
        <p:spPr>
          <a:xfrm>
            <a:off x="1005840" y="2011680"/>
            <a:ext cx="914400" cy="914400"/>
          </a:xfrm>
          <a:prstGeom prst="rect">
            <a:avLst/>
          </a:prstGeom>
          <a:noFill/>
          <a:ln/>
        </p:spPr>
        <p:txBody>
          <a:bodyPr wrap="square" rtlCol="0" anchor="ctr"/>
          <a:lstStyle/>
          <a:p>
            <a:pPr marL="0" indent="0" algn="ctr">
              <a:buNone/>
            </a:pPr>
            <a:r>
              <a:rPr lang="en-US" sz="2400" b="1" dirty="0">
                <a:solidFill>
                  <a:srgbClr val="0A1226"/>
                </a:solidFill>
                <a:latin typeface="Calibri" pitchFamily="34" charset="0"/>
                <a:ea typeface="Calibri" pitchFamily="34" charset="-122"/>
                <a:cs typeface="Calibri" pitchFamily="34" charset="-120"/>
              </a:rPr>
              <a:t>S</a:t>
            </a:r>
            <a:endParaRPr lang="en-US" sz="2400" dirty="0"/>
          </a:p>
        </p:txBody>
      </p:sp>
      <p:sp>
        <p:nvSpPr>
          <p:cNvPr id="8" name="Shape 6"/>
          <p:cNvSpPr/>
          <p:nvPr/>
        </p:nvSpPr>
        <p:spPr>
          <a:xfrm>
            <a:off x="1920240" y="2011680"/>
            <a:ext cx="914400" cy="914400"/>
          </a:xfrm>
          <a:prstGeom prst="rect">
            <a:avLst/>
          </a:prstGeom>
          <a:solidFill>
            <a:srgbClr val="FFFFFF"/>
          </a:solidFill>
          <a:ln w="15875">
            <a:solidFill>
              <a:srgbClr val="D7DEEA"/>
            </a:solidFill>
            <a:prstDash val="solid"/>
          </a:ln>
        </p:spPr>
      </p:sp>
      <p:sp>
        <p:nvSpPr>
          <p:cNvPr id="9" name="Shape 7"/>
          <p:cNvSpPr/>
          <p:nvPr/>
        </p:nvSpPr>
        <p:spPr>
          <a:xfrm>
            <a:off x="2834640" y="2011680"/>
            <a:ext cx="914400" cy="914400"/>
          </a:xfrm>
          <a:prstGeom prst="rect">
            <a:avLst/>
          </a:prstGeom>
          <a:solidFill>
            <a:srgbClr val="FFFFFF"/>
          </a:solidFill>
          <a:ln w="15875">
            <a:solidFill>
              <a:srgbClr val="D7DEEA"/>
            </a:solidFill>
            <a:prstDash val="solid"/>
          </a:ln>
        </p:spPr>
      </p:sp>
      <p:sp>
        <p:nvSpPr>
          <p:cNvPr id="10" name="Shape 8"/>
          <p:cNvSpPr/>
          <p:nvPr/>
        </p:nvSpPr>
        <p:spPr>
          <a:xfrm>
            <a:off x="3749040" y="2011680"/>
            <a:ext cx="914400" cy="914400"/>
          </a:xfrm>
          <a:prstGeom prst="rect">
            <a:avLst/>
          </a:prstGeom>
          <a:solidFill>
            <a:srgbClr val="435273"/>
          </a:solidFill>
          <a:ln w="15875">
            <a:solidFill>
              <a:srgbClr val="D7DEEA"/>
            </a:solidFill>
            <a:prstDash val="solid"/>
          </a:ln>
        </p:spPr>
      </p:sp>
      <p:sp>
        <p:nvSpPr>
          <p:cNvPr id="11" name="Text 9"/>
          <p:cNvSpPr txBox="1"/>
          <p:nvPr/>
        </p:nvSpPr>
        <p:spPr>
          <a:xfrm>
            <a:off x="3749040" y="2011680"/>
            <a:ext cx="914400" cy="914400"/>
          </a:xfrm>
          <a:prstGeom prst="rect">
            <a:avLst/>
          </a:prstGeom>
          <a:no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12" name="Shape 10"/>
          <p:cNvSpPr/>
          <p:nvPr/>
        </p:nvSpPr>
        <p:spPr>
          <a:xfrm>
            <a:off x="1005840" y="2926080"/>
            <a:ext cx="914400" cy="914400"/>
          </a:xfrm>
          <a:prstGeom prst="rect">
            <a:avLst/>
          </a:prstGeom>
          <a:solidFill>
            <a:srgbClr val="FFFFFF"/>
          </a:solidFill>
          <a:ln w="15875">
            <a:solidFill>
              <a:srgbClr val="D7DEEA"/>
            </a:solidFill>
            <a:prstDash val="solid"/>
          </a:ln>
        </p:spPr>
      </p:sp>
      <p:sp>
        <p:nvSpPr>
          <p:cNvPr id="13" name="Shape 11"/>
          <p:cNvSpPr/>
          <p:nvPr/>
        </p:nvSpPr>
        <p:spPr>
          <a:xfrm>
            <a:off x="1920240" y="2926080"/>
            <a:ext cx="914400" cy="914400"/>
          </a:xfrm>
          <a:prstGeom prst="rect">
            <a:avLst/>
          </a:prstGeom>
          <a:solidFill>
            <a:srgbClr val="435273"/>
          </a:solidFill>
          <a:ln w="15875">
            <a:solidFill>
              <a:srgbClr val="D7DEEA"/>
            </a:solidFill>
            <a:prstDash val="solid"/>
          </a:ln>
        </p:spPr>
      </p:sp>
      <p:sp>
        <p:nvSpPr>
          <p:cNvPr id="14" name="Text 12"/>
          <p:cNvSpPr txBox="1"/>
          <p:nvPr/>
        </p:nvSpPr>
        <p:spPr>
          <a:xfrm>
            <a:off x="1920240" y="2926080"/>
            <a:ext cx="914400" cy="914400"/>
          </a:xfrm>
          <a:prstGeom prst="rect">
            <a:avLst/>
          </a:prstGeom>
          <a:no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15" name="Shape 13"/>
          <p:cNvSpPr/>
          <p:nvPr/>
        </p:nvSpPr>
        <p:spPr>
          <a:xfrm>
            <a:off x="2834640" y="2926080"/>
            <a:ext cx="914400" cy="914400"/>
          </a:xfrm>
          <a:prstGeom prst="rect">
            <a:avLst/>
          </a:prstGeom>
          <a:solidFill>
            <a:srgbClr val="FFFFFF"/>
          </a:solidFill>
          <a:ln w="15875">
            <a:solidFill>
              <a:srgbClr val="D7DEEA"/>
            </a:solidFill>
            <a:prstDash val="solid"/>
          </a:ln>
        </p:spPr>
      </p:sp>
      <p:sp>
        <p:nvSpPr>
          <p:cNvPr id="16" name="Shape 14"/>
          <p:cNvSpPr/>
          <p:nvPr/>
        </p:nvSpPr>
        <p:spPr>
          <a:xfrm>
            <a:off x="3749040" y="2926080"/>
            <a:ext cx="914400" cy="914400"/>
          </a:xfrm>
          <a:prstGeom prst="rect">
            <a:avLst/>
          </a:prstGeom>
          <a:solidFill>
            <a:srgbClr val="FFFFFF"/>
          </a:solidFill>
          <a:ln w="15875">
            <a:solidFill>
              <a:srgbClr val="D7DEEA"/>
            </a:solidFill>
            <a:prstDash val="solid"/>
          </a:ln>
        </p:spPr>
      </p:sp>
      <p:sp>
        <p:nvSpPr>
          <p:cNvPr id="17" name="Shape 15"/>
          <p:cNvSpPr/>
          <p:nvPr/>
        </p:nvSpPr>
        <p:spPr>
          <a:xfrm>
            <a:off x="1005840" y="3840480"/>
            <a:ext cx="914400" cy="914400"/>
          </a:xfrm>
          <a:prstGeom prst="rect">
            <a:avLst/>
          </a:prstGeom>
          <a:solidFill>
            <a:srgbClr val="FFFFFF"/>
          </a:solidFill>
          <a:ln w="15875">
            <a:solidFill>
              <a:srgbClr val="D7DEEA"/>
            </a:solidFill>
            <a:prstDash val="solid"/>
          </a:ln>
        </p:spPr>
      </p:sp>
      <p:sp>
        <p:nvSpPr>
          <p:cNvPr id="18" name="Shape 16"/>
          <p:cNvSpPr/>
          <p:nvPr/>
        </p:nvSpPr>
        <p:spPr>
          <a:xfrm>
            <a:off x="1920240" y="3840480"/>
            <a:ext cx="914400" cy="914400"/>
          </a:xfrm>
          <a:prstGeom prst="rect">
            <a:avLst/>
          </a:prstGeom>
          <a:solidFill>
            <a:srgbClr val="FFFFFF"/>
          </a:solidFill>
          <a:ln w="15875">
            <a:solidFill>
              <a:srgbClr val="D7DEEA"/>
            </a:solidFill>
            <a:prstDash val="solid"/>
          </a:ln>
        </p:spPr>
      </p:sp>
      <p:sp>
        <p:nvSpPr>
          <p:cNvPr id="19" name="Shape 17"/>
          <p:cNvSpPr/>
          <p:nvPr/>
        </p:nvSpPr>
        <p:spPr>
          <a:xfrm>
            <a:off x="2834640" y="3840480"/>
            <a:ext cx="914400" cy="914400"/>
          </a:xfrm>
          <a:prstGeom prst="rect">
            <a:avLst/>
          </a:prstGeom>
          <a:solidFill>
            <a:srgbClr val="FFFFFF"/>
          </a:solidFill>
          <a:ln w="15875">
            <a:solidFill>
              <a:srgbClr val="D7DEEA"/>
            </a:solidFill>
            <a:prstDash val="solid"/>
          </a:ln>
        </p:spPr>
      </p:sp>
      <p:sp>
        <p:nvSpPr>
          <p:cNvPr id="20" name="Shape 18"/>
          <p:cNvSpPr/>
          <p:nvPr/>
        </p:nvSpPr>
        <p:spPr>
          <a:xfrm>
            <a:off x="3749040" y="3840480"/>
            <a:ext cx="914400" cy="914400"/>
          </a:xfrm>
          <a:prstGeom prst="rect">
            <a:avLst/>
          </a:prstGeom>
          <a:solidFill>
            <a:srgbClr val="435273"/>
          </a:solidFill>
          <a:ln w="15875">
            <a:solidFill>
              <a:srgbClr val="D7DEEA"/>
            </a:solidFill>
            <a:prstDash val="solid"/>
          </a:ln>
        </p:spPr>
      </p:sp>
      <p:sp>
        <p:nvSpPr>
          <p:cNvPr id="21" name="Text 19"/>
          <p:cNvSpPr txBox="1"/>
          <p:nvPr/>
        </p:nvSpPr>
        <p:spPr>
          <a:xfrm>
            <a:off x="3749040" y="3840480"/>
            <a:ext cx="914400" cy="914400"/>
          </a:xfrm>
          <a:prstGeom prst="rect">
            <a:avLst/>
          </a:prstGeom>
          <a:no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22" name="Shape 20"/>
          <p:cNvSpPr/>
          <p:nvPr/>
        </p:nvSpPr>
        <p:spPr>
          <a:xfrm>
            <a:off x="1005840" y="4754880"/>
            <a:ext cx="914400" cy="914400"/>
          </a:xfrm>
          <a:prstGeom prst="rect">
            <a:avLst/>
          </a:prstGeom>
          <a:solidFill>
            <a:srgbClr val="435273"/>
          </a:solidFill>
          <a:ln w="15875">
            <a:solidFill>
              <a:srgbClr val="D7DEEA"/>
            </a:solidFill>
            <a:prstDash val="solid"/>
          </a:ln>
        </p:spPr>
      </p:sp>
      <p:sp>
        <p:nvSpPr>
          <p:cNvPr id="23" name="Text 21"/>
          <p:cNvSpPr txBox="1"/>
          <p:nvPr/>
        </p:nvSpPr>
        <p:spPr>
          <a:xfrm>
            <a:off x="1005840" y="4754880"/>
            <a:ext cx="914400" cy="914400"/>
          </a:xfrm>
          <a:prstGeom prst="rect">
            <a:avLst/>
          </a:prstGeom>
          <a:no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24" name="Shape 22"/>
          <p:cNvSpPr/>
          <p:nvPr/>
        </p:nvSpPr>
        <p:spPr>
          <a:xfrm>
            <a:off x="1920240" y="4754880"/>
            <a:ext cx="914400" cy="914400"/>
          </a:xfrm>
          <a:prstGeom prst="rect">
            <a:avLst/>
          </a:prstGeom>
          <a:solidFill>
            <a:srgbClr val="FFFFFF"/>
          </a:solidFill>
          <a:ln w="15875">
            <a:solidFill>
              <a:srgbClr val="D7DEEA"/>
            </a:solidFill>
            <a:prstDash val="solid"/>
          </a:ln>
        </p:spPr>
      </p:sp>
      <p:sp>
        <p:nvSpPr>
          <p:cNvPr id="25" name="Shape 23"/>
          <p:cNvSpPr/>
          <p:nvPr/>
        </p:nvSpPr>
        <p:spPr>
          <a:xfrm>
            <a:off x="2834640" y="4754880"/>
            <a:ext cx="914400" cy="914400"/>
          </a:xfrm>
          <a:prstGeom prst="rect">
            <a:avLst/>
          </a:prstGeom>
          <a:solidFill>
            <a:srgbClr val="FFFFFF"/>
          </a:solidFill>
          <a:ln w="15875">
            <a:solidFill>
              <a:srgbClr val="D7DEEA"/>
            </a:solidFill>
            <a:prstDash val="solid"/>
          </a:ln>
        </p:spPr>
      </p:sp>
      <p:sp>
        <p:nvSpPr>
          <p:cNvPr id="26" name="Shape 24"/>
          <p:cNvSpPr/>
          <p:nvPr/>
        </p:nvSpPr>
        <p:spPr>
          <a:xfrm>
            <a:off x="3749040" y="4754880"/>
            <a:ext cx="914400" cy="914400"/>
          </a:xfrm>
          <a:prstGeom prst="rect">
            <a:avLst/>
          </a:prstGeom>
          <a:solidFill>
            <a:srgbClr val="C9A227"/>
          </a:solidFill>
          <a:ln w="15875">
            <a:solidFill>
              <a:srgbClr val="D7DEEA"/>
            </a:solidFill>
            <a:prstDash val="solid"/>
          </a:ln>
        </p:spPr>
      </p:sp>
      <p:sp>
        <p:nvSpPr>
          <p:cNvPr id="27" name="Text 25"/>
          <p:cNvSpPr txBox="1"/>
          <p:nvPr/>
        </p:nvSpPr>
        <p:spPr>
          <a:xfrm>
            <a:off x="3749040" y="4754880"/>
            <a:ext cx="914400" cy="914400"/>
          </a:xfrm>
          <a:prstGeom prst="rect">
            <a:avLst/>
          </a:prstGeom>
          <a:noFill/>
          <a:ln/>
        </p:spPr>
        <p:txBody>
          <a:bodyPr wrap="square" rtlCol="0" anchor="ctr"/>
          <a:lstStyle/>
          <a:p>
            <a:pPr marL="0" indent="0" algn="ctr">
              <a:buNone/>
            </a:pPr>
            <a:r>
              <a:rPr lang="en-US" sz="2400" b="1" dirty="0">
                <a:solidFill>
                  <a:srgbClr val="0A1226"/>
                </a:solidFill>
                <a:latin typeface="Calibri" pitchFamily="34" charset="0"/>
                <a:ea typeface="Calibri" pitchFamily="34" charset="-122"/>
                <a:cs typeface="Calibri" pitchFamily="34" charset="-120"/>
              </a:rPr>
              <a:t>G</a:t>
            </a:r>
            <a:endParaRPr lang="en-US" sz="2400" dirty="0"/>
          </a:p>
        </p:txBody>
      </p:sp>
      <p:sp>
        <p:nvSpPr>
          <p:cNvPr id="28" name="Text 26"/>
          <p:cNvSpPr txBox="1"/>
          <p:nvPr/>
        </p:nvSpPr>
        <p:spPr>
          <a:xfrm>
            <a:off x="822960" y="5852160"/>
            <a:ext cx="4023360" cy="320040"/>
          </a:xfrm>
          <a:prstGeom prst="rect">
            <a:avLst/>
          </a:prstGeom>
          <a:noFill/>
          <a:ln/>
        </p:spPr>
        <p:txBody>
          <a:bodyPr wrap="square" rtlCol="0" anchor="ctr"/>
          <a:lstStyle/>
          <a:p>
            <a:pPr marL="0" indent="0">
              <a:buNone/>
            </a:pPr>
            <a:r>
              <a:rPr lang="en-US" sz="1050" i="1" dirty="0">
                <a:solidFill>
                  <a:srgbClr val="435273"/>
                </a:solidFill>
                <a:latin typeface="Calibri" pitchFamily="34" charset="0"/>
                <a:ea typeface="Calibri" pitchFamily="34" charset="-122"/>
                <a:cs typeface="Calibri" pitchFamily="34" charset="-120"/>
              </a:rPr>
              <a:t>S = initial state       G = goal state       # = wall (illegal cell)</a:t>
            </a:r>
            <a:endParaRPr lang="en-US" sz="10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349240" y="1874520"/>
          <a:ext cx="6309360" cy="3401568"/>
        </p:xfrm>
        <a:graphic>
          <a:graphicData uri="http://schemas.openxmlformats.org/drawingml/2006/table">
            <a:tbl>
              <a:tblPr/>
              <a:tblGrid>
                <a:gridCol w="2331720">
                  <a:extLst>
                    <a:ext uri="{9D8B030D-6E8A-4147-A177-3AD203B41FA5}">
                      <a16:colId xmlns:a16="http://schemas.microsoft.com/office/drawing/2014/main" val="20000"/>
                    </a:ext>
                  </a:extLst>
                </a:gridCol>
                <a:gridCol w="3977640">
                  <a:extLst>
                    <a:ext uri="{9D8B030D-6E8A-4147-A177-3AD203B41FA5}">
                      <a16:colId xmlns:a16="http://schemas.microsoft.com/office/drawing/2014/main" val="20001"/>
                    </a:ext>
                  </a:extLst>
                </a:gridCol>
              </a:tblGrid>
              <a:tr h="566928">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Component</a:t>
                      </a:r>
                      <a:endParaRPr lang="en-US" sz="12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4213D"/>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Formulation for this maze</a:t>
                      </a:r>
                      <a:endParaRPr lang="en-US" sz="12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566928">
                <a:tc>
                  <a:txBody>
                    <a:bodyPr/>
                    <a:lstStyle/>
                    <a:p>
                      <a:pPr marL="0" indent="0" algn="l">
                        <a:buNone/>
                      </a:pPr>
                      <a:r>
                        <a:rPr lang="en-US" sz="1200" dirty="0">
                          <a:solidFill>
                            <a:srgbClr val="1B2333"/>
                          </a:solidFill>
                          <a:latin typeface="Calibri" pitchFamily="34" charset="0"/>
                          <a:ea typeface="Calibri" pitchFamily="34" charset="-122"/>
                          <a:cs typeface="Calibri" pitchFamily="34" charset="-120"/>
                        </a:rPr>
                        <a:t>Initial state, s₀</a:t>
                      </a:r>
                      <a:endParaRPr lang="en-US" sz="12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333"/>
                          </a:solidFill>
                          <a:latin typeface="Calibri" pitchFamily="34" charset="0"/>
                          <a:ea typeface="Calibri" pitchFamily="34" charset="-122"/>
                          <a:cs typeface="Calibri" pitchFamily="34" charset="-120"/>
                        </a:rPr>
                        <a:t>S — the top-left cell</a:t>
                      </a:r>
                      <a:endParaRPr lang="en-US" sz="12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1200" dirty="0">
                          <a:solidFill>
                            <a:srgbClr val="1B2333"/>
                          </a:solidFill>
                          <a:latin typeface="Calibri" pitchFamily="34" charset="0"/>
                          <a:ea typeface="Calibri" pitchFamily="34" charset="-122"/>
                          <a:cs typeface="Calibri" pitchFamily="34" charset="-120"/>
                        </a:rPr>
                        <a:t>Actions, A(s)</a:t>
                      </a:r>
                      <a:endParaRPr lang="en-US" sz="12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200" dirty="0">
                          <a:solidFill>
                            <a:srgbClr val="1B2333"/>
                          </a:solidFill>
                          <a:latin typeface="Calibri" pitchFamily="34" charset="0"/>
                          <a:ea typeface="Calibri" pitchFamily="34" charset="-122"/>
                          <a:cs typeface="Calibri" pitchFamily="34" charset="-120"/>
                        </a:rPr>
                        <a:t>UP, DOWN, LEFT, RIGHT (only those staying on the grid and off walls)</a:t>
                      </a:r>
                      <a:endParaRPr lang="en-US" sz="12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extLst>
                  <a:ext uri="{0D108BD9-81ED-4DB2-BD59-A6C34878D82A}">
                    <a16:rowId xmlns:a16="http://schemas.microsoft.com/office/drawing/2014/main" val="10002"/>
                  </a:ext>
                </a:extLst>
              </a:tr>
              <a:tr h="566928">
                <a:tc>
                  <a:txBody>
                    <a:bodyPr/>
                    <a:lstStyle/>
                    <a:p>
                      <a:pPr marL="0" indent="0" algn="l">
                        <a:buNone/>
                      </a:pPr>
                      <a:r>
                        <a:rPr lang="en-US" sz="1200" dirty="0">
                          <a:solidFill>
                            <a:srgbClr val="1B2333"/>
                          </a:solidFill>
                          <a:latin typeface="Calibri" pitchFamily="34" charset="0"/>
                          <a:ea typeface="Calibri" pitchFamily="34" charset="-122"/>
                          <a:cs typeface="Calibri" pitchFamily="34" charset="-120"/>
                        </a:rPr>
                        <a:t>Transition, Result(s,a)</a:t>
                      </a:r>
                      <a:endParaRPr lang="en-US" sz="12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333"/>
                          </a:solidFill>
                          <a:latin typeface="Calibri" pitchFamily="34" charset="0"/>
                          <a:ea typeface="Calibri" pitchFamily="34" charset="-122"/>
                          <a:cs typeface="Calibri" pitchFamily="34" charset="-120"/>
                        </a:rPr>
                        <a:t>Move one cell in the chosen direction, if that cell is open</a:t>
                      </a:r>
                      <a:endParaRPr lang="en-US" sz="12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l">
                        <a:buNone/>
                      </a:pPr>
                      <a:r>
                        <a:rPr lang="en-US" sz="1200" dirty="0">
                          <a:solidFill>
                            <a:srgbClr val="1B2333"/>
                          </a:solidFill>
                          <a:latin typeface="Calibri" pitchFamily="34" charset="0"/>
                          <a:ea typeface="Calibri" pitchFamily="34" charset="-122"/>
                          <a:cs typeface="Calibri" pitchFamily="34" charset="-120"/>
                        </a:rPr>
                        <a:t>Goal test, Goal(s)</a:t>
                      </a:r>
                      <a:endParaRPr lang="en-US" sz="12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200" dirty="0">
                          <a:solidFill>
                            <a:srgbClr val="1B2333"/>
                          </a:solidFill>
                          <a:latin typeface="Calibri" pitchFamily="34" charset="0"/>
                          <a:ea typeface="Calibri" pitchFamily="34" charset="-122"/>
                          <a:cs typeface="Calibri" pitchFamily="34" charset="-120"/>
                        </a:rPr>
                        <a:t>current cell = G</a:t>
                      </a:r>
                      <a:endParaRPr lang="en-US" sz="12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extLst>
                  <a:ext uri="{0D108BD9-81ED-4DB2-BD59-A6C34878D82A}">
                    <a16:rowId xmlns:a16="http://schemas.microsoft.com/office/drawing/2014/main" val="10004"/>
                  </a:ext>
                </a:extLst>
              </a:tr>
              <a:tr h="566928">
                <a:tc>
                  <a:txBody>
                    <a:bodyPr/>
                    <a:lstStyle/>
                    <a:p>
                      <a:pPr marL="0" indent="0" algn="l">
                        <a:buNone/>
                      </a:pPr>
                      <a:r>
                        <a:rPr lang="en-US" sz="1200" dirty="0">
                          <a:solidFill>
                            <a:srgbClr val="1B2333"/>
                          </a:solidFill>
                          <a:latin typeface="Calibri" pitchFamily="34" charset="0"/>
                          <a:ea typeface="Calibri" pitchFamily="34" charset="-122"/>
                          <a:cs typeface="Calibri" pitchFamily="34" charset="-120"/>
                        </a:rPr>
                        <a:t>Step cost, Cost(s,a,s')</a:t>
                      </a:r>
                      <a:endParaRPr lang="en-US" sz="12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333"/>
                          </a:solidFill>
                          <a:latin typeface="Calibri" pitchFamily="34" charset="0"/>
                          <a:ea typeface="Calibri" pitchFamily="34" charset="-122"/>
                          <a:cs typeface="Calibri" pitchFamily="34" charset="-120"/>
                        </a:rPr>
                        <a:t>1 for every move (uniform-cost problem)</a:t>
                      </a:r>
                      <a:endParaRPr lang="en-US" sz="12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92608"/>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STATE-SPACE REPRESENTATION</a:t>
            </a:r>
            <a:endParaRPr lang="en-US" sz="1200" dirty="0"/>
          </a:p>
        </p:txBody>
      </p:sp>
      <p:sp>
        <p:nvSpPr>
          <p:cNvPr id="3" name="Text 1"/>
          <p:cNvSpPr txBox="1"/>
          <p:nvPr/>
        </p:nvSpPr>
        <p:spPr>
          <a:xfrm>
            <a:off x="502920" y="621792"/>
            <a:ext cx="11155680" cy="658368"/>
          </a:xfrm>
          <a:prstGeom prst="rect">
            <a:avLst/>
          </a:prstGeom>
          <a:noFill/>
          <a:ln/>
        </p:spPr>
        <p:txBody>
          <a:bodyPr wrap="square" rtlCol="0" anchor="ctr"/>
          <a:lstStyle/>
          <a:p>
            <a:pPr marL="0" indent="0">
              <a:buNone/>
            </a:pPr>
            <a:r>
              <a:rPr lang="en-US" sz="2900" b="1" dirty="0">
                <a:solidFill>
                  <a:srgbClr val="14213D"/>
                </a:solidFill>
                <a:latin typeface="Cambria" pitchFamily="34" charset="0"/>
                <a:ea typeface="Cambria" pitchFamily="34" charset="-122"/>
                <a:cs typeface="Cambria" pitchFamily="34" charset="-120"/>
              </a:rPr>
              <a:t>What Is a State?</a:t>
            </a:r>
            <a:endParaRPr lang="en-US" sz="2900" dirty="0"/>
          </a:p>
        </p:txBody>
      </p:sp>
      <p:sp>
        <p:nvSpPr>
          <p:cNvPr id="4" name="Text 2"/>
          <p:cNvSpPr txBox="1"/>
          <p:nvPr/>
        </p:nvSpPr>
        <p:spPr>
          <a:xfrm>
            <a:off x="502920" y="6473952"/>
            <a:ext cx="7315200" cy="274320"/>
          </a:xfrm>
          <a:prstGeom prst="rect">
            <a:avLst/>
          </a:prstGeom>
          <a:noFill/>
          <a:ln/>
        </p:spPr>
        <p:txBody>
          <a:bodyPr wrap="square" rtlCol="0" anchor="ctr"/>
          <a:lstStyle/>
          <a:p>
            <a:pPr marL="0" indent="0">
              <a:buNone/>
            </a:pPr>
            <a:r>
              <a:rPr lang="en-US" sz="950" b="1" dirty="0">
                <a:solidFill>
                  <a:srgbClr val="6B7280"/>
                </a:solidFill>
                <a:latin typeface="Calibri" pitchFamily="34" charset="0"/>
                <a:ea typeface="Calibri" pitchFamily="34" charset="-122"/>
                <a:cs typeface="Calibri" pitchFamily="34" charset="-120"/>
              </a:rPr>
              <a:t>Artificial Intelligence</a:t>
            </a:r>
            <a:r>
              <a:rPr lang="en-US" sz="950" dirty="0">
                <a:solidFill>
                  <a:srgbClr val="6B7280"/>
                </a:solidFill>
                <a:latin typeface="Calibri" pitchFamily="34" charset="0"/>
                <a:ea typeface="Calibri" pitchFamily="34" charset="-122"/>
                <a:cs typeface="Calibri" pitchFamily="34" charset="-120"/>
              </a:rPr>
              <a:t>   ·   BS Computer Science   ·   Lecture 3</a:t>
            </a:r>
            <a:endParaRPr lang="en-US" sz="950" dirty="0"/>
          </a:p>
        </p:txBody>
      </p:sp>
      <p:sp>
        <p:nvSpPr>
          <p:cNvPr id="5" name="Text 3"/>
          <p:cNvSpPr txBox="1"/>
          <p:nvPr/>
        </p:nvSpPr>
        <p:spPr>
          <a:xfrm>
            <a:off x="8762695" y="6473952"/>
            <a:ext cx="292608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Dr. Ghulam Ali   ·   12</a:t>
            </a:r>
            <a:endParaRPr lang="en-US" sz="950" dirty="0"/>
          </a:p>
        </p:txBody>
      </p:sp>
      <p:sp>
        <p:nvSpPr>
          <p:cNvPr id="6" name="Text 4"/>
          <p:cNvSpPr txBox="1"/>
          <p:nvPr/>
        </p:nvSpPr>
        <p:spPr>
          <a:xfrm>
            <a:off x="502920" y="1417320"/>
            <a:ext cx="11185855" cy="960120"/>
          </a:xfrm>
          <a:prstGeom prst="rect">
            <a:avLst/>
          </a:prstGeom>
          <a:noFill/>
          <a:ln/>
        </p:spPr>
        <p:txBody>
          <a:bodyPr wrap="square" rtlCol="0" anchor="ctr"/>
          <a:lstStyle/>
          <a:p>
            <a:pPr marL="0" indent="0">
              <a:lnSpc>
                <a:spcPct val="130000"/>
              </a:lnSpc>
              <a:buNone/>
            </a:pPr>
            <a:r>
              <a:rPr lang="en-US" sz="1400" dirty="0">
                <a:solidFill>
                  <a:srgbClr val="1B2333"/>
                </a:solidFill>
                <a:latin typeface="Calibri" pitchFamily="34" charset="0"/>
                <a:ea typeface="Calibri" pitchFamily="34" charset="-122"/>
                <a:cs typeface="Calibri" pitchFamily="34" charset="-120"/>
              </a:rPr>
              <a:t>A state represents the relevant information needed to describe the current situation of the problem. A good state representation contains exactly enough information to determine which actions are legal and what happens next — no more, and no less.</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2331720"/>
          <a:ext cx="11201400" cy="2560320"/>
        </p:xfrm>
        <a:graphic>
          <a:graphicData uri="http://schemas.openxmlformats.org/drawingml/2006/table">
            <a:tbl>
              <a:tblPr/>
              <a:tblGrid>
                <a:gridCol w="3657600">
                  <a:extLst>
                    <a:ext uri="{9D8B030D-6E8A-4147-A177-3AD203B41FA5}">
                      <a16:colId xmlns:a16="http://schemas.microsoft.com/office/drawing/2014/main" val="20000"/>
                    </a:ext>
                  </a:extLst>
                </a:gridCol>
                <a:gridCol w="7543800">
                  <a:extLst>
                    <a:ext uri="{9D8B030D-6E8A-4147-A177-3AD203B41FA5}">
                      <a16:colId xmlns:a16="http://schemas.microsoft.com/office/drawing/2014/main" val="20001"/>
                    </a:ext>
                  </a:extLst>
                </a:gridCol>
              </a:tblGrid>
              <a:tr h="512064">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Problem</a:t>
                      </a:r>
                      <a:endParaRPr lang="en-US" sz="13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4213D"/>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What a state captures</a:t>
                      </a:r>
                      <a:endParaRPr lang="en-US" sz="13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512064">
                <a:tc>
                  <a:txBody>
                    <a:bodyPr/>
                    <a:lstStyle/>
                    <a:p>
                      <a:pPr marL="0" indent="0" algn="l">
                        <a:buNone/>
                      </a:pPr>
                      <a:r>
                        <a:rPr lang="en-US" sz="1300" dirty="0">
                          <a:solidFill>
                            <a:srgbClr val="1B2333"/>
                          </a:solidFill>
                          <a:latin typeface="Calibri" pitchFamily="34" charset="0"/>
                          <a:ea typeface="Calibri" pitchFamily="34" charset="-122"/>
                          <a:cs typeface="Calibri" pitchFamily="34" charset="-120"/>
                        </a:rPr>
                        <a:t>Maze / grid navigation</a:t>
                      </a:r>
                      <a:endParaRPr lang="en-US" sz="13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B2333"/>
                          </a:solidFill>
                          <a:latin typeface="Calibri" pitchFamily="34" charset="0"/>
                          <a:ea typeface="Calibri" pitchFamily="34" charset="-122"/>
                          <a:cs typeface="Calibri" pitchFamily="34" charset="-120"/>
                        </a:rPr>
                        <a:t>(row, column) — the agent's current cell</a:t>
                      </a:r>
                      <a:endParaRPr lang="en-US" sz="13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2064">
                <a:tc>
                  <a:txBody>
                    <a:bodyPr/>
                    <a:lstStyle/>
                    <a:p>
                      <a:pPr marL="0" indent="0" algn="l">
                        <a:buNone/>
                      </a:pPr>
                      <a:r>
                        <a:rPr lang="en-US" sz="1300" dirty="0">
                          <a:solidFill>
                            <a:srgbClr val="1B2333"/>
                          </a:solidFill>
                          <a:latin typeface="Calibri" pitchFamily="34" charset="0"/>
                          <a:ea typeface="Calibri" pitchFamily="34" charset="-122"/>
                          <a:cs typeface="Calibri" pitchFamily="34" charset="-120"/>
                        </a:rPr>
                        <a:t>8-puzzle</a:t>
                      </a:r>
                      <a:endParaRPr lang="en-US" sz="13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300" dirty="0">
                          <a:solidFill>
                            <a:srgbClr val="1B2333"/>
                          </a:solidFill>
                          <a:latin typeface="Calibri" pitchFamily="34" charset="0"/>
                          <a:ea typeface="Calibri" pitchFamily="34" charset="-122"/>
                          <a:cs typeface="Calibri" pitchFamily="34" charset="-120"/>
                        </a:rPr>
                        <a:t>The full board configuration — the position of every tile</a:t>
                      </a:r>
                      <a:endParaRPr lang="en-US" sz="13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extLst>
                  <a:ext uri="{0D108BD9-81ED-4DB2-BD59-A6C34878D82A}">
                    <a16:rowId xmlns:a16="http://schemas.microsoft.com/office/drawing/2014/main" val="10002"/>
                  </a:ext>
                </a:extLst>
              </a:tr>
              <a:tr h="512064">
                <a:tc>
                  <a:txBody>
                    <a:bodyPr/>
                    <a:lstStyle/>
                    <a:p>
                      <a:pPr marL="0" indent="0" algn="l">
                        <a:buNone/>
                      </a:pPr>
                      <a:r>
                        <a:rPr lang="en-US" sz="1300" dirty="0">
                          <a:solidFill>
                            <a:srgbClr val="1B2333"/>
                          </a:solidFill>
                          <a:latin typeface="Calibri" pitchFamily="34" charset="0"/>
                          <a:ea typeface="Calibri" pitchFamily="34" charset="-122"/>
                          <a:cs typeface="Calibri" pitchFamily="34" charset="-120"/>
                        </a:rPr>
                        <a:t>Route finding</a:t>
                      </a:r>
                      <a:endParaRPr lang="en-US" sz="13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B2333"/>
                          </a:solidFill>
                          <a:latin typeface="Calibri" pitchFamily="34" charset="0"/>
                          <a:ea typeface="Calibri" pitchFamily="34" charset="-122"/>
                          <a:cs typeface="Calibri" pitchFamily="34" charset="-120"/>
                        </a:rPr>
                        <a:t>The current city — nothing about how the traveler got there</a:t>
                      </a:r>
                      <a:endParaRPr lang="en-US" sz="13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12064">
                <a:tc>
                  <a:txBody>
                    <a:bodyPr/>
                    <a:lstStyle/>
                    <a:p>
                      <a:pPr marL="0" indent="0" algn="l">
                        <a:buNone/>
                      </a:pPr>
                      <a:r>
                        <a:rPr lang="en-US" sz="1300" dirty="0">
                          <a:solidFill>
                            <a:srgbClr val="1B2333"/>
                          </a:solidFill>
                          <a:latin typeface="Calibri" pitchFamily="34" charset="0"/>
                          <a:ea typeface="Calibri" pitchFamily="34" charset="-122"/>
                          <a:cs typeface="Calibri" pitchFamily="34" charset="-120"/>
                        </a:rPr>
                        <a:t>Chess</a:t>
                      </a:r>
                      <a:endParaRPr lang="en-US" sz="13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300" dirty="0">
                          <a:solidFill>
                            <a:srgbClr val="1B2333"/>
                          </a:solidFill>
                          <a:latin typeface="Calibri" pitchFamily="34" charset="0"/>
                          <a:ea typeface="Calibri" pitchFamily="34" charset="-122"/>
                          <a:cs typeface="Calibri" pitchFamily="34" charset="-120"/>
                        </a:rPr>
                        <a:t>The position of every piece on the board, plus whose turn it is</a:t>
                      </a:r>
                      <a:endParaRPr lang="en-US" sz="13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extLst>
                  <a:ext uri="{0D108BD9-81ED-4DB2-BD59-A6C34878D82A}">
                    <a16:rowId xmlns:a16="http://schemas.microsoft.com/office/drawing/2014/main" val="10004"/>
                  </a:ext>
                </a:extLst>
              </a:tr>
            </a:tbl>
          </a:graphicData>
        </a:graphic>
      </p:graphicFrame>
      <p:sp>
        <p:nvSpPr>
          <p:cNvPr id="8" name="Shape 5"/>
          <p:cNvSpPr/>
          <p:nvPr/>
        </p:nvSpPr>
        <p:spPr>
          <a:xfrm>
            <a:off x="502920" y="5166360"/>
            <a:ext cx="11185855" cy="960120"/>
          </a:xfrm>
          <a:prstGeom prst="roundRect">
            <a:avLst>
              <a:gd name="adj" fmla="val 7619"/>
            </a:avLst>
          </a:prstGeom>
          <a:solidFill>
            <a:srgbClr val="EAEFF8"/>
          </a:solidFill>
          <a:ln/>
        </p:spPr>
      </p:sp>
      <p:sp>
        <p:nvSpPr>
          <p:cNvPr id="9" name="Shape 6"/>
          <p:cNvSpPr/>
          <p:nvPr/>
        </p:nvSpPr>
        <p:spPr>
          <a:xfrm>
            <a:off x="704088" y="5367528"/>
            <a:ext cx="347472" cy="347472"/>
          </a:xfrm>
          <a:prstGeom prst="ellipse">
            <a:avLst/>
          </a:prstGeom>
          <a:solidFill>
            <a:srgbClr val="C9A227"/>
          </a:solidFill>
          <a:ln/>
        </p:spPr>
      </p:sp>
      <p:sp>
        <p:nvSpPr>
          <p:cNvPr id="10" name="Text 7"/>
          <p:cNvSpPr txBox="1"/>
          <p:nvPr/>
        </p:nvSpPr>
        <p:spPr>
          <a:xfrm>
            <a:off x="704088" y="5367528"/>
            <a:ext cx="347472" cy="347472"/>
          </a:xfrm>
          <a:prstGeom prst="rect">
            <a:avLst/>
          </a:prstGeom>
          <a:noFill/>
          <a:ln/>
        </p:spPr>
        <p:txBody>
          <a:bodyPr wrap="none" rtlCol="0" anchor="ctr"/>
          <a:lstStyle/>
          <a:p>
            <a:pPr marL="0" indent="0" algn="ctr">
              <a:buNone/>
            </a:pPr>
            <a:r>
              <a:rPr lang="en-US" sz="1500" b="1" dirty="0">
                <a:solidFill>
                  <a:srgbClr val="0A1226"/>
                </a:solidFill>
                <a:latin typeface="Calibri" pitchFamily="34" charset="0"/>
                <a:ea typeface="Calibri" pitchFamily="34" charset="-122"/>
                <a:cs typeface="Calibri" pitchFamily="34" charset="-120"/>
              </a:rPr>
              <a:t>!</a:t>
            </a:r>
            <a:endParaRPr lang="en-US" sz="1500" dirty="0"/>
          </a:p>
        </p:txBody>
      </p:sp>
      <p:sp>
        <p:nvSpPr>
          <p:cNvPr id="11" name="Text 8"/>
          <p:cNvSpPr txBox="1"/>
          <p:nvPr/>
        </p:nvSpPr>
        <p:spPr>
          <a:xfrm>
            <a:off x="1207008" y="5330952"/>
            <a:ext cx="10280599" cy="310896"/>
          </a:xfrm>
          <a:prstGeom prst="rect">
            <a:avLst/>
          </a:prstGeom>
          <a:noFill/>
          <a:ln/>
        </p:spPr>
        <p:txBody>
          <a:bodyPr wrap="square" rtlCol="0" anchor="ctr"/>
          <a:lstStyle/>
          <a:p>
            <a:pPr marL="0" indent="0">
              <a:buNone/>
            </a:pPr>
            <a:r>
              <a:rPr lang="en-US" sz="1400" b="1" dirty="0">
                <a:solidFill>
                  <a:srgbClr val="14213D"/>
                </a:solidFill>
                <a:latin typeface="Calibri" pitchFamily="34" charset="0"/>
                <a:ea typeface="Calibri" pitchFamily="34" charset="-122"/>
                <a:cs typeface="Calibri" pitchFamily="34" charset="-120"/>
              </a:rPr>
              <a:t>Sufficiency, not history</a:t>
            </a:r>
            <a:endParaRPr lang="en-US" sz="1400" dirty="0"/>
          </a:p>
        </p:txBody>
      </p:sp>
      <p:sp>
        <p:nvSpPr>
          <p:cNvPr id="12" name="Text 9"/>
          <p:cNvSpPr txBox="1"/>
          <p:nvPr/>
        </p:nvSpPr>
        <p:spPr>
          <a:xfrm>
            <a:off x="1207008" y="5660136"/>
            <a:ext cx="10280599" cy="429768"/>
          </a:xfrm>
          <a:prstGeom prst="rect">
            <a:avLst/>
          </a:prstGeom>
          <a:noFill/>
          <a:ln/>
        </p:spPr>
        <p:txBody>
          <a:bodyPr wrap="square" rtlCol="0" anchor="t"/>
          <a:lstStyle/>
          <a:p>
            <a:pPr marL="0" indent="0">
              <a:lnSpc>
                <a:spcPct val="112000"/>
              </a:lnSpc>
              <a:buNone/>
            </a:pPr>
            <a:r>
              <a:rPr lang="en-US" sz="1250" dirty="0">
                <a:solidFill>
                  <a:srgbClr val="1B2333"/>
                </a:solidFill>
                <a:latin typeface="Calibri" pitchFamily="34" charset="0"/>
                <a:ea typeface="Calibri" pitchFamily="34" charset="-122"/>
                <a:cs typeface="Calibri" pitchFamily="34" charset="-120"/>
              </a:rPr>
              <a:t>Notice that none of these states record the sequence of actions that produced them. A state need only describe 'where we are now' — the path taken to arrive is tracked separately, by the search node (next section), not by the state itself.</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92608"/>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STATE-SPACE REPRESENTATION</a:t>
            </a:r>
            <a:endParaRPr lang="en-US" sz="1200" dirty="0"/>
          </a:p>
        </p:txBody>
      </p:sp>
      <p:sp>
        <p:nvSpPr>
          <p:cNvPr id="3" name="Text 1"/>
          <p:cNvSpPr txBox="1"/>
          <p:nvPr/>
        </p:nvSpPr>
        <p:spPr>
          <a:xfrm>
            <a:off x="502920" y="621792"/>
            <a:ext cx="11155680" cy="658368"/>
          </a:xfrm>
          <a:prstGeom prst="rect">
            <a:avLst/>
          </a:prstGeom>
          <a:noFill/>
          <a:ln/>
        </p:spPr>
        <p:txBody>
          <a:bodyPr wrap="square" rtlCol="0" anchor="ctr"/>
          <a:lstStyle/>
          <a:p>
            <a:pPr marL="0" indent="0">
              <a:buNone/>
            </a:pPr>
            <a:r>
              <a:rPr lang="en-US" sz="2900" b="1" dirty="0">
                <a:solidFill>
                  <a:srgbClr val="14213D"/>
                </a:solidFill>
                <a:latin typeface="Cambria" pitchFamily="34" charset="0"/>
                <a:ea typeface="Cambria" pitchFamily="34" charset="-122"/>
                <a:cs typeface="Cambria" pitchFamily="34" charset="-120"/>
              </a:rPr>
              <a:t>What Is a State Space?</a:t>
            </a:r>
            <a:endParaRPr lang="en-US" sz="2900" dirty="0"/>
          </a:p>
        </p:txBody>
      </p:sp>
      <p:sp>
        <p:nvSpPr>
          <p:cNvPr id="4" name="Text 2"/>
          <p:cNvSpPr txBox="1"/>
          <p:nvPr/>
        </p:nvSpPr>
        <p:spPr>
          <a:xfrm>
            <a:off x="502920" y="6473952"/>
            <a:ext cx="7315200" cy="274320"/>
          </a:xfrm>
          <a:prstGeom prst="rect">
            <a:avLst/>
          </a:prstGeom>
          <a:noFill/>
          <a:ln/>
        </p:spPr>
        <p:txBody>
          <a:bodyPr wrap="square" rtlCol="0" anchor="ctr"/>
          <a:lstStyle/>
          <a:p>
            <a:pPr marL="0" indent="0">
              <a:buNone/>
            </a:pPr>
            <a:r>
              <a:rPr lang="en-US" sz="950" b="1" dirty="0">
                <a:solidFill>
                  <a:srgbClr val="6B7280"/>
                </a:solidFill>
                <a:latin typeface="Calibri" pitchFamily="34" charset="0"/>
                <a:ea typeface="Calibri" pitchFamily="34" charset="-122"/>
                <a:cs typeface="Calibri" pitchFamily="34" charset="-120"/>
              </a:rPr>
              <a:t>Artificial Intelligence</a:t>
            </a:r>
            <a:r>
              <a:rPr lang="en-US" sz="950" dirty="0">
                <a:solidFill>
                  <a:srgbClr val="6B7280"/>
                </a:solidFill>
                <a:latin typeface="Calibri" pitchFamily="34" charset="0"/>
                <a:ea typeface="Calibri" pitchFamily="34" charset="-122"/>
                <a:cs typeface="Calibri" pitchFamily="34" charset="-120"/>
              </a:rPr>
              <a:t>   ·   BS Computer Science   ·   Lecture 3</a:t>
            </a:r>
            <a:endParaRPr lang="en-US" sz="950" dirty="0"/>
          </a:p>
        </p:txBody>
      </p:sp>
      <p:sp>
        <p:nvSpPr>
          <p:cNvPr id="5" name="Text 3"/>
          <p:cNvSpPr txBox="1"/>
          <p:nvPr/>
        </p:nvSpPr>
        <p:spPr>
          <a:xfrm>
            <a:off x="8762695" y="6473952"/>
            <a:ext cx="292608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Dr. Ghulam Ali   ·   13</a:t>
            </a:r>
            <a:endParaRPr lang="en-US" sz="950" dirty="0"/>
          </a:p>
        </p:txBody>
      </p:sp>
      <p:sp>
        <p:nvSpPr>
          <p:cNvPr id="6" name="Shape 4"/>
          <p:cNvSpPr/>
          <p:nvPr/>
        </p:nvSpPr>
        <p:spPr>
          <a:xfrm>
            <a:off x="502920" y="1417320"/>
            <a:ext cx="11185855" cy="914400"/>
          </a:xfrm>
          <a:prstGeom prst="roundRect">
            <a:avLst>
              <a:gd name="adj" fmla="val 8000"/>
            </a:avLst>
          </a:prstGeom>
          <a:solidFill>
            <a:srgbClr val="EAEFF8"/>
          </a:solidFill>
          <a:ln/>
        </p:spPr>
      </p:sp>
      <p:sp>
        <p:nvSpPr>
          <p:cNvPr id="7" name="Text 5"/>
          <p:cNvSpPr txBox="1"/>
          <p:nvPr/>
        </p:nvSpPr>
        <p:spPr>
          <a:xfrm>
            <a:off x="777240" y="1417320"/>
            <a:ext cx="10637215" cy="914400"/>
          </a:xfrm>
          <a:prstGeom prst="rect">
            <a:avLst/>
          </a:prstGeom>
          <a:noFill/>
          <a:ln/>
        </p:spPr>
        <p:txBody>
          <a:bodyPr wrap="square" rtlCol="0" anchor="ctr"/>
          <a:lstStyle/>
          <a:p>
            <a:pPr marL="0" indent="0" algn="ctr">
              <a:buNone/>
            </a:pPr>
            <a:r>
              <a:rPr lang="en-US" sz="1700" b="1" i="1" dirty="0">
                <a:solidFill>
                  <a:srgbClr val="14213D"/>
                </a:solidFill>
                <a:latin typeface="Cambria" pitchFamily="34" charset="0"/>
                <a:ea typeface="Cambria" pitchFamily="34" charset="-122"/>
                <a:cs typeface="Cambria" pitchFamily="34" charset="-120"/>
              </a:rPr>
              <a:t>"The set of all states reachable from the initial state through some sequence of valid actions."</a:t>
            </a:r>
            <a:endParaRPr lang="en-US" sz="1700" dirty="0"/>
          </a:p>
        </p:txBody>
      </p:sp>
      <p:sp>
        <p:nvSpPr>
          <p:cNvPr id="8" name="Text 6"/>
          <p:cNvSpPr txBox="1"/>
          <p:nvPr/>
        </p:nvSpPr>
        <p:spPr>
          <a:xfrm>
            <a:off x="502920" y="2606040"/>
            <a:ext cx="5760720" cy="320040"/>
          </a:xfrm>
          <a:prstGeom prst="rect">
            <a:avLst/>
          </a:prstGeom>
          <a:noFill/>
          <a:ln/>
        </p:spPr>
        <p:txBody>
          <a:bodyPr wrap="square" rtlCol="0" anchor="ctr"/>
          <a:lstStyle/>
          <a:p>
            <a:pPr marL="0" indent="0">
              <a:buNone/>
            </a:pPr>
            <a:r>
              <a:rPr lang="en-US" sz="1300" b="1" dirty="0">
                <a:solidFill>
                  <a:srgbClr val="435273"/>
                </a:solidFill>
                <a:latin typeface="Calibri" pitchFamily="34" charset="0"/>
                <a:ea typeface="Calibri" pitchFamily="34" charset="-122"/>
                <a:cs typeface="Calibri" pitchFamily="34" charset="-120"/>
              </a:rPr>
              <a:t>A state space is naturally pictured as a graph:</a:t>
            </a:r>
            <a:endParaRPr lang="en-US" sz="1300" dirty="0"/>
          </a:p>
        </p:txBody>
      </p:sp>
      <p:sp>
        <p:nvSpPr>
          <p:cNvPr id="9" name="Text 7"/>
          <p:cNvSpPr txBox="1"/>
          <p:nvPr/>
        </p:nvSpPr>
        <p:spPr>
          <a:xfrm>
            <a:off x="502920" y="2971800"/>
            <a:ext cx="5760720" cy="3017520"/>
          </a:xfrm>
          <a:prstGeom prst="rect">
            <a:avLst/>
          </a:prstGeom>
          <a:noFill/>
          <a:ln/>
        </p:spPr>
        <p:txBody>
          <a:bodyPr wrap="square" rtlCol="0" anchor="t"/>
          <a:lstStyle/>
          <a:p>
            <a:pPr marL="228600" indent="-228600">
              <a:lnSpc>
                <a:spcPct val="115000"/>
              </a:lnSpc>
              <a:buSzPct val="100000"/>
              <a:buChar char="•"/>
            </a:pPr>
            <a:r>
              <a:rPr lang="en-US" sz="1350" b="1" dirty="0">
                <a:solidFill>
                  <a:srgbClr val="1B2333"/>
                </a:solidFill>
                <a:latin typeface="Calibri" pitchFamily="34" charset="0"/>
                <a:ea typeface="Calibri" pitchFamily="34" charset="-122"/>
                <a:cs typeface="Calibri" pitchFamily="34" charset="-120"/>
              </a:rPr>
              <a:t>Node</a:t>
            </a:r>
            <a:r>
              <a:rPr lang="en-US" sz="1350" dirty="0">
                <a:solidFill>
                  <a:srgbClr val="1B2333"/>
                </a:solidFill>
                <a:latin typeface="Calibri" pitchFamily="34" charset="0"/>
                <a:ea typeface="Calibri" pitchFamily="34" charset="-122"/>
                <a:cs typeface="Calibri" pitchFamily="34" charset="-120"/>
              </a:rPr>
              <a:t> = a state the problem could be in</a:t>
            </a:r>
            <a:endParaRPr lang="en-US" sz="1350" dirty="0"/>
          </a:p>
          <a:p>
            <a:pPr marL="228600" indent="-228600">
              <a:lnSpc>
                <a:spcPct val="115000"/>
              </a:lnSpc>
              <a:buSzPct val="100000"/>
              <a:buChar char="•"/>
            </a:pPr>
            <a:r>
              <a:rPr lang="en-US" sz="1350" b="1" dirty="0">
                <a:solidFill>
                  <a:srgbClr val="1B2333"/>
                </a:solidFill>
                <a:latin typeface="Calibri" pitchFamily="34" charset="0"/>
                <a:ea typeface="Calibri" pitchFamily="34" charset="-122"/>
                <a:cs typeface="Calibri" pitchFamily="34" charset="-120"/>
              </a:rPr>
              <a:t>Edge</a:t>
            </a:r>
            <a:r>
              <a:rPr lang="en-US" sz="1350" dirty="0">
                <a:solidFill>
                  <a:srgbClr val="1B2333"/>
                </a:solidFill>
                <a:latin typeface="Calibri" pitchFamily="34" charset="0"/>
                <a:ea typeface="Calibri" pitchFamily="34" charset="-122"/>
                <a:cs typeface="Calibri" pitchFamily="34" charset="-120"/>
              </a:rPr>
              <a:t> = a transition — an action connecting two states</a:t>
            </a:r>
            <a:endParaRPr lang="en-US" sz="1350" dirty="0"/>
          </a:p>
          <a:p>
            <a:pPr marL="228600" indent="-228600">
              <a:lnSpc>
                <a:spcPct val="115000"/>
              </a:lnSpc>
              <a:buSzPct val="100000"/>
              <a:buChar char="•"/>
            </a:pPr>
            <a:r>
              <a:rPr lang="en-US" sz="1350" b="1" dirty="0">
                <a:solidFill>
                  <a:srgbClr val="1B2333"/>
                </a:solidFill>
                <a:latin typeface="Calibri" pitchFamily="34" charset="0"/>
                <a:ea typeface="Calibri" pitchFamily="34" charset="-122"/>
                <a:cs typeface="Calibri" pitchFamily="34" charset="-120"/>
              </a:rPr>
              <a:t>Path</a:t>
            </a:r>
            <a:r>
              <a:rPr lang="en-US" sz="1350" dirty="0">
                <a:solidFill>
                  <a:srgbClr val="1B2333"/>
                </a:solidFill>
                <a:latin typeface="Calibri" pitchFamily="34" charset="0"/>
                <a:ea typeface="Calibri" pitchFamily="34" charset="-122"/>
                <a:cs typeface="Calibri" pitchFamily="34" charset="-120"/>
              </a:rPr>
              <a:t> = a sequence of actions from one state to another</a:t>
            </a:r>
            <a:endParaRPr lang="en-US" sz="1350" dirty="0"/>
          </a:p>
          <a:p>
            <a:pPr marL="228600" indent="-228600">
              <a:lnSpc>
                <a:spcPct val="115000"/>
              </a:lnSpc>
              <a:buSzPct val="100000"/>
              <a:buChar char="•"/>
            </a:pPr>
            <a:r>
              <a:rPr lang="en-US" sz="1350" b="1" dirty="0">
                <a:solidFill>
                  <a:srgbClr val="1B2333"/>
                </a:solidFill>
                <a:latin typeface="Calibri" pitchFamily="34" charset="0"/>
                <a:ea typeface="Calibri" pitchFamily="34" charset="-122"/>
                <a:cs typeface="Calibri" pitchFamily="34" charset="-120"/>
              </a:rPr>
              <a:t>Goal</a:t>
            </a:r>
            <a:r>
              <a:rPr lang="en-US" sz="1350" dirty="0">
                <a:solidFill>
                  <a:srgbClr val="1B2333"/>
                </a:solidFill>
                <a:latin typeface="Calibri" pitchFamily="34" charset="0"/>
                <a:ea typeface="Calibri" pitchFamily="34" charset="-122"/>
                <a:cs typeface="Calibri" pitchFamily="34" charset="-120"/>
              </a:rPr>
              <a:t> = the state (or states) the agent is trying to reach</a:t>
            </a:r>
            <a:endParaRPr lang="en-US" sz="1350" dirty="0"/>
          </a:p>
        </p:txBody>
      </p:sp>
      <p:sp>
        <p:nvSpPr>
          <p:cNvPr id="10" name="Shape 8"/>
          <p:cNvSpPr/>
          <p:nvPr/>
        </p:nvSpPr>
        <p:spPr>
          <a:xfrm>
            <a:off x="7397496" y="3008376"/>
            <a:ext cx="566928" cy="566928"/>
          </a:xfrm>
          <a:prstGeom prst="ellipse">
            <a:avLst/>
          </a:prstGeom>
          <a:solidFill>
            <a:srgbClr val="EAEFF8"/>
          </a:solidFill>
          <a:ln w="19050">
            <a:solidFill>
              <a:srgbClr val="435273"/>
            </a:solidFill>
            <a:prstDash val="solid"/>
          </a:ln>
        </p:spPr>
      </p:sp>
      <p:sp>
        <p:nvSpPr>
          <p:cNvPr id="11" name="Text 9"/>
          <p:cNvSpPr txBox="1"/>
          <p:nvPr/>
        </p:nvSpPr>
        <p:spPr>
          <a:xfrm>
            <a:off x="7397496" y="3008376"/>
            <a:ext cx="566928" cy="566928"/>
          </a:xfrm>
          <a:prstGeom prst="rect">
            <a:avLst/>
          </a:prstGeom>
          <a:noFill/>
          <a:ln/>
        </p:spPr>
        <p:txBody>
          <a:bodyPr wrap="square" rtlCol="0" anchor="ctr"/>
          <a:lstStyle/>
          <a:p>
            <a:pPr marL="0" indent="0" algn="ctr">
              <a:buNone/>
            </a:pPr>
            <a:r>
              <a:rPr lang="en-US" sz="1300" b="1" dirty="0">
                <a:solidFill>
                  <a:srgbClr val="14213D"/>
                </a:solidFill>
                <a:latin typeface="Calibri" pitchFamily="34" charset="0"/>
                <a:ea typeface="Calibri" pitchFamily="34" charset="-122"/>
                <a:cs typeface="Calibri" pitchFamily="34" charset="-120"/>
              </a:rPr>
              <a:t>s</a:t>
            </a:r>
            <a:endParaRPr lang="en-US" sz="1300" dirty="0"/>
          </a:p>
        </p:txBody>
      </p:sp>
      <p:sp>
        <p:nvSpPr>
          <p:cNvPr id="12" name="Shape 10"/>
          <p:cNvSpPr/>
          <p:nvPr/>
        </p:nvSpPr>
        <p:spPr>
          <a:xfrm>
            <a:off x="9774936" y="3008376"/>
            <a:ext cx="566928" cy="566928"/>
          </a:xfrm>
          <a:prstGeom prst="ellipse">
            <a:avLst/>
          </a:prstGeom>
          <a:solidFill>
            <a:srgbClr val="EAEFF8"/>
          </a:solidFill>
          <a:ln w="19050">
            <a:solidFill>
              <a:srgbClr val="435273"/>
            </a:solidFill>
            <a:prstDash val="solid"/>
          </a:ln>
        </p:spPr>
      </p:sp>
      <p:sp>
        <p:nvSpPr>
          <p:cNvPr id="13" name="Text 11"/>
          <p:cNvSpPr txBox="1"/>
          <p:nvPr/>
        </p:nvSpPr>
        <p:spPr>
          <a:xfrm>
            <a:off x="9774936" y="3008376"/>
            <a:ext cx="566928" cy="566928"/>
          </a:xfrm>
          <a:prstGeom prst="rect">
            <a:avLst/>
          </a:prstGeom>
          <a:noFill/>
          <a:ln/>
        </p:spPr>
        <p:txBody>
          <a:bodyPr wrap="square" rtlCol="0" anchor="ctr"/>
          <a:lstStyle/>
          <a:p>
            <a:pPr marL="0" indent="0" algn="ctr">
              <a:buNone/>
            </a:pPr>
            <a:r>
              <a:rPr lang="en-US" sz="1300" b="1" dirty="0">
                <a:solidFill>
                  <a:srgbClr val="14213D"/>
                </a:solidFill>
                <a:latin typeface="Calibri" pitchFamily="34" charset="0"/>
                <a:ea typeface="Calibri" pitchFamily="34" charset="-122"/>
                <a:cs typeface="Calibri" pitchFamily="34" charset="-120"/>
              </a:rPr>
              <a:t>s'</a:t>
            </a:r>
            <a:endParaRPr lang="en-US" sz="1300" dirty="0"/>
          </a:p>
        </p:txBody>
      </p:sp>
      <p:sp>
        <p:nvSpPr>
          <p:cNvPr id="14" name="Shape 12"/>
          <p:cNvSpPr/>
          <p:nvPr/>
        </p:nvSpPr>
        <p:spPr>
          <a:xfrm>
            <a:off x="7991856" y="3291840"/>
            <a:ext cx="1755648" cy="9144"/>
          </a:xfrm>
          <a:prstGeom prst="line">
            <a:avLst/>
          </a:prstGeom>
          <a:noFill/>
          <a:ln w="31750">
            <a:solidFill>
              <a:srgbClr val="C9A227"/>
            </a:solidFill>
            <a:prstDash val="solid"/>
          </a:ln>
        </p:spPr>
      </p:sp>
      <p:sp>
        <p:nvSpPr>
          <p:cNvPr id="15" name="Text 13"/>
          <p:cNvSpPr txBox="1"/>
          <p:nvPr/>
        </p:nvSpPr>
        <p:spPr>
          <a:xfrm>
            <a:off x="8183880" y="2834640"/>
            <a:ext cx="1371600" cy="274320"/>
          </a:xfrm>
          <a:prstGeom prst="rect">
            <a:avLst/>
          </a:prstGeom>
          <a:noFill/>
          <a:ln/>
        </p:spPr>
        <p:txBody>
          <a:bodyPr wrap="square" rtlCol="0" anchor="ctr"/>
          <a:lstStyle/>
          <a:p>
            <a:pPr marL="0" indent="0" algn="ctr">
              <a:buNone/>
            </a:pPr>
            <a:r>
              <a:rPr lang="en-US" sz="1100" i="1" dirty="0">
                <a:solidFill>
                  <a:srgbClr val="435273"/>
                </a:solidFill>
                <a:latin typeface="Calibri" pitchFamily="34" charset="0"/>
                <a:ea typeface="Calibri" pitchFamily="34" charset="-122"/>
                <a:cs typeface="Calibri" pitchFamily="34" charset="-120"/>
              </a:rPr>
              <a:t>action a</a:t>
            </a:r>
            <a:endParaRPr lang="en-US" sz="1100" dirty="0"/>
          </a:p>
        </p:txBody>
      </p:sp>
      <p:sp>
        <p:nvSpPr>
          <p:cNvPr id="16" name="Text 14"/>
          <p:cNvSpPr txBox="1"/>
          <p:nvPr/>
        </p:nvSpPr>
        <p:spPr>
          <a:xfrm>
            <a:off x="7223760" y="3794760"/>
            <a:ext cx="3291840" cy="274320"/>
          </a:xfrm>
          <a:prstGeom prst="rect">
            <a:avLst/>
          </a:prstGeom>
          <a:noFill/>
          <a:ln/>
        </p:spPr>
        <p:txBody>
          <a:bodyPr wrap="square" rtlCol="0" anchor="ctr"/>
          <a:lstStyle/>
          <a:p>
            <a:pPr marL="0" indent="0" algn="ctr">
              <a:buNone/>
            </a:pPr>
            <a:r>
              <a:rPr lang="en-US" sz="1100" dirty="0">
                <a:solidFill>
                  <a:srgbClr val="14213D"/>
                </a:solidFill>
                <a:latin typeface="Courier New" pitchFamily="34" charset="0"/>
                <a:ea typeface="Courier New" pitchFamily="34" charset="-122"/>
                <a:cs typeface="Courier New" pitchFamily="34" charset="-120"/>
              </a:rPr>
              <a:t>Result(s,a) = s'</a:t>
            </a:r>
            <a:endParaRPr lang="en-US" sz="1100" dirty="0"/>
          </a:p>
        </p:txBody>
      </p:sp>
      <p:sp>
        <p:nvSpPr>
          <p:cNvPr id="17" name="Text 15"/>
          <p:cNvSpPr txBox="1"/>
          <p:nvPr/>
        </p:nvSpPr>
        <p:spPr>
          <a:xfrm>
            <a:off x="7040880" y="4480560"/>
            <a:ext cx="4572000" cy="822960"/>
          </a:xfrm>
          <a:prstGeom prst="rect">
            <a:avLst/>
          </a:prstGeom>
          <a:noFill/>
          <a:ln/>
        </p:spPr>
        <p:txBody>
          <a:bodyPr wrap="square" rtlCol="0" anchor="ctr"/>
          <a:lstStyle/>
          <a:p>
            <a:pPr marL="0" indent="0" algn="ctr">
              <a:lnSpc>
                <a:spcPct val="125000"/>
              </a:lnSpc>
              <a:buNone/>
            </a:pPr>
            <a:r>
              <a:rPr lang="en-US" sz="1150" i="1" dirty="0">
                <a:solidFill>
                  <a:srgbClr val="435273"/>
                </a:solidFill>
                <a:latin typeface="Calibri" pitchFamily="34" charset="0"/>
                <a:ea typeface="Calibri" pitchFamily="34" charset="-122"/>
                <a:cs typeface="Calibri" pitchFamily="34" charset="-120"/>
              </a:rPr>
              <a:t>One edge = one action = one call to the transition model.</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92608"/>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STATE-SPACE REPRESENTATION</a:t>
            </a:r>
            <a:endParaRPr lang="en-US" sz="1200" dirty="0"/>
          </a:p>
        </p:txBody>
      </p:sp>
      <p:sp>
        <p:nvSpPr>
          <p:cNvPr id="3" name="Text 1"/>
          <p:cNvSpPr txBox="1"/>
          <p:nvPr/>
        </p:nvSpPr>
        <p:spPr>
          <a:xfrm>
            <a:off x="502920" y="621792"/>
            <a:ext cx="11155680" cy="658368"/>
          </a:xfrm>
          <a:prstGeom prst="rect">
            <a:avLst/>
          </a:prstGeom>
          <a:noFill/>
          <a:ln/>
        </p:spPr>
        <p:txBody>
          <a:bodyPr wrap="square" rtlCol="0" anchor="ctr"/>
          <a:lstStyle/>
          <a:p>
            <a:pPr marL="0" indent="0">
              <a:buNone/>
            </a:pPr>
            <a:r>
              <a:rPr lang="en-US" sz="2900" b="1" dirty="0">
                <a:solidFill>
                  <a:srgbClr val="14213D"/>
                </a:solidFill>
                <a:latin typeface="Cambria" pitchFamily="34" charset="0"/>
                <a:ea typeface="Cambria" pitchFamily="34" charset="-122"/>
                <a:cs typeface="Cambria" pitchFamily="34" charset="-120"/>
              </a:rPr>
              <a:t>State-Space Graph: A Worked Example</a:t>
            </a:r>
            <a:endParaRPr lang="en-US" sz="2900" dirty="0"/>
          </a:p>
        </p:txBody>
      </p:sp>
      <p:sp>
        <p:nvSpPr>
          <p:cNvPr id="4" name="Text 2"/>
          <p:cNvSpPr txBox="1"/>
          <p:nvPr/>
        </p:nvSpPr>
        <p:spPr>
          <a:xfrm>
            <a:off x="502920" y="6473952"/>
            <a:ext cx="7315200" cy="274320"/>
          </a:xfrm>
          <a:prstGeom prst="rect">
            <a:avLst/>
          </a:prstGeom>
          <a:noFill/>
          <a:ln/>
        </p:spPr>
        <p:txBody>
          <a:bodyPr wrap="square" rtlCol="0" anchor="ctr"/>
          <a:lstStyle/>
          <a:p>
            <a:pPr marL="0" indent="0">
              <a:buNone/>
            </a:pPr>
            <a:r>
              <a:rPr lang="en-US" sz="950" b="1" dirty="0">
                <a:solidFill>
                  <a:srgbClr val="6B7280"/>
                </a:solidFill>
                <a:latin typeface="Calibri" pitchFamily="34" charset="0"/>
                <a:ea typeface="Calibri" pitchFamily="34" charset="-122"/>
                <a:cs typeface="Calibri" pitchFamily="34" charset="-120"/>
              </a:rPr>
              <a:t>Artificial Intelligence</a:t>
            </a:r>
            <a:r>
              <a:rPr lang="en-US" sz="950" dirty="0">
                <a:solidFill>
                  <a:srgbClr val="6B7280"/>
                </a:solidFill>
                <a:latin typeface="Calibri" pitchFamily="34" charset="0"/>
                <a:ea typeface="Calibri" pitchFamily="34" charset="-122"/>
                <a:cs typeface="Calibri" pitchFamily="34" charset="-120"/>
              </a:rPr>
              <a:t>   ·   BS Computer Science   ·   Lecture 3</a:t>
            </a:r>
            <a:endParaRPr lang="en-US" sz="950" dirty="0"/>
          </a:p>
        </p:txBody>
      </p:sp>
      <p:sp>
        <p:nvSpPr>
          <p:cNvPr id="5" name="Text 3"/>
          <p:cNvSpPr txBox="1"/>
          <p:nvPr/>
        </p:nvSpPr>
        <p:spPr>
          <a:xfrm>
            <a:off x="8762695" y="6473952"/>
            <a:ext cx="292608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Dr. Ghulam Ali   ·   14</a:t>
            </a:r>
            <a:endParaRPr lang="en-US" sz="950" dirty="0"/>
          </a:p>
        </p:txBody>
      </p:sp>
      <p:sp>
        <p:nvSpPr>
          <p:cNvPr id="6" name="Shape 4"/>
          <p:cNvSpPr/>
          <p:nvPr/>
        </p:nvSpPr>
        <p:spPr>
          <a:xfrm flipH="1">
            <a:off x="5863670" y="1824301"/>
            <a:ext cx="1348581" cy="745091"/>
          </a:xfrm>
          <a:prstGeom prst="line">
            <a:avLst/>
          </a:prstGeom>
          <a:noFill/>
          <a:ln w="38100">
            <a:solidFill>
              <a:srgbClr val="C9A227"/>
            </a:solidFill>
            <a:prstDash val="solid"/>
          </a:ln>
        </p:spPr>
      </p:sp>
      <p:sp>
        <p:nvSpPr>
          <p:cNvPr id="7" name="Shape 5"/>
          <p:cNvSpPr/>
          <p:nvPr/>
        </p:nvSpPr>
        <p:spPr>
          <a:xfrm>
            <a:off x="7692470" y="1824301"/>
            <a:ext cx="1348581" cy="745091"/>
          </a:xfrm>
          <a:prstGeom prst="line">
            <a:avLst/>
          </a:prstGeom>
          <a:noFill/>
          <a:ln w="38100">
            <a:solidFill>
              <a:srgbClr val="5B7CB8"/>
            </a:solidFill>
            <a:prstDash val="dash"/>
          </a:ln>
        </p:spPr>
      </p:sp>
      <p:sp>
        <p:nvSpPr>
          <p:cNvPr id="8" name="Shape 6"/>
          <p:cNvSpPr/>
          <p:nvPr/>
        </p:nvSpPr>
        <p:spPr>
          <a:xfrm flipH="1">
            <a:off x="4728077" y="2887873"/>
            <a:ext cx="693686" cy="638770"/>
          </a:xfrm>
          <a:prstGeom prst="line">
            <a:avLst/>
          </a:prstGeom>
          <a:noFill/>
          <a:ln w="19050">
            <a:solidFill>
              <a:srgbClr val="435273"/>
            </a:solidFill>
            <a:prstDash val="solid"/>
          </a:ln>
        </p:spPr>
      </p:sp>
      <p:sp>
        <p:nvSpPr>
          <p:cNvPr id="9" name="Shape 7"/>
          <p:cNvSpPr/>
          <p:nvPr/>
        </p:nvSpPr>
        <p:spPr>
          <a:xfrm>
            <a:off x="5825357" y="2887873"/>
            <a:ext cx="693686" cy="638770"/>
          </a:xfrm>
          <a:prstGeom prst="line">
            <a:avLst/>
          </a:prstGeom>
          <a:noFill/>
          <a:ln w="38100">
            <a:solidFill>
              <a:srgbClr val="C9A227"/>
            </a:solidFill>
            <a:prstDash val="solid"/>
          </a:ln>
        </p:spPr>
      </p:sp>
      <p:sp>
        <p:nvSpPr>
          <p:cNvPr id="10" name="Shape 8"/>
          <p:cNvSpPr/>
          <p:nvPr/>
        </p:nvSpPr>
        <p:spPr>
          <a:xfrm>
            <a:off x="9281160" y="2976372"/>
            <a:ext cx="9144" cy="461772"/>
          </a:xfrm>
          <a:prstGeom prst="line">
            <a:avLst/>
          </a:prstGeom>
          <a:noFill/>
          <a:ln w="38100">
            <a:solidFill>
              <a:srgbClr val="5B7CB8"/>
            </a:solidFill>
            <a:prstDash val="dash"/>
          </a:ln>
        </p:spPr>
      </p:sp>
      <p:sp>
        <p:nvSpPr>
          <p:cNvPr id="11" name="Shape 9"/>
          <p:cNvSpPr/>
          <p:nvPr/>
        </p:nvSpPr>
        <p:spPr>
          <a:xfrm>
            <a:off x="6936169" y="3882420"/>
            <a:ext cx="849503" cy="670500"/>
          </a:xfrm>
          <a:prstGeom prst="line">
            <a:avLst/>
          </a:prstGeom>
          <a:noFill/>
          <a:ln w="38100">
            <a:solidFill>
              <a:srgbClr val="C9A227"/>
            </a:solidFill>
            <a:prstDash val="solid"/>
          </a:ln>
        </p:spPr>
      </p:sp>
      <p:sp>
        <p:nvSpPr>
          <p:cNvPr id="12" name="Shape 10"/>
          <p:cNvSpPr/>
          <p:nvPr/>
        </p:nvSpPr>
        <p:spPr>
          <a:xfrm flipH="1">
            <a:off x="8216329" y="3882420"/>
            <a:ext cx="849503" cy="670500"/>
          </a:xfrm>
          <a:prstGeom prst="line">
            <a:avLst/>
          </a:prstGeom>
          <a:noFill/>
          <a:ln w="38100">
            <a:solidFill>
              <a:srgbClr val="5B7CB8"/>
            </a:solidFill>
            <a:prstDash val="dash"/>
          </a:ln>
        </p:spPr>
      </p:sp>
      <p:sp>
        <p:nvSpPr>
          <p:cNvPr id="13" name="Shape 11"/>
          <p:cNvSpPr/>
          <p:nvPr/>
        </p:nvSpPr>
        <p:spPr>
          <a:xfrm>
            <a:off x="7187184" y="1426464"/>
            <a:ext cx="530352" cy="530352"/>
          </a:xfrm>
          <a:prstGeom prst="ellipse">
            <a:avLst/>
          </a:prstGeom>
          <a:solidFill>
            <a:srgbClr val="14213D"/>
          </a:solidFill>
          <a:ln w="31750">
            <a:solidFill>
              <a:srgbClr val="C9A227"/>
            </a:solidFill>
            <a:prstDash val="solid"/>
          </a:ln>
        </p:spPr>
      </p:sp>
      <p:sp>
        <p:nvSpPr>
          <p:cNvPr id="14" name="Text 12"/>
          <p:cNvSpPr txBox="1"/>
          <p:nvPr/>
        </p:nvSpPr>
        <p:spPr>
          <a:xfrm>
            <a:off x="7187184" y="1426464"/>
            <a:ext cx="530352" cy="53035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5" name="Shape 13"/>
          <p:cNvSpPr/>
          <p:nvPr/>
        </p:nvSpPr>
        <p:spPr>
          <a:xfrm>
            <a:off x="5358384" y="2436876"/>
            <a:ext cx="530352" cy="530352"/>
          </a:xfrm>
          <a:prstGeom prst="ellipse">
            <a:avLst/>
          </a:prstGeom>
          <a:solidFill>
            <a:srgbClr val="FFFFFF"/>
          </a:solidFill>
          <a:ln w="19050">
            <a:solidFill>
              <a:srgbClr val="435273"/>
            </a:solidFill>
            <a:prstDash val="solid"/>
          </a:ln>
        </p:spPr>
      </p:sp>
      <p:sp>
        <p:nvSpPr>
          <p:cNvPr id="16" name="Text 14"/>
          <p:cNvSpPr txBox="1"/>
          <p:nvPr/>
        </p:nvSpPr>
        <p:spPr>
          <a:xfrm>
            <a:off x="5358384" y="2436876"/>
            <a:ext cx="530352" cy="530352"/>
          </a:xfrm>
          <a:prstGeom prst="rect">
            <a:avLst/>
          </a:prstGeom>
          <a:noFill/>
          <a:ln/>
        </p:spPr>
        <p:txBody>
          <a:bodyPr wrap="square" rtlCol="0" anchor="ctr"/>
          <a:lstStyle/>
          <a:p>
            <a:pPr marL="0" indent="0" algn="ctr">
              <a:buNone/>
            </a:pPr>
            <a:r>
              <a:rPr lang="en-US" sz="1400" b="1" dirty="0">
                <a:solidFill>
                  <a:srgbClr val="14213D"/>
                </a:solidFill>
                <a:latin typeface="Calibri" pitchFamily="34" charset="0"/>
                <a:ea typeface="Calibri" pitchFamily="34" charset="-122"/>
                <a:cs typeface="Calibri" pitchFamily="34" charset="-120"/>
              </a:rPr>
              <a:t>B</a:t>
            </a:r>
            <a:endParaRPr lang="en-US" sz="1400" dirty="0"/>
          </a:p>
        </p:txBody>
      </p:sp>
      <p:sp>
        <p:nvSpPr>
          <p:cNvPr id="17" name="Shape 15"/>
          <p:cNvSpPr/>
          <p:nvPr/>
        </p:nvSpPr>
        <p:spPr>
          <a:xfrm>
            <a:off x="9015984" y="2436876"/>
            <a:ext cx="530352" cy="530352"/>
          </a:xfrm>
          <a:prstGeom prst="ellipse">
            <a:avLst/>
          </a:prstGeom>
          <a:solidFill>
            <a:srgbClr val="FFFFFF"/>
          </a:solidFill>
          <a:ln w="19050">
            <a:solidFill>
              <a:srgbClr val="435273"/>
            </a:solidFill>
            <a:prstDash val="solid"/>
          </a:ln>
        </p:spPr>
      </p:sp>
      <p:sp>
        <p:nvSpPr>
          <p:cNvPr id="18" name="Text 16"/>
          <p:cNvSpPr txBox="1"/>
          <p:nvPr/>
        </p:nvSpPr>
        <p:spPr>
          <a:xfrm>
            <a:off x="9015984" y="2436876"/>
            <a:ext cx="530352" cy="530352"/>
          </a:xfrm>
          <a:prstGeom prst="rect">
            <a:avLst/>
          </a:prstGeom>
          <a:noFill/>
          <a:ln/>
        </p:spPr>
        <p:txBody>
          <a:bodyPr wrap="square" rtlCol="0" anchor="ctr"/>
          <a:lstStyle/>
          <a:p>
            <a:pPr marL="0" indent="0" algn="ctr">
              <a:buNone/>
            </a:pPr>
            <a:r>
              <a:rPr lang="en-US" sz="1400" b="1" dirty="0">
                <a:solidFill>
                  <a:srgbClr val="14213D"/>
                </a:solidFill>
                <a:latin typeface="Calibri" pitchFamily="34" charset="0"/>
                <a:ea typeface="Calibri" pitchFamily="34" charset="-122"/>
                <a:cs typeface="Calibri" pitchFamily="34" charset="-120"/>
              </a:rPr>
              <a:t>C</a:t>
            </a:r>
            <a:endParaRPr lang="en-US" sz="1400" dirty="0"/>
          </a:p>
        </p:txBody>
      </p:sp>
      <p:sp>
        <p:nvSpPr>
          <p:cNvPr id="19" name="Shape 17"/>
          <p:cNvSpPr/>
          <p:nvPr/>
        </p:nvSpPr>
        <p:spPr>
          <a:xfrm>
            <a:off x="4261104" y="3447288"/>
            <a:ext cx="530352" cy="530352"/>
          </a:xfrm>
          <a:prstGeom prst="ellipse">
            <a:avLst/>
          </a:prstGeom>
          <a:solidFill>
            <a:srgbClr val="FFFFFF"/>
          </a:solidFill>
          <a:ln w="19050">
            <a:solidFill>
              <a:srgbClr val="435273"/>
            </a:solidFill>
            <a:prstDash val="solid"/>
          </a:ln>
        </p:spPr>
      </p:sp>
      <p:sp>
        <p:nvSpPr>
          <p:cNvPr id="20" name="Text 18"/>
          <p:cNvSpPr txBox="1"/>
          <p:nvPr/>
        </p:nvSpPr>
        <p:spPr>
          <a:xfrm>
            <a:off x="4261104" y="3447288"/>
            <a:ext cx="530352" cy="530352"/>
          </a:xfrm>
          <a:prstGeom prst="rect">
            <a:avLst/>
          </a:prstGeom>
          <a:noFill/>
          <a:ln/>
        </p:spPr>
        <p:txBody>
          <a:bodyPr wrap="square" rtlCol="0" anchor="ctr"/>
          <a:lstStyle/>
          <a:p>
            <a:pPr marL="0" indent="0" algn="ctr">
              <a:buNone/>
            </a:pPr>
            <a:r>
              <a:rPr lang="en-US" sz="1400" b="1" dirty="0">
                <a:solidFill>
                  <a:srgbClr val="14213D"/>
                </a:solidFill>
                <a:latin typeface="Calibri" pitchFamily="34" charset="0"/>
                <a:ea typeface="Calibri" pitchFamily="34" charset="-122"/>
                <a:cs typeface="Calibri" pitchFamily="34" charset="-120"/>
              </a:rPr>
              <a:t>D</a:t>
            </a:r>
            <a:endParaRPr lang="en-US" sz="1400" dirty="0"/>
          </a:p>
        </p:txBody>
      </p:sp>
      <p:sp>
        <p:nvSpPr>
          <p:cNvPr id="21" name="Shape 19"/>
          <p:cNvSpPr/>
          <p:nvPr/>
        </p:nvSpPr>
        <p:spPr>
          <a:xfrm>
            <a:off x="6455664" y="3447288"/>
            <a:ext cx="530352" cy="530352"/>
          </a:xfrm>
          <a:prstGeom prst="ellipse">
            <a:avLst/>
          </a:prstGeom>
          <a:solidFill>
            <a:srgbClr val="FFFFFF"/>
          </a:solidFill>
          <a:ln w="19050">
            <a:solidFill>
              <a:srgbClr val="435273"/>
            </a:solidFill>
            <a:prstDash val="solid"/>
          </a:ln>
        </p:spPr>
      </p:sp>
      <p:sp>
        <p:nvSpPr>
          <p:cNvPr id="22" name="Text 20"/>
          <p:cNvSpPr txBox="1"/>
          <p:nvPr/>
        </p:nvSpPr>
        <p:spPr>
          <a:xfrm>
            <a:off x="6455664" y="3447288"/>
            <a:ext cx="530352" cy="530352"/>
          </a:xfrm>
          <a:prstGeom prst="rect">
            <a:avLst/>
          </a:prstGeom>
          <a:noFill/>
          <a:ln/>
        </p:spPr>
        <p:txBody>
          <a:bodyPr wrap="square" rtlCol="0" anchor="ctr"/>
          <a:lstStyle/>
          <a:p>
            <a:pPr marL="0" indent="0" algn="ctr">
              <a:buNone/>
            </a:pPr>
            <a:r>
              <a:rPr lang="en-US" sz="1400" b="1" dirty="0">
                <a:solidFill>
                  <a:srgbClr val="14213D"/>
                </a:solidFill>
                <a:latin typeface="Calibri" pitchFamily="34" charset="0"/>
                <a:ea typeface="Calibri" pitchFamily="34" charset="-122"/>
                <a:cs typeface="Calibri" pitchFamily="34" charset="-120"/>
              </a:rPr>
              <a:t>E</a:t>
            </a:r>
            <a:endParaRPr lang="en-US" sz="1400" dirty="0"/>
          </a:p>
        </p:txBody>
      </p:sp>
      <p:sp>
        <p:nvSpPr>
          <p:cNvPr id="23" name="Shape 21"/>
          <p:cNvSpPr/>
          <p:nvPr/>
        </p:nvSpPr>
        <p:spPr>
          <a:xfrm>
            <a:off x="9015984" y="3447288"/>
            <a:ext cx="530352" cy="530352"/>
          </a:xfrm>
          <a:prstGeom prst="ellipse">
            <a:avLst/>
          </a:prstGeom>
          <a:solidFill>
            <a:srgbClr val="FFFFFF"/>
          </a:solidFill>
          <a:ln w="19050">
            <a:solidFill>
              <a:srgbClr val="435273"/>
            </a:solidFill>
            <a:prstDash val="solid"/>
          </a:ln>
        </p:spPr>
      </p:sp>
      <p:sp>
        <p:nvSpPr>
          <p:cNvPr id="24" name="Text 22"/>
          <p:cNvSpPr txBox="1"/>
          <p:nvPr/>
        </p:nvSpPr>
        <p:spPr>
          <a:xfrm>
            <a:off x="9015984" y="3447288"/>
            <a:ext cx="530352" cy="530352"/>
          </a:xfrm>
          <a:prstGeom prst="rect">
            <a:avLst/>
          </a:prstGeom>
          <a:noFill/>
          <a:ln/>
        </p:spPr>
        <p:txBody>
          <a:bodyPr wrap="square" rtlCol="0" anchor="ctr"/>
          <a:lstStyle/>
          <a:p>
            <a:pPr marL="0" indent="0" algn="ctr">
              <a:buNone/>
            </a:pPr>
            <a:r>
              <a:rPr lang="en-US" sz="1400" b="1" dirty="0">
                <a:solidFill>
                  <a:srgbClr val="14213D"/>
                </a:solidFill>
                <a:latin typeface="Calibri" pitchFamily="34" charset="0"/>
                <a:ea typeface="Calibri" pitchFamily="34" charset="-122"/>
                <a:cs typeface="Calibri" pitchFamily="34" charset="-120"/>
              </a:rPr>
              <a:t>F</a:t>
            </a:r>
            <a:endParaRPr lang="en-US" sz="1400" dirty="0"/>
          </a:p>
        </p:txBody>
      </p:sp>
      <p:sp>
        <p:nvSpPr>
          <p:cNvPr id="25" name="Shape 23"/>
          <p:cNvSpPr/>
          <p:nvPr/>
        </p:nvSpPr>
        <p:spPr>
          <a:xfrm>
            <a:off x="7735824" y="4457700"/>
            <a:ext cx="530352" cy="530352"/>
          </a:xfrm>
          <a:prstGeom prst="ellipse">
            <a:avLst/>
          </a:prstGeom>
          <a:solidFill>
            <a:srgbClr val="C9A227"/>
          </a:solidFill>
          <a:ln w="25400">
            <a:solidFill>
              <a:srgbClr val="14213D"/>
            </a:solidFill>
            <a:prstDash val="solid"/>
          </a:ln>
        </p:spPr>
      </p:sp>
      <p:sp>
        <p:nvSpPr>
          <p:cNvPr id="26" name="Text 24"/>
          <p:cNvSpPr txBox="1"/>
          <p:nvPr/>
        </p:nvSpPr>
        <p:spPr>
          <a:xfrm>
            <a:off x="7735824" y="4457700"/>
            <a:ext cx="530352" cy="530352"/>
          </a:xfrm>
          <a:prstGeom prst="rect">
            <a:avLst/>
          </a:prstGeom>
          <a:noFill/>
          <a:ln/>
        </p:spPr>
        <p:txBody>
          <a:bodyPr wrap="square" rtlCol="0" anchor="ctr"/>
          <a:lstStyle/>
          <a:p>
            <a:pPr marL="0" indent="0" algn="ctr">
              <a:buNone/>
            </a:pPr>
            <a:r>
              <a:rPr lang="en-US" sz="1400" b="1" dirty="0">
                <a:solidFill>
                  <a:srgbClr val="0A1226"/>
                </a:solidFill>
                <a:latin typeface="Calibri" pitchFamily="34" charset="0"/>
                <a:ea typeface="Calibri" pitchFamily="34" charset="-122"/>
                <a:cs typeface="Calibri" pitchFamily="34" charset="-120"/>
              </a:rPr>
              <a:t>G</a:t>
            </a:r>
            <a:endParaRPr lang="en-US" sz="1400" dirty="0"/>
          </a:p>
        </p:txBody>
      </p:sp>
      <p:sp>
        <p:nvSpPr>
          <p:cNvPr id="27" name="Text 25"/>
          <p:cNvSpPr txBox="1"/>
          <p:nvPr/>
        </p:nvSpPr>
        <p:spPr>
          <a:xfrm>
            <a:off x="502920" y="5440680"/>
            <a:ext cx="11185855" cy="292608"/>
          </a:xfrm>
          <a:prstGeom prst="rect">
            <a:avLst/>
          </a:prstGeom>
          <a:noFill/>
          <a:ln/>
        </p:spPr>
        <p:txBody>
          <a:bodyPr wrap="square" rtlCol="0" anchor="ctr"/>
          <a:lstStyle/>
          <a:p>
            <a:pPr marL="0" indent="0">
              <a:buNone/>
            </a:pPr>
            <a:r>
              <a:rPr lang="en-US" sz="1250" b="1" dirty="0">
                <a:solidFill>
                  <a:srgbClr val="C9A227"/>
                </a:solidFill>
                <a:latin typeface="Calibri" pitchFamily="34" charset="0"/>
                <a:ea typeface="Calibri" pitchFamily="34" charset="-122"/>
                <a:cs typeface="Calibri" pitchFamily="34" charset="-120"/>
              </a:rPr>
              <a:t>●  </a:t>
            </a:r>
            <a:r>
              <a:rPr lang="en-US" sz="1250" dirty="0">
                <a:solidFill>
                  <a:srgbClr val="000000"/>
                </a:solidFill>
                <a:latin typeface="Calibri" pitchFamily="34" charset="0"/>
                <a:ea typeface="Calibri" pitchFamily="34" charset="-122"/>
                <a:cs typeface="Calibri" pitchFamily="34" charset="-120"/>
              </a:rPr>
              <a:t>Path 1:  A → B → E → G</a:t>
            </a:r>
            <a:r>
              <a:rPr lang="en-US" sz="1250" b="1" dirty="0">
                <a:solidFill>
                  <a:srgbClr val="5B7CB8"/>
                </a:solidFill>
                <a:latin typeface="Calibri" pitchFamily="34" charset="0"/>
                <a:ea typeface="Calibri" pitchFamily="34" charset="-122"/>
                <a:cs typeface="Calibri" pitchFamily="34" charset="-120"/>
              </a:rPr>
              <a:t>        ●  </a:t>
            </a:r>
            <a:r>
              <a:rPr lang="en-US" sz="1250" dirty="0">
                <a:solidFill>
                  <a:srgbClr val="000000"/>
                </a:solidFill>
                <a:latin typeface="Calibri" pitchFamily="34" charset="0"/>
                <a:ea typeface="Calibri" pitchFamily="34" charset="-122"/>
                <a:cs typeface="Calibri" pitchFamily="34" charset="-120"/>
              </a:rPr>
              <a:t>Path 2:  A → C → F → G</a:t>
            </a:r>
            <a:endParaRPr lang="en-US" sz="1250" dirty="0"/>
          </a:p>
        </p:txBody>
      </p:sp>
      <p:sp>
        <p:nvSpPr>
          <p:cNvPr id="28" name="Text 26"/>
          <p:cNvSpPr txBox="1"/>
          <p:nvPr/>
        </p:nvSpPr>
        <p:spPr>
          <a:xfrm>
            <a:off x="502920" y="5760720"/>
            <a:ext cx="11185855" cy="640080"/>
          </a:xfrm>
          <a:prstGeom prst="rect">
            <a:avLst/>
          </a:prstGeom>
          <a:noFill/>
          <a:ln/>
        </p:spPr>
        <p:txBody>
          <a:bodyPr wrap="square" rtlCol="0" anchor="ctr"/>
          <a:lstStyle/>
          <a:p>
            <a:pPr marL="0" indent="0">
              <a:lnSpc>
                <a:spcPct val="120000"/>
              </a:lnSpc>
              <a:buNone/>
            </a:pPr>
            <a:r>
              <a:rPr lang="en-US" sz="1150" i="1" dirty="0">
                <a:solidFill>
                  <a:srgbClr val="435273"/>
                </a:solidFill>
                <a:latin typeface="Calibri" pitchFamily="34" charset="0"/>
                <a:ea typeface="Calibri" pitchFamily="34" charset="-122"/>
                <a:cs typeface="Calibri" pitchFamily="34" charset="-120"/>
              </a:rPr>
              <a:t>A is the initial state; G is the goal. Every edge is a legal action. Both paths reach the goal — which one a search algorithm returns depends entirely on its strategy, as we will see for BFS, DFS, and UCS.</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92608"/>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STATE-SPACE REPRESENTATION</a:t>
            </a:r>
            <a:endParaRPr lang="en-US" sz="1200" dirty="0"/>
          </a:p>
        </p:txBody>
      </p:sp>
      <p:sp>
        <p:nvSpPr>
          <p:cNvPr id="3" name="Text 1"/>
          <p:cNvSpPr txBox="1"/>
          <p:nvPr/>
        </p:nvSpPr>
        <p:spPr>
          <a:xfrm>
            <a:off x="502920" y="621792"/>
            <a:ext cx="11155680" cy="658368"/>
          </a:xfrm>
          <a:prstGeom prst="rect">
            <a:avLst/>
          </a:prstGeom>
          <a:noFill/>
          <a:ln/>
        </p:spPr>
        <p:txBody>
          <a:bodyPr wrap="square" rtlCol="0" anchor="ctr"/>
          <a:lstStyle/>
          <a:p>
            <a:pPr marL="0" indent="0">
              <a:buNone/>
            </a:pPr>
            <a:r>
              <a:rPr lang="en-US" sz="2900" b="1" dirty="0">
                <a:solidFill>
                  <a:srgbClr val="14213D"/>
                </a:solidFill>
                <a:latin typeface="Cambria" pitchFamily="34" charset="0"/>
                <a:ea typeface="Cambria" pitchFamily="34" charset="-122"/>
                <a:cs typeface="Cambria" pitchFamily="34" charset="-120"/>
              </a:rPr>
              <a:t>State vs. Node vs. Search Tree vs. State-Space Graph</a:t>
            </a:r>
            <a:endParaRPr lang="en-US" sz="2900" dirty="0"/>
          </a:p>
        </p:txBody>
      </p:sp>
      <p:sp>
        <p:nvSpPr>
          <p:cNvPr id="4" name="Text 2"/>
          <p:cNvSpPr txBox="1"/>
          <p:nvPr/>
        </p:nvSpPr>
        <p:spPr>
          <a:xfrm>
            <a:off x="502920" y="6473952"/>
            <a:ext cx="7315200" cy="274320"/>
          </a:xfrm>
          <a:prstGeom prst="rect">
            <a:avLst/>
          </a:prstGeom>
          <a:noFill/>
          <a:ln/>
        </p:spPr>
        <p:txBody>
          <a:bodyPr wrap="square" rtlCol="0" anchor="ctr"/>
          <a:lstStyle/>
          <a:p>
            <a:pPr marL="0" indent="0">
              <a:buNone/>
            </a:pPr>
            <a:r>
              <a:rPr lang="en-US" sz="950" b="1" dirty="0">
                <a:solidFill>
                  <a:srgbClr val="6B7280"/>
                </a:solidFill>
                <a:latin typeface="Calibri" pitchFamily="34" charset="0"/>
                <a:ea typeface="Calibri" pitchFamily="34" charset="-122"/>
                <a:cs typeface="Calibri" pitchFamily="34" charset="-120"/>
              </a:rPr>
              <a:t>Artificial Intelligence</a:t>
            </a:r>
            <a:r>
              <a:rPr lang="en-US" sz="950" dirty="0">
                <a:solidFill>
                  <a:srgbClr val="6B7280"/>
                </a:solidFill>
                <a:latin typeface="Calibri" pitchFamily="34" charset="0"/>
                <a:ea typeface="Calibri" pitchFamily="34" charset="-122"/>
                <a:cs typeface="Calibri" pitchFamily="34" charset="-120"/>
              </a:rPr>
              <a:t>   ·   BS Computer Science   ·   Lecture 3</a:t>
            </a:r>
            <a:endParaRPr lang="en-US" sz="950" dirty="0"/>
          </a:p>
        </p:txBody>
      </p:sp>
      <p:sp>
        <p:nvSpPr>
          <p:cNvPr id="5" name="Text 3"/>
          <p:cNvSpPr txBox="1"/>
          <p:nvPr/>
        </p:nvSpPr>
        <p:spPr>
          <a:xfrm>
            <a:off x="8762695" y="6473952"/>
            <a:ext cx="292608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Dr. Ghulam Ali   ·   15</a:t>
            </a:r>
            <a:endParaRPr lang="en-US" sz="950" dirty="0"/>
          </a:p>
        </p:txBody>
      </p:sp>
      <p:sp>
        <p:nvSpPr>
          <p:cNvPr id="6" name="Shape 4"/>
          <p:cNvSpPr/>
          <p:nvPr/>
        </p:nvSpPr>
        <p:spPr>
          <a:xfrm>
            <a:off x="502920" y="1463040"/>
            <a:ext cx="5440680" cy="1691640"/>
          </a:xfrm>
          <a:prstGeom prst="roundRect">
            <a:avLst>
              <a:gd name="adj" fmla="val 4324"/>
            </a:avLst>
          </a:prstGeom>
          <a:solidFill>
            <a:srgbClr val="EAEFF8"/>
          </a:solidFill>
          <a:ln/>
        </p:spPr>
      </p:sp>
      <p:sp>
        <p:nvSpPr>
          <p:cNvPr id="7" name="Shape 5"/>
          <p:cNvSpPr/>
          <p:nvPr/>
        </p:nvSpPr>
        <p:spPr>
          <a:xfrm>
            <a:off x="704088" y="1664208"/>
            <a:ext cx="347472" cy="347472"/>
          </a:xfrm>
          <a:prstGeom prst="ellipse">
            <a:avLst/>
          </a:prstGeom>
          <a:solidFill>
            <a:srgbClr val="C9A227"/>
          </a:solidFill>
          <a:ln/>
        </p:spPr>
      </p:sp>
      <p:sp>
        <p:nvSpPr>
          <p:cNvPr id="8" name="Text 6"/>
          <p:cNvSpPr txBox="1"/>
          <p:nvPr/>
        </p:nvSpPr>
        <p:spPr>
          <a:xfrm>
            <a:off x="704088" y="1664208"/>
            <a:ext cx="347472" cy="347472"/>
          </a:xfrm>
          <a:prstGeom prst="rect">
            <a:avLst/>
          </a:prstGeom>
          <a:noFill/>
          <a:ln/>
        </p:spPr>
        <p:txBody>
          <a:bodyPr wrap="none" rtlCol="0" anchor="ctr"/>
          <a:lstStyle/>
          <a:p>
            <a:pPr marL="0" indent="0" algn="ctr">
              <a:buNone/>
            </a:pPr>
            <a:r>
              <a:rPr lang="en-US" sz="1500" b="1" dirty="0">
                <a:solidFill>
                  <a:srgbClr val="0A1226"/>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1207008" y="1627632"/>
            <a:ext cx="4535424" cy="310896"/>
          </a:xfrm>
          <a:prstGeom prst="rect">
            <a:avLst/>
          </a:prstGeom>
          <a:noFill/>
          <a:ln/>
        </p:spPr>
        <p:txBody>
          <a:bodyPr wrap="square" rtlCol="0" anchor="ctr"/>
          <a:lstStyle/>
          <a:p>
            <a:pPr marL="0" indent="0">
              <a:buNone/>
            </a:pPr>
            <a:r>
              <a:rPr lang="en-US" sz="1400" b="1" dirty="0">
                <a:solidFill>
                  <a:srgbClr val="14213D"/>
                </a:solidFill>
                <a:latin typeface="Calibri" pitchFamily="34" charset="0"/>
                <a:ea typeface="Calibri" pitchFamily="34" charset="-122"/>
                <a:cs typeface="Calibri" pitchFamily="34" charset="-120"/>
              </a:rPr>
              <a:t>STATE</a:t>
            </a:r>
            <a:endParaRPr lang="en-US" sz="1400" dirty="0"/>
          </a:p>
        </p:txBody>
      </p:sp>
      <p:sp>
        <p:nvSpPr>
          <p:cNvPr id="10" name="Text 8"/>
          <p:cNvSpPr txBox="1"/>
          <p:nvPr/>
        </p:nvSpPr>
        <p:spPr>
          <a:xfrm>
            <a:off x="1207008" y="1956816"/>
            <a:ext cx="4535424" cy="1161288"/>
          </a:xfrm>
          <a:prstGeom prst="rect">
            <a:avLst/>
          </a:prstGeom>
          <a:noFill/>
          <a:ln/>
        </p:spPr>
        <p:txBody>
          <a:bodyPr wrap="square" rtlCol="0" anchor="t"/>
          <a:lstStyle/>
          <a:p>
            <a:pPr marL="0" indent="0">
              <a:lnSpc>
                <a:spcPct val="112000"/>
              </a:lnSpc>
              <a:buNone/>
            </a:pPr>
            <a:r>
              <a:rPr lang="en-US" sz="1250" dirty="0">
                <a:solidFill>
                  <a:srgbClr val="1B2333"/>
                </a:solidFill>
                <a:latin typeface="Calibri" pitchFamily="34" charset="0"/>
                <a:ea typeface="Calibri" pitchFamily="34" charset="-122"/>
                <a:cs typeface="Calibri" pitchFamily="34" charset="-120"/>
              </a:rPr>
              <a:t>A configuration of the world — 'where we are.' Contains no memory of how we got there.</a:t>
            </a:r>
            <a:endParaRPr lang="en-US" sz="1250" dirty="0"/>
          </a:p>
        </p:txBody>
      </p:sp>
      <p:sp>
        <p:nvSpPr>
          <p:cNvPr id="11" name="Shape 9"/>
          <p:cNvSpPr/>
          <p:nvPr/>
        </p:nvSpPr>
        <p:spPr>
          <a:xfrm>
            <a:off x="6400800" y="1463040"/>
            <a:ext cx="5440680" cy="1691640"/>
          </a:xfrm>
          <a:prstGeom prst="roundRect">
            <a:avLst>
              <a:gd name="adj" fmla="val 4324"/>
            </a:avLst>
          </a:prstGeom>
          <a:solidFill>
            <a:srgbClr val="EAEFF8"/>
          </a:solidFill>
          <a:ln/>
        </p:spPr>
      </p:sp>
      <p:sp>
        <p:nvSpPr>
          <p:cNvPr id="12" name="Shape 10"/>
          <p:cNvSpPr/>
          <p:nvPr/>
        </p:nvSpPr>
        <p:spPr>
          <a:xfrm>
            <a:off x="6601968" y="1664208"/>
            <a:ext cx="347472" cy="347472"/>
          </a:xfrm>
          <a:prstGeom prst="ellipse">
            <a:avLst/>
          </a:prstGeom>
          <a:solidFill>
            <a:srgbClr val="C9A227"/>
          </a:solidFill>
          <a:ln/>
        </p:spPr>
      </p:sp>
      <p:sp>
        <p:nvSpPr>
          <p:cNvPr id="13" name="Text 11"/>
          <p:cNvSpPr txBox="1"/>
          <p:nvPr/>
        </p:nvSpPr>
        <p:spPr>
          <a:xfrm>
            <a:off x="6601968" y="1664208"/>
            <a:ext cx="347472" cy="347472"/>
          </a:xfrm>
          <a:prstGeom prst="rect">
            <a:avLst/>
          </a:prstGeom>
          <a:noFill/>
          <a:ln/>
        </p:spPr>
        <p:txBody>
          <a:bodyPr wrap="none" rtlCol="0" anchor="ctr"/>
          <a:lstStyle/>
          <a:p>
            <a:pPr marL="0" indent="0" algn="ctr">
              <a:buNone/>
            </a:pPr>
            <a:r>
              <a:rPr lang="en-US" sz="1500" b="1" dirty="0">
                <a:solidFill>
                  <a:srgbClr val="0A1226"/>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7104888" y="1627632"/>
            <a:ext cx="4535424" cy="310896"/>
          </a:xfrm>
          <a:prstGeom prst="rect">
            <a:avLst/>
          </a:prstGeom>
          <a:noFill/>
          <a:ln/>
        </p:spPr>
        <p:txBody>
          <a:bodyPr wrap="square" rtlCol="0" anchor="ctr"/>
          <a:lstStyle/>
          <a:p>
            <a:pPr marL="0" indent="0">
              <a:buNone/>
            </a:pPr>
            <a:r>
              <a:rPr lang="en-US" sz="1400" b="1" dirty="0">
                <a:solidFill>
                  <a:srgbClr val="14213D"/>
                </a:solidFill>
                <a:latin typeface="Calibri" pitchFamily="34" charset="0"/>
                <a:ea typeface="Calibri" pitchFamily="34" charset="-122"/>
                <a:cs typeface="Calibri" pitchFamily="34" charset="-120"/>
              </a:rPr>
              <a:t>SEARCH NODE</a:t>
            </a:r>
            <a:endParaRPr lang="en-US" sz="1400" dirty="0"/>
          </a:p>
        </p:txBody>
      </p:sp>
      <p:sp>
        <p:nvSpPr>
          <p:cNvPr id="15" name="Text 13"/>
          <p:cNvSpPr txBox="1"/>
          <p:nvPr/>
        </p:nvSpPr>
        <p:spPr>
          <a:xfrm>
            <a:off x="7104888" y="1956816"/>
            <a:ext cx="4535424" cy="1161288"/>
          </a:xfrm>
          <a:prstGeom prst="rect">
            <a:avLst/>
          </a:prstGeom>
          <a:noFill/>
          <a:ln/>
        </p:spPr>
        <p:txBody>
          <a:bodyPr wrap="square" rtlCol="0" anchor="t"/>
          <a:lstStyle/>
          <a:p>
            <a:pPr marL="0" indent="0">
              <a:lnSpc>
                <a:spcPct val="112000"/>
              </a:lnSpc>
              <a:buNone/>
            </a:pPr>
            <a:r>
              <a:rPr lang="en-US" sz="1250" dirty="0">
                <a:solidFill>
                  <a:srgbClr val="1B2333"/>
                </a:solidFill>
                <a:latin typeface="Calibri" pitchFamily="34" charset="0"/>
                <a:ea typeface="Calibri" pitchFamily="34" charset="-122"/>
                <a:cs typeface="Calibri" pitchFamily="34" charset="-120"/>
              </a:rPr>
              <a:t>A bookkeeping record the algorithm creates: it wraps a state together with a parent pointer, the action taken, path cost g(n), and depth.</a:t>
            </a:r>
            <a:endParaRPr lang="en-US" sz="1250" dirty="0"/>
          </a:p>
        </p:txBody>
      </p:sp>
      <p:sp>
        <p:nvSpPr>
          <p:cNvPr id="16" name="Shape 14"/>
          <p:cNvSpPr/>
          <p:nvPr/>
        </p:nvSpPr>
        <p:spPr>
          <a:xfrm>
            <a:off x="502920" y="3474720"/>
            <a:ext cx="5440680" cy="1691640"/>
          </a:xfrm>
          <a:prstGeom prst="roundRect">
            <a:avLst>
              <a:gd name="adj" fmla="val 4324"/>
            </a:avLst>
          </a:prstGeom>
          <a:solidFill>
            <a:srgbClr val="EAEFF8"/>
          </a:solidFill>
          <a:ln/>
        </p:spPr>
      </p:sp>
      <p:sp>
        <p:nvSpPr>
          <p:cNvPr id="17" name="Shape 15"/>
          <p:cNvSpPr/>
          <p:nvPr/>
        </p:nvSpPr>
        <p:spPr>
          <a:xfrm>
            <a:off x="704088" y="3675888"/>
            <a:ext cx="347472" cy="347472"/>
          </a:xfrm>
          <a:prstGeom prst="ellipse">
            <a:avLst/>
          </a:prstGeom>
          <a:solidFill>
            <a:srgbClr val="C9A227"/>
          </a:solidFill>
          <a:ln/>
        </p:spPr>
      </p:sp>
      <p:sp>
        <p:nvSpPr>
          <p:cNvPr id="18" name="Text 16"/>
          <p:cNvSpPr txBox="1"/>
          <p:nvPr/>
        </p:nvSpPr>
        <p:spPr>
          <a:xfrm>
            <a:off x="704088" y="3675888"/>
            <a:ext cx="347472" cy="347472"/>
          </a:xfrm>
          <a:prstGeom prst="rect">
            <a:avLst/>
          </a:prstGeom>
          <a:noFill/>
          <a:ln/>
        </p:spPr>
        <p:txBody>
          <a:bodyPr wrap="none" rtlCol="0" anchor="ctr"/>
          <a:lstStyle/>
          <a:p>
            <a:pPr marL="0" indent="0" algn="ctr">
              <a:buNone/>
            </a:pPr>
            <a:r>
              <a:rPr lang="en-US" sz="1500" b="1" dirty="0">
                <a:solidFill>
                  <a:srgbClr val="0A1226"/>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1207008" y="3639312"/>
            <a:ext cx="4535424" cy="310896"/>
          </a:xfrm>
          <a:prstGeom prst="rect">
            <a:avLst/>
          </a:prstGeom>
          <a:noFill/>
          <a:ln/>
        </p:spPr>
        <p:txBody>
          <a:bodyPr wrap="square" rtlCol="0" anchor="ctr"/>
          <a:lstStyle/>
          <a:p>
            <a:pPr marL="0" indent="0">
              <a:buNone/>
            </a:pPr>
            <a:r>
              <a:rPr lang="en-US" sz="1400" b="1" dirty="0">
                <a:solidFill>
                  <a:srgbClr val="14213D"/>
                </a:solidFill>
                <a:latin typeface="Calibri" pitchFamily="34" charset="0"/>
                <a:ea typeface="Calibri" pitchFamily="34" charset="-122"/>
                <a:cs typeface="Calibri" pitchFamily="34" charset="-120"/>
              </a:rPr>
              <a:t>SEARCH TREE</a:t>
            </a:r>
            <a:endParaRPr lang="en-US" sz="1400" dirty="0"/>
          </a:p>
        </p:txBody>
      </p:sp>
      <p:sp>
        <p:nvSpPr>
          <p:cNvPr id="20" name="Text 18"/>
          <p:cNvSpPr txBox="1"/>
          <p:nvPr/>
        </p:nvSpPr>
        <p:spPr>
          <a:xfrm>
            <a:off x="1207008" y="3968496"/>
            <a:ext cx="4535424" cy="1161288"/>
          </a:xfrm>
          <a:prstGeom prst="rect">
            <a:avLst/>
          </a:prstGeom>
          <a:noFill/>
          <a:ln/>
        </p:spPr>
        <p:txBody>
          <a:bodyPr wrap="square" rtlCol="0" anchor="t"/>
          <a:lstStyle/>
          <a:p>
            <a:pPr marL="0" indent="0">
              <a:lnSpc>
                <a:spcPct val="112000"/>
              </a:lnSpc>
              <a:buNone/>
            </a:pPr>
            <a:r>
              <a:rPr lang="en-US" sz="1250" dirty="0">
                <a:solidFill>
                  <a:srgbClr val="1B2333"/>
                </a:solidFill>
                <a:latin typeface="Calibri" pitchFamily="34" charset="0"/>
                <a:ea typeface="Calibri" pitchFamily="34" charset="-122"/>
                <a:cs typeface="Calibri" pitchFamily="34" charset="-120"/>
              </a:rPr>
              <a:t>The tree of nodes an algorithm actually builds while running — the same state can appear in multiple nodes if reached via different paths.</a:t>
            </a:r>
            <a:endParaRPr lang="en-US" sz="1250" dirty="0"/>
          </a:p>
        </p:txBody>
      </p:sp>
      <p:sp>
        <p:nvSpPr>
          <p:cNvPr id="21" name="Shape 19"/>
          <p:cNvSpPr/>
          <p:nvPr/>
        </p:nvSpPr>
        <p:spPr>
          <a:xfrm>
            <a:off x="6400800" y="3474720"/>
            <a:ext cx="5440680" cy="1691640"/>
          </a:xfrm>
          <a:prstGeom prst="roundRect">
            <a:avLst>
              <a:gd name="adj" fmla="val 4324"/>
            </a:avLst>
          </a:prstGeom>
          <a:solidFill>
            <a:srgbClr val="EAEFF8"/>
          </a:solidFill>
          <a:ln/>
        </p:spPr>
      </p:sp>
      <p:sp>
        <p:nvSpPr>
          <p:cNvPr id="22" name="Shape 20"/>
          <p:cNvSpPr/>
          <p:nvPr/>
        </p:nvSpPr>
        <p:spPr>
          <a:xfrm>
            <a:off x="6601968" y="3675888"/>
            <a:ext cx="347472" cy="347472"/>
          </a:xfrm>
          <a:prstGeom prst="ellipse">
            <a:avLst/>
          </a:prstGeom>
          <a:solidFill>
            <a:srgbClr val="C9A227"/>
          </a:solidFill>
          <a:ln/>
        </p:spPr>
      </p:sp>
      <p:sp>
        <p:nvSpPr>
          <p:cNvPr id="23" name="Text 21"/>
          <p:cNvSpPr txBox="1"/>
          <p:nvPr/>
        </p:nvSpPr>
        <p:spPr>
          <a:xfrm>
            <a:off x="6601968" y="3675888"/>
            <a:ext cx="347472" cy="347472"/>
          </a:xfrm>
          <a:prstGeom prst="rect">
            <a:avLst/>
          </a:prstGeom>
          <a:noFill/>
          <a:ln/>
        </p:spPr>
        <p:txBody>
          <a:bodyPr wrap="none" rtlCol="0" anchor="ctr"/>
          <a:lstStyle/>
          <a:p>
            <a:pPr marL="0" indent="0" algn="ctr">
              <a:buNone/>
            </a:pPr>
            <a:r>
              <a:rPr lang="en-US" sz="1500" b="1" dirty="0">
                <a:solidFill>
                  <a:srgbClr val="0A1226"/>
                </a:solidFill>
                <a:latin typeface="Calibri" pitchFamily="34" charset="0"/>
                <a:ea typeface="Calibri" pitchFamily="34" charset="-122"/>
                <a:cs typeface="Calibri" pitchFamily="34" charset="-120"/>
              </a:rPr>
              <a:t>4</a:t>
            </a:r>
            <a:endParaRPr lang="en-US" sz="1500" dirty="0"/>
          </a:p>
        </p:txBody>
      </p:sp>
      <p:sp>
        <p:nvSpPr>
          <p:cNvPr id="24" name="Text 22"/>
          <p:cNvSpPr txBox="1"/>
          <p:nvPr/>
        </p:nvSpPr>
        <p:spPr>
          <a:xfrm>
            <a:off x="7104888" y="3639312"/>
            <a:ext cx="4535424" cy="310896"/>
          </a:xfrm>
          <a:prstGeom prst="rect">
            <a:avLst/>
          </a:prstGeom>
          <a:noFill/>
          <a:ln/>
        </p:spPr>
        <p:txBody>
          <a:bodyPr wrap="square" rtlCol="0" anchor="ctr"/>
          <a:lstStyle/>
          <a:p>
            <a:pPr marL="0" indent="0">
              <a:buNone/>
            </a:pPr>
            <a:r>
              <a:rPr lang="en-US" sz="1400" b="1" dirty="0">
                <a:solidFill>
                  <a:srgbClr val="14213D"/>
                </a:solidFill>
                <a:latin typeface="Calibri" pitchFamily="34" charset="0"/>
                <a:ea typeface="Calibri" pitchFamily="34" charset="-122"/>
                <a:cs typeface="Calibri" pitchFamily="34" charset="-120"/>
              </a:rPr>
              <a:t>STATE-SPACE GRAPH</a:t>
            </a:r>
            <a:endParaRPr lang="en-US" sz="1400" dirty="0"/>
          </a:p>
        </p:txBody>
      </p:sp>
      <p:sp>
        <p:nvSpPr>
          <p:cNvPr id="25" name="Text 23"/>
          <p:cNvSpPr txBox="1"/>
          <p:nvPr/>
        </p:nvSpPr>
        <p:spPr>
          <a:xfrm>
            <a:off x="7104888" y="3968496"/>
            <a:ext cx="4535424" cy="1161288"/>
          </a:xfrm>
          <a:prstGeom prst="rect">
            <a:avLst/>
          </a:prstGeom>
          <a:noFill/>
          <a:ln/>
        </p:spPr>
        <p:txBody>
          <a:bodyPr wrap="square" rtlCol="0" anchor="t"/>
          <a:lstStyle/>
          <a:p>
            <a:pPr marL="0" indent="0">
              <a:lnSpc>
                <a:spcPct val="112000"/>
              </a:lnSpc>
              <a:buNone/>
            </a:pPr>
            <a:r>
              <a:rPr lang="en-US" sz="1250" dirty="0">
                <a:solidFill>
                  <a:srgbClr val="1B2333"/>
                </a:solidFill>
                <a:latin typeface="Calibri" pitchFamily="34" charset="0"/>
                <a:ea typeface="Calibri" pitchFamily="34" charset="-122"/>
                <a:cs typeface="Calibri" pitchFamily="34" charset="-120"/>
              </a:rPr>
              <a:t>The full, problem-defined graph of every state and transition — it exists independently of any particular search algorithm.</a:t>
            </a:r>
            <a:endParaRPr lang="en-US" sz="1250" dirty="0"/>
          </a:p>
        </p:txBody>
      </p:sp>
      <p:sp>
        <p:nvSpPr>
          <p:cNvPr id="26" name="Text 24"/>
          <p:cNvSpPr txBox="1"/>
          <p:nvPr/>
        </p:nvSpPr>
        <p:spPr>
          <a:xfrm>
            <a:off x="502920" y="5257800"/>
            <a:ext cx="11155680" cy="274320"/>
          </a:xfrm>
          <a:prstGeom prst="rect">
            <a:avLst/>
          </a:prstGeom>
          <a:noFill/>
          <a:ln/>
        </p:spPr>
        <p:txBody>
          <a:bodyPr wrap="square" rtlCol="0" anchor="ctr"/>
          <a:lstStyle/>
          <a:p>
            <a:pPr marL="0" indent="0">
              <a:buNone/>
            </a:pPr>
            <a:r>
              <a:rPr lang="en-US" sz="1150" i="1" dirty="0">
                <a:solidFill>
                  <a:srgbClr val="435273"/>
                </a:solidFill>
                <a:latin typeface="Calibri" pitchFamily="34" charset="0"/>
                <a:ea typeface="Calibri" pitchFamily="34" charset="-122"/>
                <a:cs typeface="Calibri" pitchFamily="34" charset="-120"/>
              </a:rPr>
              <a:t>A node contains more information than a bare state:</a:t>
            </a:r>
            <a:endParaRPr lang="en-US" sz="1150" dirty="0"/>
          </a:p>
        </p:txBody>
      </p:sp>
      <p:sp>
        <p:nvSpPr>
          <p:cNvPr id="27" name="Shape 25"/>
          <p:cNvSpPr/>
          <p:nvPr/>
        </p:nvSpPr>
        <p:spPr>
          <a:xfrm>
            <a:off x="502920" y="5550408"/>
            <a:ext cx="2057400" cy="365760"/>
          </a:xfrm>
          <a:prstGeom prst="roundRect">
            <a:avLst>
              <a:gd name="adj" fmla="val 15000"/>
            </a:avLst>
          </a:prstGeom>
          <a:solidFill>
            <a:srgbClr val="14213D"/>
          </a:solidFill>
          <a:ln/>
        </p:spPr>
      </p:sp>
      <p:sp>
        <p:nvSpPr>
          <p:cNvPr id="28" name="Text 26"/>
          <p:cNvSpPr txBox="1"/>
          <p:nvPr/>
        </p:nvSpPr>
        <p:spPr>
          <a:xfrm>
            <a:off x="502920" y="5550408"/>
            <a:ext cx="2057400" cy="365760"/>
          </a:xfrm>
          <a:prstGeom prst="rect">
            <a:avLst/>
          </a:prstGeom>
          <a:noFill/>
          <a:ln/>
        </p:spPr>
        <p:txBody>
          <a:bodyPr wrap="square" rtlCol="0" anchor="ctr"/>
          <a:lstStyle/>
          <a:p>
            <a:pPr marL="0" indent="0" algn="ctr">
              <a:buNone/>
            </a:pPr>
            <a:r>
              <a:rPr lang="en-US" sz="1200" b="1" dirty="0">
                <a:solidFill>
                  <a:srgbClr val="E7D9A8"/>
                </a:solidFill>
                <a:latin typeface="Courier New" pitchFamily="34" charset="0"/>
                <a:ea typeface="Courier New" pitchFamily="34" charset="-122"/>
                <a:cs typeface="Courier New" pitchFamily="34" charset="-120"/>
              </a:rPr>
              <a:t>state</a:t>
            </a:r>
            <a:endParaRPr lang="en-US" sz="1200" dirty="0"/>
          </a:p>
        </p:txBody>
      </p:sp>
      <p:sp>
        <p:nvSpPr>
          <p:cNvPr id="29" name="Shape 27"/>
          <p:cNvSpPr/>
          <p:nvPr/>
        </p:nvSpPr>
        <p:spPr>
          <a:xfrm>
            <a:off x="2788920" y="5550408"/>
            <a:ext cx="2057400" cy="365760"/>
          </a:xfrm>
          <a:prstGeom prst="roundRect">
            <a:avLst>
              <a:gd name="adj" fmla="val 15000"/>
            </a:avLst>
          </a:prstGeom>
          <a:solidFill>
            <a:srgbClr val="14213D"/>
          </a:solidFill>
          <a:ln/>
        </p:spPr>
      </p:sp>
      <p:sp>
        <p:nvSpPr>
          <p:cNvPr id="30" name="Text 28"/>
          <p:cNvSpPr txBox="1"/>
          <p:nvPr/>
        </p:nvSpPr>
        <p:spPr>
          <a:xfrm>
            <a:off x="2788920" y="5550408"/>
            <a:ext cx="2057400" cy="365760"/>
          </a:xfrm>
          <a:prstGeom prst="rect">
            <a:avLst/>
          </a:prstGeom>
          <a:noFill/>
          <a:ln/>
        </p:spPr>
        <p:txBody>
          <a:bodyPr wrap="square" rtlCol="0" anchor="ctr"/>
          <a:lstStyle/>
          <a:p>
            <a:pPr marL="0" indent="0" algn="ctr">
              <a:buNone/>
            </a:pPr>
            <a:r>
              <a:rPr lang="en-US" sz="1200" b="1" dirty="0">
                <a:solidFill>
                  <a:srgbClr val="E7D9A8"/>
                </a:solidFill>
                <a:latin typeface="Courier New" pitchFamily="34" charset="0"/>
                <a:ea typeface="Courier New" pitchFamily="34" charset="-122"/>
                <a:cs typeface="Courier New" pitchFamily="34" charset="-120"/>
              </a:rPr>
              <a:t>parent</a:t>
            </a:r>
            <a:endParaRPr lang="en-US" sz="1200" dirty="0"/>
          </a:p>
        </p:txBody>
      </p:sp>
      <p:sp>
        <p:nvSpPr>
          <p:cNvPr id="31" name="Shape 29"/>
          <p:cNvSpPr/>
          <p:nvPr/>
        </p:nvSpPr>
        <p:spPr>
          <a:xfrm>
            <a:off x="5074920" y="5550408"/>
            <a:ext cx="2057400" cy="365760"/>
          </a:xfrm>
          <a:prstGeom prst="roundRect">
            <a:avLst>
              <a:gd name="adj" fmla="val 15000"/>
            </a:avLst>
          </a:prstGeom>
          <a:solidFill>
            <a:srgbClr val="14213D"/>
          </a:solidFill>
          <a:ln/>
        </p:spPr>
      </p:sp>
      <p:sp>
        <p:nvSpPr>
          <p:cNvPr id="32" name="Text 30"/>
          <p:cNvSpPr txBox="1"/>
          <p:nvPr/>
        </p:nvSpPr>
        <p:spPr>
          <a:xfrm>
            <a:off x="5074920" y="5550408"/>
            <a:ext cx="2057400" cy="365760"/>
          </a:xfrm>
          <a:prstGeom prst="rect">
            <a:avLst/>
          </a:prstGeom>
          <a:noFill/>
          <a:ln/>
        </p:spPr>
        <p:txBody>
          <a:bodyPr wrap="square" rtlCol="0" anchor="ctr"/>
          <a:lstStyle/>
          <a:p>
            <a:pPr marL="0" indent="0" algn="ctr">
              <a:buNone/>
            </a:pPr>
            <a:r>
              <a:rPr lang="en-US" sz="1200" b="1" dirty="0">
                <a:solidFill>
                  <a:srgbClr val="E7D9A8"/>
                </a:solidFill>
                <a:latin typeface="Courier New" pitchFamily="34" charset="0"/>
                <a:ea typeface="Courier New" pitchFamily="34" charset="-122"/>
                <a:cs typeface="Courier New" pitchFamily="34" charset="-120"/>
              </a:rPr>
              <a:t>action</a:t>
            </a:r>
            <a:endParaRPr lang="en-US" sz="1200" dirty="0"/>
          </a:p>
        </p:txBody>
      </p:sp>
      <p:sp>
        <p:nvSpPr>
          <p:cNvPr id="33" name="Shape 31"/>
          <p:cNvSpPr/>
          <p:nvPr/>
        </p:nvSpPr>
        <p:spPr>
          <a:xfrm>
            <a:off x="7360920" y="5550408"/>
            <a:ext cx="2057400" cy="365760"/>
          </a:xfrm>
          <a:prstGeom prst="roundRect">
            <a:avLst>
              <a:gd name="adj" fmla="val 15000"/>
            </a:avLst>
          </a:prstGeom>
          <a:solidFill>
            <a:srgbClr val="14213D"/>
          </a:solidFill>
          <a:ln/>
        </p:spPr>
      </p:sp>
      <p:sp>
        <p:nvSpPr>
          <p:cNvPr id="34" name="Text 32"/>
          <p:cNvSpPr txBox="1"/>
          <p:nvPr/>
        </p:nvSpPr>
        <p:spPr>
          <a:xfrm>
            <a:off x="7360920" y="5550408"/>
            <a:ext cx="2057400" cy="365760"/>
          </a:xfrm>
          <a:prstGeom prst="rect">
            <a:avLst/>
          </a:prstGeom>
          <a:noFill/>
          <a:ln/>
        </p:spPr>
        <p:txBody>
          <a:bodyPr wrap="square" rtlCol="0" anchor="ctr"/>
          <a:lstStyle/>
          <a:p>
            <a:pPr marL="0" indent="0" algn="ctr">
              <a:buNone/>
            </a:pPr>
            <a:r>
              <a:rPr lang="en-US" sz="1200" b="1" dirty="0">
                <a:solidFill>
                  <a:srgbClr val="E7D9A8"/>
                </a:solidFill>
                <a:latin typeface="Courier New" pitchFamily="34" charset="0"/>
                <a:ea typeface="Courier New" pitchFamily="34" charset="-122"/>
                <a:cs typeface="Courier New" pitchFamily="34" charset="-120"/>
              </a:rPr>
              <a:t>g(n)</a:t>
            </a:r>
            <a:endParaRPr lang="en-US" sz="1200" dirty="0"/>
          </a:p>
        </p:txBody>
      </p:sp>
      <p:sp>
        <p:nvSpPr>
          <p:cNvPr id="35" name="Shape 33"/>
          <p:cNvSpPr/>
          <p:nvPr/>
        </p:nvSpPr>
        <p:spPr>
          <a:xfrm>
            <a:off x="9646920" y="5550408"/>
            <a:ext cx="2057400" cy="365760"/>
          </a:xfrm>
          <a:prstGeom prst="roundRect">
            <a:avLst>
              <a:gd name="adj" fmla="val 15000"/>
            </a:avLst>
          </a:prstGeom>
          <a:solidFill>
            <a:srgbClr val="14213D"/>
          </a:solidFill>
          <a:ln/>
        </p:spPr>
      </p:sp>
      <p:sp>
        <p:nvSpPr>
          <p:cNvPr id="36" name="Text 34"/>
          <p:cNvSpPr txBox="1"/>
          <p:nvPr/>
        </p:nvSpPr>
        <p:spPr>
          <a:xfrm>
            <a:off x="9646920" y="5550408"/>
            <a:ext cx="2057400" cy="365760"/>
          </a:xfrm>
          <a:prstGeom prst="rect">
            <a:avLst/>
          </a:prstGeom>
          <a:noFill/>
          <a:ln/>
        </p:spPr>
        <p:txBody>
          <a:bodyPr wrap="square" rtlCol="0" anchor="ctr"/>
          <a:lstStyle/>
          <a:p>
            <a:pPr marL="0" indent="0" algn="ctr">
              <a:buNone/>
            </a:pPr>
            <a:r>
              <a:rPr lang="en-US" sz="1200" b="1" dirty="0">
                <a:solidFill>
                  <a:srgbClr val="E7D9A8"/>
                </a:solidFill>
                <a:latin typeface="Courier New" pitchFamily="34" charset="0"/>
                <a:ea typeface="Courier New" pitchFamily="34" charset="-122"/>
                <a:cs typeface="Courier New" pitchFamily="34" charset="-120"/>
              </a:rPr>
              <a:t>depth</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92608"/>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STATE-SPACE REPRESENTATION</a:t>
            </a:r>
            <a:endParaRPr lang="en-US" sz="1200" dirty="0"/>
          </a:p>
        </p:txBody>
      </p:sp>
      <p:sp>
        <p:nvSpPr>
          <p:cNvPr id="3" name="Text 1"/>
          <p:cNvSpPr txBox="1"/>
          <p:nvPr/>
        </p:nvSpPr>
        <p:spPr>
          <a:xfrm>
            <a:off x="502920" y="621792"/>
            <a:ext cx="11155680" cy="658368"/>
          </a:xfrm>
          <a:prstGeom prst="rect">
            <a:avLst/>
          </a:prstGeom>
          <a:noFill/>
          <a:ln/>
        </p:spPr>
        <p:txBody>
          <a:bodyPr wrap="square" rtlCol="0" anchor="ctr"/>
          <a:lstStyle/>
          <a:p>
            <a:pPr marL="0" indent="0">
              <a:buNone/>
            </a:pPr>
            <a:r>
              <a:rPr lang="en-US" sz="2900" b="1" dirty="0">
                <a:solidFill>
                  <a:srgbClr val="14213D"/>
                </a:solidFill>
                <a:latin typeface="Cambria" pitchFamily="34" charset="0"/>
                <a:ea typeface="Cambria" pitchFamily="34" charset="-122"/>
                <a:cs typeface="Cambria" pitchFamily="34" charset="-120"/>
              </a:rPr>
              <a:t>Frontier and Explored Set</a:t>
            </a:r>
            <a:endParaRPr lang="en-US" sz="2900" dirty="0"/>
          </a:p>
        </p:txBody>
      </p:sp>
      <p:sp>
        <p:nvSpPr>
          <p:cNvPr id="4" name="Text 2"/>
          <p:cNvSpPr txBox="1"/>
          <p:nvPr/>
        </p:nvSpPr>
        <p:spPr>
          <a:xfrm>
            <a:off x="502920" y="6473952"/>
            <a:ext cx="7315200" cy="274320"/>
          </a:xfrm>
          <a:prstGeom prst="rect">
            <a:avLst/>
          </a:prstGeom>
          <a:noFill/>
          <a:ln/>
        </p:spPr>
        <p:txBody>
          <a:bodyPr wrap="square" rtlCol="0" anchor="ctr"/>
          <a:lstStyle/>
          <a:p>
            <a:pPr marL="0" indent="0">
              <a:buNone/>
            </a:pPr>
            <a:r>
              <a:rPr lang="en-US" sz="950" b="1" dirty="0">
                <a:solidFill>
                  <a:srgbClr val="6B7280"/>
                </a:solidFill>
                <a:latin typeface="Calibri" pitchFamily="34" charset="0"/>
                <a:ea typeface="Calibri" pitchFamily="34" charset="-122"/>
                <a:cs typeface="Calibri" pitchFamily="34" charset="-120"/>
              </a:rPr>
              <a:t>Artificial Intelligence</a:t>
            </a:r>
            <a:r>
              <a:rPr lang="en-US" sz="950" dirty="0">
                <a:solidFill>
                  <a:srgbClr val="6B7280"/>
                </a:solidFill>
                <a:latin typeface="Calibri" pitchFamily="34" charset="0"/>
                <a:ea typeface="Calibri" pitchFamily="34" charset="-122"/>
                <a:cs typeface="Calibri" pitchFamily="34" charset="-120"/>
              </a:rPr>
              <a:t>   ·   BS Computer Science   ·   Lecture 3</a:t>
            </a:r>
            <a:endParaRPr lang="en-US" sz="950" dirty="0"/>
          </a:p>
        </p:txBody>
      </p:sp>
      <p:sp>
        <p:nvSpPr>
          <p:cNvPr id="5" name="Text 3"/>
          <p:cNvSpPr txBox="1"/>
          <p:nvPr/>
        </p:nvSpPr>
        <p:spPr>
          <a:xfrm>
            <a:off x="8762695" y="6473952"/>
            <a:ext cx="292608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Dr. Ghulam Ali   ·   16</a:t>
            </a:r>
            <a:endParaRPr lang="en-US" sz="950" dirty="0"/>
          </a:p>
        </p:txBody>
      </p:sp>
      <p:sp>
        <p:nvSpPr>
          <p:cNvPr id="6" name="Text 4"/>
          <p:cNvSpPr txBox="1"/>
          <p:nvPr/>
        </p:nvSpPr>
        <p:spPr>
          <a:xfrm>
            <a:off x="502920" y="1417320"/>
            <a:ext cx="5029200" cy="1463040"/>
          </a:xfrm>
          <a:prstGeom prst="rect">
            <a:avLst/>
          </a:prstGeom>
          <a:noFill/>
          <a:ln/>
        </p:spPr>
        <p:txBody>
          <a:bodyPr wrap="square" rtlCol="0" anchor="t"/>
          <a:lstStyle/>
          <a:p>
            <a:pPr marL="0" indent="0">
              <a:lnSpc>
                <a:spcPct val="130000"/>
              </a:lnSpc>
              <a:buNone/>
            </a:pPr>
            <a:r>
              <a:rPr lang="en-US" sz="1400" b="1" dirty="0">
                <a:solidFill>
                  <a:srgbClr val="14213D"/>
                </a:solidFill>
                <a:latin typeface="Calibri" pitchFamily="34" charset="0"/>
                <a:ea typeface="Calibri" pitchFamily="34" charset="-122"/>
                <a:cs typeface="Calibri" pitchFamily="34" charset="-120"/>
              </a:rPr>
              <a:t>Frontier (Open List):  </a:t>
            </a:r>
            <a:r>
              <a:rPr lang="en-US" sz="1400" dirty="0">
                <a:solidFill>
                  <a:srgbClr val="000000"/>
                </a:solidFill>
                <a:latin typeface="Calibri" pitchFamily="34" charset="0"/>
                <a:ea typeface="Calibri" pitchFamily="34" charset="-122"/>
                <a:cs typeface="Calibri" pitchFamily="34" charset="-120"/>
              </a:rPr>
              <a:t>nodes that have been generated but not yet expanded.</a:t>
            </a:r>
            <a:endParaRPr lang="en-US" sz="1400" dirty="0"/>
          </a:p>
          <a:p>
            <a:pPr marL="0" indent="0">
              <a:lnSpc>
                <a:spcPct val="130000"/>
              </a:lnSpc>
              <a:buNone/>
            </a:pPr>
            <a:r>
              <a:rPr lang="en-US" sz="1400" b="1" dirty="0">
                <a:solidFill>
                  <a:srgbClr val="14213D"/>
                </a:solidFill>
                <a:latin typeface="Calibri" pitchFamily="34" charset="0"/>
                <a:ea typeface="Calibri" pitchFamily="34" charset="-122"/>
                <a:cs typeface="Calibri" pitchFamily="34" charset="-120"/>
              </a:rPr>
              <a:t>Explored (Closed Set):  </a:t>
            </a:r>
            <a:r>
              <a:rPr lang="en-US" sz="1400" dirty="0">
                <a:solidFill>
                  <a:srgbClr val="000000"/>
                </a:solidFill>
                <a:latin typeface="Calibri" pitchFamily="34" charset="0"/>
                <a:ea typeface="Calibri" pitchFamily="34" charset="-122"/>
                <a:cs typeface="Calibri" pitchFamily="34" charset="-120"/>
              </a:rPr>
              <a:t>states that have already been expanded and fully processed.</a:t>
            </a:r>
            <a:endParaRPr lang="en-US" sz="1400" dirty="0"/>
          </a:p>
        </p:txBody>
      </p:sp>
      <p:sp>
        <p:nvSpPr>
          <p:cNvPr id="7" name="Text 5"/>
          <p:cNvSpPr txBox="1"/>
          <p:nvPr/>
        </p:nvSpPr>
        <p:spPr>
          <a:xfrm>
            <a:off x="502920" y="3063240"/>
            <a:ext cx="5029200" cy="1463040"/>
          </a:xfrm>
          <a:prstGeom prst="rect">
            <a:avLst/>
          </a:prstGeom>
          <a:noFill/>
          <a:ln/>
        </p:spPr>
        <p:txBody>
          <a:bodyPr wrap="square" rtlCol="0" anchor="ctr"/>
          <a:lstStyle/>
          <a:p>
            <a:pPr marL="0" indent="0">
              <a:lnSpc>
                <a:spcPct val="130000"/>
              </a:lnSpc>
              <a:buNone/>
            </a:pPr>
            <a:r>
              <a:rPr lang="en-US" sz="1250" i="1" dirty="0">
                <a:solidFill>
                  <a:srgbClr val="435273"/>
                </a:solidFill>
                <a:latin typeface="Calibri" pitchFamily="34" charset="0"/>
                <a:ea typeface="Calibri" pitchFamily="34" charset="-122"/>
                <a:cs typeface="Calibri" pitchFamily="34" charset="-120"/>
              </a:rPr>
              <a:t>Tracking the explored set prevents a graph-search algorithm from expanding the same state twice — without it, cyclic or highly connected state spaces can cause the algorithm to loop or duplicate enormous amounts of work.</a:t>
            </a:r>
            <a:endParaRPr lang="en-US" sz="1250" dirty="0"/>
          </a:p>
        </p:txBody>
      </p:sp>
      <p:sp>
        <p:nvSpPr>
          <p:cNvPr id="8" name="Shape 6"/>
          <p:cNvSpPr/>
          <p:nvPr/>
        </p:nvSpPr>
        <p:spPr>
          <a:xfrm>
            <a:off x="548640" y="4480560"/>
            <a:ext cx="365760" cy="365760"/>
          </a:xfrm>
          <a:prstGeom prst="ellipse">
            <a:avLst/>
          </a:prstGeom>
          <a:solidFill>
            <a:srgbClr val="435273"/>
          </a:solidFill>
          <a:ln w="19050">
            <a:solidFill>
              <a:srgbClr val="435273"/>
            </a:solidFill>
            <a:prstDash val="solid"/>
          </a:ln>
        </p:spPr>
      </p:sp>
      <p:sp>
        <p:nvSpPr>
          <p:cNvPr id="9" name="Text 7"/>
          <p:cNvSpPr txBox="1"/>
          <p:nvPr/>
        </p:nvSpPr>
        <p:spPr>
          <a:xfrm>
            <a:off x="548640" y="4480560"/>
            <a:ext cx="365760" cy="365760"/>
          </a:xfrm>
          <a:prstGeom prst="rect">
            <a:avLst/>
          </a:prstGeom>
          <a:noFill/>
          <a:ln/>
        </p:spPr>
        <p:txBody>
          <a:bodyPr wrap="square" rtlCol="0" anchor="ctr"/>
          <a:lstStyle/>
          <a:p>
            <a:pPr marL="0" indent="0" algn="ctr">
              <a:buNone/>
            </a:pPr>
            <a:r>
              <a:rPr lang="en-US" sz="100" b="1" dirty="0">
                <a:solidFill>
                  <a:srgbClr val="FFFFFF"/>
                </a:solidFill>
                <a:latin typeface="Calibri" pitchFamily="34" charset="0"/>
                <a:ea typeface="Calibri" pitchFamily="34" charset="-122"/>
                <a:cs typeface="Calibri" pitchFamily="34" charset="-120"/>
              </a:rPr>
              <a:t>•</a:t>
            </a:r>
            <a:endParaRPr lang="en-US" sz="100" dirty="0"/>
          </a:p>
        </p:txBody>
      </p:sp>
      <p:sp>
        <p:nvSpPr>
          <p:cNvPr id="10" name="Text 8"/>
          <p:cNvSpPr txBox="1"/>
          <p:nvPr/>
        </p:nvSpPr>
        <p:spPr>
          <a:xfrm>
            <a:off x="960120" y="4480560"/>
            <a:ext cx="1371600" cy="365760"/>
          </a:xfrm>
          <a:prstGeom prst="rect">
            <a:avLst/>
          </a:prstGeom>
          <a:noFill/>
          <a:ln/>
        </p:spPr>
        <p:txBody>
          <a:bodyPr wrap="square" rtlCol="0" anchor="ctr"/>
          <a:lstStyle/>
          <a:p>
            <a:pPr marL="0" indent="0">
              <a:buNone/>
            </a:pPr>
            <a:r>
              <a:rPr lang="en-US" sz="1150" dirty="0">
                <a:solidFill>
                  <a:srgbClr val="1B2333"/>
                </a:solidFill>
                <a:latin typeface="Calibri" pitchFamily="34" charset="0"/>
                <a:ea typeface="Calibri" pitchFamily="34" charset="-122"/>
                <a:cs typeface="Calibri" pitchFamily="34" charset="-120"/>
              </a:rPr>
              <a:t>explored</a:t>
            </a:r>
            <a:endParaRPr lang="en-US" sz="1150" dirty="0"/>
          </a:p>
        </p:txBody>
      </p:sp>
      <p:sp>
        <p:nvSpPr>
          <p:cNvPr id="11" name="Shape 9"/>
          <p:cNvSpPr/>
          <p:nvPr/>
        </p:nvSpPr>
        <p:spPr>
          <a:xfrm>
            <a:off x="2286000" y="4480560"/>
            <a:ext cx="365760" cy="365760"/>
          </a:xfrm>
          <a:prstGeom prst="ellipse">
            <a:avLst/>
          </a:prstGeom>
          <a:solidFill>
            <a:srgbClr val="EAEFF8"/>
          </a:solidFill>
          <a:ln w="28575">
            <a:solidFill>
              <a:srgbClr val="C9A227"/>
            </a:solidFill>
            <a:prstDash val="solid"/>
          </a:ln>
        </p:spPr>
      </p:sp>
      <p:sp>
        <p:nvSpPr>
          <p:cNvPr id="12" name="Text 10"/>
          <p:cNvSpPr txBox="1"/>
          <p:nvPr/>
        </p:nvSpPr>
        <p:spPr>
          <a:xfrm>
            <a:off x="2286000" y="4480560"/>
            <a:ext cx="365760" cy="365760"/>
          </a:xfrm>
          <a:prstGeom prst="rect">
            <a:avLst/>
          </a:prstGeom>
          <a:noFill/>
          <a:ln/>
        </p:spPr>
        <p:txBody>
          <a:bodyPr wrap="square" rtlCol="0" anchor="ctr"/>
          <a:lstStyle/>
          <a:p>
            <a:pPr marL="0" indent="0" algn="ctr">
              <a:buNone/>
            </a:pPr>
            <a:r>
              <a:rPr lang="en-US" sz="100" b="1" dirty="0">
                <a:solidFill>
                  <a:srgbClr val="14213D"/>
                </a:solidFill>
                <a:latin typeface="Calibri" pitchFamily="34" charset="0"/>
                <a:ea typeface="Calibri" pitchFamily="34" charset="-122"/>
                <a:cs typeface="Calibri" pitchFamily="34" charset="-120"/>
              </a:rPr>
              <a:t>•</a:t>
            </a:r>
            <a:endParaRPr lang="en-US" sz="100" dirty="0"/>
          </a:p>
        </p:txBody>
      </p:sp>
      <p:sp>
        <p:nvSpPr>
          <p:cNvPr id="13" name="Text 11"/>
          <p:cNvSpPr txBox="1"/>
          <p:nvPr/>
        </p:nvSpPr>
        <p:spPr>
          <a:xfrm>
            <a:off x="2697480" y="4480560"/>
            <a:ext cx="1371600" cy="365760"/>
          </a:xfrm>
          <a:prstGeom prst="rect">
            <a:avLst/>
          </a:prstGeom>
          <a:noFill/>
          <a:ln/>
        </p:spPr>
        <p:txBody>
          <a:bodyPr wrap="square" rtlCol="0" anchor="ctr"/>
          <a:lstStyle/>
          <a:p>
            <a:pPr marL="0" indent="0">
              <a:buNone/>
            </a:pPr>
            <a:r>
              <a:rPr lang="en-US" sz="1150" dirty="0">
                <a:solidFill>
                  <a:srgbClr val="1B2333"/>
                </a:solidFill>
                <a:latin typeface="Calibri" pitchFamily="34" charset="0"/>
                <a:ea typeface="Calibri" pitchFamily="34" charset="-122"/>
                <a:cs typeface="Calibri" pitchFamily="34" charset="-120"/>
              </a:rPr>
              <a:t>frontier</a:t>
            </a:r>
            <a:endParaRPr lang="en-US" sz="1150" dirty="0"/>
          </a:p>
        </p:txBody>
      </p:sp>
      <p:sp>
        <p:nvSpPr>
          <p:cNvPr id="14" name="Shape 12"/>
          <p:cNvSpPr/>
          <p:nvPr/>
        </p:nvSpPr>
        <p:spPr>
          <a:xfrm>
            <a:off x="4023360" y="4480560"/>
            <a:ext cx="365760" cy="365760"/>
          </a:xfrm>
          <a:prstGeom prst="ellipse">
            <a:avLst/>
          </a:prstGeom>
          <a:solidFill>
            <a:srgbClr val="FFFFFF"/>
          </a:solidFill>
          <a:ln w="19050">
            <a:solidFill>
              <a:srgbClr val="435273"/>
            </a:solidFill>
            <a:prstDash val="solid"/>
          </a:ln>
        </p:spPr>
      </p:sp>
      <p:sp>
        <p:nvSpPr>
          <p:cNvPr id="15" name="Text 13"/>
          <p:cNvSpPr txBox="1"/>
          <p:nvPr/>
        </p:nvSpPr>
        <p:spPr>
          <a:xfrm>
            <a:off x="4023360" y="4480560"/>
            <a:ext cx="365760" cy="365760"/>
          </a:xfrm>
          <a:prstGeom prst="rect">
            <a:avLst/>
          </a:prstGeom>
          <a:noFill/>
          <a:ln/>
        </p:spPr>
        <p:txBody>
          <a:bodyPr wrap="square" rtlCol="0" anchor="ctr"/>
          <a:lstStyle/>
          <a:p>
            <a:pPr marL="0" indent="0" algn="ctr">
              <a:buNone/>
            </a:pPr>
            <a:r>
              <a:rPr lang="en-US" sz="100" b="1" dirty="0">
                <a:solidFill>
                  <a:srgbClr val="14213D"/>
                </a:solidFill>
                <a:latin typeface="Calibri" pitchFamily="34" charset="0"/>
                <a:ea typeface="Calibri" pitchFamily="34" charset="-122"/>
                <a:cs typeface="Calibri" pitchFamily="34" charset="-120"/>
              </a:rPr>
              <a:t>•</a:t>
            </a:r>
            <a:endParaRPr lang="en-US" sz="100" dirty="0"/>
          </a:p>
        </p:txBody>
      </p:sp>
      <p:sp>
        <p:nvSpPr>
          <p:cNvPr id="16" name="Text 14"/>
          <p:cNvSpPr txBox="1"/>
          <p:nvPr/>
        </p:nvSpPr>
        <p:spPr>
          <a:xfrm>
            <a:off x="4434840" y="4480560"/>
            <a:ext cx="1371600" cy="365760"/>
          </a:xfrm>
          <a:prstGeom prst="rect">
            <a:avLst/>
          </a:prstGeom>
          <a:noFill/>
          <a:ln/>
        </p:spPr>
        <p:txBody>
          <a:bodyPr wrap="square" rtlCol="0" anchor="ctr"/>
          <a:lstStyle/>
          <a:p>
            <a:pPr marL="0" indent="0">
              <a:buNone/>
            </a:pPr>
            <a:r>
              <a:rPr lang="en-US" sz="1150" dirty="0">
                <a:solidFill>
                  <a:srgbClr val="1B2333"/>
                </a:solidFill>
                <a:latin typeface="Calibri" pitchFamily="34" charset="0"/>
                <a:ea typeface="Calibri" pitchFamily="34" charset="-122"/>
                <a:cs typeface="Calibri" pitchFamily="34" charset="-120"/>
              </a:rPr>
              <a:t>unvisited</a:t>
            </a:r>
            <a:endParaRPr lang="en-US" sz="1150" dirty="0"/>
          </a:p>
        </p:txBody>
      </p:sp>
      <p:sp>
        <p:nvSpPr>
          <p:cNvPr id="17" name="Shape 15"/>
          <p:cNvSpPr/>
          <p:nvPr/>
        </p:nvSpPr>
        <p:spPr>
          <a:xfrm flipH="1">
            <a:off x="7932782" y="1764429"/>
            <a:ext cx="1416596" cy="814543"/>
          </a:xfrm>
          <a:prstGeom prst="line">
            <a:avLst/>
          </a:prstGeom>
          <a:noFill/>
          <a:ln w="19050">
            <a:solidFill>
              <a:srgbClr val="435273"/>
            </a:solidFill>
            <a:prstDash val="solid"/>
          </a:ln>
        </p:spPr>
      </p:sp>
      <p:sp>
        <p:nvSpPr>
          <p:cNvPr id="18" name="Shape 16"/>
          <p:cNvSpPr/>
          <p:nvPr/>
        </p:nvSpPr>
        <p:spPr>
          <a:xfrm>
            <a:off x="9555480" y="1883664"/>
            <a:ext cx="9144" cy="576072"/>
          </a:xfrm>
          <a:prstGeom prst="line">
            <a:avLst/>
          </a:prstGeom>
          <a:noFill/>
          <a:ln w="19050">
            <a:solidFill>
              <a:srgbClr val="435273"/>
            </a:solidFill>
            <a:prstDash val="solid"/>
          </a:ln>
        </p:spPr>
      </p:sp>
      <p:sp>
        <p:nvSpPr>
          <p:cNvPr id="19" name="Shape 17"/>
          <p:cNvSpPr/>
          <p:nvPr/>
        </p:nvSpPr>
        <p:spPr>
          <a:xfrm>
            <a:off x="9761582" y="1764429"/>
            <a:ext cx="1416596" cy="814543"/>
          </a:xfrm>
          <a:prstGeom prst="line">
            <a:avLst/>
          </a:prstGeom>
          <a:noFill/>
          <a:ln w="19050">
            <a:solidFill>
              <a:srgbClr val="435273"/>
            </a:solidFill>
            <a:prstDash val="solid"/>
          </a:ln>
        </p:spPr>
      </p:sp>
      <p:sp>
        <p:nvSpPr>
          <p:cNvPr id="20" name="Shape 18"/>
          <p:cNvSpPr/>
          <p:nvPr/>
        </p:nvSpPr>
        <p:spPr>
          <a:xfrm flipH="1">
            <a:off x="7249304" y="2904451"/>
            <a:ext cx="360393" cy="637618"/>
          </a:xfrm>
          <a:prstGeom prst="line">
            <a:avLst/>
          </a:prstGeom>
          <a:noFill/>
          <a:ln w="19050">
            <a:solidFill>
              <a:srgbClr val="435273"/>
            </a:solidFill>
            <a:prstDash val="solid"/>
          </a:ln>
        </p:spPr>
      </p:sp>
      <p:sp>
        <p:nvSpPr>
          <p:cNvPr id="21" name="Shape 19"/>
          <p:cNvSpPr/>
          <p:nvPr/>
        </p:nvSpPr>
        <p:spPr>
          <a:xfrm>
            <a:off x="7843664" y="2904451"/>
            <a:ext cx="360393" cy="637618"/>
          </a:xfrm>
          <a:prstGeom prst="line">
            <a:avLst/>
          </a:prstGeom>
          <a:noFill/>
          <a:ln w="19050">
            <a:solidFill>
              <a:srgbClr val="435273"/>
            </a:solidFill>
            <a:prstDash val="solid"/>
          </a:ln>
        </p:spPr>
      </p:sp>
      <p:sp>
        <p:nvSpPr>
          <p:cNvPr id="22" name="Shape 20"/>
          <p:cNvSpPr/>
          <p:nvPr/>
        </p:nvSpPr>
        <p:spPr>
          <a:xfrm>
            <a:off x="11384280" y="2935224"/>
            <a:ext cx="9144" cy="576072"/>
          </a:xfrm>
          <a:prstGeom prst="line">
            <a:avLst/>
          </a:prstGeom>
          <a:noFill/>
          <a:ln w="19050">
            <a:solidFill>
              <a:srgbClr val="435273"/>
            </a:solidFill>
            <a:prstDash val="solid"/>
          </a:ln>
        </p:spPr>
      </p:sp>
      <p:sp>
        <p:nvSpPr>
          <p:cNvPr id="23" name="Shape 21"/>
          <p:cNvSpPr/>
          <p:nvPr/>
        </p:nvSpPr>
        <p:spPr>
          <a:xfrm flipH="1">
            <a:off x="7882372" y="3959820"/>
            <a:ext cx="328695" cy="630000"/>
          </a:xfrm>
          <a:prstGeom prst="line">
            <a:avLst/>
          </a:prstGeom>
          <a:noFill/>
          <a:ln w="19050">
            <a:solidFill>
              <a:srgbClr val="435273"/>
            </a:solidFill>
            <a:prstDash val="solid"/>
          </a:ln>
        </p:spPr>
      </p:sp>
      <p:sp>
        <p:nvSpPr>
          <p:cNvPr id="24" name="Shape 22"/>
          <p:cNvSpPr/>
          <p:nvPr/>
        </p:nvSpPr>
        <p:spPr>
          <a:xfrm>
            <a:off x="8431012" y="3959820"/>
            <a:ext cx="328695" cy="630000"/>
          </a:xfrm>
          <a:prstGeom prst="line">
            <a:avLst/>
          </a:prstGeom>
          <a:noFill/>
          <a:ln w="19050">
            <a:solidFill>
              <a:srgbClr val="435273"/>
            </a:solidFill>
            <a:prstDash val="solid"/>
          </a:ln>
        </p:spPr>
      </p:sp>
      <p:sp>
        <p:nvSpPr>
          <p:cNvPr id="25" name="Shape 23"/>
          <p:cNvSpPr/>
          <p:nvPr/>
        </p:nvSpPr>
        <p:spPr>
          <a:xfrm>
            <a:off x="9317736" y="1408176"/>
            <a:ext cx="475488" cy="475488"/>
          </a:xfrm>
          <a:prstGeom prst="ellipse">
            <a:avLst/>
          </a:prstGeom>
          <a:solidFill>
            <a:srgbClr val="435273"/>
          </a:solidFill>
          <a:ln w="19050">
            <a:solidFill>
              <a:srgbClr val="435273"/>
            </a:solidFill>
            <a:prstDash val="solid"/>
          </a:ln>
        </p:spPr>
      </p:sp>
      <p:sp>
        <p:nvSpPr>
          <p:cNvPr id="26" name="Text 24"/>
          <p:cNvSpPr txBox="1"/>
          <p:nvPr/>
        </p:nvSpPr>
        <p:spPr>
          <a:xfrm>
            <a:off x="9317736" y="1408176"/>
            <a:ext cx="475488" cy="475488"/>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A</a:t>
            </a:r>
            <a:endParaRPr lang="en-US" sz="1250" dirty="0"/>
          </a:p>
        </p:txBody>
      </p:sp>
      <p:sp>
        <p:nvSpPr>
          <p:cNvPr id="27" name="Shape 25"/>
          <p:cNvSpPr/>
          <p:nvPr/>
        </p:nvSpPr>
        <p:spPr>
          <a:xfrm>
            <a:off x="7488936" y="2459736"/>
            <a:ext cx="475488" cy="475488"/>
          </a:xfrm>
          <a:prstGeom prst="ellipse">
            <a:avLst/>
          </a:prstGeom>
          <a:solidFill>
            <a:srgbClr val="435273"/>
          </a:solidFill>
          <a:ln w="19050">
            <a:solidFill>
              <a:srgbClr val="435273"/>
            </a:solidFill>
            <a:prstDash val="solid"/>
          </a:ln>
        </p:spPr>
      </p:sp>
      <p:sp>
        <p:nvSpPr>
          <p:cNvPr id="28" name="Text 26"/>
          <p:cNvSpPr txBox="1"/>
          <p:nvPr/>
        </p:nvSpPr>
        <p:spPr>
          <a:xfrm>
            <a:off x="7488936" y="2459736"/>
            <a:ext cx="475488" cy="475488"/>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B</a:t>
            </a:r>
            <a:endParaRPr lang="en-US" sz="1250" dirty="0"/>
          </a:p>
        </p:txBody>
      </p:sp>
      <p:sp>
        <p:nvSpPr>
          <p:cNvPr id="29" name="Shape 27"/>
          <p:cNvSpPr/>
          <p:nvPr/>
        </p:nvSpPr>
        <p:spPr>
          <a:xfrm>
            <a:off x="9317736" y="2459736"/>
            <a:ext cx="475488" cy="475488"/>
          </a:xfrm>
          <a:prstGeom prst="ellipse">
            <a:avLst/>
          </a:prstGeom>
          <a:solidFill>
            <a:srgbClr val="EAEFF8"/>
          </a:solidFill>
          <a:ln w="28575">
            <a:solidFill>
              <a:srgbClr val="C9A227"/>
            </a:solidFill>
            <a:prstDash val="solid"/>
          </a:ln>
        </p:spPr>
      </p:sp>
      <p:sp>
        <p:nvSpPr>
          <p:cNvPr id="30" name="Text 28"/>
          <p:cNvSpPr txBox="1"/>
          <p:nvPr/>
        </p:nvSpPr>
        <p:spPr>
          <a:xfrm>
            <a:off x="9317736" y="2459736"/>
            <a:ext cx="475488" cy="475488"/>
          </a:xfrm>
          <a:prstGeom prst="rect">
            <a:avLst/>
          </a:prstGeom>
          <a:noFill/>
          <a:ln/>
        </p:spPr>
        <p:txBody>
          <a:bodyPr wrap="square" rtlCol="0" anchor="ctr"/>
          <a:lstStyle/>
          <a:p>
            <a:pPr marL="0" indent="0" algn="ctr">
              <a:buNone/>
            </a:pPr>
            <a:r>
              <a:rPr lang="en-US" sz="1250" b="1" dirty="0">
                <a:solidFill>
                  <a:srgbClr val="14213D"/>
                </a:solidFill>
                <a:latin typeface="Calibri" pitchFamily="34" charset="0"/>
                <a:ea typeface="Calibri" pitchFamily="34" charset="-122"/>
                <a:cs typeface="Calibri" pitchFamily="34" charset="-120"/>
              </a:rPr>
              <a:t>C</a:t>
            </a:r>
            <a:endParaRPr lang="en-US" sz="1250" dirty="0"/>
          </a:p>
        </p:txBody>
      </p:sp>
      <p:sp>
        <p:nvSpPr>
          <p:cNvPr id="31" name="Shape 29"/>
          <p:cNvSpPr/>
          <p:nvPr/>
        </p:nvSpPr>
        <p:spPr>
          <a:xfrm>
            <a:off x="11146536" y="2459736"/>
            <a:ext cx="475488" cy="475488"/>
          </a:xfrm>
          <a:prstGeom prst="ellipse">
            <a:avLst/>
          </a:prstGeom>
          <a:solidFill>
            <a:srgbClr val="EAEFF8"/>
          </a:solidFill>
          <a:ln w="28575">
            <a:solidFill>
              <a:srgbClr val="C9A227"/>
            </a:solidFill>
            <a:prstDash val="solid"/>
          </a:ln>
        </p:spPr>
      </p:sp>
      <p:sp>
        <p:nvSpPr>
          <p:cNvPr id="32" name="Text 30"/>
          <p:cNvSpPr txBox="1"/>
          <p:nvPr/>
        </p:nvSpPr>
        <p:spPr>
          <a:xfrm>
            <a:off x="11146536" y="2459736"/>
            <a:ext cx="475488" cy="475488"/>
          </a:xfrm>
          <a:prstGeom prst="rect">
            <a:avLst/>
          </a:prstGeom>
          <a:noFill/>
          <a:ln/>
        </p:spPr>
        <p:txBody>
          <a:bodyPr wrap="square" rtlCol="0" anchor="ctr"/>
          <a:lstStyle/>
          <a:p>
            <a:pPr marL="0" indent="0" algn="ctr">
              <a:buNone/>
            </a:pPr>
            <a:r>
              <a:rPr lang="en-US" sz="1250" b="1" dirty="0">
                <a:solidFill>
                  <a:srgbClr val="14213D"/>
                </a:solidFill>
                <a:latin typeface="Calibri" pitchFamily="34" charset="0"/>
                <a:ea typeface="Calibri" pitchFamily="34" charset="-122"/>
                <a:cs typeface="Calibri" pitchFamily="34" charset="-120"/>
              </a:rPr>
              <a:t>D</a:t>
            </a:r>
            <a:endParaRPr lang="en-US" sz="1250" dirty="0"/>
          </a:p>
        </p:txBody>
      </p:sp>
      <p:sp>
        <p:nvSpPr>
          <p:cNvPr id="33" name="Shape 31"/>
          <p:cNvSpPr/>
          <p:nvPr/>
        </p:nvSpPr>
        <p:spPr>
          <a:xfrm>
            <a:off x="6894576" y="3511296"/>
            <a:ext cx="475488" cy="475488"/>
          </a:xfrm>
          <a:prstGeom prst="ellipse">
            <a:avLst/>
          </a:prstGeom>
          <a:solidFill>
            <a:srgbClr val="EAEFF8"/>
          </a:solidFill>
          <a:ln w="28575">
            <a:solidFill>
              <a:srgbClr val="C9A227"/>
            </a:solidFill>
            <a:prstDash val="solid"/>
          </a:ln>
        </p:spPr>
      </p:sp>
      <p:sp>
        <p:nvSpPr>
          <p:cNvPr id="34" name="Text 32"/>
          <p:cNvSpPr txBox="1"/>
          <p:nvPr/>
        </p:nvSpPr>
        <p:spPr>
          <a:xfrm>
            <a:off x="6894576" y="3511296"/>
            <a:ext cx="475488" cy="475488"/>
          </a:xfrm>
          <a:prstGeom prst="rect">
            <a:avLst/>
          </a:prstGeom>
          <a:noFill/>
          <a:ln/>
        </p:spPr>
        <p:txBody>
          <a:bodyPr wrap="square" rtlCol="0" anchor="ctr"/>
          <a:lstStyle/>
          <a:p>
            <a:pPr marL="0" indent="0" algn="ctr">
              <a:buNone/>
            </a:pPr>
            <a:r>
              <a:rPr lang="en-US" sz="1250" b="1" dirty="0">
                <a:solidFill>
                  <a:srgbClr val="14213D"/>
                </a:solidFill>
                <a:latin typeface="Calibri" pitchFamily="34" charset="0"/>
                <a:ea typeface="Calibri" pitchFamily="34" charset="-122"/>
                <a:cs typeface="Calibri" pitchFamily="34" charset="-120"/>
              </a:rPr>
              <a:t>E</a:t>
            </a:r>
            <a:endParaRPr lang="en-US" sz="1250" dirty="0"/>
          </a:p>
        </p:txBody>
      </p:sp>
      <p:sp>
        <p:nvSpPr>
          <p:cNvPr id="35" name="Shape 33"/>
          <p:cNvSpPr/>
          <p:nvPr/>
        </p:nvSpPr>
        <p:spPr>
          <a:xfrm>
            <a:off x="8083296" y="3511296"/>
            <a:ext cx="475488" cy="475488"/>
          </a:xfrm>
          <a:prstGeom prst="ellipse">
            <a:avLst/>
          </a:prstGeom>
          <a:solidFill>
            <a:srgbClr val="EAEFF8"/>
          </a:solidFill>
          <a:ln w="28575">
            <a:solidFill>
              <a:srgbClr val="C9A227"/>
            </a:solidFill>
            <a:prstDash val="solid"/>
          </a:ln>
        </p:spPr>
      </p:sp>
      <p:sp>
        <p:nvSpPr>
          <p:cNvPr id="36" name="Text 34"/>
          <p:cNvSpPr txBox="1"/>
          <p:nvPr/>
        </p:nvSpPr>
        <p:spPr>
          <a:xfrm>
            <a:off x="8083296" y="3511296"/>
            <a:ext cx="475488" cy="475488"/>
          </a:xfrm>
          <a:prstGeom prst="rect">
            <a:avLst/>
          </a:prstGeom>
          <a:noFill/>
          <a:ln/>
        </p:spPr>
        <p:txBody>
          <a:bodyPr wrap="square" rtlCol="0" anchor="ctr"/>
          <a:lstStyle/>
          <a:p>
            <a:pPr marL="0" indent="0" algn="ctr">
              <a:buNone/>
            </a:pPr>
            <a:r>
              <a:rPr lang="en-US" sz="1250" b="1" dirty="0">
                <a:solidFill>
                  <a:srgbClr val="14213D"/>
                </a:solidFill>
                <a:latin typeface="Calibri" pitchFamily="34" charset="0"/>
                <a:ea typeface="Calibri" pitchFamily="34" charset="-122"/>
                <a:cs typeface="Calibri" pitchFamily="34" charset="-120"/>
              </a:rPr>
              <a:t>F</a:t>
            </a:r>
            <a:endParaRPr lang="en-US" sz="1250" dirty="0"/>
          </a:p>
        </p:txBody>
      </p:sp>
      <p:sp>
        <p:nvSpPr>
          <p:cNvPr id="37" name="Shape 35"/>
          <p:cNvSpPr/>
          <p:nvPr/>
        </p:nvSpPr>
        <p:spPr>
          <a:xfrm>
            <a:off x="11146536" y="3511296"/>
            <a:ext cx="475488" cy="475488"/>
          </a:xfrm>
          <a:prstGeom prst="ellipse">
            <a:avLst/>
          </a:prstGeom>
          <a:solidFill>
            <a:srgbClr val="FFFFFF"/>
          </a:solidFill>
          <a:ln w="19050">
            <a:solidFill>
              <a:srgbClr val="435273"/>
            </a:solidFill>
            <a:prstDash val="solid"/>
          </a:ln>
        </p:spPr>
      </p:sp>
      <p:sp>
        <p:nvSpPr>
          <p:cNvPr id="38" name="Text 36"/>
          <p:cNvSpPr txBox="1"/>
          <p:nvPr/>
        </p:nvSpPr>
        <p:spPr>
          <a:xfrm>
            <a:off x="11146536" y="3511296"/>
            <a:ext cx="475488" cy="475488"/>
          </a:xfrm>
          <a:prstGeom prst="rect">
            <a:avLst/>
          </a:prstGeom>
          <a:noFill/>
          <a:ln/>
        </p:spPr>
        <p:txBody>
          <a:bodyPr wrap="square" rtlCol="0" anchor="ctr"/>
          <a:lstStyle/>
          <a:p>
            <a:pPr marL="0" indent="0" algn="ctr">
              <a:buNone/>
            </a:pPr>
            <a:r>
              <a:rPr lang="en-US" sz="1250" b="1" dirty="0">
                <a:solidFill>
                  <a:srgbClr val="14213D"/>
                </a:solidFill>
                <a:latin typeface="Calibri" pitchFamily="34" charset="0"/>
                <a:ea typeface="Calibri" pitchFamily="34" charset="-122"/>
                <a:cs typeface="Calibri" pitchFamily="34" charset="-120"/>
              </a:rPr>
              <a:t>G</a:t>
            </a:r>
            <a:endParaRPr lang="en-US" sz="1250" dirty="0"/>
          </a:p>
        </p:txBody>
      </p:sp>
      <p:sp>
        <p:nvSpPr>
          <p:cNvPr id="39" name="Shape 37"/>
          <p:cNvSpPr/>
          <p:nvPr/>
        </p:nvSpPr>
        <p:spPr>
          <a:xfrm>
            <a:off x="7534656" y="4562856"/>
            <a:ext cx="475488" cy="475488"/>
          </a:xfrm>
          <a:prstGeom prst="ellipse">
            <a:avLst/>
          </a:prstGeom>
          <a:solidFill>
            <a:srgbClr val="FFFFFF"/>
          </a:solidFill>
          <a:ln w="19050">
            <a:solidFill>
              <a:srgbClr val="435273"/>
            </a:solidFill>
            <a:prstDash val="solid"/>
          </a:ln>
        </p:spPr>
      </p:sp>
      <p:sp>
        <p:nvSpPr>
          <p:cNvPr id="40" name="Text 38"/>
          <p:cNvSpPr txBox="1"/>
          <p:nvPr/>
        </p:nvSpPr>
        <p:spPr>
          <a:xfrm>
            <a:off x="7534656" y="4562856"/>
            <a:ext cx="475488" cy="475488"/>
          </a:xfrm>
          <a:prstGeom prst="rect">
            <a:avLst/>
          </a:prstGeom>
          <a:noFill/>
          <a:ln/>
        </p:spPr>
        <p:txBody>
          <a:bodyPr wrap="square" rtlCol="0" anchor="ctr"/>
          <a:lstStyle/>
          <a:p>
            <a:pPr marL="0" indent="0" algn="ctr">
              <a:buNone/>
            </a:pPr>
            <a:r>
              <a:rPr lang="en-US" sz="1250" b="1" dirty="0">
                <a:solidFill>
                  <a:srgbClr val="14213D"/>
                </a:solidFill>
                <a:latin typeface="Calibri" pitchFamily="34" charset="0"/>
                <a:ea typeface="Calibri" pitchFamily="34" charset="-122"/>
                <a:cs typeface="Calibri" pitchFamily="34" charset="-120"/>
              </a:rPr>
              <a:t>H</a:t>
            </a:r>
            <a:endParaRPr lang="en-US" sz="1250" dirty="0"/>
          </a:p>
        </p:txBody>
      </p:sp>
      <p:sp>
        <p:nvSpPr>
          <p:cNvPr id="41" name="Shape 39"/>
          <p:cNvSpPr/>
          <p:nvPr/>
        </p:nvSpPr>
        <p:spPr>
          <a:xfrm>
            <a:off x="8631936" y="4562856"/>
            <a:ext cx="475488" cy="475488"/>
          </a:xfrm>
          <a:prstGeom prst="ellipse">
            <a:avLst/>
          </a:prstGeom>
          <a:solidFill>
            <a:srgbClr val="FFFFFF"/>
          </a:solidFill>
          <a:ln w="19050">
            <a:solidFill>
              <a:srgbClr val="435273"/>
            </a:solidFill>
            <a:prstDash val="solid"/>
          </a:ln>
        </p:spPr>
      </p:sp>
      <p:sp>
        <p:nvSpPr>
          <p:cNvPr id="42" name="Text 40"/>
          <p:cNvSpPr txBox="1"/>
          <p:nvPr/>
        </p:nvSpPr>
        <p:spPr>
          <a:xfrm>
            <a:off x="8631936" y="4562856"/>
            <a:ext cx="475488" cy="475488"/>
          </a:xfrm>
          <a:prstGeom prst="rect">
            <a:avLst/>
          </a:prstGeom>
          <a:noFill/>
          <a:ln/>
        </p:spPr>
        <p:txBody>
          <a:bodyPr wrap="square" rtlCol="0" anchor="ctr"/>
          <a:lstStyle/>
          <a:p>
            <a:pPr marL="0" indent="0" algn="ctr">
              <a:buNone/>
            </a:pPr>
            <a:r>
              <a:rPr lang="en-US" sz="1250" b="1" dirty="0">
                <a:solidFill>
                  <a:srgbClr val="14213D"/>
                </a:solidFill>
                <a:latin typeface="Calibri" pitchFamily="34" charset="0"/>
                <a:ea typeface="Calibri" pitchFamily="34" charset="-122"/>
                <a:cs typeface="Calibri" pitchFamily="34" charset="-120"/>
              </a:rPr>
              <a:t>I</a:t>
            </a:r>
            <a:endParaRPr lang="en-US" sz="1250" dirty="0"/>
          </a:p>
        </p:txBody>
      </p:sp>
      <p:sp>
        <p:nvSpPr>
          <p:cNvPr id="43" name="Text 41"/>
          <p:cNvSpPr txBox="1"/>
          <p:nvPr/>
        </p:nvSpPr>
        <p:spPr>
          <a:xfrm>
            <a:off x="6675120" y="5532120"/>
            <a:ext cx="5120640" cy="822960"/>
          </a:xfrm>
          <a:prstGeom prst="rect">
            <a:avLst/>
          </a:prstGeom>
          <a:noFill/>
          <a:ln/>
        </p:spPr>
        <p:txBody>
          <a:bodyPr wrap="square" rtlCol="0" anchor="ctr"/>
          <a:lstStyle/>
          <a:p>
            <a:pPr marL="0" indent="0" algn="ctr">
              <a:lnSpc>
                <a:spcPct val="125000"/>
              </a:lnSpc>
              <a:buNone/>
            </a:pPr>
            <a:r>
              <a:rPr lang="en-US" sz="1100" i="1" dirty="0">
                <a:solidFill>
                  <a:srgbClr val="435273"/>
                </a:solidFill>
                <a:latin typeface="Calibri" pitchFamily="34" charset="0"/>
                <a:ea typeface="Calibri" pitchFamily="34" charset="-122"/>
                <a:cs typeface="Calibri" pitchFamily="34" charset="-120"/>
              </a:rPr>
              <a:t>Snapshot mid-search: A and B have been expanded (explored); C, D, E, F have been generated but wait in the frontier; G, H, I are not yet discovered.</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92608"/>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UNINFORMED SEARCH</a:t>
            </a:r>
            <a:endParaRPr lang="en-US" sz="1200" dirty="0"/>
          </a:p>
        </p:txBody>
      </p:sp>
      <p:sp>
        <p:nvSpPr>
          <p:cNvPr id="3" name="Text 1"/>
          <p:cNvSpPr txBox="1"/>
          <p:nvPr/>
        </p:nvSpPr>
        <p:spPr>
          <a:xfrm>
            <a:off x="502920" y="621792"/>
            <a:ext cx="11155680" cy="658368"/>
          </a:xfrm>
          <a:prstGeom prst="rect">
            <a:avLst/>
          </a:prstGeom>
          <a:noFill/>
          <a:ln/>
        </p:spPr>
        <p:txBody>
          <a:bodyPr wrap="square" rtlCol="0" anchor="ctr"/>
          <a:lstStyle/>
          <a:p>
            <a:pPr marL="0" indent="0">
              <a:buNone/>
            </a:pPr>
            <a:r>
              <a:rPr lang="en-US" sz="2900" b="1" dirty="0">
                <a:solidFill>
                  <a:srgbClr val="14213D"/>
                </a:solidFill>
                <a:latin typeface="Cambria" pitchFamily="34" charset="0"/>
                <a:ea typeface="Cambria" pitchFamily="34" charset="-122"/>
                <a:cs typeface="Cambria" pitchFamily="34" charset="-120"/>
              </a:rPr>
              <a:t>What Is Uninformed Search?</a:t>
            </a:r>
            <a:endParaRPr lang="en-US" sz="2900" dirty="0"/>
          </a:p>
        </p:txBody>
      </p:sp>
      <p:sp>
        <p:nvSpPr>
          <p:cNvPr id="4" name="Text 2"/>
          <p:cNvSpPr txBox="1"/>
          <p:nvPr/>
        </p:nvSpPr>
        <p:spPr>
          <a:xfrm>
            <a:off x="502920" y="6473952"/>
            <a:ext cx="7315200" cy="274320"/>
          </a:xfrm>
          <a:prstGeom prst="rect">
            <a:avLst/>
          </a:prstGeom>
          <a:noFill/>
          <a:ln/>
        </p:spPr>
        <p:txBody>
          <a:bodyPr wrap="square" rtlCol="0" anchor="ctr"/>
          <a:lstStyle/>
          <a:p>
            <a:pPr marL="0" indent="0">
              <a:buNone/>
            </a:pPr>
            <a:r>
              <a:rPr lang="en-US" sz="950" b="1" dirty="0">
                <a:solidFill>
                  <a:srgbClr val="6B7280"/>
                </a:solidFill>
                <a:latin typeface="Calibri" pitchFamily="34" charset="0"/>
                <a:ea typeface="Calibri" pitchFamily="34" charset="-122"/>
                <a:cs typeface="Calibri" pitchFamily="34" charset="-120"/>
              </a:rPr>
              <a:t>Artificial Intelligence</a:t>
            </a:r>
            <a:r>
              <a:rPr lang="en-US" sz="950" dirty="0">
                <a:solidFill>
                  <a:srgbClr val="6B7280"/>
                </a:solidFill>
                <a:latin typeface="Calibri" pitchFamily="34" charset="0"/>
                <a:ea typeface="Calibri" pitchFamily="34" charset="-122"/>
                <a:cs typeface="Calibri" pitchFamily="34" charset="-120"/>
              </a:rPr>
              <a:t>   ·   BS Computer Science   ·   Lecture 3</a:t>
            </a:r>
            <a:endParaRPr lang="en-US" sz="950" dirty="0"/>
          </a:p>
        </p:txBody>
      </p:sp>
      <p:sp>
        <p:nvSpPr>
          <p:cNvPr id="5" name="Text 3"/>
          <p:cNvSpPr txBox="1"/>
          <p:nvPr/>
        </p:nvSpPr>
        <p:spPr>
          <a:xfrm>
            <a:off x="8762695" y="6473952"/>
            <a:ext cx="292608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Dr. Ghulam Ali   ·   17</a:t>
            </a:r>
            <a:endParaRPr lang="en-US" sz="950" dirty="0"/>
          </a:p>
        </p:txBody>
      </p:sp>
      <p:sp>
        <p:nvSpPr>
          <p:cNvPr id="6" name="Shape 4"/>
          <p:cNvSpPr/>
          <p:nvPr/>
        </p:nvSpPr>
        <p:spPr>
          <a:xfrm>
            <a:off x="502920" y="1417320"/>
            <a:ext cx="11185855" cy="777240"/>
          </a:xfrm>
          <a:prstGeom prst="roundRect">
            <a:avLst>
              <a:gd name="adj" fmla="val 9412"/>
            </a:avLst>
          </a:prstGeom>
          <a:solidFill>
            <a:srgbClr val="14213D"/>
          </a:solidFill>
          <a:ln/>
        </p:spPr>
      </p:sp>
      <p:sp>
        <p:nvSpPr>
          <p:cNvPr id="7" name="Text 5"/>
          <p:cNvSpPr txBox="1"/>
          <p:nvPr/>
        </p:nvSpPr>
        <p:spPr>
          <a:xfrm>
            <a:off x="822960" y="1417320"/>
            <a:ext cx="10545775" cy="777240"/>
          </a:xfrm>
          <a:prstGeom prst="rect">
            <a:avLst/>
          </a:prstGeom>
          <a:noFill/>
          <a:ln/>
        </p:spPr>
        <p:txBody>
          <a:bodyPr wrap="square" rtlCol="0" anchor="ctr"/>
          <a:lstStyle/>
          <a:p>
            <a:pPr marL="0" indent="0">
              <a:buNone/>
            </a:pPr>
            <a:r>
              <a:rPr lang="en-US" sz="1550" b="1" i="1" dirty="0">
                <a:solidFill>
                  <a:srgbClr val="FFFFFF"/>
                </a:solidFill>
                <a:latin typeface="Cambria" pitchFamily="34" charset="0"/>
                <a:ea typeface="Cambria" pitchFamily="34" charset="-122"/>
                <a:cs typeface="Cambria" pitchFamily="34" charset="-120"/>
              </a:rPr>
              <a:t>Uninformed (blind) search uses no estimate of how close a state is to the goal — only the information the problem definition itself provides.</a:t>
            </a:r>
            <a:endParaRPr lang="en-US" sz="1550" dirty="0"/>
          </a:p>
        </p:txBody>
      </p:sp>
      <p:sp>
        <p:nvSpPr>
          <p:cNvPr id="8" name="Text 6"/>
          <p:cNvSpPr txBox="1"/>
          <p:nvPr/>
        </p:nvSpPr>
        <p:spPr>
          <a:xfrm>
            <a:off x="502920" y="2514600"/>
            <a:ext cx="5760720" cy="274320"/>
          </a:xfrm>
          <a:prstGeom prst="rect">
            <a:avLst/>
          </a:prstGeom>
          <a:noFill/>
          <a:ln/>
        </p:spPr>
        <p:txBody>
          <a:bodyPr wrap="square" rtlCol="0" anchor="ctr"/>
          <a:lstStyle/>
          <a:p>
            <a:pPr marL="0" indent="0">
              <a:buNone/>
            </a:pPr>
            <a:r>
              <a:rPr lang="en-US" sz="1300" b="1" dirty="0">
                <a:solidFill>
                  <a:srgbClr val="435273"/>
                </a:solidFill>
                <a:latin typeface="Calibri" pitchFamily="34" charset="0"/>
                <a:ea typeface="Calibri" pitchFamily="34" charset="-122"/>
                <a:cs typeface="Calibri" pitchFamily="34" charset="-120"/>
              </a:rPr>
              <a:t>An uninformed strategy may use only:</a:t>
            </a:r>
            <a:endParaRPr lang="en-US" sz="1300" dirty="0"/>
          </a:p>
        </p:txBody>
      </p:sp>
      <p:sp>
        <p:nvSpPr>
          <p:cNvPr id="9" name="Text 7"/>
          <p:cNvSpPr txBox="1"/>
          <p:nvPr/>
        </p:nvSpPr>
        <p:spPr>
          <a:xfrm>
            <a:off x="502920" y="2834640"/>
            <a:ext cx="5760720" cy="2194560"/>
          </a:xfrm>
          <a:prstGeom prst="rect">
            <a:avLst/>
          </a:prstGeom>
          <a:noFill/>
          <a:ln/>
        </p:spPr>
        <p:txBody>
          <a:bodyPr wrap="square" rtlCol="0" anchor="t"/>
          <a:lstStyle/>
          <a:p>
            <a:pPr marL="228600" indent="-228600">
              <a:lnSpc>
                <a:spcPct val="115000"/>
              </a:lnSpc>
              <a:spcAft>
                <a:spcPts val="900"/>
              </a:spcAft>
              <a:buSzPct val="100000"/>
              <a:buChar char="•"/>
            </a:pPr>
            <a:r>
              <a:rPr lang="en-US" sz="1350" dirty="0">
                <a:solidFill>
                  <a:srgbClr val="1B2333"/>
                </a:solidFill>
                <a:latin typeface="Calibri" pitchFamily="34" charset="0"/>
                <a:ea typeface="Calibri" pitchFamily="34" charset="-122"/>
                <a:cs typeface="Calibri" pitchFamily="34" charset="-120"/>
              </a:rPr>
              <a:t>The initial state, s₀</a:t>
            </a:r>
            <a:endParaRPr lang="en-US" sz="1350" dirty="0"/>
          </a:p>
          <a:p>
            <a:pPr marL="228600" indent="-228600">
              <a:lnSpc>
                <a:spcPct val="115000"/>
              </a:lnSpc>
              <a:spcAft>
                <a:spcPts val="900"/>
              </a:spcAft>
              <a:buSzPct val="100000"/>
              <a:buChar char="•"/>
            </a:pPr>
            <a:r>
              <a:rPr lang="en-US" sz="1350" dirty="0">
                <a:solidFill>
                  <a:srgbClr val="1B2333"/>
                </a:solidFill>
                <a:latin typeface="Calibri" pitchFamily="34" charset="0"/>
                <a:ea typeface="Calibri" pitchFamily="34" charset="-122"/>
                <a:cs typeface="Calibri" pitchFamily="34" charset="-120"/>
              </a:rPr>
              <a:t>The actions available in each state, A(s)</a:t>
            </a:r>
            <a:endParaRPr lang="en-US" sz="1350" dirty="0"/>
          </a:p>
          <a:p>
            <a:pPr marL="228600" indent="-228600">
              <a:lnSpc>
                <a:spcPct val="115000"/>
              </a:lnSpc>
              <a:spcAft>
                <a:spcPts val="900"/>
              </a:spcAft>
              <a:buSzPct val="100000"/>
              <a:buChar char="•"/>
            </a:pPr>
            <a:r>
              <a:rPr lang="en-US" sz="1350" dirty="0">
                <a:solidFill>
                  <a:srgbClr val="1B2333"/>
                </a:solidFill>
                <a:latin typeface="Calibri" pitchFamily="34" charset="0"/>
                <a:ea typeface="Calibri" pitchFamily="34" charset="-122"/>
                <a:cs typeface="Calibri" pitchFamily="34" charset="-120"/>
              </a:rPr>
              <a:t>The transition model, Result(s,a)</a:t>
            </a:r>
            <a:endParaRPr lang="en-US" sz="1350" dirty="0"/>
          </a:p>
          <a:p>
            <a:pPr marL="228600" indent="-228600">
              <a:lnSpc>
                <a:spcPct val="115000"/>
              </a:lnSpc>
              <a:spcAft>
                <a:spcPts val="900"/>
              </a:spcAft>
              <a:buSzPct val="100000"/>
              <a:buChar char="•"/>
            </a:pPr>
            <a:r>
              <a:rPr lang="en-US" sz="1350" dirty="0">
                <a:solidFill>
                  <a:srgbClr val="1B2333"/>
                </a:solidFill>
                <a:latin typeface="Calibri" pitchFamily="34" charset="0"/>
                <a:ea typeface="Calibri" pitchFamily="34" charset="-122"/>
                <a:cs typeface="Calibri" pitchFamily="34" charset="-120"/>
              </a:rPr>
              <a:t>The goal test, Goal(s)</a:t>
            </a:r>
            <a:endParaRPr lang="en-US" sz="1350" dirty="0"/>
          </a:p>
          <a:p>
            <a:pPr marL="228600" indent="-228600">
              <a:lnSpc>
                <a:spcPct val="115000"/>
              </a:lnSpc>
              <a:spcAft>
                <a:spcPts val="900"/>
              </a:spcAft>
              <a:buSzPct val="100000"/>
              <a:buChar char="•"/>
            </a:pPr>
            <a:r>
              <a:rPr lang="en-US" sz="1350" dirty="0">
                <a:solidFill>
                  <a:srgbClr val="1B2333"/>
                </a:solidFill>
                <a:latin typeface="Calibri" pitchFamily="34" charset="0"/>
                <a:ea typeface="Calibri" pitchFamily="34" charset="-122"/>
                <a:cs typeface="Calibri" pitchFamily="34" charset="-120"/>
              </a:rPr>
              <a:t>The path cost, where applicable to the strategy</a:t>
            </a:r>
            <a:endParaRPr lang="en-US" sz="13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92240" y="2514600"/>
          <a:ext cx="5166360" cy="2267712"/>
        </p:xfrm>
        <a:graphic>
          <a:graphicData uri="http://schemas.openxmlformats.org/drawingml/2006/table">
            <a:tbl>
              <a:tblPr/>
              <a:tblGrid>
                <a:gridCol w="173736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566928">
                <a:tc>
                  <a:txBody>
                    <a:bodyPr/>
                    <a:lstStyle/>
                    <a:p>
                      <a:pPr marL="0" indent="0" algn="l">
                        <a:buNone/>
                      </a:pPr>
                      <a:endParaRPr lang="en-US" sz="10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4213D"/>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Uninformed search</a:t>
                      </a:r>
                      <a:endParaRPr lang="en-US" sz="10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4213D"/>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Informed search</a:t>
                      </a:r>
                      <a:endParaRPr lang="en-US" sz="10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566928">
                <a:tc>
                  <a:txBody>
                    <a:bodyPr/>
                    <a:lstStyle/>
                    <a:p>
                      <a:pPr marL="0" indent="0" algn="l">
                        <a:buNone/>
                      </a:pPr>
                      <a:r>
                        <a:rPr lang="en-US" sz="1050" dirty="0">
                          <a:solidFill>
                            <a:srgbClr val="1B2333"/>
                          </a:solidFill>
                          <a:latin typeface="Calibri" pitchFamily="34" charset="0"/>
                          <a:ea typeface="Calibri" pitchFamily="34" charset="-122"/>
                          <a:cs typeface="Calibri" pitchFamily="34" charset="-120"/>
                        </a:rPr>
                        <a:t>Extra knowledge used</a:t>
                      </a:r>
                      <a:endParaRPr lang="en-US" sz="10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B2333"/>
                          </a:solidFill>
                          <a:latin typeface="Calibri" pitchFamily="34" charset="0"/>
                          <a:ea typeface="Calibri" pitchFamily="34" charset="-122"/>
                          <a:cs typeface="Calibri" pitchFamily="34" charset="-120"/>
                        </a:rPr>
                        <a:t>None beyond the problem definition</a:t>
                      </a:r>
                      <a:endParaRPr lang="en-US" sz="10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B2333"/>
                          </a:solidFill>
                          <a:latin typeface="Calibri" pitchFamily="34" charset="0"/>
                          <a:ea typeface="Calibri" pitchFamily="34" charset="-122"/>
                          <a:cs typeface="Calibri" pitchFamily="34" charset="-120"/>
                        </a:rPr>
                        <a:t>A heuristic estimate of distance-to-goal</a:t>
                      </a:r>
                      <a:endParaRPr lang="en-US" sz="10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1050" dirty="0">
                          <a:solidFill>
                            <a:srgbClr val="1B2333"/>
                          </a:solidFill>
                          <a:latin typeface="Calibri" pitchFamily="34" charset="0"/>
                          <a:ea typeface="Calibri" pitchFamily="34" charset="-122"/>
                          <a:cs typeface="Calibri" pitchFamily="34" charset="-120"/>
                        </a:rPr>
                        <a:t>Exploration style</a:t>
                      </a:r>
                      <a:endParaRPr lang="en-US" sz="10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050" dirty="0">
                          <a:solidFill>
                            <a:srgbClr val="1B2333"/>
                          </a:solidFill>
                          <a:latin typeface="Calibri" pitchFamily="34" charset="0"/>
                          <a:ea typeface="Calibri" pitchFamily="34" charset="-122"/>
                          <a:cs typeface="Calibri" pitchFamily="34" charset="-120"/>
                        </a:rPr>
                        <a:t>Systematic, by structural position (depth / cost)</a:t>
                      </a:r>
                      <a:endParaRPr lang="en-US" sz="10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050" dirty="0">
                          <a:solidFill>
                            <a:srgbClr val="1B2333"/>
                          </a:solidFill>
                          <a:latin typeface="Calibri" pitchFamily="34" charset="0"/>
                          <a:ea typeface="Calibri" pitchFamily="34" charset="-122"/>
                          <a:cs typeface="Calibri" pitchFamily="34" charset="-120"/>
                        </a:rPr>
                        <a:t>Guided toward states that look promising</a:t>
                      </a:r>
                      <a:endParaRPr lang="en-US" sz="10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extLst>
                  <a:ext uri="{0D108BD9-81ED-4DB2-BD59-A6C34878D82A}">
                    <a16:rowId xmlns:a16="http://schemas.microsoft.com/office/drawing/2014/main" val="10002"/>
                  </a:ext>
                </a:extLst>
              </a:tr>
              <a:tr h="566928">
                <a:tc>
                  <a:txBody>
                    <a:bodyPr/>
                    <a:lstStyle/>
                    <a:p>
                      <a:pPr marL="0" indent="0" algn="l">
                        <a:buNone/>
                      </a:pPr>
                      <a:r>
                        <a:rPr lang="en-US" sz="1050" dirty="0">
                          <a:solidFill>
                            <a:srgbClr val="1B2333"/>
                          </a:solidFill>
                          <a:latin typeface="Calibri" pitchFamily="34" charset="0"/>
                          <a:ea typeface="Calibri" pitchFamily="34" charset="-122"/>
                          <a:cs typeface="Calibri" pitchFamily="34" charset="-120"/>
                        </a:rPr>
                        <a:t>Covered in this lecture?</a:t>
                      </a:r>
                      <a:endParaRPr lang="en-US" sz="10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B2333"/>
                          </a:solidFill>
                          <a:latin typeface="Calibri" pitchFamily="34" charset="0"/>
                          <a:ea typeface="Calibri" pitchFamily="34" charset="-122"/>
                          <a:cs typeface="Calibri" pitchFamily="34" charset="-120"/>
                        </a:rPr>
                        <a:t>Yes — BFS, DFS, UCS</a:t>
                      </a:r>
                      <a:endParaRPr lang="en-US" sz="10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B2333"/>
                          </a:solidFill>
                          <a:latin typeface="Calibri" pitchFamily="34" charset="0"/>
                          <a:ea typeface="Calibri" pitchFamily="34" charset="-122"/>
                          <a:cs typeface="Calibri" pitchFamily="34" charset="-120"/>
                        </a:rPr>
                        <a:t>Not yet — next lecture (A*, Greedy Best-First)</a:t>
                      </a:r>
                      <a:endParaRPr lang="en-US" sz="10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92608"/>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UNINFORMED SEARCH</a:t>
            </a:r>
            <a:endParaRPr lang="en-US" sz="1200" dirty="0"/>
          </a:p>
        </p:txBody>
      </p:sp>
      <p:sp>
        <p:nvSpPr>
          <p:cNvPr id="3" name="Text 1"/>
          <p:cNvSpPr txBox="1"/>
          <p:nvPr/>
        </p:nvSpPr>
        <p:spPr>
          <a:xfrm>
            <a:off x="502920" y="621792"/>
            <a:ext cx="11155680" cy="658368"/>
          </a:xfrm>
          <a:prstGeom prst="rect">
            <a:avLst/>
          </a:prstGeom>
          <a:noFill/>
          <a:ln/>
        </p:spPr>
        <p:txBody>
          <a:bodyPr wrap="square" rtlCol="0" anchor="ctr"/>
          <a:lstStyle/>
          <a:p>
            <a:pPr marL="0" indent="0">
              <a:buNone/>
            </a:pPr>
            <a:r>
              <a:rPr lang="en-US" sz="2900" b="1" dirty="0">
                <a:solidFill>
                  <a:srgbClr val="14213D"/>
                </a:solidFill>
                <a:latin typeface="Cambria" pitchFamily="34" charset="0"/>
                <a:ea typeface="Cambria" pitchFamily="34" charset="-122"/>
                <a:cs typeface="Cambria" pitchFamily="34" charset="-120"/>
              </a:rPr>
              <a:t>Three Uninformed Search Strategies</a:t>
            </a:r>
            <a:endParaRPr lang="en-US" sz="2900" dirty="0"/>
          </a:p>
        </p:txBody>
      </p:sp>
      <p:sp>
        <p:nvSpPr>
          <p:cNvPr id="4" name="Text 2"/>
          <p:cNvSpPr txBox="1"/>
          <p:nvPr/>
        </p:nvSpPr>
        <p:spPr>
          <a:xfrm>
            <a:off x="502920" y="6473952"/>
            <a:ext cx="7315200" cy="274320"/>
          </a:xfrm>
          <a:prstGeom prst="rect">
            <a:avLst/>
          </a:prstGeom>
          <a:noFill/>
          <a:ln/>
        </p:spPr>
        <p:txBody>
          <a:bodyPr wrap="square" rtlCol="0" anchor="ctr"/>
          <a:lstStyle/>
          <a:p>
            <a:pPr marL="0" indent="0">
              <a:buNone/>
            </a:pPr>
            <a:r>
              <a:rPr lang="en-US" sz="950" b="1" dirty="0">
                <a:solidFill>
                  <a:srgbClr val="6B7280"/>
                </a:solidFill>
                <a:latin typeface="Calibri" pitchFamily="34" charset="0"/>
                <a:ea typeface="Calibri" pitchFamily="34" charset="-122"/>
                <a:cs typeface="Calibri" pitchFamily="34" charset="-120"/>
              </a:rPr>
              <a:t>Artificial Intelligence</a:t>
            </a:r>
            <a:r>
              <a:rPr lang="en-US" sz="950" dirty="0">
                <a:solidFill>
                  <a:srgbClr val="6B7280"/>
                </a:solidFill>
                <a:latin typeface="Calibri" pitchFamily="34" charset="0"/>
                <a:ea typeface="Calibri" pitchFamily="34" charset="-122"/>
                <a:cs typeface="Calibri" pitchFamily="34" charset="-120"/>
              </a:rPr>
              <a:t>   ·   BS Computer Science   ·   Lecture 3</a:t>
            </a:r>
            <a:endParaRPr lang="en-US" sz="950" dirty="0"/>
          </a:p>
        </p:txBody>
      </p:sp>
      <p:sp>
        <p:nvSpPr>
          <p:cNvPr id="5" name="Text 3"/>
          <p:cNvSpPr txBox="1"/>
          <p:nvPr/>
        </p:nvSpPr>
        <p:spPr>
          <a:xfrm>
            <a:off x="8762695" y="6473952"/>
            <a:ext cx="292608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Dr. Ghulam Ali   ·   18</a:t>
            </a:r>
            <a:endParaRPr lang="en-US" sz="950" dirty="0"/>
          </a:p>
        </p:txBody>
      </p:sp>
      <p:sp>
        <p:nvSpPr>
          <p:cNvPr id="6" name="Shape 4"/>
          <p:cNvSpPr/>
          <p:nvPr/>
        </p:nvSpPr>
        <p:spPr>
          <a:xfrm>
            <a:off x="502920" y="1508760"/>
            <a:ext cx="3611880" cy="2880360"/>
          </a:xfrm>
          <a:prstGeom prst="roundRect">
            <a:avLst>
              <a:gd name="adj" fmla="val 2857"/>
            </a:avLst>
          </a:prstGeom>
          <a:solidFill>
            <a:srgbClr val="14213D"/>
          </a:solidFill>
          <a:ln/>
        </p:spPr>
      </p:sp>
      <p:sp>
        <p:nvSpPr>
          <p:cNvPr id="7" name="Shape 5"/>
          <p:cNvSpPr/>
          <p:nvPr/>
        </p:nvSpPr>
        <p:spPr>
          <a:xfrm>
            <a:off x="502920" y="1508760"/>
            <a:ext cx="3611880" cy="2880360"/>
          </a:xfrm>
          <a:prstGeom prst="roundRect">
            <a:avLst>
              <a:gd name="adj" fmla="val 2857"/>
            </a:avLst>
          </a:prstGeom>
          <a:solidFill>
            <a:srgbClr val="14213D"/>
          </a:solidFill>
          <a:ln/>
        </p:spPr>
      </p:sp>
      <p:sp>
        <p:nvSpPr>
          <p:cNvPr id="8" name="Text 6"/>
          <p:cNvSpPr txBox="1"/>
          <p:nvPr/>
        </p:nvSpPr>
        <p:spPr>
          <a:xfrm>
            <a:off x="502920" y="1691640"/>
            <a:ext cx="3611880" cy="502920"/>
          </a:xfrm>
          <a:prstGeom prst="rect">
            <a:avLst/>
          </a:prstGeom>
          <a:noFill/>
          <a:ln/>
        </p:spPr>
        <p:txBody>
          <a:bodyPr wrap="square" rtlCol="0" anchor="ctr"/>
          <a:lstStyle/>
          <a:p>
            <a:pPr marL="0" indent="0" algn="ctr">
              <a:buNone/>
            </a:pPr>
            <a:r>
              <a:rPr lang="en-US" sz="2600" b="1" dirty="0">
                <a:solidFill>
                  <a:srgbClr val="C9A227"/>
                </a:solidFill>
                <a:latin typeface="Cambria" pitchFamily="34" charset="0"/>
                <a:ea typeface="Cambria" pitchFamily="34" charset="-122"/>
                <a:cs typeface="Cambria" pitchFamily="34" charset="-120"/>
              </a:rPr>
              <a:t>BFS</a:t>
            </a:r>
            <a:endParaRPr lang="en-US" sz="2600" dirty="0"/>
          </a:p>
        </p:txBody>
      </p:sp>
      <p:sp>
        <p:nvSpPr>
          <p:cNvPr id="9" name="Text 7"/>
          <p:cNvSpPr txBox="1"/>
          <p:nvPr/>
        </p:nvSpPr>
        <p:spPr>
          <a:xfrm>
            <a:off x="731520" y="2377440"/>
            <a:ext cx="3154680" cy="50292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Shallowest node first</a:t>
            </a:r>
            <a:endParaRPr lang="en-US" sz="1350" dirty="0"/>
          </a:p>
        </p:txBody>
      </p:sp>
      <p:sp>
        <p:nvSpPr>
          <p:cNvPr id="10" name="Shape 8"/>
          <p:cNvSpPr/>
          <p:nvPr/>
        </p:nvSpPr>
        <p:spPr>
          <a:xfrm>
            <a:off x="914400" y="3017520"/>
            <a:ext cx="2788920" cy="457200"/>
          </a:xfrm>
          <a:prstGeom prst="roundRect">
            <a:avLst>
              <a:gd name="adj" fmla="val 50000"/>
            </a:avLst>
          </a:prstGeom>
          <a:solidFill>
            <a:srgbClr val="C9A227"/>
          </a:solidFill>
          <a:ln/>
        </p:spPr>
      </p:sp>
      <p:sp>
        <p:nvSpPr>
          <p:cNvPr id="11" name="Text 9"/>
          <p:cNvSpPr txBox="1"/>
          <p:nvPr/>
        </p:nvSpPr>
        <p:spPr>
          <a:xfrm>
            <a:off x="914400" y="3017520"/>
            <a:ext cx="2788920" cy="457200"/>
          </a:xfrm>
          <a:prstGeom prst="rect">
            <a:avLst/>
          </a:prstGeom>
          <a:noFill/>
          <a:ln/>
        </p:spPr>
        <p:txBody>
          <a:bodyPr wrap="square" rtlCol="0" anchor="ctr"/>
          <a:lstStyle/>
          <a:p>
            <a:pPr marL="0" indent="0" algn="ctr">
              <a:buNone/>
            </a:pPr>
            <a:r>
              <a:rPr lang="en-US" sz="1300" b="1" dirty="0">
                <a:solidFill>
                  <a:srgbClr val="0A1226"/>
                </a:solidFill>
                <a:latin typeface="Courier New" pitchFamily="34" charset="0"/>
                <a:ea typeface="Courier New" pitchFamily="34" charset="-122"/>
                <a:cs typeface="Courier New" pitchFamily="34" charset="-120"/>
              </a:rPr>
              <a:t>FIFO Queue</a:t>
            </a:r>
            <a:endParaRPr lang="en-US" sz="1300" dirty="0"/>
          </a:p>
        </p:txBody>
      </p:sp>
      <p:sp>
        <p:nvSpPr>
          <p:cNvPr id="12" name="Text 10"/>
          <p:cNvSpPr txBox="1"/>
          <p:nvPr/>
        </p:nvSpPr>
        <p:spPr>
          <a:xfrm>
            <a:off x="731520" y="3593592"/>
            <a:ext cx="3154680" cy="731520"/>
          </a:xfrm>
          <a:prstGeom prst="rect">
            <a:avLst/>
          </a:prstGeom>
          <a:noFill/>
          <a:ln/>
        </p:spPr>
        <p:txBody>
          <a:bodyPr wrap="square" rtlCol="0" anchor="ctr"/>
          <a:lstStyle/>
          <a:p>
            <a:pPr marL="0" indent="0" algn="ctr">
              <a:lnSpc>
                <a:spcPct val="120000"/>
              </a:lnSpc>
              <a:buNone/>
            </a:pPr>
            <a:r>
              <a:rPr lang="en-US" sz="1100" i="1" dirty="0">
                <a:solidFill>
                  <a:srgbClr val="D7DEEA"/>
                </a:solidFill>
                <a:latin typeface="Calibri" pitchFamily="34" charset="0"/>
                <a:ea typeface="Calibri" pitchFamily="34" charset="-122"/>
                <a:cs typeface="Calibri" pitchFamily="34" charset="-120"/>
              </a:rPr>
              <a:t>Expands nodes in the order they were generated — level by level.</a:t>
            </a:r>
            <a:endParaRPr lang="en-US" sz="1100" dirty="0"/>
          </a:p>
        </p:txBody>
      </p:sp>
      <p:sp>
        <p:nvSpPr>
          <p:cNvPr id="13" name="Shape 11"/>
          <p:cNvSpPr/>
          <p:nvPr/>
        </p:nvSpPr>
        <p:spPr>
          <a:xfrm>
            <a:off x="4297680" y="1508760"/>
            <a:ext cx="3611880" cy="2880360"/>
          </a:xfrm>
          <a:prstGeom prst="roundRect">
            <a:avLst>
              <a:gd name="adj" fmla="val 2857"/>
            </a:avLst>
          </a:prstGeom>
          <a:solidFill>
            <a:srgbClr val="435273"/>
          </a:solidFill>
          <a:ln/>
        </p:spPr>
      </p:sp>
      <p:sp>
        <p:nvSpPr>
          <p:cNvPr id="14" name="Shape 12"/>
          <p:cNvSpPr/>
          <p:nvPr/>
        </p:nvSpPr>
        <p:spPr>
          <a:xfrm>
            <a:off x="4297680" y="1508760"/>
            <a:ext cx="3611880" cy="2880360"/>
          </a:xfrm>
          <a:prstGeom prst="roundRect">
            <a:avLst>
              <a:gd name="adj" fmla="val 2857"/>
            </a:avLst>
          </a:prstGeom>
          <a:solidFill>
            <a:srgbClr val="2C3B63"/>
          </a:solidFill>
          <a:ln/>
        </p:spPr>
      </p:sp>
      <p:sp>
        <p:nvSpPr>
          <p:cNvPr id="15" name="Text 13"/>
          <p:cNvSpPr txBox="1"/>
          <p:nvPr/>
        </p:nvSpPr>
        <p:spPr>
          <a:xfrm>
            <a:off x="4297680" y="1691640"/>
            <a:ext cx="3611880" cy="502920"/>
          </a:xfrm>
          <a:prstGeom prst="rect">
            <a:avLst/>
          </a:prstGeom>
          <a:noFill/>
          <a:ln/>
        </p:spPr>
        <p:txBody>
          <a:bodyPr wrap="square" rtlCol="0" anchor="ctr"/>
          <a:lstStyle/>
          <a:p>
            <a:pPr marL="0" indent="0" algn="ctr">
              <a:buNone/>
            </a:pPr>
            <a:r>
              <a:rPr lang="en-US" sz="2600" b="1" dirty="0">
                <a:solidFill>
                  <a:srgbClr val="C9A227"/>
                </a:solidFill>
                <a:latin typeface="Cambria" pitchFamily="34" charset="0"/>
                <a:ea typeface="Cambria" pitchFamily="34" charset="-122"/>
                <a:cs typeface="Cambria" pitchFamily="34" charset="-120"/>
              </a:rPr>
              <a:t>DFS</a:t>
            </a:r>
            <a:endParaRPr lang="en-US" sz="2600" dirty="0"/>
          </a:p>
        </p:txBody>
      </p:sp>
      <p:sp>
        <p:nvSpPr>
          <p:cNvPr id="16" name="Text 14"/>
          <p:cNvSpPr txBox="1"/>
          <p:nvPr/>
        </p:nvSpPr>
        <p:spPr>
          <a:xfrm>
            <a:off x="4526280" y="2377440"/>
            <a:ext cx="3154680" cy="50292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Deepest node first</a:t>
            </a:r>
            <a:endParaRPr lang="en-US" sz="1350" dirty="0"/>
          </a:p>
        </p:txBody>
      </p:sp>
      <p:sp>
        <p:nvSpPr>
          <p:cNvPr id="17" name="Shape 15"/>
          <p:cNvSpPr/>
          <p:nvPr/>
        </p:nvSpPr>
        <p:spPr>
          <a:xfrm>
            <a:off x="4709160" y="3017520"/>
            <a:ext cx="2788920" cy="457200"/>
          </a:xfrm>
          <a:prstGeom prst="roundRect">
            <a:avLst>
              <a:gd name="adj" fmla="val 50000"/>
            </a:avLst>
          </a:prstGeom>
          <a:solidFill>
            <a:srgbClr val="C9A227"/>
          </a:solidFill>
          <a:ln/>
        </p:spPr>
      </p:sp>
      <p:sp>
        <p:nvSpPr>
          <p:cNvPr id="18" name="Text 16"/>
          <p:cNvSpPr txBox="1"/>
          <p:nvPr/>
        </p:nvSpPr>
        <p:spPr>
          <a:xfrm>
            <a:off x="4709160" y="3017520"/>
            <a:ext cx="2788920" cy="457200"/>
          </a:xfrm>
          <a:prstGeom prst="rect">
            <a:avLst/>
          </a:prstGeom>
          <a:noFill/>
          <a:ln/>
        </p:spPr>
        <p:txBody>
          <a:bodyPr wrap="square" rtlCol="0" anchor="ctr"/>
          <a:lstStyle/>
          <a:p>
            <a:pPr marL="0" indent="0" algn="ctr">
              <a:buNone/>
            </a:pPr>
            <a:r>
              <a:rPr lang="en-US" sz="1300" b="1" dirty="0">
                <a:solidFill>
                  <a:srgbClr val="0A1226"/>
                </a:solidFill>
                <a:latin typeface="Courier New" pitchFamily="34" charset="0"/>
                <a:ea typeface="Courier New" pitchFamily="34" charset="-122"/>
                <a:cs typeface="Courier New" pitchFamily="34" charset="-120"/>
              </a:rPr>
              <a:t>LIFO Stack</a:t>
            </a:r>
            <a:endParaRPr lang="en-US" sz="1300" dirty="0"/>
          </a:p>
        </p:txBody>
      </p:sp>
      <p:sp>
        <p:nvSpPr>
          <p:cNvPr id="19" name="Text 17"/>
          <p:cNvSpPr txBox="1"/>
          <p:nvPr/>
        </p:nvSpPr>
        <p:spPr>
          <a:xfrm>
            <a:off x="4526280" y="3593592"/>
            <a:ext cx="3154680" cy="731520"/>
          </a:xfrm>
          <a:prstGeom prst="rect">
            <a:avLst/>
          </a:prstGeom>
          <a:noFill/>
          <a:ln/>
        </p:spPr>
        <p:txBody>
          <a:bodyPr wrap="square" rtlCol="0" anchor="ctr"/>
          <a:lstStyle/>
          <a:p>
            <a:pPr marL="0" indent="0" algn="ctr">
              <a:lnSpc>
                <a:spcPct val="120000"/>
              </a:lnSpc>
              <a:buNone/>
            </a:pPr>
            <a:r>
              <a:rPr lang="en-US" sz="1100" i="1" dirty="0">
                <a:solidFill>
                  <a:srgbClr val="D7DEEA"/>
                </a:solidFill>
                <a:latin typeface="Calibri" pitchFamily="34" charset="0"/>
                <a:ea typeface="Calibri" pitchFamily="34" charset="-122"/>
                <a:cs typeface="Calibri" pitchFamily="34" charset="-120"/>
              </a:rPr>
              <a:t>Commits to one branch and follows it as far as possible before backtracking.</a:t>
            </a:r>
            <a:endParaRPr lang="en-US" sz="1100" dirty="0"/>
          </a:p>
        </p:txBody>
      </p:sp>
      <p:sp>
        <p:nvSpPr>
          <p:cNvPr id="20" name="Shape 18"/>
          <p:cNvSpPr/>
          <p:nvPr/>
        </p:nvSpPr>
        <p:spPr>
          <a:xfrm>
            <a:off x="8092440" y="1508760"/>
            <a:ext cx="3611880" cy="2880360"/>
          </a:xfrm>
          <a:prstGeom prst="roundRect">
            <a:avLst>
              <a:gd name="adj" fmla="val 2857"/>
            </a:avLst>
          </a:prstGeom>
          <a:solidFill>
            <a:srgbClr val="14213D"/>
          </a:solidFill>
          <a:ln/>
        </p:spPr>
      </p:sp>
      <p:sp>
        <p:nvSpPr>
          <p:cNvPr id="21" name="Shape 19"/>
          <p:cNvSpPr/>
          <p:nvPr/>
        </p:nvSpPr>
        <p:spPr>
          <a:xfrm>
            <a:off x="8092440" y="1508760"/>
            <a:ext cx="3611880" cy="2880360"/>
          </a:xfrm>
          <a:prstGeom prst="roundRect">
            <a:avLst>
              <a:gd name="adj" fmla="val 2857"/>
            </a:avLst>
          </a:prstGeom>
          <a:solidFill>
            <a:srgbClr val="0F1B3D"/>
          </a:solidFill>
          <a:ln/>
        </p:spPr>
      </p:sp>
      <p:sp>
        <p:nvSpPr>
          <p:cNvPr id="22" name="Text 20"/>
          <p:cNvSpPr txBox="1"/>
          <p:nvPr/>
        </p:nvSpPr>
        <p:spPr>
          <a:xfrm>
            <a:off x="8092440" y="1691640"/>
            <a:ext cx="3611880" cy="502920"/>
          </a:xfrm>
          <a:prstGeom prst="rect">
            <a:avLst/>
          </a:prstGeom>
          <a:noFill/>
          <a:ln/>
        </p:spPr>
        <p:txBody>
          <a:bodyPr wrap="square" rtlCol="0" anchor="ctr"/>
          <a:lstStyle/>
          <a:p>
            <a:pPr marL="0" indent="0" algn="ctr">
              <a:buNone/>
            </a:pPr>
            <a:r>
              <a:rPr lang="en-US" sz="2600" b="1" dirty="0">
                <a:solidFill>
                  <a:srgbClr val="C9A227"/>
                </a:solidFill>
                <a:latin typeface="Cambria" pitchFamily="34" charset="0"/>
                <a:ea typeface="Cambria" pitchFamily="34" charset="-122"/>
                <a:cs typeface="Cambria" pitchFamily="34" charset="-120"/>
              </a:rPr>
              <a:t>UCS</a:t>
            </a:r>
            <a:endParaRPr lang="en-US" sz="2600" dirty="0"/>
          </a:p>
        </p:txBody>
      </p:sp>
      <p:sp>
        <p:nvSpPr>
          <p:cNvPr id="23" name="Text 21"/>
          <p:cNvSpPr txBox="1"/>
          <p:nvPr/>
        </p:nvSpPr>
        <p:spPr>
          <a:xfrm>
            <a:off x="8321040" y="2377440"/>
            <a:ext cx="3154680" cy="50292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Lowest path-cost first</a:t>
            </a:r>
            <a:endParaRPr lang="en-US" sz="1350" dirty="0"/>
          </a:p>
        </p:txBody>
      </p:sp>
      <p:sp>
        <p:nvSpPr>
          <p:cNvPr id="24" name="Shape 22"/>
          <p:cNvSpPr/>
          <p:nvPr/>
        </p:nvSpPr>
        <p:spPr>
          <a:xfrm>
            <a:off x="8503920" y="3017520"/>
            <a:ext cx="2788920" cy="457200"/>
          </a:xfrm>
          <a:prstGeom prst="roundRect">
            <a:avLst>
              <a:gd name="adj" fmla="val 50000"/>
            </a:avLst>
          </a:prstGeom>
          <a:solidFill>
            <a:srgbClr val="C9A227"/>
          </a:solidFill>
          <a:ln/>
        </p:spPr>
      </p:sp>
      <p:sp>
        <p:nvSpPr>
          <p:cNvPr id="25" name="Text 23"/>
          <p:cNvSpPr txBox="1"/>
          <p:nvPr/>
        </p:nvSpPr>
        <p:spPr>
          <a:xfrm>
            <a:off x="8503920" y="3017520"/>
            <a:ext cx="2788920" cy="457200"/>
          </a:xfrm>
          <a:prstGeom prst="rect">
            <a:avLst/>
          </a:prstGeom>
          <a:noFill/>
          <a:ln/>
        </p:spPr>
        <p:txBody>
          <a:bodyPr wrap="square" rtlCol="0" anchor="ctr"/>
          <a:lstStyle/>
          <a:p>
            <a:pPr marL="0" indent="0" algn="ctr">
              <a:buNone/>
            </a:pPr>
            <a:r>
              <a:rPr lang="en-US" sz="1300" b="1" dirty="0">
                <a:solidFill>
                  <a:srgbClr val="0A1226"/>
                </a:solidFill>
                <a:latin typeface="Courier New" pitchFamily="34" charset="0"/>
                <a:ea typeface="Courier New" pitchFamily="34" charset="-122"/>
                <a:cs typeface="Courier New" pitchFamily="34" charset="-120"/>
              </a:rPr>
              <a:t>Priority Queue</a:t>
            </a:r>
            <a:endParaRPr lang="en-US" sz="1300" dirty="0"/>
          </a:p>
        </p:txBody>
      </p:sp>
      <p:sp>
        <p:nvSpPr>
          <p:cNvPr id="26" name="Text 24"/>
          <p:cNvSpPr txBox="1"/>
          <p:nvPr/>
        </p:nvSpPr>
        <p:spPr>
          <a:xfrm>
            <a:off x="8321040" y="3593592"/>
            <a:ext cx="3154680" cy="731520"/>
          </a:xfrm>
          <a:prstGeom prst="rect">
            <a:avLst/>
          </a:prstGeom>
          <a:noFill/>
          <a:ln/>
        </p:spPr>
        <p:txBody>
          <a:bodyPr wrap="square" rtlCol="0" anchor="ctr"/>
          <a:lstStyle/>
          <a:p>
            <a:pPr marL="0" indent="0" algn="ctr">
              <a:lnSpc>
                <a:spcPct val="120000"/>
              </a:lnSpc>
              <a:buNone/>
            </a:pPr>
            <a:r>
              <a:rPr lang="en-US" sz="1100" i="1" dirty="0">
                <a:solidFill>
                  <a:srgbClr val="D7DEEA"/>
                </a:solidFill>
                <a:latin typeface="Calibri" pitchFamily="34" charset="0"/>
                <a:ea typeface="Calibri" pitchFamily="34" charset="-122"/>
                <a:cs typeface="Calibri" pitchFamily="34" charset="-120"/>
              </a:rPr>
              <a:t>Always expands the node with the smallest cumulative g(n).</a:t>
            </a:r>
            <a:endParaRPr lang="en-US" sz="1100" dirty="0"/>
          </a:p>
        </p:txBody>
      </p:sp>
      <p:sp>
        <p:nvSpPr>
          <p:cNvPr id="27" name="Shape 25"/>
          <p:cNvSpPr/>
          <p:nvPr/>
        </p:nvSpPr>
        <p:spPr>
          <a:xfrm>
            <a:off x="502920" y="4617720"/>
            <a:ext cx="11185855" cy="1417320"/>
          </a:xfrm>
          <a:prstGeom prst="roundRect">
            <a:avLst>
              <a:gd name="adj" fmla="val 5161"/>
            </a:avLst>
          </a:prstGeom>
          <a:solidFill>
            <a:srgbClr val="EAEFF8"/>
          </a:solidFill>
          <a:ln/>
        </p:spPr>
      </p:sp>
      <p:sp>
        <p:nvSpPr>
          <p:cNvPr id="28" name="Shape 26"/>
          <p:cNvSpPr/>
          <p:nvPr/>
        </p:nvSpPr>
        <p:spPr>
          <a:xfrm>
            <a:off x="704088" y="4818888"/>
            <a:ext cx="347472" cy="347472"/>
          </a:xfrm>
          <a:prstGeom prst="ellipse">
            <a:avLst/>
          </a:prstGeom>
          <a:solidFill>
            <a:srgbClr val="C9A227"/>
          </a:solidFill>
          <a:ln/>
        </p:spPr>
      </p:sp>
      <p:sp>
        <p:nvSpPr>
          <p:cNvPr id="29" name="Text 27"/>
          <p:cNvSpPr txBox="1"/>
          <p:nvPr/>
        </p:nvSpPr>
        <p:spPr>
          <a:xfrm>
            <a:off x="704088" y="4818888"/>
            <a:ext cx="347472" cy="347472"/>
          </a:xfrm>
          <a:prstGeom prst="rect">
            <a:avLst/>
          </a:prstGeom>
          <a:noFill/>
          <a:ln/>
        </p:spPr>
        <p:txBody>
          <a:bodyPr wrap="none" rtlCol="0" anchor="ctr"/>
          <a:lstStyle/>
          <a:p>
            <a:pPr marL="0" indent="0" algn="ctr">
              <a:buNone/>
            </a:pPr>
            <a:r>
              <a:rPr lang="en-US" sz="1500" b="1" dirty="0">
                <a:solidFill>
                  <a:srgbClr val="0A1226"/>
                </a:solidFill>
                <a:latin typeface="Calibri" pitchFamily="34" charset="0"/>
                <a:ea typeface="Calibri" pitchFamily="34" charset="-122"/>
                <a:cs typeface="Calibri" pitchFamily="34" charset="-120"/>
              </a:rPr>
              <a:t>⚙</a:t>
            </a:r>
            <a:endParaRPr lang="en-US" sz="1500" dirty="0"/>
          </a:p>
        </p:txBody>
      </p:sp>
      <p:sp>
        <p:nvSpPr>
          <p:cNvPr id="30" name="Text 28"/>
          <p:cNvSpPr txBox="1"/>
          <p:nvPr/>
        </p:nvSpPr>
        <p:spPr>
          <a:xfrm>
            <a:off x="1207008" y="4782312"/>
            <a:ext cx="10280599" cy="310896"/>
          </a:xfrm>
          <a:prstGeom prst="rect">
            <a:avLst/>
          </a:prstGeom>
          <a:noFill/>
          <a:ln/>
        </p:spPr>
        <p:txBody>
          <a:bodyPr wrap="square" rtlCol="0" anchor="ctr"/>
          <a:lstStyle/>
          <a:p>
            <a:pPr marL="0" indent="0">
              <a:buNone/>
            </a:pPr>
            <a:r>
              <a:rPr lang="en-US" sz="1400" b="1" dirty="0">
                <a:solidFill>
                  <a:srgbClr val="14213D"/>
                </a:solidFill>
                <a:latin typeface="Calibri" pitchFamily="34" charset="0"/>
                <a:ea typeface="Calibri" pitchFamily="34" charset="-122"/>
                <a:cs typeface="Calibri" pitchFamily="34" charset="-120"/>
              </a:rPr>
              <a:t>Why does the data structure matter so much?</a:t>
            </a:r>
            <a:endParaRPr lang="en-US" sz="1400" dirty="0"/>
          </a:p>
        </p:txBody>
      </p:sp>
      <p:sp>
        <p:nvSpPr>
          <p:cNvPr id="31" name="Text 29"/>
          <p:cNvSpPr txBox="1"/>
          <p:nvPr/>
        </p:nvSpPr>
        <p:spPr>
          <a:xfrm>
            <a:off x="1207008" y="5111496"/>
            <a:ext cx="10280599" cy="886968"/>
          </a:xfrm>
          <a:prstGeom prst="rect">
            <a:avLst/>
          </a:prstGeom>
          <a:noFill/>
          <a:ln/>
        </p:spPr>
        <p:txBody>
          <a:bodyPr wrap="square" rtlCol="0" anchor="t"/>
          <a:lstStyle/>
          <a:p>
            <a:pPr marL="0" indent="0">
              <a:lnSpc>
                <a:spcPct val="112000"/>
              </a:lnSpc>
              <a:buNone/>
            </a:pPr>
            <a:r>
              <a:rPr lang="en-US" sz="1250" dirty="0">
                <a:solidFill>
                  <a:srgbClr val="1B2333"/>
                </a:solidFill>
                <a:latin typeface="Calibri" pitchFamily="34" charset="0"/>
                <a:ea typeface="Calibri" pitchFamily="34" charset="-122"/>
                <a:cs typeface="Calibri" pitchFamily="34" charset="-120"/>
              </a:rPr>
              <a:t>Each strategy is, mechanically, the exact same generic search algorithm — generate successors, add them to the frontier, pick the next node to expand. The ONLY thing that changes between BFS, DFS, and UCS is which data structure holds the frontier, because that data structure determines which node comes out next.</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92608"/>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UNINFORMED SEARCH · BFS</a:t>
            </a:r>
            <a:endParaRPr lang="en-US" sz="1200" dirty="0"/>
          </a:p>
        </p:txBody>
      </p:sp>
      <p:sp>
        <p:nvSpPr>
          <p:cNvPr id="3" name="Text 1"/>
          <p:cNvSpPr txBox="1"/>
          <p:nvPr/>
        </p:nvSpPr>
        <p:spPr>
          <a:xfrm>
            <a:off x="502920" y="621792"/>
            <a:ext cx="11155680" cy="658368"/>
          </a:xfrm>
          <a:prstGeom prst="rect">
            <a:avLst/>
          </a:prstGeom>
          <a:noFill/>
          <a:ln/>
        </p:spPr>
        <p:txBody>
          <a:bodyPr wrap="square" rtlCol="0" anchor="ctr"/>
          <a:lstStyle/>
          <a:p>
            <a:pPr marL="0" indent="0">
              <a:buNone/>
            </a:pPr>
            <a:r>
              <a:rPr lang="en-US" sz="2900" b="1" dirty="0">
                <a:solidFill>
                  <a:srgbClr val="14213D"/>
                </a:solidFill>
                <a:latin typeface="Cambria" pitchFamily="34" charset="0"/>
                <a:ea typeface="Cambria" pitchFamily="34" charset="-122"/>
                <a:cs typeface="Cambria" pitchFamily="34" charset="-120"/>
              </a:rPr>
              <a:t>Breadth-First Search: Concept</a:t>
            </a:r>
            <a:endParaRPr lang="en-US" sz="2900" dirty="0"/>
          </a:p>
        </p:txBody>
      </p:sp>
      <p:sp>
        <p:nvSpPr>
          <p:cNvPr id="4" name="Text 2"/>
          <p:cNvSpPr txBox="1"/>
          <p:nvPr/>
        </p:nvSpPr>
        <p:spPr>
          <a:xfrm>
            <a:off x="502920" y="6473952"/>
            <a:ext cx="7315200" cy="274320"/>
          </a:xfrm>
          <a:prstGeom prst="rect">
            <a:avLst/>
          </a:prstGeom>
          <a:noFill/>
          <a:ln/>
        </p:spPr>
        <p:txBody>
          <a:bodyPr wrap="square" rtlCol="0" anchor="ctr"/>
          <a:lstStyle/>
          <a:p>
            <a:pPr marL="0" indent="0">
              <a:buNone/>
            </a:pPr>
            <a:r>
              <a:rPr lang="en-US" sz="950" b="1" dirty="0">
                <a:solidFill>
                  <a:srgbClr val="6B7280"/>
                </a:solidFill>
                <a:latin typeface="Calibri" pitchFamily="34" charset="0"/>
                <a:ea typeface="Calibri" pitchFamily="34" charset="-122"/>
                <a:cs typeface="Calibri" pitchFamily="34" charset="-120"/>
              </a:rPr>
              <a:t>Artificial Intelligence</a:t>
            </a:r>
            <a:r>
              <a:rPr lang="en-US" sz="950" dirty="0">
                <a:solidFill>
                  <a:srgbClr val="6B7280"/>
                </a:solidFill>
                <a:latin typeface="Calibri" pitchFamily="34" charset="0"/>
                <a:ea typeface="Calibri" pitchFamily="34" charset="-122"/>
                <a:cs typeface="Calibri" pitchFamily="34" charset="-120"/>
              </a:rPr>
              <a:t>   ·   BS Computer Science   ·   Lecture 3</a:t>
            </a:r>
            <a:endParaRPr lang="en-US" sz="950" dirty="0"/>
          </a:p>
        </p:txBody>
      </p:sp>
      <p:sp>
        <p:nvSpPr>
          <p:cNvPr id="5" name="Text 3"/>
          <p:cNvSpPr txBox="1"/>
          <p:nvPr/>
        </p:nvSpPr>
        <p:spPr>
          <a:xfrm>
            <a:off x="8762695" y="6473952"/>
            <a:ext cx="292608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Dr. Ghulam Ali   ·   19</a:t>
            </a:r>
            <a:endParaRPr lang="en-US" sz="950" dirty="0"/>
          </a:p>
        </p:txBody>
      </p:sp>
      <p:sp>
        <p:nvSpPr>
          <p:cNvPr id="6" name="Text 4"/>
          <p:cNvSpPr txBox="1"/>
          <p:nvPr/>
        </p:nvSpPr>
        <p:spPr>
          <a:xfrm>
            <a:off x="502920" y="1227673"/>
            <a:ext cx="11185855" cy="1000971"/>
          </a:xfrm>
          <a:prstGeom prst="rect">
            <a:avLst/>
          </a:prstGeom>
          <a:noFill/>
          <a:ln/>
        </p:spPr>
        <p:txBody>
          <a:bodyPr wrap="square" rtlCol="0" anchor="ctr"/>
          <a:lstStyle/>
          <a:p>
            <a:pPr marL="0" indent="0">
              <a:lnSpc>
                <a:spcPct val="128000"/>
              </a:lnSpc>
              <a:buNone/>
            </a:pPr>
            <a:r>
              <a:rPr lang="en-US" b="1" dirty="0">
                <a:solidFill>
                  <a:srgbClr val="1B2333"/>
                </a:solidFill>
                <a:latin typeface="Times New Roman" panose="02020603050405020304" pitchFamily="18" charset="0"/>
                <a:ea typeface="Calibri" pitchFamily="34" charset="-122"/>
                <a:cs typeface="Times New Roman" panose="02020603050405020304" pitchFamily="18" charset="0"/>
              </a:rPr>
              <a:t>Breadth-First Search expands the shallowest unexpanded node first. Depth is simply the number of actions from the initial state to a node. Because BFS always exhausts every node at the current depth before moving deeper, it explores the state space level by level, like ripples spreading outward from a stone dropped in water.</a:t>
            </a:r>
            <a:endParaRPr lang="en-US" b="1" dirty="0">
              <a:latin typeface="Times New Roman" panose="02020603050405020304" pitchFamily="18" charset="0"/>
              <a:cs typeface="Times New Roman" panose="02020603050405020304" pitchFamily="18" charset="0"/>
            </a:endParaRPr>
          </a:p>
        </p:txBody>
      </p:sp>
      <p:sp>
        <p:nvSpPr>
          <p:cNvPr id="7" name="Shape 5"/>
          <p:cNvSpPr/>
          <p:nvPr/>
        </p:nvSpPr>
        <p:spPr>
          <a:xfrm flipH="1">
            <a:off x="3522181" y="2726919"/>
            <a:ext cx="1444928" cy="830834"/>
          </a:xfrm>
          <a:prstGeom prst="line">
            <a:avLst/>
          </a:prstGeom>
          <a:noFill/>
          <a:ln w="19050">
            <a:solidFill>
              <a:srgbClr val="435273"/>
            </a:solidFill>
            <a:prstDash val="solid"/>
          </a:ln>
        </p:spPr>
      </p:sp>
      <p:sp>
        <p:nvSpPr>
          <p:cNvPr id="8" name="Shape 6"/>
          <p:cNvSpPr/>
          <p:nvPr/>
        </p:nvSpPr>
        <p:spPr>
          <a:xfrm>
            <a:off x="5177333" y="2848539"/>
            <a:ext cx="9144" cy="587593"/>
          </a:xfrm>
          <a:prstGeom prst="line">
            <a:avLst/>
          </a:prstGeom>
          <a:noFill/>
          <a:ln w="19050">
            <a:solidFill>
              <a:srgbClr val="435273"/>
            </a:solidFill>
            <a:prstDash val="solid"/>
          </a:ln>
        </p:spPr>
      </p:sp>
      <p:sp>
        <p:nvSpPr>
          <p:cNvPr id="9" name="Shape 7"/>
          <p:cNvSpPr/>
          <p:nvPr/>
        </p:nvSpPr>
        <p:spPr>
          <a:xfrm>
            <a:off x="5387557" y="2726919"/>
            <a:ext cx="1444928" cy="830834"/>
          </a:xfrm>
          <a:prstGeom prst="line">
            <a:avLst/>
          </a:prstGeom>
          <a:noFill/>
          <a:ln w="19050">
            <a:solidFill>
              <a:srgbClr val="435273"/>
            </a:solidFill>
            <a:prstDash val="solid"/>
          </a:ln>
        </p:spPr>
      </p:sp>
      <p:sp>
        <p:nvSpPr>
          <p:cNvPr id="10" name="Shape 8"/>
          <p:cNvSpPr/>
          <p:nvPr/>
        </p:nvSpPr>
        <p:spPr>
          <a:xfrm flipH="1">
            <a:off x="2825033" y="3889742"/>
            <a:ext cx="367601" cy="650370"/>
          </a:xfrm>
          <a:prstGeom prst="line">
            <a:avLst/>
          </a:prstGeom>
          <a:noFill/>
          <a:ln w="19050">
            <a:solidFill>
              <a:srgbClr val="435273"/>
            </a:solidFill>
            <a:prstDash val="solid"/>
          </a:ln>
        </p:spPr>
      </p:sp>
      <p:sp>
        <p:nvSpPr>
          <p:cNvPr id="11" name="Shape 9"/>
          <p:cNvSpPr/>
          <p:nvPr/>
        </p:nvSpPr>
        <p:spPr>
          <a:xfrm>
            <a:off x="3431280" y="3889742"/>
            <a:ext cx="367601" cy="650370"/>
          </a:xfrm>
          <a:prstGeom prst="line">
            <a:avLst/>
          </a:prstGeom>
          <a:noFill/>
          <a:ln w="19050">
            <a:solidFill>
              <a:srgbClr val="435273"/>
            </a:solidFill>
            <a:prstDash val="solid"/>
          </a:ln>
        </p:spPr>
      </p:sp>
      <p:sp>
        <p:nvSpPr>
          <p:cNvPr id="12" name="Shape 10"/>
          <p:cNvSpPr/>
          <p:nvPr/>
        </p:nvSpPr>
        <p:spPr>
          <a:xfrm>
            <a:off x="7042709" y="3921130"/>
            <a:ext cx="9144" cy="587593"/>
          </a:xfrm>
          <a:prstGeom prst="line">
            <a:avLst/>
          </a:prstGeom>
          <a:noFill/>
          <a:ln w="19050">
            <a:solidFill>
              <a:srgbClr val="435273"/>
            </a:solidFill>
            <a:prstDash val="solid"/>
          </a:ln>
        </p:spPr>
      </p:sp>
      <p:sp>
        <p:nvSpPr>
          <p:cNvPr id="13" name="Shape 11"/>
          <p:cNvSpPr/>
          <p:nvPr/>
        </p:nvSpPr>
        <p:spPr>
          <a:xfrm flipH="1">
            <a:off x="3470763" y="4966218"/>
            <a:ext cx="335269" cy="642600"/>
          </a:xfrm>
          <a:prstGeom prst="line">
            <a:avLst/>
          </a:prstGeom>
          <a:noFill/>
          <a:ln w="19050">
            <a:solidFill>
              <a:srgbClr val="435273"/>
            </a:solidFill>
            <a:prstDash val="solid"/>
          </a:ln>
        </p:spPr>
      </p:sp>
      <p:sp>
        <p:nvSpPr>
          <p:cNvPr id="14" name="Shape 12"/>
          <p:cNvSpPr/>
          <p:nvPr/>
        </p:nvSpPr>
        <p:spPr>
          <a:xfrm>
            <a:off x="4030376" y="4966218"/>
            <a:ext cx="335269" cy="642600"/>
          </a:xfrm>
          <a:prstGeom prst="line">
            <a:avLst/>
          </a:prstGeom>
          <a:noFill/>
          <a:ln w="19050">
            <a:solidFill>
              <a:srgbClr val="435273"/>
            </a:solidFill>
            <a:prstDash val="solid"/>
          </a:ln>
        </p:spPr>
      </p:sp>
      <p:sp>
        <p:nvSpPr>
          <p:cNvPr id="15" name="Shape 13"/>
          <p:cNvSpPr/>
          <p:nvPr/>
        </p:nvSpPr>
        <p:spPr>
          <a:xfrm>
            <a:off x="4934834" y="2363541"/>
            <a:ext cx="484998" cy="484998"/>
          </a:xfrm>
          <a:prstGeom prst="ellipse">
            <a:avLst/>
          </a:prstGeom>
          <a:solidFill>
            <a:srgbClr val="FFFFFF"/>
          </a:solidFill>
          <a:ln w="19050">
            <a:solidFill>
              <a:srgbClr val="435273"/>
            </a:solidFill>
            <a:prstDash val="solid"/>
          </a:ln>
        </p:spPr>
      </p:sp>
      <p:sp>
        <p:nvSpPr>
          <p:cNvPr id="16" name="Text 14"/>
          <p:cNvSpPr txBox="1"/>
          <p:nvPr/>
        </p:nvSpPr>
        <p:spPr>
          <a:xfrm>
            <a:off x="4934834" y="2363541"/>
            <a:ext cx="484998" cy="484998"/>
          </a:xfrm>
          <a:prstGeom prst="rect">
            <a:avLst/>
          </a:prstGeom>
          <a:noFill/>
          <a:ln/>
        </p:spPr>
        <p:txBody>
          <a:bodyPr wrap="square" rtlCol="0" anchor="ctr"/>
          <a:lstStyle/>
          <a:p>
            <a:pPr marL="0" indent="0" algn="ctr">
              <a:buNone/>
            </a:pPr>
            <a:r>
              <a:rPr lang="en-US" sz="1275" b="1" dirty="0">
                <a:solidFill>
                  <a:srgbClr val="14213D"/>
                </a:solidFill>
                <a:latin typeface="Calibri" pitchFamily="34" charset="0"/>
                <a:ea typeface="Calibri" pitchFamily="34" charset="-122"/>
                <a:cs typeface="Calibri" pitchFamily="34" charset="-120"/>
              </a:rPr>
              <a:t>A</a:t>
            </a:r>
            <a:endParaRPr lang="en-US" sz="1275" dirty="0"/>
          </a:p>
        </p:txBody>
      </p:sp>
      <p:sp>
        <p:nvSpPr>
          <p:cNvPr id="17" name="Shape 15"/>
          <p:cNvSpPr/>
          <p:nvPr/>
        </p:nvSpPr>
        <p:spPr>
          <a:xfrm>
            <a:off x="3069458" y="3436132"/>
            <a:ext cx="484998" cy="484998"/>
          </a:xfrm>
          <a:prstGeom prst="ellipse">
            <a:avLst/>
          </a:prstGeom>
          <a:solidFill>
            <a:srgbClr val="FFFFFF"/>
          </a:solidFill>
          <a:ln w="19050">
            <a:solidFill>
              <a:srgbClr val="435273"/>
            </a:solidFill>
            <a:prstDash val="solid"/>
          </a:ln>
        </p:spPr>
      </p:sp>
      <p:sp>
        <p:nvSpPr>
          <p:cNvPr id="18" name="Text 16"/>
          <p:cNvSpPr txBox="1"/>
          <p:nvPr/>
        </p:nvSpPr>
        <p:spPr>
          <a:xfrm>
            <a:off x="3069458" y="3436132"/>
            <a:ext cx="484998" cy="484998"/>
          </a:xfrm>
          <a:prstGeom prst="rect">
            <a:avLst/>
          </a:prstGeom>
          <a:noFill/>
          <a:ln/>
        </p:spPr>
        <p:txBody>
          <a:bodyPr wrap="square" rtlCol="0" anchor="ctr"/>
          <a:lstStyle/>
          <a:p>
            <a:pPr marL="0" indent="0" algn="ctr">
              <a:buNone/>
            </a:pPr>
            <a:r>
              <a:rPr lang="en-US" sz="1275" b="1" dirty="0">
                <a:solidFill>
                  <a:srgbClr val="14213D"/>
                </a:solidFill>
                <a:latin typeface="Calibri" pitchFamily="34" charset="0"/>
                <a:ea typeface="Calibri" pitchFamily="34" charset="-122"/>
                <a:cs typeface="Calibri" pitchFamily="34" charset="-120"/>
              </a:rPr>
              <a:t>B</a:t>
            </a:r>
            <a:endParaRPr lang="en-US" sz="1275" dirty="0"/>
          </a:p>
        </p:txBody>
      </p:sp>
      <p:sp>
        <p:nvSpPr>
          <p:cNvPr id="19" name="Shape 17"/>
          <p:cNvSpPr/>
          <p:nvPr/>
        </p:nvSpPr>
        <p:spPr>
          <a:xfrm>
            <a:off x="4934834" y="3436132"/>
            <a:ext cx="484998" cy="484998"/>
          </a:xfrm>
          <a:prstGeom prst="ellipse">
            <a:avLst/>
          </a:prstGeom>
          <a:solidFill>
            <a:srgbClr val="FFFFFF"/>
          </a:solidFill>
          <a:ln w="19050">
            <a:solidFill>
              <a:srgbClr val="435273"/>
            </a:solidFill>
            <a:prstDash val="solid"/>
          </a:ln>
        </p:spPr>
      </p:sp>
      <p:sp>
        <p:nvSpPr>
          <p:cNvPr id="20" name="Text 18"/>
          <p:cNvSpPr txBox="1"/>
          <p:nvPr/>
        </p:nvSpPr>
        <p:spPr>
          <a:xfrm>
            <a:off x="4934834" y="3436132"/>
            <a:ext cx="484998" cy="484998"/>
          </a:xfrm>
          <a:prstGeom prst="rect">
            <a:avLst/>
          </a:prstGeom>
          <a:noFill/>
          <a:ln/>
        </p:spPr>
        <p:txBody>
          <a:bodyPr wrap="square" rtlCol="0" anchor="ctr"/>
          <a:lstStyle/>
          <a:p>
            <a:pPr marL="0" indent="0" algn="ctr">
              <a:buNone/>
            </a:pPr>
            <a:r>
              <a:rPr lang="en-US" sz="1275" b="1" dirty="0">
                <a:solidFill>
                  <a:srgbClr val="14213D"/>
                </a:solidFill>
                <a:latin typeface="Calibri" pitchFamily="34" charset="0"/>
                <a:ea typeface="Calibri" pitchFamily="34" charset="-122"/>
                <a:cs typeface="Calibri" pitchFamily="34" charset="-120"/>
              </a:rPr>
              <a:t>C</a:t>
            </a:r>
            <a:endParaRPr lang="en-US" sz="1275" dirty="0"/>
          </a:p>
        </p:txBody>
      </p:sp>
      <p:sp>
        <p:nvSpPr>
          <p:cNvPr id="21" name="Shape 19"/>
          <p:cNvSpPr/>
          <p:nvPr/>
        </p:nvSpPr>
        <p:spPr>
          <a:xfrm>
            <a:off x="6800210" y="3436132"/>
            <a:ext cx="484998" cy="484998"/>
          </a:xfrm>
          <a:prstGeom prst="ellipse">
            <a:avLst/>
          </a:prstGeom>
          <a:solidFill>
            <a:srgbClr val="FFFFFF"/>
          </a:solidFill>
          <a:ln w="19050">
            <a:solidFill>
              <a:srgbClr val="435273"/>
            </a:solidFill>
            <a:prstDash val="solid"/>
          </a:ln>
        </p:spPr>
      </p:sp>
      <p:sp>
        <p:nvSpPr>
          <p:cNvPr id="22" name="Text 20"/>
          <p:cNvSpPr txBox="1"/>
          <p:nvPr/>
        </p:nvSpPr>
        <p:spPr>
          <a:xfrm>
            <a:off x="6800210" y="3436132"/>
            <a:ext cx="484998" cy="484998"/>
          </a:xfrm>
          <a:prstGeom prst="rect">
            <a:avLst/>
          </a:prstGeom>
          <a:noFill/>
          <a:ln/>
        </p:spPr>
        <p:txBody>
          <a:bodyPr wrap="square" rtlCol="0" anchor="ctr"/>
          <a:lstStyle/>
          <a:p>
            <a:pPr marL="0" indent="0" algn="ctr">
              <a:buNone/>
            </a:pPr>
            <a:r>
              <a:rPr lang="en-US" sz="1275" b="1" dirty="0">
                <a:solidFill>
                  <a:srgbClr val="14213D"/>
                </a:solidFill>
                <a:latin typeface="Calibri" pitchFamily="34" charset="0"/>
                <a:ea typeface="Calibri" pitchFamily="34" charset="-122"/>
                <a:cs typeface="Calibri" pitchFamily="34" charset="-120"/>
              </a:rPr>
              <a:t>D</a:t>
            </a:r>
            <a:endParaRPr lang="en-US" sz="1275" dirty="0"/>
          </a:p>
        </p:txBody>
      </p:sp>
      <p:sp>
        <p:nvSpPr>
          <p:cNvPr id="23" name="Shape 21"/>
          <p:cNvSpPr/>
          <p:nvPr/>
        </p:nvSpPr>
        <p:spPr>
          <a:xfrm>
            <a:off x="2463211" y="4508724"/>
            <a:ext cx="484998" cy="484998"/>
          </a:xfrm>
          <a:prstGeom prst="ellipse">
            <a:avLst/>
          </a:prstGeom>
          <a:solidFill>
            <a:srgbClr val="FFFFFF"/>
          </a:solidFill>
          <a:ln w="19050">
            <a:solidFill>
              <a:srgbClr val="435273"/>
            </a:solidFill>
            <a:prstDash val="solid"/>
          </a:ln>
        </p:spPr>
      </p:sp>
      <p:sp>
        <p:nvSpPr>
          <p:cNvPr id="24" name="Text 22"/>
          <p:cNvSpPr txBox="1"/>
          <p:nvPr/>
        </p:nvSpPr>
        <p:spPr>
          <a:xfrm>
            <a:off x="2463211" y="4508724"/>
            <a:ext cx="484998" cy="484998"/>
          </a:xfrm>
          <a:prstGeom prst="rect">
            <a:avLst/>
          </a:prstGeom>
          <a:noFill/>
          <a:ln/>
        </p:spPr>
        <p:txBody>
          <a:bodyPr wrap="square" rtlCol="0" anchor="ctr"/>
          <a:lstStyle/>
          <a:p>
            <a:pPr marL="0" indent="0" algn="ctr">
              <a:buNone/>
            </a:pPr>
            <a:r>
              <a:rPr lang="en-US" sz="1275" b="1" dirty="0">
                <a:solidFill>
                  <a:srgbClr val="14213D"/>
                </a:solidFill>
                <a:latin typeface="Calibri" pitchFamily="34" charset="0"/>
                <a:ea typeface="Calibri" pitchFamily="34" charset="-122"/>
                <a:cs typeface="Calibri" pitchFamily="34" charset="-120"/>
              </a:rPr>
              <a:t>E</a:t>
            </a:r>
            <a:endParaRPr lang="en-US" sz="1275" dirty="0"/>
          </a:p>
        </p:txBody>
      </p:sp>
      <p:sp>
        <p:nvSpPr>
          <p:cNvPr id="25" name="Shape 23"/>
          <p:cNvSpPr/>
          <p:nvPr/>
        </p:nvSpPr>
        <p:spPr>
          <a:xfrm>
            <a:off x="3675705" y="4508724"/>
            <a:ext cx="484998" cy="484998"/>
          </a:xfrm>
          <a:prstGeom prst="ellipse">
            <a:avLst/>
          </a:prstGeom>
          <a:solidFill>
            <a:srgbClr val="FFFFFF"/>
          </a:solidFill>
          <a:ln w="19050">
            <a:solidFill>
              <a:srgbClr val="435273"/>
            </a:solidFill>
            <a:prstDash val="solid"/>
          </a:ln>
        </p:spPr>
      </p:sp>
      <p:sp>
        <p:nvSpPr>
          <p:cNvPr id="26" name="Text 24"/>
          <p:cNvSpPr txBox="1"/>
          <p:nvPr/>
        </p:nvSpPr>
        <p:spPr>
          <a:xfrm>
            <a:off x="3675705" y="4508724"/>
            <a:ext cx="484998" cy="484998"/>
          </a:xfrm>
          <a:prstGeom prst="rect">
            <a:avLst/>
          </a:prstGeom>
          <a:noFill/>
          <a:ln/>
        </p:spPr>
        <p:txBody>
          <a:bodyPr wrap="square" rtlCol="0" anchor="ctr"/>
          <a:lstStyle/>
          <a:p>
            <a:pPr marL="0" indent="0" algn="ctr">
              <a:buNone/>
            </a:pPr>
            <a:r>
              <a:rPr lang="en-US" sz="1275" b="1" dirty="0">
                <a:solidFill>
                  <a:srgbClr val="14213D"/>
                </a:solidFill>
                <a:latin typeface="Calibri" pitchFamily="34" charset="0"/>
                <a:ea typeface="Calibri" pitchFamily="34" charset="-122"/>
                <a:cs typeface="Calibri" pitchFamily="34" charset="-120"/>
              </a:rPr>
              <a:t>F</a:t>
            </a:r>
            <a:endParaRPr lang="en-US" sz="1275" dirty="0"/>
          </a:p>
        </p:txBody>
      </p:sp>
      <p:sp>
        <p:nvSpPr>
          <p:cNvPr id="27" name="Shape 25"/>
          <p:cNvSpPr/>
          <p:nvPr/>
        </p:nvSpPr>
        <p:spPr>
          <a:xfrm>
            <a:off x="6800210" y="4508724"/>
            <a:ext cx="484998" cy="484998"/>
          </a:xfrm>
          <a:prstGeom prst="ellipse">
            <a:avLst/>
          </a:prstGeom>
          <a:solidFill>
            <a:srgbClr val="FFFFFF"/>
          </a:solidFill>
          <a:ln w="19050">
            <a:solidFill>
              <a:srgbClr val="435273"/>
            </a:solidFill>
            <a:prstDash val="solid"/>
          </a:ln>
        </p:spPr>
      </p:sp>
      <p:sp>
        <p:nvSpPr>
          <p:cNvPr id="28" name="Text 26"/>
          <p:cNvSpPr txBox="1"/>
          <p:nvPr/>
        </p:nvSpPr>
        <p:spPr>
          <a:xfrm>
            <a:off x="6800210" y="4508724"/>
            <a:ext cx="484998" cy="484998"/>
          </a:xfrm>
          <a:prstGeom prst="rect">
            <a:avLst/>
          </a:prstGeom>
          <a:noFill/>
          <a:ln/>
        </p:spPr>
        <p:txBody>
          <a:bodyPr wrap="square" rtlCol="0" anchor="ctr"/>
          <a:lstStyle/>
          <a:p>
            <a:pPr marL="0" indent="0" algn="ctr">
              <a:buNone/>
            </a:pPr>
            <a:r>
              <a:rPr lang="en-US" sz="1275" b="1" dirty="0">
                <a:solidFill>
                  <a:srgbClr val="14213D"/>
                </a:solidFill>
                <a:latin typeface="Calibri" pitchFamily="34" charset="0"/>
                <a:ea typeface="Calibri" pitchFamily="34" charset="-122"/>
                <a:cs typeface="Calibri" pitchFamily="34" charset="-120"/>
              </a:rPr>
              <a:t>G</a:t>
            </a:r>
            <a:endParaRPr lang="en-US" sz="1275" dirty="0"/>
          </a:p>
        </p:txBody>
      </p:sp>
      <p:sp>
        <p:nvSpPr>
          <p:cNvPr id="29" name="Shape 27"/>
          <p:cNvSpPr/>
          <p:nvPr/>
        </p:nvSpPr>
        <p:spPr>
          <a:xfrm>
            <a:off x="3116092" y="5581315"/>
            <a:ext cx="484998" cy="484998"/>
          </a:xfrm>
          <a:prstGeom prst="ellipse">
            <a:avLst/>
          </a:prstGeom>
          <a:solidFill>
            <a:srgbClr val="FFFFFF"/>
          </a:solidFill>
          <a:ln w="19050">
            <a:solidFill>
              <a:srgbClr val="435273"/>
            </a:solidFill>
            <a:prstDash val="solid"/>
          </a:ln>
        </p:spPr>
      </p:sp>
      <p:sp>
        <p:nvSpPr>
          <p:cNvPr id="30" name="Text 28"/>
          <p:cNvSpPr txBox="1"/>
          <p:nvPr/>
        </p:nvSpPr>
        <p:spPr>
          <a:xfrm>
            <a:off x="3116092" y="5581315"/>
            <a:ext cx="484998" cy="484998"/>
          </a:xfrm>
          <a:prstGeom prst="rect">
            <a:avLst/>
          </a:prstGeom>
          <a:noFill/>
          <a:ln/>
        </p:spPr>
        <p:txBody>
          <a:bodyPr wrap="square" rtlCol="0" anchor="ctr"/>
          <a:lstStyle/>
          <a:p>
            <a:pPr marL="0" indent="0" algn="ctr">
              <a:buNone/>
            </a:pPr>
            <a:r>
              <a:rPr lang="en-US" sz="1275" b="1" dirty="0">
                <a:solidFill>
                  <a:srgbClr val="14213D"/>
                </a:solidFill>
                <a:latin typeface="Calibri" pitchFamily="34" charset="0"/>
                <a:ea typeface="Calibri" pitchFamily="34" charset="-122"/>
                <a:cs typeface="Calibri" pitchFamily="34" charset="-120"/>
              </a:rPr>
              <a:t>H</a:t>
            </a:r>
            <a:endParaRPr lang="en-US" sz="1275" dirty="0"/>
          </a:p>
        </p:txBody>
      </p:sp>
      <p:sp>
        <p:nvSpPr>
          <p:cNvPr id="31" name="Shape 29"/>
          <p:cNvSpPr/>
          <p:nvPr/>
        </p:nvSpPr>
        <p:spPr>
          <a:xfrm>
            <a:off x="4235318" y="5581315"/>
            <a:ext cx="484998" cy="484998"/>
          </a:xfrm>
          <a:prstGeom prst="ellipse">
            <a:avLst/>
          </a:prstGeom>
          <a:solidFill>
            <a:srgbClr val="FFFFFF"/>
          </a:solidFill>
          <a:ln w="19050">
            <a:solidFill>
              <a:srgbClr val="435273"/>
            </a:solidFill>
            <a:prstDash val="solid"/>
          </a:ln>
        </p:spPr>
      </p:sp>
      <p:sp>
        <p:nvSpPr>
          <p:cNvPr id="32" name="Text 30"/>
          <p:cNvSpPr txBox="1"/>
          <p:nvPr/>
        </p:nvSpPr>
        <p:spPr>
          <a:xfrm>
            <a:off x="4235318" y="5581315"/>
            <a:ext cx="484998" cy="484998"/>
          </a:xfrm>
          <a:prstGeom prst="rect">
            <a:avLst/>
          </a:prstGeom>
          <a:noFill/>
          <a:ln/>
        </p:spPr>
        <p:txBody>
          <a:bodyPr wrap="square" rtlCol="0" anchor="ctr"/>
          <a:lstStyle/>
          <a:p>
            <a:pPr marL="0" indent="0" algn="ctr">
              <a:buNone/>
            </a:pPr>
            <a:r>
              <a:rPr lang="en-US" sz="1275" b="1" dirty="0">
                <a:solidFill>
                  <a:srgbClr val="14213D"/>
                </a:solidFill>
                <a:latin typeface="Calibri" pitchFamily="34" charset="0"/>
                <a:ea typeface="Calibri" pitchFamily="34" charset="-122"/>
                <a:cs typeface="Calibri" pitchFamily="34" charset="-120"/>
              </a:rPr>
              <a:t>I</a:t>
            </a:r>
            <a:endParaRPr lang="en-US" sz="1275" dirty="0"/>
          </a:p>
        </p:txBody>
      </p:sp>
      <p:sp>
        <p:nvSpPr>
          <p:cNvPr id="33" name="Text 31"/>
          <p:cNvSpPr txBox="1"/>
          <p:nvPr/>
        </p:nvSpPr>
        <p:spPr>
          <a:xfrm>
            <a:off x="137160" y="2441448"/>
            <a:ext cx="1371600" cy="365760"/>
          </a:xfrm>
          <a:prstGeom prst="rect">
            <a:avLst/>
          </a:prstGeom>
          <a:noFill/>
          <a:ln/>
        </p:spPr>
        <p:txBody>
          <a:bodyPr wrap="square" rtlCol="0" anchor="ctr"/>
          <a:lstStyle/>
          <a:p>
            <a:pPr marL="0" indent="0">
              <a:buNone/>
            </a:pPr>
            <a:r>
              <a:rPr lang="en-US" sz="1200" b="1" dirty="0">
                <a:solidFill>
                  <a:srgbClr val="435273"/>
                </a:solidFill>
                <a:latin typeface="Calibri" pitchFamily="34" charset="0"/>
                <a:ea typeface="Calibri" pitchFamily="34" charset="-122"/>
                <a:cs typeface="Calibri" pitchFamily="34" charset="-120"/>
              </a:rPr>
              <a:t>Depth 0</a:t>
            </a:r>
            <a:endParaRPr lang="en-US" sz="1200" dirty="0"/>
          </a:p>
        </p:txBody>
      </p:sp>
      <p:sp>
        <p:nvSpPr>
          <p:cNvPr id="34" name="Shape 32"/>
          <p:cNvSpPr/>
          <p:nvPr/>
        </p:nvSpPr>
        <p:spPr>
          <a:xfrm>
            <a:off x="1508760" y="2606040"/>
            <a:ext cx="320040" cy="914"/>
          </a:xfrm>
          <a:prstGeom prst="line">
            <a:avLst/>
          </a:prstGeom>
          <a:noFill/>
          <a:ln w="12700">
            <a:solidFill>
              <a:srgbClr val="D7DEEA"/>
            </a:solidFill>
            <a:prstDash val="dash"/>
          </a:ln>
        </p:spPr>
      </p:sp>
      <p:sp>
        <p:nvSpPr>
          <p:cNvPr id="35" name="Text 33"/>
          <p:cNvSpPr txBox="1"/>
          <p:nvPr/>
        </p:nvSpPr>
        <p:spPr>
          <a:xfrm>
            <a:off x="137160" y="3514039"/>
            <a:ext cx="1371600" cy="365760"/>
          </a:xfrm>
          <a:prstGeom prst="rect">
            <a:avLst/>
          </a:prstGeom>
          <a:noFill/>
          <a:ln/>
        </p:spPr>
        <p:txBody>
          <a:bodyPr wrap="square" rtlCol="0" anchor="ctr"/>
          <a:lstStyle/>
          <a:p>
            <a:pPr marL="0" indent="0">
              <a:buNone/>
            </a:pPr>
            <a:r>
              <a:rPr lang="en-US" sz="1200" b="1" dirty="0">
                <a:solidFill>
                  <a:srgbClr val="435273"/>
                </a:solidFill>
                <a:latin typeface="Calibri" pitchFamily="34" charset="0"/>
                <a:ea typeface="Calibri" pitchFamily="34" charset="-122"/>
                <a:cs typeface="Calibri" pitchFamily="34" charset="-120"/>
              </a:rPr>
              <a:t>Depth 1</a:t>
            </a:r>
            <a:endParaRPr lang="en-US" sz="1200" dirty="0"/>
          </a:p>
        </p:txBody>
      </p:sp>
      <p:sp>
        <p:nvSpPr>
          <p:cNvPr id="36" name="Shape 34"/>
          <p:cNvSpPr/>
          <p:nvPr/>
        </p:nvSpPr>
        <p:spPr>
          <a:xfrm>
            <a:off x="1508760" y="3678631"/>
            <a:ext cx="320040" cy="914"/>
          </a:xfrm>
          <a:prstGeom prst="line">
            <a:avLst/>
          </a:prstGeom>
          <a:noFill/>
          <a:ln w="12700">
            <a:solidFill>
              <a:srgbClr val="D7DEEA"/>
            </a:solidFill>
            <a:prstDash val="dash"/>
          </a:ln>
        </p:spPr>
      </p:sp>
      <p:sp>
        <p:nvSpPr>
          <p:cNvPr id="37" name="Text 35"/>
          <p:cNvSpPr txBox="1"/>
          <p:nvPr/>
        </p:nvSpPr>
        <p:spPr>
          <a:xfrm>
            <a:off x="137160" y="4586630"/>
            <a:ext cx="1371600" cy="365760"/>
          </a:xfrm>
          <a:prstGeom prst="rect">
            <a:avLst/>
          </a:prstGeom>
          <a:noFill/>
          <a:ln/>
        </p:spPr>
        <p:txBody>
          <a:bodyPr wrap="square" rtlCol="0" anchor="ctr"/>
          <a:lstStyle/>
          <a:p>
            <a:pPr marL="0" indent="0">
              <a:buNone/>
            </a:pPr>
            <a:r>
              <a:rPr lang="en-US" sz="1200" b="1" dirty="0">
                <a:solidFill>
                  <a:srgbClr val="435273"/>
                </a:solidFill>
                <a:latin typeface="Calibri" pitchFamily="34" charset="0"/>
                <a:ea typeface="Calibri" pitchFamily="34" charset="-122"/>
                <a:cs typeface="Calibri" pitchFamily="34" charset="-120"/>
              </a:rPr>
              <a:t>Depth 2</a:t>
            </a:r>
            <a:endParaRPr lang="en-US" sz="1200" dirty="0"/>
          </a:p>
        </p:txBody>
      </p:sp>
      <p:sp>
        <p:nvSpPr>
          <p:cNvPr id="38" name="Shape 36"/>
          <p:cNvSpPr/>
          <p:nvPr/>
        </p:nvSpPr>
        <p:spPr>
          <a:xfrm>
            <a:off x="1508760" y="4751222"/>
            <a:ext cx="320040" cy="914"/>
          </a:xfrm>
          <a:prstGeom prst="line">
            <a:avLst/>
          </a:prstGeom>
          <a:noFill/>
          <a:ln w="12700">
            <a:solidFill>
              <a:srgbClr val="D7DEEA"/>
            </a:solidFill>
            <a:prstDash val="dash"/>
          </a:ln>
        </p:spPr>
      </p:sp>
      <p:sp>
        <p:nvSpPr>
          <p:cNvPr id="39" name="Text 37"/>
          <p:cNvSpPr txBox="1"/>
          <p:nvPr/>
        </p:nvSpPr>
        <p:spPr>
          <a:xfrm>
            <a:off x="137160" y="5659222"/>
            <a:ext cx="1371600" cy="365760"/>
          </a:xfrm>
          <a:prstGeom prst="rect">
            <a:avLst/>
          </a:prstGeom>
          <a:noFill/>
          <a:ln/>
        </p:spPr>
        <p:txBody>
          <a:bodyPr wrap="square" rtlCol="0" anchor="ctr"/>
          <a:lstStyle/>
          <a:p>
            <a:pPr marL="0" indent="0">
              <a:buNone/>
            </a:pPr>
            <a:r>
              <a:rPr lang="en-US" sz="1200" b="1" dirty="0">
                <a:solidFill>
                  <a:srgbClr val="435273"/>
                </a:solidFill>
                <a:latin typeface="Calibri" pitchFamily="34" charset="0"/>
                <a:ea typeface="Calibri" pitchFamily="34" charset="-122"/>
                <a:cs typeface="Calibri" pitchFamily="34" charset="-120"/>
              </a:rPr>
              <a:t>Depth 3</a:t>
            </a:r>
            <a:endParaRPr lang="en-US" sz="1200" dirty="0"/>
          </a:p>
        </p:txBody>
      </p:sp>
      <p:sp>
        <p:nvSpPr>
          <p:cNvPr id="40" name="Shape 38"/>
          <p:cNvSpPr/>
          <p:nvPr/>
        </p:nvSpPr>
        <p:spPr>
          <a:xfrm>
            <a:off x="1508760" y="5823814"/>
            <a:ext cx="320040" cy="914"/>
          </a:xfrm>
          <a:prstGeom prst="line">
            <a:avLst/>
          </a:prstGeom>
          <a:noFill/>
          <a:ln w="12700">
            <a:solidFill>
              <a:srgbClr val="D7DEEA"/>
            </a:solidFill>
            <a:prstDash val="dash"/>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92608"/>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UNINFORMED SEARCH · BFS</a:t>
            </a:r>
            <a:endParaRPr lang="en-US" sz="1200" dirty="0"/>
          </a:p>
        </p:txBody>
      </p:sp>
      <p:sp>
        <p:nvSpPr>
          <p:cNvPr id="3" name="Text 1"/>
          <p:cNvSpPr txBox="1"/>
          <p:nvPr/>
        </p:nvSpPr>
        <p:spPr>
          <a:xfrm>
            <a:off x="502920" y="621792"/>
            <a:ext cx="11155680" cy="658368"/>
          </a:xfrm>
          <a:prstGeom prst="rect">
            <a:avLst/>
          </a:prstGeom>
          <a:noFill/>
          <a:ln/>
        </p:spPr>
        <p:txBody>
          <a:bodyPr wrap="square" rtlCol="0" anchor="ctr"/>
          <a:lstStyle/>
          <a:p>
            <a:pPr marL="0" indent="0">
              <a:buNone/>
            </a:pPr>
            <a:r>
              <a:rPr lang="en-US" sz="2900" b="1" dirty="0">
                <a:solidFill>
                  <a:srgbClr val="14213D"/>
                </a:solidFill>
                <a:latin typeface="Cambria" pitchFamily="34" charset="0"/>
                <a:ea typeface="Cambria" pitchFamily="34" charset="-122"/>
                <a:cs typeface="Cambria" pitchFamily="34" charset="-120"/>
              </a:rPr>
              <a:t>BFS and the FIFO Queue</a:t>
            </a:r>
            <a:endParaRPr lang="en-US" sz="2900" dirty="0"/>
          </a:p>
        </p:txBody>
      </p:sp>
      <p:sp>
        <p:nvSpPr>
          <p:cNvPr id="4" name="Text 2"/>
          <p:cNvSpPr txBox="1"/>
          <p:nvPr/>
        </p:nvSpPr>
        <p:spPr>
          <a:xfrm>
            <a:off x="502920" y="6473952"/>
            <a:ext cx="7315200" cy="274320"/>
          </a:xfrm>
          <a:prstGeom prst="rect">
            <a:avLst/>
          </a:prstGeom>
          <a:noFill/>
          <a:ln/>
        </p:spPr>
        <p:txBody>
          <a:bodyPr wrap="square" rtlCol="0" anchor="ctr"/>
          <a:lstStyle/>
          <a:p>
            <a:pPr marL="0" indent="0">
              <a:buNone/>
            </a:pPr>
            <a:r>
              <a:rPr lang="en-US" sz="950" b="1" dirty="0">
                <a:solidFill>
                  <a:srgbClr val="6B7280"/>
                </a:solidFill>
                <a:latin typeface="Calibri" pitchFamily="34" charset="0"/>
                <a:ea typeface="Calibri" pitchFamily="34" charset="-122"/>
                <a:cs typeface="Calibri" pitchFamily="34" charset="-120"/>
              </a:rPr>
              <a:t>Artificial Intelligence</a:t>
            </a:r>
            <a:r>
              <a:rPr lang="en-US" sz="950" dirty="0">
                <a:solidFill>
                  <a:srgbClr val="6B7280"/>
                </a:solidFill>
                <a:latin typeface="Calibri" pitchFamily="34" charset="0"/>
                <a:ea typeface="Calibri" pitchFamily="34" charset="-122"/>
                <a:cs typeface="Calibri" pitchFamily="34" charset="-120"/>
              </a:rPr>
              <a:t>   ·   BS Computer Science   ·   Lecture 3</a:t>
            </a:r>
            <a:endParaRPr lang="en-US" sz="950" dirty="0"/>
          </a:p>
        </p:txBody>
      </p:sp>
      <p:sp>
        <p:nvSpPr>
          <p:cNvPr id="5" name="Text 3"/>
          <p:cNvSpPr txBox="1"/>
          <p:nvPr/>
        </p:nvSpPr>
        <p:spPr>
          <a:xfrm>
            <a:off x="8762695" y="6473952"/>
            <a:ext cx="292608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Dr. Ghulam Ali   ·   20</a:t>
            </a:r>
            <a:endParaRPr lang="en-US" sz="950" dirty="0"/>
          </a:p>
        </p:txBody>
      </p:sp>
      <p:sp>
        <p:nvSpPr>
          <p:cNvPr id="6" name="Text 4"/>
          <p:cNvSpPr txBox="1"/>
          <p:nvPr/>
        </p:nvSpPr>
        <p:spPr>
          <a:xfrm>
            <a:off x="472745" y="1216152"/>
            <a:ext cx="11185855" cy="1005840"/>
          </a:xfrm>
          <a:prstGeom prst="rect">
            <a:avLst/>
          </a:prstGeom>
          <a:noFill/>
          <a:ln/>
        </p:spPr>
        <p:txBody>
          <a:bodyPr wrap="square" rtlCol="0" anchor="ctr"/>
          <a:lstStyle/>
          <a:p>
            <a:pPr marL="0" indent="0" algn="just">
              <a:lnSpc>
                <a:spcPct val="130000"/>
              </a:lnSpc>
              <a:buNone/>
            </a:pPr>
            <a:r>
              <a:rPr lang="en-US" dirty="0">
                <a:solidFill>
                  <a:srgbClr val="1B2333"/>
                </a:solidFill>
                <a:latin typeface="Times New Roman" panose="02020603050405020304" pitchFamily="18" charset="0"/>
                <a:ea typeface="Calibri" pitchFamily="34" charset="-122"/>
                <a:cs typeface="Times New Roman" panose="02020603050405020304" pitchFamily="18" charset="0"/>
              </a:rPr>
              <a:t>A FIFO (First-In, First-Out) queue always removes the node that has been waiting the longest — the earliest inserted node leaves first. Because BFS inserts each depth's nodes only after finishing the previous depth, FIFO order automatically enforces breadth-first, level-by-level expansion.</a:t>
            </a:r>
            <a:endParaRPr lang="en-US" dirty="0">
              <a:latin typeface="Times New Roman" panose="02020603050405020304" pitchFamily="18" charset="0"/>
              <a:cs typeface="Times New Roman" panose="02020603050405020304" pitchFamily="18" charset="0"/>
            </a:endParaRPr>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02920" y="2514600"/>
          <a:ext cx="11201400" cy="2514600"/>
        </p:xfrm>
        <a:graphic>
          <a:graphicData uri="http://schemas.openxmlformats.org/drawingml/2006/table">
            <a:tbl>
              <a:tblPr/>
              <a:tblGrid>
                <a:gridCol w="4023360">
                  <a:extLst>
                    <a:ext uri="{9D8B030D-6E8A-4147-A177-3AD203B41FA5}">
                      <a16:colId xmlns:a16="http://schemas.microsoft.com/office/drawing/2014/main" val="20000"/>
                    </a:ext>
                  </a:extLst>
                </a:gridCol>
                <a:gridCol w="7178040">
                  <a:extLst>
                    <a:ext uri="{9D8B030D-6E8A-4147-A177-3AD203B41FA5}">
                      <a16:colId xmlns:a16="http://schemas.microsoft.com/office/drawing/2014/main" val="20001"/>
                    </a:ext>
                  </a:extLst>
                </a:gridCol>
              </a:tblGrid>
              <a:tr h="502920">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Frontier state</a:t>
                      </a:r>
                      <a:endParaRPr lang="en-US" sz="13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4213D"/>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Contents (front → back)</a:t>
                      </a:r>
                      <a:endParaRPr lang="en-US" sz="13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502920">
                <a:tc>
                  <a:txBody>
                    <a:bodyPr/>
                    <a:lstStyle/>
                    <a:p>
                      <a:pPr marL="0" indent="0" algn="l">
                        <a:buNone/>
                      </a:pPr>
                      <a:r>
                        <a:rPr lang="en-US" sz="1300" dirty="0">
                          <a:solidFill>
                            <a:srgbClr val="1B2333"/>
                          </a:solidFill>
                          <a:latin typeface="Calibri" pitchFamily="34" charset="0"/>
                          <a:ea typeface="Calibri" pitchFamily="34" charset="-122"/>
                          <a:cs typeface="Calibri" pitchFamily="34" charset="-120"/>
                        </a:rPr>
                        <a:t>Initial</a:t>
                      </a:r>
                      <a:endParaRPr lang="en-US" sz="13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B2333"/>
                          </a:solidFill>
                          <a:latin typeface="Calibri" pitchFamily="34" charset="0"/>
                          <a:ea typeface="Calibri" pitchFamily="34" charset="-122"/>
                          <a:cs typeface="Calibri" pitchFamily="34" charset="-120"/>
                        </a:rPr>
                        <a:t>[ A ]</a:t>
                      </a:r>
                      <a:endParaRPr lang="en-US" sz="13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300" dirty="0">
                          <a:solidFill>
                            <a:srgbClr val="1B2333"/>
                          </a:solidFill>
                          <a:latin typeface="Calibri" pitchFamily="34" charset="0"/>
                          <a:ea typeface="Calibri" pitchFamily="34" charset="-122"/>
                          <a:cs typeface="Calibri" pitchFamily="34" charset="-120"/>
                        </a:rPr>
                        <a:t>After expanding A</a:t>
                      </a:r>
                      <a:endParaRPr lang="en-US" sz="13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300" dirty="0">
                          <a:solidFill>
                            <a:srgbClr val="1B2333"/>
                          </a:solidFill>
                          <a:latin typeface="Calibri" pitchFamily="34" charset="0"/>
                          <a:ea typeface="Calibri" pitchFamily="34" charset="-122"/>
                          <a:cs typeface="Calibri" pitchFamily="34" charset="-120"/>
                        </a:rPr>
                        <a:t>[ B, C, D ]</a:t>
                      </a:r>
                      <a:endParaRPr lang="en-US" sz="13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extLst>
                  <a:ext uri="{0D108BD9-81ED-4DB2-BD59-A6C34878D82A}">
                    <a16:rowId xmlns:a16="http://schemas.microsoft.com/office/drawing/2014/main" val="10002"/>
                  </a:ext>
                </a:extLst>
              </a:tr>
              <a:tr h="502920">
                <a:tc>
                  <a:txBody>
                    <a:bodyPr/>
                    <a:lstStyle/>
                    <a:p>
                      <a:pPr marL="0" indent="0" algn="l">
                        <a:buNone/>
                      </a:pPr>
                      <a:r>
                        <a:rPr lang="en-US" sz="1300" dirty="0">
                          <a:solidFill>
                            <a:srgbClr val="1B2333"/>
                          </a:solidFill>
                          <a:latin typeface="Calibri" pitchFamily="34" charset="0"/>
                          <a:ea typeface="Calibri" pitchFamily="34" charset="-122"/>
                          <a:cs typeface="Calibri" pitchFamily="34" charset="-120"/>
                        </a:rPr>
                        <a:t>After expanding B</a:t>
                      </a:r>
                      <a:endParaRPr lang="en-US" sz="13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B2333"/>
                          </a:solidFill>
                          <a:latin typeface="Calibri" pitchFamily="34" charset="0"/>
                          <a:ea typeface="Calibri" pitchFamily="34" charset="-122"/>
                          <a:cs typeface="Calibri" pitchFamily="34" charset="-120"/>
                        </a:rPr>
                        <a:t>[ C, D, E, F ]</a:t>
                      </a:r>
                      <a:endParaRPr lang="en-US" sz="13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300" dirty="0">
                          <a:solidFill>
                            <a:srgbClr val="1B2333"/>
                          </a:solidFill>
                          <a:latin typeface="Calibri" pitchFamily="34" charset="0"/>
                          <a:ea typeface="Calibri" pitchFamily="34" charset="-122"/>
                          <a:cs typeface="Calibri" pitchFamily="34" charset="-120"/>
                        </a:rPr>
                        <a:t>After expanding C</a:t>
                      </a:r>
                      <a:endParaRPr lang="en-US" sz="13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300" dirty="0">
                          <a:solidFill>
                            <a:srgbClr val="1B2333"/>
                          </a:solidFill>
                          <a:latin typeface="Calibri" pitchFamily="34" charset="0"/>
                          <a:ea typeface="Calibri" pitchFamily="34" charset="-122"/>
                          <a:cs typeface="Calibri" pitchFamily="34" charset="-120"/>
                        </a:rPr>
                        <a:t>[ D, E, F ]</a:t>
                      </a:r>
                      <a:endParaRPr lang="en-US" sz="13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extLst>
                  <a:ext uri="{0D108BD9-81ED-4DB2-BD59-A6C34878D82A}">
                    <a16:rowId xmlns:a16="http://schemas.microsoft.com/office/drawing/2014/main" val="10004"/>
                  </a:ext>
                </a:extLst>
              </a:tr>
            </a:tbl>
          </a:graphicData>
        </a:graphic>
      </p:graphicFrame>
      <p:sp>
        <p:nvSpPr>
          <p:cNvPr id="8" name="Shape 5"/>
          <p:cNvSpPr/>
          <p:nvPr/>
        </p:nvSpPr>
        <p:spPr>
          <a:xfrm>
            <a:off x="502920" y="5166360"/>
            <a:ext cx="11185855" cy="960120"/>
          </a:xfrm>
          <a:prstGeom prst="roundRect">
            <a:avLst>
              <a:gd name="adj" fmla="val 7619"/>
            </a:avLst>
          </a:prstGeom>
          <a:solidFill>
            <a:srgbClr val="EAEFF8"/>
          </a:solidFill>
          <a:ln/>
        </p:spPr>
      </p:sp>
      <p:sp>
        <p:nvSpPr>
          <p:cNvPr id="9" name="Shape 6"/>
          <p:cNvSpPr/>
          <p:nvPr/>
        </p:nvSpPr>
        <p:spPr>
          <a:xfrm>
            <a:off x="704088" y="5367528"/>
            <a:ext cx="347472" cy="347472"/>
          </a:xfrm>
          <a:prstGeom prst="ellipse">
            <a:avLst/>
          </a:prstGeom>
          <a:solidFill>
            <a:srgbClr val="C9A227"/>
          </a:solidFill>
          <a:ln/>
        </p:spPr>
      </p:sp>
      <p:sp>
        <p:nvSpPr>
          <p:cNvPr id="10" name="Text 7"/>
          <p:cNvSpPr txBox="1"/>
          <p:nvPr/>
        </p:nvSpPr>
        <p:spPr>
          <a:xfrm>
            <a:off x="704088" y="5367528"/>
            <a:ext cx="347472" cy="347472"/>
          </a:xfrm>
          <a:prstGeom prst="rect">
            <a:avLst/>
          </a:prstGeom>
          <a:noFill/>
          <a:ln/>
        </p:spPr>
        <p:txBody>
          <a:bodyPr wrap="none" rtlCol="0" anchor="ctr"/>
          <a:lstStyle/>
          <a:p>
            <a:pPr marL="0" indent="0" algn="ctr">
              <a:buNone/>
            </a:pPr>
            <a:r>
              <a:rPr lang="en-US" sz="1500" b="1" dirty="0">
                <a:solidFill>
                  <a:srgbClr val="0A1226"/>
                </a:solidFill>
                <a:latin typeface="Calibri" pitchFamily="34" charset="0"/>
                <a:ea typeface="Calibri" pitchFamily="34" charset="-122"/>
                <a:cs typeface="Calibri" pitchFamily="34" charset="-120"/>
              </a:rPr>
              <a:t>→</a:t>
            </a:r>
            <a:endParaRPr lang="en-US" sz="1500" dirty="0"/>
          </a:p>
        </p:txBody>
      </p:sp>
      <p:sp>
        <p:nvSpPr>
          <p:cNvPr id="11" name="Text 8"/>
          <p:cNvSpPr txBox="1"/>
          <p:nvPr/>
        </p:nvSpPr>
        <p:spPr>
          <a:xfrm>
            <a:off x="1207008" y="5330952"/>
            <a:ext cx="10280599" cy="310896"/>
          </a:xfrm>
          <a:prstGeom prst="rect">
            <a:avLst/>
          </a:prstGeom>
          <a:noFill/>
          <a:ln/>
        </p:spPr>
        <p:txBody>
          <a:bodyPr wrap="square" rtlCol="0" anchor="ctr"/>
          <a:lstStyle/>
          <a:p>
            <a:pPr marL="0" indent="0">
              <a:buNone/>
            </a:pPr>
            <a:r>
              <a:rPr lang="en-US" b="1" dirty="0">
                <a:solidFill>
                  <a:srgbClr val="14213D"/>
                </a:solidFill>
                <a:latin typeface="Times New Roman" panose="02020603050405020304" pitchFamily="18" charset="0"/>
                <a:ea typeface="Calibri" pitchFamily="34" charset="-122"/>
                <a:cs typeface="Times New Roman" panose="02020603050405020304" pitchFamily="18" charset="0"/>
              </a:rPr>
              <a:t>The earliest-inserted node is removed first</a:t>
            </a:r>
            <a:endParaRPr lang="en-US" dirty="0">
              <a:latin typeface="Times New Roman" panose="02020603050405020304" pitchFamily="18" charset="0"/>
              <a:cs typeface="Times New Roman" panose="02020603050405020304" pitchFamily="18" charset="0"/>
            </a:endParaRPr>
          </a:p>
        </p:txBody>
      </p:sp>
      <p:sp>
        <p:nvSpPr>
          <p:cNvPr id="12" name="Text 9"/>
          <p:cNvSpPr txBox="1"/>
          <p:nvPr/>
        </p:nvSpPr>
        <p:spPr>
          <a:xfrm>
            <a:off x="1207008" y="5660136"/>
            <a:ext cx="10280599" cy="429768"/>
          </a:xfrm>
          <a:prstGeom prst="rect">
            <a:avLst/>
          </a:prstGeom>
          <a:noFill/>
          <a:ln/>
        </p:spPr>
        <p:txBody>
          <a:bodyPr wrap="square" rtlCol="0" anchor="t"/>
          <a:lstStyle/>
          <a:p>
            <a:pPr marL="0" indent="0">
              <a:lnSpc>
                <a:spcPct val="112000"/>
              </a:lnSpc>
              <a:buNone/>
            </a:pPr>
            <a:r>
              <a:rPr lang="en-US" sz="1600" dirty="0">
                <a:solidFill>
                  <a:srgbClr val="1B2333"/>
                </a:solidFill>
                <a:latin typeface="Times New Roman" panose="02020603050405020304" pitchFamily="18" charset="0"/>
                <a:ea typeface="Calibri" pitchFamily="34" charset="-122"/>
                <a:cs typeface="Times New Roman" panose="02020603050405020304" pitchFamily="18" charset="0"/>
              </a:rPr>
              <a:t>Notice B was inserted before C and D — so once A finishes expanding, B is the very next node removed and expanded, even though C and D are still waiting. This is exactly the FIFO discipline: enqueue at the back, dequeue from the front.</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92608"/>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UNINFORMED SEARCH · BFS</a:t>
            </a:r>
            <a:endParaRPr lang="en-US" sz="1200" dirty="0"/>
          </a:p>
        </p:txBody>
      </p:sp>
      <p:sp>
        <p:nvSpPr>
          <p:cNvPr id="3" name="Text 1"/>
          <p:cNvSpPr txBox="1"/>
          <p:nvPr/>
        </p:nvSpPr>
        <p:spPr>
          <a:xfrm>
            <a:off x="502920" y="621792"/>
            <a:ext cx="11155680" cy="658368"/>
          </a:xfrm>
          <a:prstGeom prst="rect">
            <a:avLst/>
          </a:prstGeom>
          <a:noFill/>
          <a:ln/>
        </p:spPr>
        <p:txBody>
          <a:bodyPr wrap="square" rtlCol="0" anchor="ctr"/>
          <a:lstStyle/>
          <a:p>
            <a:pPr marL="0" indent="0">
              <a:buNone/>
            </a:pPr>
            <a:r>
              <a:rPr lang="en-US" sz="2900" b="1" dirty="0">
                <a:solidFill>
                  <a:srgbClr val="14213D"/>
                </a:solidFill>
                <a:latin typeface="Cambria" pitchFamily="34" charset="0"/>
                <a:ea typeface="Cambria" pitchFamily="34" charset="-122"/>
                <a:cs typeface="Cambria" pitchFamily="34" charset="-120"/>
              </a:rPr>
              <a:t>BFS Worked Example — Full Trace</a:t>
            </a:r>
            <a:endParaRPr lang="en-US" sz="2900" dirty="0"/>
          </a:p>
        </p:txBody>
      </p:sp>
      <p:sp>
        <p:nvSpPr>
          <p:cNvPr id="4" name="Text 2"/>
          <p:cNvSpPr txBox="1"/>
          <p:nvPr/>
        </p:nvSpPr>
        <p:spPr>
          <a:xfrm>
            <a:off x="502920" y="6473952"/>
            <a:ext cx="7315200" cy="274320"/>
          </a:xfrm>
          <a:prstGeom prst="rect">
            <a:avLst/>
          </a:prstGeom>
          <a:noFill/>
          <a:ln/>
        </p:spPr>
        <p:txBody>
          <a:bodyPr wrap="square" rtlCol="0" anchor="ctr"/>
          <a:lstStyle/>
          <a:p>
            <a:pPr marL="0" indent="0">
              <a:buNone/>
            </a:pPr>
            <a:r>
              <a:rPr lang="en-US" sz="950" b="1" dirty="0">
                <a:solidFill>
                  <a:srgbClr val="6B7280"/>
                </a:solidFill>
                <a:latin typeface="Calibri" pitchFamily="34" charset="0"/>
                <a:ea typeface="Calibri" pitchFamily="34" charset="-122"/>
                <a:cs typeface="Calibri" pitchFamily="34" charset="-120"/>
              </a:rPr>
              <a:t>Artificial Intelligence</a:t>
            </a:r>
            <a:r>
              <a:rPr lang="en-US" sz="950" dirty="0">
                <a:solidFill>
                  <a:srgbClr val="6B7280"/>
                </a:solidFill>
                <a:latin typeface="Calibri" pitchFamily="34" charset="0"/>
                <a:ea typeface="Calibri" pitchFamily="34" charset="-122"/>
                <a:cs typeface="Calibri" pitchFamily="34" charset="-120"/>
              </a:rPr>
              <a:t>   ·   BS Computer Science   ·   Lecture 3</a:t>
            </a:r>
            <a:endParaRPr lang="en-US" sz="950" dirty="0"/>
          </a:p>
        </p:txBody>
      </p:sp>
      <p:sp>
        <p:nvSpPr>
          <p:cNvPr id="5" name="Text 3"/>
          <p:cNvSpPr txBox="1"/>
          <p:nvPr/>
        </p:nvSpPr>
        <p:spPr>
          <a:xfrm>
            <a:off x="8762695" y="6473952"/>
            <a:ext cx="292608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Dr. Ghulam Ali   ·   21</a:t>
            </a:r>
            <a:endParaRPr lang="en-US" sz="950" dirty="0"/>
          </a:p>
        </p:txBody>
      </p:sp>
      <p:sp>
        <p:nvSpPr>
          <p:cNvPr id="6" name="Shape 4"/>
          <p:cNvSpPr/>
          <p:nvPr/>
        </p:nvSpPr>
        <p:spPr>
          <a:xfrm flipH="1">
            <a:off x="1617906" y="1480628"/>
            <a:ext cx="1303269" cy="749380"/>
          </a:xfrm>
          <a:prstGeom prst="line">
            <a:avLst/>
          </a:prstGeom>
          <a:noFill/>
          <a:ln w="19050">
            <a:solidFill>
              <a:srgbClr val="435273"/>
            </a:solidFill>
            <a:prstDash val="solid"/>
          </a:ln>
        </p:spPr>
      </p:sp>
      <p:sp>
        <p:nvSpPr>
          <p:cNvPr id="7" name="Shape 5"/>
          <p:cNvSpPr/>
          <p:nvPr/>
        </p:nvSpPr>
        <p:spPr>
          <a:xfrm>
            <a:off x="3110789" y="1590324"/>
            <a:ext cx="9144" cy="529986"/>
          </a:xfrm>
          <a:prstGeom prst="line">
            <a:avLst/>
          </a:prstGeom>
          <a:noFill/>
          <a:ln w="19050">
            <a:solidFill>
              <a:srgbClr val="435273"/>
            </a:solidFill>
            <a:prstDash val="solid"/>
          </a:ln>
        </p:spPr>
      </p:sp>
      <p:sp>
        <p:nvSpPr>
          <p:cNvPr id="8" name="Shape 6"/>
          <p:cNvSpPr/>
          <p:nvPr/>
        </p:nvSpPr>
        <p:spPr>
          <a:xfrm>
            <a:off x="3300402" y="1480628"/>
            <a:ext cx="1303269" cy="749380"/>
          </a:xfrm>
          <a:prstGeom prst="line">
            <a:avLst/>
          </a:prstGeom>
          <a:noFill/>
          <a:ln w="19050">
            <a:solidFill>
              <a:srgbClr val="435273"/>
            </a:solidFill>
            <a:prstDash val="solid"/>
          </a:ln>
        </p:spPr>
      </p:sp>
      <p:sp>
        <p:nvSpPr>
          <p:cNvPr id="9" name="Shape 7"/>
          <p:cNvSpPr/>
          <p:nvPr/>
        </p:nvSpPr>
        <p:spPr>
          <a:xfrm flipH="1">
            <a:off x="989107" y="2529449"/>
            <a:ext cx="331561" cy="586608"/>
          </a:xfrm>
          <a:prstGeom prst="line">
            <a:avLst/>
          </a:prstGeom>
          <a:noFill/>
          <a:ln w="19050">
            <a:solidFill>
              <a:srgbClr val="435273"/>
            </a:solidFill>
            <a:prstDash val="solid"/>
          </a:ln>
        </p:spPr>
      </p:sp>
      <p:sp>
        <p:nvSpPr>
          <p:cNvPr id="10" name="Shape 8"/>
          <p:cNvSpPr/>
          <p:nvPr/>
        </p:nvSpPr>
        <p:spPr>
          <a:xfrm>
            <a:off x="1535918" y="2529449"/>
            <a:ext cx="331561" cy="586608"/>
          </a:xfrm>
          <a:prstGeom prst="line">
            <a:avLst/>
          </a:prstGeom>
          <a:noFill/>
          <a:ln w="19050">
            <a:solidFill>
              <a:srgbClr val="435273"/>
            </a:solidFill>
            <a:prstDash val="solid"/>
          </a:ln>
        </p:spPr>
      </p:sp>
      <p:sp>
        <p:nvSpPr>
          <p:cNvPr id="11" name="Shape 9"/>
          <p:cNvSpPr/>
          <p:nvPr/>
        </p:nvSpPr>
        <p:spPr>
          <a:xfrm>
            <a:off x="4793285" y="2557760"/>
            <a:ext cx="9144" cy="529986"/>
          </a:xfrm>
          <a:prstGeom prst="line">
            <a:avLst/>
          </a:prstGeom>
          <a:noFill/>
          <a:ln w="19050">
            <a:solidFill>
              <a:srgbClr val="435273"/>
            </a:solidFill>
            <a:prstDash val="solid"/>
          </a:ln>
        </p:spPr>
      </p:sp>
      <p:sp>
        <p:nvSpPr>
          <p:cNvPr id="12" name="Shape 10"/>
          <p:cNvSpPr/>
          <p:nvPr/>
        </p:nvSpPr>
        <p:spPr>
          <a:xfrm flipH="1">
            <a:off x="1571530" y="3500388"/>
            <a:ext cx="302400" cy="579600"/>
          </a:xfrm>
          <a:prstGeom prst="line">
            <a:avLst/>
          </a:prstGeom>
          <a:noFill/>
          <a:ln w="19050">
            <a:solidFill>
              <a:srgbClr val="435273"/>
            </a:solidFill>
            <a:prstDash val="solid"/>
          </a:ln>
        </p:spPr>
      </p:sp>
      <p:sp>
        <p:nvSpPr>
          <p:cNvPr id="13" name="Shape 11"/>
          <p:cNvSpPr/>
          <p:nvPr/>
        </p:nvSpPr>
        <p:spPr>
          <a:xfrm>
            <a:off x="2076279" y="3500388"/>
            <a:ext cx="302400" cy="579600"/>
          </a:xfrm>
          <a:prstGeom prst="line">
            <a:avLst/>
          </a:prstGeom>
          <a:noFill/>
          <a:ln w="19050">
            <a:solidFill>
              <a:srgbClr val="435273"/>
            </a:solidFill>
            <a:prstDash val="solid"/>
          </a:ln>
        </p:spPr>
      </p:sp>
      <p:sp>
        <p:nvSpPr>
          <p:cNvPr id="14" name="Shape 12"/>
          <p:cNvSpPr/>
          <p:nvPr/>
        </p:nvSpPr>
        <p:spPr>
          <a:xfrm>
            <a:off x="2892064" y="1152876"/>
            <a:ext cx="437449" cy="437449"/>
          </a:xfrm>
          <a:prstGeom prst="ellipse">
            <a:avLst/>
          </a:prstGeom>
          <a:solidFill>
            <a:srgbClr val="FFFFFF"/>
          </a:solidFill>
          <a:ln w="19050">
            <a:solidFill>
              <a:srgbClr val="435273"/>
            </a:solidFill>
            <a:prstDash val="solid"/>
          </a:ln>
        </p:spPr>
      </p:sp>
      <p:sp>
        <p:nvSpPr>
          <p:cNvPr id="15" name="Text 13"/>
          <p:cNvSpPr txBox="1"/>
          <p:nvPr/>
        </p:nvSpPr>
        <p:spPr>
          <a:xfrm>
            <a:off x="2892064" y="1152876"/>
            <a:ext cx="437449" cy="437449"/>
          </a:xfrm>
          <a:prstGeom prst="rect">
            <a:avLst/>
          </a:prstGeom>
          <a:noFill/>
          <a:ln/>
        </p:spPr>
        <p:txBody>
          <a:bodyPr wrap="square" rtlCol="0" anchor="ctr"/>
          <a:lstStyle/>
          <a:p>
            <a:pPr marL="0" indent="0" algn="ctr">
              <a:buNone/>
            </a:pPr>
            <a:r>
              <a:rPr lang="en-US" sz="1150" b="1" dirty="0">
                <a:solidFill>
                  <a:srgbClr val="14213D"/>
                </a:solidFill>
                <a:latin typeface="Calibri" pitchFamily="34" charset="0"/>
                <a:ea typeface="Calibri" pitchFamily="34" charset="-122"/>
                <a:cs typeface="Calibri" pitchFamily="34" charset="-120"/>
              </a:rPr>
              <a:t>A</a:t>
            </a:r>
            <a:endParaRPr lang="en-US" sz="1150" dirty="0"/>
          </a:p>
        </p:txBody>
      </p:sp>
      <p:sp>
        <p:nvSpPr>
          <p:cNvPr id="16" name="Shape 14"/>
          <p:cNvSpPr/>
          <p:nvPr/>
        </p:nvSpPr>
        <p:spPr>
          <a:xfrm>
            <a:off x="1209568" y="2120311"/>
            <a:ext cx="437449" cy="437449"/>
          </a:xfrm>
          <a:prstGeom prst="ellipse">
            <a:avLst/>
          </a:prstGeom>
          <a:solidFill>
            <a:srgbClr val="FFFFFF"/>
          </a:solidFill>
          <a:ln w="19050">
            <a:solidFill>
              <a:srgbClr val="435273"/>
            </a:solidFill>
            <a:prstDash val="solid"/>
          </a:ln>
        </p:spPr>
      </p:sp>
      <p:sp>
        <p:nvSpPr>
          <p:cNvPr id="17" name="Text 15"/>
          <p:cNvSpPr txBox="1"/>
          <p:nvPr/>
        </p:nvSpPr>
        <p:spPr>
          <a:xfrm>
            <a:off x="1209568" y="2120311"/>
            <a:ext cx="437449" cy="437449"/>
          </a:xfrm>
          <a:prstGeom prst="rect">
            <a:avLst/>
          </a:prstGeom>
          <a:noFill/>
          <a:ln/>
        </p:spPr>
        <p:txBody>
          <a:bodyPr wrap="square" rtlCol="0" anchor="ctr"/>
          <a:lstStyle/>
          <a:p>
            <a:pPr marL="0" indent="0" algn="ctr">
              <a:buNone/>
            </a:pPr>
            <a:r>
              <a:rPr lang="en-US" sz="1150" b="1" dirty="0">
                <a:solidFill>
                  <a:srgbClr val="14213D"/>
                </a:solidFill>
                <a:latin typeface="Calibri" pitchFamily="34" charset="0"/>
                <a:ea typeface="Calibri" pitchFamily="34" charset="-122"/>
                <a:cs typeface="Calibri" pitchFamily="34" charset="-120"/>
              </a:rPr>
              <a:t>B</a:t>
            </a:r>
            <a:endParaRPr lang="en-US" sz="1150" dirty="0"/>
          </a:p>
        </p:txBody>
      </p:sp>
      <p:sp>
        <p:nvSpPr>
          <p:cNvPr id="18" name="Shape 16"/>
          <p:cNvSpPr/>
          <p:nvPr/>
        </p:nvSpPr>
        <p:spPr>
          <a:xfrm>
            <a:off x="2892064" y="2120311"/>
            <a:ext cx="437449" cy="437449"/>
          </a:xfrm>
          <a:prstGeom prst="ellipse">
            <a:avLst/>
          </a:prstGeom>
          <a:solidFill>
            <a:srgbClr val="FFFFFF"/>
          </a:solidFill>
          <a:ln w="19050">
            <a:solidFill>
              <a:srgbClr val="435273"/>
            </a:solidFill>
            <a:prstDash val="solid"/>
          </a:ln>
        </p:spPr>
      </p:sp>
      <p:sp>
        <p:nvSpPr>
          <p:cNvPr id="19" name="Text 17"/>
          <p:cNvSpPr txBox="1"/>
          <p:nvPr/>
        </p:nvSpPr>
        <p:spPr>
          <a:xfrm>
            <a:off x="2892064" y="2120311"/>
            <a:ext cx="437449" cy="437449"/>
          </a:xfrm>
          <a:prstGeom prst="rect">
            <a:avLst/>
          </a:prstGeom>
          <a:noFill/>
          <a:ln/>
        </p:spPr>
        <p:txBody>
          <a:bodyPr wrap="square" rtlCol="0" anchor="ctr"/>
          <a:lstStyle/>
          <a:p>
            <a:pPr marL="0" indent="0" algn="ctr">
              <a:buNone/>
            </a:pPr>
            <a:r>
              <a:rPr lang="en-US" sz="1150" b="1" dirty="0">
                <a:solidFill>
                  <a:srgbClr val="14213D"/>
                </a:solidFill>
                <a:latin typeface="Calibri" pitchFamily="34" charset="0"/>
                <a:ea typeface="Calibri" pitchFamily="34" charset="-122"/>
                <a:cs typeface="Calibri" pitchFamily="34" charset="-120"/>
              </a:rPr>
              <a:t>C</a:t>
            </a:r>
            <a:endParaRPr lang="en-US" sz="1150" dirty="0"/>
          </a:p>
        </p:txBody>
      </p:sp>
      <p:sp>
        <p:nvSpPr>
          <p:cNvPr id="20" name="Shape 18"/>
          <p:cNvSpPr/>
          <p:nvPr/>
        </p:nvSpPr>
        <p:spPr>
          <a:xfrm>
            <a:off x="4574560" y="2120311"/>
            <a:ext cx="437449" cy="437449"/>
          </a:xfrm>
          <a:prstGeom prst="ellipse">
            <a:avLst/>
          </a:prstGeom>
          <a:solidFill>
            <a:srgbClr val="FFFFFF"/>
          </a:solidFill>
          <a:ln w="19050">
            <a:solidFill>
              <a:srgbClr val="435273"/>
            </a:solidFill>
            <a:prstDash val="solid"/>
          </a:ln>
        </p:spPr>
      </p:sp>
      <p:sp>
        <p:nvSpPr>
          <p:cNvPr id="21" name="Text 19"/>
          <p:cNvSpPr txBox="1"/>
          <p:nvPr/>
        </p:nvSpPr>
        <p:spPr>
          <a:xfrm>
            <a:off x="4574560" y="2120311"/>
            <a:ext cx="437449" cy="437449"/>
          </a:xfrm>
          <a:prstGeom prst="rect">
            <a:avLst/>
          </a:prstGeom>
          <a:noFill/>
          <a:ln/>
        </p:spPr>
        <p:txBody>
          <a:bodyPr wrap="square" rtlCol="0" anchor="ctr"/>
          <a:lstStyle/>
          <a:p>
            <a:pPr marL="0" indent="0" algn="ctr">
              <a:buNone/>
            </a:pPr>
            <a:r>
              <a:rPr lang="en-US" sz="1150" b="1" dirty="0">
                <a:solidFill>
                  <a:srgbClr val="14213D"/>
                </a:solidFill>
                <a:latin typeface="Calibri" pitchFamily="34" charset="0"/>
                <a:ea typeface="Calibri" pitchFamily="34" charset="-122"/>
                <a:cs typeface="Calibri" pitchFamily="34" charset="-120"/>
              </a:rPr>
              <a:t>D</a:t>
            </a:r>
            <a:endParaRPr lang="en-US" sz="1150" dirty="0"/>
          </a:p>
        </p:txBody>
      </p:sp>
      <p:sp>
        <p:nvSpPr>
          <p:cNvPr id="22" name="Shape 20"/>
          <p:cNvSpPr/>
          <p:nvPr/>
        </p:nvSpPr>
        <p:spPr>
          <a:xfrm>
            <a:off x="662757" y="3087746"/>
            <a:ext cx="437449" cy="437449"/>
          </a:xfrm>
          <a:prstGeom prst="ellipse">
            <a:avLst/>
          </a:prstGeom>
          <a:solidFill>
            <a:srgbClr val="FFFFFF"/>
          </a:solidFill>
          <a:ln w="19050">
            <a:solidFill>
              <a:srgbClr val="435273"/>
            </a:solidFill>
            <a:prstDash val="solid"/>
          </a:ln>
        </p:spPr>
      </p:sp>
      <p:sp>
        <p:nvSpPr>
          <p:cNvPr id="23" name="Text 21"/>
          <p:cNvSpPr txBox="1"/>
          <p:nvPr/>
        </p:nvSpPr>
        <p:spPr>
          <a:xfrm>
            <a:off x="662757" y="3087746"/>
            <a:ext cx="437449" cy="437449"/>
          </a:xfrm>
          <a:prstGeom prst="rect">
            <a:avLst/>
          </a:prstGeom>
          <a:noFill/>
          <a:ln/>
        </p:spPr>
        <p:txBody>
          <a:bodyPr wrap="square" rtlCol="0" anchor="ctr"/>
          <a:lstStyle/>
          <a:p>
            <a:pPr marL="0" indent="0" algn="ctr">
              <a:buNone/>
            </a:pPr>
            <a:r>
              <a:rPr lang="en-US" sz="1150" b="1" dirty="0">
                <a:solidFill>
                  <a:srgbClr val="14213D"/>
                </a:solidFill>
                <a:latin typeface="Calibri" pitchFamily="34" charset="0"/>
                <a:ea typeface="Calibri" pitchFamily="34" charset="-122"/>
                <a:cs typeface="Calibri" pitchFamily="34" charset="-120"/>
              </a:rPr>
              <a:t>E</a:t>
            </a:r>
            <a:endParaRPr lang="en-US" sz="1150" dirty="0"/>
          </a:p>
        </p:txBody>
      </p:sp>
      <p:sp>
        <p:nvSpPr>
          <p:cNvPr id="24" name="Shape 22"/>
          <p:cNvSpPr/>
          <p:nvPr/>
        </p:nvSpPr>
        <p:spPr>
          <a:xfrm>
            <a:off x="1756380" y="3087746"/>
            <a:ext cx="437449" cy="437449"/>
          </a:xfrm>
          <a:prstGeom prst="ellipse">
            <a:avLst/>
          </a:prstGeom>
          <a:solidFill>
            <a:srgbClr val="FFFFFF"/>
          </a:solidFill>
          <a:ln w="19050">
            <a:solidFill>
              <a:srgbClr val="435273"/>
            </a:solidFill>
            <a:prstDash val="solid"/>
          </a:ln>
        </p:spPr>
      </p:sp>
      <p:sp>
        <p:nvSpPr>
          <p:cNvPr id="25" name="Text 23"/>
          <p:cNvSpPr txBox="1"/>
          <p:nvPr/>
        </p:nvSpPr>
        <p:spPr>
          <a:xfrm>
            <a:off x="1756380" y="3087746"/>
            <a:ext cx="437449" cy="437449"/>
          </a:xfrm>
          <a:prstGeom prst="rect">
            <a:avLst/>
          </a:prstGeom>
          <a:noFill/>
          <a:ln/>
        </p:spPr>
        <p:txBody>
          <a:bodyPr wrap="square" rtlCol="0" anchor="ctr"/>
          <a:lstStyle/>
          <a:p>
            <a:pPr marL="0" indent="0" algn="ctr">
              <a:buNone/>
            </a:pPr>
            <a:r>
              <a:rPr lang="en-US" sz="1150" b="1" dirty="0">
                <a:solidFill>
                  <a:srgbClr val="14213D"/>
                </a:solidFill>
                <a:latin typeface="Calibri" pitchFamily="34" charset="0"/>
                <a:ea typeface="Calibri" pitchFamily="34" charset="-122"/>
                <a:cs typeface="Calibri" pitchFamily="34" charset="-120"/>
              </a:rPr>
              <a:t>F</a:t>
            </a:r>
            <a:endParaRPr lang="en-US" sz="1150" dirty="0"/>
          </a:p>
        </p:txBody>
      </p:sp>
      <p:sp>
        <p:nvSpPr>
          <p:cNvPr id="26" name="Shape 24"/>
          <p:cNvSpPr/>
          <p:nvPr/>
        </p:nvSpPr>
        <p:spPr>
          <a:xfrm>
            <a:off x="4574560" y="3087746"/>
            <a:ext cx="437449" cy="437449"/>
          </a:xfrm>
          <a:prstGeom prst="ellipse">
            <a:avLst/>
          </a:prstGeom>
          <a:solidFill>
            <a:srgbClr val="FFFFFF"/>
          </a:solidFill>
          <a:ln w="19050">
            <a:solidFill>
              <a:srgbClr val="435273"/>
            </a:solidFill>
            <a:prstDash val="solid"/>
          </a:ln>
        </p:spPr>
      </p:sp>
      <p:sp>
        <p:nvSpPr>
          <p:cNvPr id="27" name="Text 25"/>
          <p:cNvSpPr txBox="1"/>
          <p:nvPr/>
        </p:nvSpPr>
        <p:spPr>
          <a:xfrm>
            <a:off x="4574560" y="3087746"/>
            <a:ext cx="437449" cy="437449"/>
          </a:xfrm>
          <a:prstGeom prst="rect">
            <a:avLst/>
          </a:prstGeom>
          <a:noFill/>
          <a:ln/>
        </p:spPr>
        <p:txBody>
          <a:bodyPr wrap="square" rtlCol="0" anchor="ctr"/>
          <a:lstStyle/>
          <a:p>
            <a:pPr marL="0" indent="0" algn="ctr">
              <a:buNone/>
            </a:pPr>
            <a:r>
              <a:rPr lang="en-US" sz="1150" b="1" dirty="0">
                <a:solidFill>
                  <a:srgbClr val="14213D"/>
                </a:solidFill>
                <a:latin typeface="Calibri" pitchFamily="34" charset="0"/>
                <a:ea typeface="Calibri" pitchFamily="34" charset="-122"/>
                <a:cs typeface="Calibri" pitchFamily="34" charset="-120"/>
              </a:rPr>
              <a:t>G</a:t>
            </a:r>
            <a:endParaRPr lang="en-US" sz="1150" dirty="0"/>
          </a:p>
        </p:txBody>
      </p:sp>
      <p:sp>
        <p:nvSpPr>
          <p:cNvPr id="28" name="Shape 26"/>
          <p:cNvSpPr/>
          <p:nvPr/>
        </p:nvSpPr>
        <p:spPr>
          <a:xfrm>
            <a:off x="1251631" y="4055181"/>
            <a:ext cx="437449" cy="437449"/>
          </a:xfrm>
          <a:prstGeom prst="ellipse">
            <a:avLst/>
          </a:prstGeom>
          <a:solidFill>
            <a:srgbClr val="FFFFFF"/>
          </a:solidFill>
          <a:ln w="19050">
            <a:solidFill>
              <a:srgbClr val="435273"/>
            </a:solidFill>
            <a:prstDash val="solid"/>
          </a:ln>
        </p:spPr>
      </p:sp>
      <p:sp>
        <p:nvSpPr>
          <p:cNvPr id="29" name="Text 27"/>
          <p:cNvSpPr txBox="1"/>
          <p:nvPr/>
        </p:nvSpPr>
        <p:spPr>
          <a:xfrm>
            <a:off x="1251631" y="4055181"/>
            <a:ext cx="437449" cy="437449"/>
          </a:xfrm>
          <a:prstGeom prst="rect">
            <a:avLst/>
          </a:prstGeom>
          <a:noFill/>
          <a:ln/>
        </p:spPr>
        <p:txBody>
          <a:bodyPr wrap="square" rtlCol="0" anchor="ctr"/>
          <a:lstStyle/>
          <a:p>
            <a:pPr marL="0" indent="0" algn="ctr">
              <a:buNone/>
            </a:pPr>
            <a:r>
              <a:rPr lang="en-US" sz="1150" b="1" dirty="0">
                <a:solidFill>
                  <a:srgbClr val="14213D"/>
                </a:solidFill>
                <a:latin typeface="Calibri" pitchFamily="34" charset="0"/>
                <a:ea typeface="Calibri" pitchFamily="34" charset="-122"/>
                <a:cs typeface="Calibri" pitchFamily="34" charset="-120"/>
              </a:rPr>
              <a:t>H</a:t>
            </a:r>
            <a:endParaRPr lang="en-US" sz="1150" dirty="0"/>
          </a:p>
        </p:txBody>
      </p:sp>
      <p:sp>
        <p:nvSpPr>
          <p:cNvPr id="30" name="Shape 28"/>
          <p:cNvSpPr/>
          <p:nvPr/>
        </p:nvSpPr>
        <p:spPr>
          <a:xfrm>
            <a:off x="2261128" y="4055181"/>
            <a:ext cx="437449" cy="437449"/>
          </a:xfrm>
          <a:prstGeom prst="ellipse">
            <a:avLst/>
          </a:prstGeom>
          <a:solidFill>
            <a:srgbClr val="C9A227"/>
          </a:solidFill>
          <a:ln w="25400">
            <a:solidFill>
              <a:srgbClr val="14213D"/>
            </a:solidFill>
            <a:prstDash val="solid"/>
          </a:ln>
        </p:spPr>
      </p:sp>
      <p:sp>
        <p:nvSpPr>
          <p:cNvPr id="31" name="Text 29"/>
          <p:cNvSpPr txBox="1"/>
          <p:nvPr/>
        </p:nvSpPr>
        <p:spPr>
          <a:xfrm>
            <a:off x="2261128" y="4055181"/>
            <a:ext cx="437449" cy="437449"/>
          </a:xfrm>
          <a:prstGeom prst="rect">
            <a:avLst/>
          </a:prstGeom>
          <a:noFill/>
          <a:ln/>
        </p:spPr>
        <p:txBody>
          <a:bodyPr wrap="square" rtlCol="0" anchor="ctr"/>
          <a:lstStyle/>
          <a:p>
            <a:pPr marL="0" indent="0" algn="ctr">
              <a:buNone/>
            </a:pPr>
            <a:r>
              <a:rPr lang="en-US" sz="1150" b="1" dirty="0">
                <a:solidFill>
                  <a:srgbClr val="0A1226"/>
                </a:solidFill>
                <a:latin typeface="Calibri" pitchFamily="34" charset="0"/>
                <a:ea typeface="Calibri" pitchFamily="34" charset="-122"/>
                <a:cs typeface="Calibri" pitchFamily="34" charset="-120"/>
              </a:rPr>
              <a:t>I</a:t>
            </a:r>
            <a:endParaRPr lang="en-US" sz="1150" dirty="0"/>
          </a:p>
        </p:txBody>
      </p:sp>
      <p:sp>
        <p:nvSpPr>
          <p:cNvPr id="32" name="Text 30"/>
          <p:cNvSpPr txBox="1"/>
          <p:nvPr/>
        </p:nvSpPr>
        <p:spPr>
          <a:xfrm>
            <a:off x="502920" y="3931920"/>
            <a:ext cx="2926080" cy="274320"/>
          </a:xfrm>
          <a:prstGeom prst="rect">
            <a:avLst/>
          </a:prstGeom>
          <a:noFill/>
          <a:ln/>
        </p:spPr>
        <p:txBody>
          <a:bodyPr wrap="square" rtlCol="0" anchor="ctr"/>
          <a:lstStyle/>
          <a:p>
            <a:pPr marL="0" indent="0">
              <a:buNone/>
            </a:pPr>
            <a:r>
              <a:rPr lang="en-US" sz="1200" b="1" dirty="0">
                <a:solidFill>
                  <a:srgbClr val="C9A227"/>
                </a:solidFill>
                <a:latin typeface="Calibri" pitchFamily="34" charset="0"/>
                <a:ea typeface="Calibri" pitchFamily="34" charset="-122"/>
                <a:cs typeface="Calibri" pitchFamily="34" charset="-120"/>
              </a:rPr>
              <a:t>Goal = I</a:t>
            </a:r>
            <a:endParaRPr lang="en-US" sz="1200" dirty="0"/>
          </a:p>
        </p:txBody>
      </p:sp>
      <p:graphicFrame>
        <p:nvGraphicFramePr>
          <p:cNvPr id="33" name="Table 0"/>
          <p:cNvGraphicFramePr>
            <a:graphicFrameLocks noGrp="1"/>
          </p:cNvGraphicFramePr>
          <p:nvPr>
            <p:extLst>
              <p:ext uri="{D42A27DB-BD31-4B8C-83A1-F6EECF244321}">
                <p14:modId xmlns:p14="http://schemas.microsoft.com/office/powerpoint/2010/main" val="569267539"/>
              </p:ext>
            </p:extLst>
          </p:nvPr>
        </p:nvGraphicFramePr>
        <p:xfrm>
          <a:off x="5500664" y="1325880"/>
          <a:ext cx="6249376" cy="4745228"/>
        </p:xfrm>
        <a:graphic>
          <a:graphicData uri="http://schemas.openxmlformats.org/drawingml/2006/table">
            <a:tbl>
              <a:tblPr/>
              <a:tblGrid>
                <a:gridCol w="464240">
                  <a:extLst>
                    <a:ext uri="{9D8B030D-6E8A-4147-A177-3AD203B41FA5}">
                      <a16:colId xmlns:a16="http://schemas.microsoft.com/office/drawing/2014/main" val="20000"/>
                    </a:ext>
                  </a:extLst>
                </a:gridCol>
                <a:gridCol w="1142743">
                  <a:extLst>
                    <a:ext uri="{9D8B030D-6E8A-4147-A177-3AD203B41FA5}">
                      <a16:colId xmlns:a16="http://schemas.microsoft.com/office/drawing/2014/main" val="20001"/>
                    </a:ext>
                  </a:extLst>
                </a:gridCol>
                <a:gridCol w="1999800">
                  <a:extLst>
                    <a:ext uri="{9D8B030D-6E8A-4147-A177-3AD203B41FA5}">
                      <a16:colId xmlns:a16="http://schemas.microsoft.com/office/drawing/2014/main" val="20002"/>
                    </a:ext>
                  </a:extLst>
                </a:gridCol>
                <a:gridCol w="2642593">
                  <a:extLst>
                    <a:ext uri="{9D8B030D-6E8A-4147-A177-3AD203B41FA5}">
                      <a16:colId xmlns:a16="http://schemas.microsoft.com/office/drawing/2014/main" val="20003"/>
                    </a:ext>
                  </a:extLst>
                </a:gridCol>
              </a:tblGrid>
              <a:tr h="461772">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Step</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4213D"/>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Expanded</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4213D"/>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Frontier (after)</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4213D"/>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Explored</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461772">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A</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B, C, D</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A</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1772">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B</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C, D, E, F</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A, B</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extLst>
                  <a:ext uri="{0D108BD9-81ED-4DB2-BD59-A6C34878D82A}">
                    <a16:rowId xmlns:a16="http://schemas.microsoft.com/office/drawing/2014/main" val="10002"/>
                  </a:ext>
                </a:extLst>
              </a:tr>
              <a:tr h="461772">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C</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D, E, F</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A, B, C</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1772">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D</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E, F, G</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A, B, C, D</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extLst>
                  <a:ext uri="{0D108BD9-81ED-4DB2-BD59-A6C34878D82A}">
                    <a16:rowId xmlns:a16="http://schemas.microsoft.com/office/drawing/2014/main" val="10004"/>
                  </a:ext>
                </a:extLst>
              </a:tr>
              <a:tr h="461772">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E</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F, G</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A, B, C, D, E</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61772">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F</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G, H, I</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A, B, C, D, E, F</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extLst>
                  <a:ext uri="{0D108BD9-81ED-4DB2-BD59-A6C34878D82A}">
                    <a16:rowId xmlns:a16="http://schemas.microsoft.com/office/drawing/2014/main" val="10006"/>
                  </a:ext>
                </a:extLst>
              </a:tr>
              <a:tr h="461772">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G</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H, I</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A, B, C, D, E, F, G</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61772">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H</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I</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A, B, C, D, E, F, G, H</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extLst>
                  <a:ext uri="{0D108BD9-81ED-4DB2-BD59-A6C34878D82A}">
                    <a16:rowId xmlns:a16="http://schemas.microsoft.com/office/drawing/2014/main" val="10008"/>
                  </a:ext>
                </a:extLst>
              </a:tr>
              <a:tr h="461772">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9</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I — GOAL</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A, B, C, D, E, F, G, H, I</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92608"/>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UNINFORMED SEARCH · BFS</a:t>
            </a:r>
            <a:endParaRPr lang="en-US" sz="1200" dirty="0"/>
          </a:p>
        </p:txBody>
      </p:sp>
      <p:sp>
        <p:nvSpPr>
          <p:cNvPr id="3" name="Text 1"/>
          <p:cNvSpPr txBox="1"/>
          <p:nvPr/>
        </p:nvSpPr>
        <p:spPr>
          <a:xfrm>
            <a:off x="502920" y="621792"/>
            <a:ext cx="11155680" cy="658368"/>
          </a:xfrm>
          <a:prstGeom prst="rect">
            <a:avLst/>
          </a:prstGeom>
          <a:noFill/>
          <a:ln/>
        </p:spPr>
        <p:txBody>
          <a:bodyPr wrap="square" rtlCol="0" anchor="ctr"/>
          <a:lstStyle/>
          <a:p>
            <a:pPr marL="0" indent="0">
              <a:buNone/>
            </a:pPr>
            <a:r>
              <a:rPr lang="en-US" sz="2900" b="1" dirty="0">
                <a:solidFill>
                  <a:srgbClr val="14213D"/>
                </a:solidFill>
                <a:latin typeface="Cambria" pitchFamily="34" charset="0"/>
                <a:ea typeface="Cambria" pitchFamily="34" charset="-122"/>
                <a:cs typeface="Cambria" pitchFamily="34" charset="-120"/>
              </a:rPr>
              <a:t>BFS Solution and Path Length</a:t>
            </a:r>
            <a:endParaRPr lang="en-US" sz="2900" dirty="0"/>
          </a:p>
        </p:txBody>
      </p:sp>
      <p:sp>
        <p:nvSpPr>
          <p:cNvPr id="4" name="Text 2"/>
          <p:cNvSpPr txBox="1"/>
          <p:nvPr/>
        </p:nvSpPr>
        <p:spPr>
          <a:xfrm>
            <a:off x="502920" y="6473952"/>
            <a:ext cx="7315200" cy="274320"/>
          </a:xfrm>
          <a:prstGeom prst="rect">
            <a:avLst/>
          </a:prstGeom>
          <a:noFill/>
          <a:ln/>
        </p:spPr>
        <p:txBody>
          <a:bodyPr wrap="square" rtlCol="0" anchor="ctr"/>
          <a:lstStyle/>
          <a:p>
            <a:pPr marL="0" indent="0">
              <a:buNone/>
            </a:pPr>
            <a:r>
              <a:rPr lang="en-US" sz="950" b="1" dirty="0">
                <a:solidFill>
                  <a:srgbClr val="6B7280"/>
                </a:solidFill>
                <a:latin typeface="Calibri" pitchFamily="34" charset="0"/>
                <a:ea typeface="Calibri" pitchFamily="34" charset="-122"/>
                <a:cs typeface="Calibri" pitchFamily="34" charset="-120"/>
              </a:rPr>
              <a:t>Artificial Intelligence</a:t>
            </a:r>
            <a:r>
              <a:rPr lang="en-US" sz="950" dirty="0">
                <a:solidFill>
                  <a:srgbClr val="6B7280"/>
                </a:solidFill>
                <a:latin typeface="Calibri" pitchFamily="34" charset="0"/>
                <a:ea typeface="Calibri" pitchFamily="34" charset="-122"/>
                <a:cs typeface="Calibri" pitchFamily="34" charset="-120"/>
              </a:rPr>
              <a:t>   ·   BS Computer Science   ·   Lecture 3</a:t>
            </a:r>
            <a:endParaRPr lang="en-US" sz="950" dirty="0"/>
          </a:p>
        </p:txBody>
      </p:sp>
      <p:sp>
        <p:nvSpPr>
          <p:cNvPr id="5" name="Text 3"/>
          <p:cNvSpPr txBox="1"/>
          <p:nvPr/>
        </p:nvSpPr>
        <p:spPr>
          <a:xfrm>
            <a:off x="8762695" y="6473952"/>
            <a:ext cx="292608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Dr. Ghulam Ali   ·   22</a:t>
            </a:r>
            <a:endParaRPr lang="en-US" sz="950" dirty="0"/>
          </a:p>
        </p:txBody>
      </p:sp>
      <p:sp>
        <p:nvSpPr>
          <p:cNvPr id="6" name="Shape 4"/>
          <p:cNvSpPr/>
          <p:nvPr/>
        </p:nvSpPr>
        <p:spPr>
          <a:xfrm flipH="1">
            <a:off x="3640617" y="1545309"/>
            <a:ext cx="1529924" cy="879706"/>
          </a:xfrm>
          <a:prstGeom prst="line">
            <a:avLst/>
          </a:prstGeom>
          <a:noFill/>
          <a:ln w="38100">
            <a:solidFill>
              <a:srgbClr val="C9A227"/>
            </a:solidFill>
            <a:prstDash val="solid"/>
          </a:ln>
        </p:spPr>
      </p:sp>
      <p:sp>
        <p:nvSpPr>
          <p:cNvPr id="7" name="Shape 5"/>
          <p:cNvSpPr/>
          <p:nvPr/>
        </p:nvSpPr>
        <p:spPr>
          <a:xfrm>
            <a:off x="5393131" y="1674084"/>
            <a:ext cx="9144" cy="622158"/>
          </a:xfrm>
          <a:prstGeom prst="line">
            <a:avLst/>
          </a:prstGeom>
          <a:noFill/>
          <a:ln w="19050">
            <a:solidFill>
              <a:srgbClr val="435273"/>
            </a:solidFill>
            <a:prstDash val="solid"/>
          </a:ln>
        </p:spPr>
      </p:sp>
      <p:sp>
        <p:nvSpPr>
          <p:cNvPr id="8" name="Shape 6"/>
          <p:cNvSpPr/>
          <p:nvPr/>
        </p:nvSpPr>
        <p:spPr>
          <a:xfrm>
            <a:off x="5615721" y="1545309"/>
            <a:ext cx="1529924" cy="879706"/>
          </a:xfrm>
          <a:prstGeom prst="line">
            <a:avLst/>
          </a:prstGeom>
          <a:noFill/>
          <a:ln w="19050">
            <a:solidFill>
              <a:srgbClr val="435273"/>
            </a:solidFill>
            <a:prstDash val="solid"/>
          </a:ln>
        </p:spPr>
      </p:sp>
      <p:sp>
        <p:nvSpPr>
          <p:cNvPr id="9" name="Shape 7"/>
          <p:cNvSpPr/>
          <p:nvPr/>
        </p:nvSpPr>
        <p:spPr>
          <a:xfrm flipH="1">
            <a:off x="2902461" y="2776534"/>
            <a:ext cx="389224" cy="688627"/>
          </a:xfrm>
          <a:prstGeom prst="line">
            <a:avLst/>
          </a:prstGeom>
          <a:noFill/>
          <a:ln w="19050">
            <a:solidFill>
              <a:srgbClr val="435273"/>
            </a:solidFill>
            <a:prstDash val="solid"/>
          </a:ln>
        </p:spPr>
      </p:sp>
      <p:sp>
        <p:nvSpPr>
          <p:cNvPr id="10" name="Shape 8"/>
          <p:cNvSpPr/>
          <p:nvPr/>
        </p:nvSpPr>
        <p:spPr>
          <a:xfrm>
            <a:off x="3544370" y="2776534"/>
            <a:ext cx="389224" cy="688627"/>
          </a:xfrm>
          <a:prstGeom prst="line">
            <a:avLst/>
          </a:prstGeom>
          <a:noFill/>
          <a:ln w="38100">
            <a:solidFill>
              <a:srgbClr val="C9A227"/>
            </a:solidFill>
            <a:prstDash val="solid"/>
          </a:ln>
        </p:spPr>
      </p:sp>
      <p:sp>
        <p:nvSpPr>
          <p:cNvPr id="11" name="Shape 9"/>
          <p:cNvSpPr/>
          <p:nvPr/>
        </p:nvSpPr>
        <p:spPr>
          <a:xfrm>
            <a:off x="7368235" y="2809768"/>
            <a:ext cx="9144" cy="622158"/>
          </a:xfrm>
          <a:prstGeom prst="line">
            <a:avLst/>
          </a:prstGeom>
          <a:noFill/>
          <a:ln w="19050">
            <a:solidFill>
              <a:srgbClr val="435273"/>
            </a:solidFill>
            <a:prstDash val="solid"/>
          </a:ln>
        </p:spPr>
      </p:sp>
      <p:sp>
        <p:nvSpPr>
          <p:cNvPr id="12" name="Shape 10"/>
          <p:cNvSpPr/>
          <p:nvPr/>
        </p:nvSpPr>
        <p:spPr>
          <a:xfrm flipH="1">
            <a:off x="3586175" y="3916332"/>
            <a:ext cx="354991" cy="680400"/>
          </a:xfrm>
          <a:prstGeom prst="line">
            <a:avLst/>
          </a:prstGeom>
          <a:noFill/>
          <a:ln w="19050">
            <a:solidFill>
              <a:srgbClr val="435273"/>
            </a:solidFill>
            <a:prstDash val="solid"/>
          </a:ln>
        </p:spPr>
      </p:sp>
      <p:sp>
        <p:nvSpPr>
          <p:cNvPr id="13" name="Shape 11"/>
          <p:cNvSpPr/>
          <p:nvPr/>
        </p:nvSpPr>
        <p:spPr>
          <a:xfrm>
            <a:off x="4178706" y="3916332"/>
            <a:ext cx="354991" cy="680400"/>
          </a:xfrm>
          <a:prstGeom prst="line">
            <a:avLst/>
          </a:prstGeom>
          <a:noFill/>
          <a:ln w="38100">
            <a:solidFill>
              <a:srgbClr val="C9A227"/>
            </a:solidFill>
            <a:prstDash val="solid"/>
          </a:ln>
        </p:spPr>
      </p:sp>
      <p:sp>
        <p:nvSpPr>
          <p:cNvPr id="14" name="Shape 12"/>
          <p:cNvSpPr/>
          <p:nvPr/>
        </p:nvSpPr>
        <p:spPr>
          <a:xfrm>
            <a:off x="5136368" y="1160556"/>
            <a:ext cx="513527" cy="513527"/>
          </a:xfrm>
          <a:prstGeom prst="ellipse">
            <a:avLst/>
          </a:prstGeom>
          <a:solidFill>
            <a:srgbClr val="14213D"/>
          </a:solidFill>
          <a:ln w="19050">
            <a:solidFill>
              <a:srgbClr val="14213D"/>
            </a:solidFill>
            <a:prstDash val="solid"/>
          </a:ln>
        </p:spPr>
      </p:sp>
      <p:sp>
        <p:nvSpPr>
          <p:cNvPr id="15" name="Text 13"/>
          <p:cNvSpPr txBox="1"/>
          <p:nvPr/>
        </p:nvSpPr>
        <p:spPr>
          <a:xfrm>
            <a:off x="5136368" y="1160556"/>
            <a:ext cx="513527" cy="513527"/>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A</a:t>
            </a:r>
            <a:endParaRPr lang="en-US" sz="1350" dirty="0"/>
          </a:p>
        </p:txBody>
      </p:sp>
      <p:sp>
        <p:nvSpPr>
          <p:cNvPr id="16" name="Shape 14"/>
          <p:cNvSpPr/>
          <p:nvPr/>
        </p:nvSpPr>
        <p:spPr>
          <a:xfrm>
            <a:off x="3161264" y="2296241"/>
            <a:ext cx="513527" cy="513527"/>
          </a:xfrm>
          <a:prstGeom prst="ellipse">
            <a:avLst/>
          </a:prstGeom>
          <a:solidFill>
            <a:srgbClr val="14213D"/>
          </a:solidFill>
          <a:ln w="19050">
            <a:solidFill>
              <a:srgbClr val="14213D"/>
            </a:solidFill>
            <a:prstDash val="solid"/>
          </a:ln>
        </p:spPr>
      </p:sp>
      <p:sp>
        <p:nvSpPr>
          <p:cNvPr id="17" name="Text 15"/>
          <p:cNvSpPr txBox="1"/>
          <p:nvPr/>
        </p:nvSpPr>
        <p:spPr>
          <a:xfrm>
            <a:off x="3161264" y="2296241"/>
            <a:ext cx="513527" cy="513527"/>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B</a:t>
            </a:r>
            <a:endParaRPr lang="en-US" sz="1350" dirty="0"/>
          </a:p>
        </p:txBody>
      </p:sp>
      <p:sp>
        <p:nvSpPr>
          <p:cNvPr id="18" name="Shape 16"/>
          <p:cNvSpPr/>
          <p:nvPr/>
        </p:nvSpPr>
        <p:spPr>
          <a:xfrm>
            <a:off x="5136368" y="2296241"/>
            <a:ext cx="513527" cy="513527"/>
          </a:xfrm>
          <a:prstGeom prst="ellipse">
            <a:avLst/>
          </a:prstGeom>
          <a:solidFill>
            <a:srgbClr val="FFFFFF"/>
          </a:solidFill>
          <a:ln w="19050">
            <a:solidFill>
              <a:srgbClr val="435273"/>
            </a:solidFill>
            <a:prstDash val="solid"/>
          </a:ln>
        </p:spPr>
      </p:sp>
      <p:sp>
        <p:nvSpPr>
          <p:cNvPr id="19" name="Text 17"/>
          <p:cNvSpPr txBox="1"/>
          <p:nvPr/>
        </p:nvSpPr>
        <p:spPr>
          <a:xfrm>
            <a:off x="5136368" y="2296241"/>
            <a:ext cx="513527" cy="513527"/>
          </a:xfrm>
          <a:prstGeom prst="rect">
            <a:avLst/>
          </a:prstGeom>
          <a:noFill/>
          <a:ln/>
        </p:spPr>
        <p:txBody>
          <a:bodyPr wrap="square" rtlCol="0" anchor="ctr"/>
          <a:lstStyle/>
          <a:p>
            <a:pPr marL="0" indent="0" algn="ctr">
              <a:buNone/>
            </a:pPr>
            <a:r>
              <a:rPr lang="en-US" sz="1350" b="1" dirty="0">
                <a:solidFill>
                  <a:srgbClr val="14213D"/>
                </a:solidFill>
                <a:latin typeface="Calibri" pitchFamily="34" charset="0"/>
                <a:ea typeface="Calibri" pitchFamily="34" charset="-122"/>
                <a:cs typeface="Calibri" pitchFamily="34" charset="-120"/>
              </a:rPr>
              <a:t>C</a:t>
            </a:r>
            <a:endParaRPr lang="en-US" sz="1350" dirty="0"/>
          </a:p>
        </p:txBody>
      </p:sp>
      <p:sp>
        <p:nvSpPr>
          <p:cNvPr id="20" name="Shape 18"/>
          <p:cNvSpPr/>
          <p:nvPr/>
        </p:nvSpPr>
        <p:spPr>
          <a:xfrm>
            <a:off x="7111472" y="2296241"/>
            <a:ext cx="513527" cy="513527"/>
          </a:xfrm>
          <a:prstGeom prst="ellipse">
            <a:avLst/>
          </a:prstGeom>
          <a:solidFill>
            <a:srgbClr val="FFFFFF"/>
          </a:solidFill>
          <a:ln w="19050">
            <a:solidFill>
              <a:srgbClr val="435273"/>
            </a:solidFill>
            <a:prstDash val="solid"/>
          </a:ln>
        </p:spPr>
      </p:sp>
      <p:sp>
        <p:nvSpPr>
          <p:cNvPr id="21" name="Text 19"/>
          <p:cNvSpPr txBox="1"/>
          <p:nvPr/>
        </p:nvSpPr>
        <p:spPr>
          <a:xfrm>
            <a:off x="7111472" y="2296241"/>
            <a:ext cx="513527" cy="513527"/>
          </a:xfrm>
          <a:prstGeom prst="rect">
            <a:avLst/>
          </a:prstGeom>
          <a:noFill/>
          <a:ln/>
        </p:spPr>
        <p:txBody>
          <a:bodyPr wrap="square" rtlCol="0" anchor="ctr"/>
          <a:lstStyle/>
          <a:p>
            <a:pPr marL="0" indent="0" algn="ctr">
              <a:buNone/>
            </a:pPr>
            <a:r>
              <a:rPr lang="en-US" sz="1350" b="1" dirty="0">
                <a:solidFill>
                  <a:srgbClr val="14213D"/>
                </a:solidFill>
                <a:latin typeface="Calibri" pitchFamily="34" charset="0"/>
                <a:ea typeface="Calibri" pitchFamily="34" charset="-122"/>
                <a:cs typeface="Calibri" pitchFamily="34" charset="-120"/>
              </a:rPr>
              <a:t>D</a:t>
            </a:r>
            <a:endParaRPr lang="en-US" sz="1350" dirty="0"/>
          </a:p>
        </p:txBody>
      </p:sp>
      <p:sp>
        <p:nvSpPr>
          <p:cNvPr id="22" name="Shape 20"/>
          <p:cNvSpPr/>
          <p:nvPr/>
        </p:nvSpPr>
        <p:spPr>
          <a:xfrm>
            <a:off x="2519355" y="3431926"/>
            <a:ext cx="513527" cy="513527"/>
          </a:xfrm>
          <a:prstGeom prst="ellipse">
            <a:avLst/>
          </a:prstGeom>
          <a:solidFill>
            <a:srgbClr val="FFFFFF"/>
          </a:solidFill>
          <a:ln w="19050">
            <a:solidFill>
              <a:srgbClr val="435273"/>
            </a:solidFill>
            <a:prstDash val="solid"/>
          </a:ln>
        </p:spPr>
      </p:sp>
      <p:sp>
        <p:nvSpPr>
          <p:cNvPr id="23" name="Text 21"/>
          <p:cNvSpPr txBox="1"/>
          <p:nvPr/>
        </p:nvSpPr>
        <p:spPr>
          <a:xfrm>
            <a:off x="2519355" y="3431926"/>
            <a:ext cx="513527" cy="513527"/>
          </a:xfrm>
          <a:prstGeom prst="rect">
            <a:avLst/>
          </a:prstGeom>
          <a:noFill/>
          <a:ln/>
        </p:spPr>
        <p:txBody>
          <a:bodyPr wrap="square" rtlCol="0" anchor="ctr"/>
          <a:lstStyle/>
          <a:p>
            <a:pPr marL="0" indent="0" algn="ctr">
              <a:buNone/>
            </a:pPr>
            <a:r>
              <a:rPr lang="en-US" sz="1350" b="1" dirty="0">
                <a:solidFill>
                  <a:srgbClr val="14213D"/>
                </a:solidFill>
                <a:latin typeface="Calibri" pitchFamily="34" charset="0"/>
                <a:ea typeface="Calibri" pitchFamily="34" charset="-122"/>
                <a:cs typeface="Calibri" pitchFamily="34" charset="-120"/>
              </a:rPr>
              <a:t>E</a:t>
            </a:r>
            <a:endParaRPr lang="en-US" sz="1350" dirty="0"/>
          </a:p>
        </p:txBody>
      </p:sp>
      <p:sp>
        <p:nvSpPr>
          <p:cNvPr id="24" name="Shape 22"/>
          <p:cNvSpPr/>
          <p:nvPr/>
        </p:nvSpPr>
        <p:spPr>
          <a:xfrm>
            <a:off x="3803172" y="3431926"/>
            <a:ext cx="513527" cy="513527"/>
          </a:xfrm>
          <a:prstGeom prst="ellipse">
            <a:avLst/>
          </a:prstGeom>
          <a:solidFill>
            <a:srgbClr val="14213D"/>
          </a:solidFill>
          <a:ln w="19050">
            <a:solidFill>
              <a:srgbClr val="14213D"/>
            </a:solidFill>
            <a:prstDash val="solid"/>
          </a:ln>
        </p:spPr>
      </p:sp>
      <p:sp>
        <p:nvSpPr>
          <p:cNvPr id="25" name="Text 23"/>
          <p:cNvSpPr txBox="1"/>
          <p:nvPr/>
        </p:nvSpPr>
        <p:spPr>
          <a:xfrm>
            <a:off x="3803172" y="3431926"/>
            <a:ext cx="513527" cy="513527"/>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F</a:t>
            </a:r>
            <a:endParaRPr lang="en-US" sz="1350" dirty="0"/>
          </a:p>
        </p:txBody>
      </p:sp>
      <p:sp>
        <p:nvSpPr>
          <p:cNvPr id="26" name="Shape 24"/>
          <p:cNvSpPr/>
          <p:nvPr/>
        </p:nvSpPr>
        <p:spPr>
          <a:xfrm>
            <a:off x="7111472" y="3431926"/>
            <a:ext cx="513527" cy="513527"/>
          </a:xfrm>
          <a:prstGeom prst="ellipse">
            <a:avLst/>
          </a:prstGeom>
          <a:solidFill>
            <a:srgbClr val="FFFFFF"/>
          </a:solidFill>
          <a:ln w="19050">
            <a:solidFill>
              <a:srgbClr val="435273"/>
            </a:solidFill>
            <a:prstDash val="solid"/>
          </a:ln>
        </p:spPr>
      </p:sp>
      <p:sp>
        <p:nvSpPr>
          <p:cNvPr id="27" name="Text 25"/>
          <p:cNvSpPr txBox="1"/>
          <p:nvPr/>
        </p:nvSpPr>
        <p:spPr>
          <a:xfrm>
            <a:off x="7111472" y="3431926"/>
            <a:ext cx="513527" cy="513527"/>
          </a:xfrm>
          <a:prstGeom prst="rect">
            <a:avLst/>
          </a:prstGeom>
          <a:noFill/>
          <a:ln/>
        </p:spPr>
        <p:txBody>
          <a:bodyPr wrap="square" rtlCol="0" anchor="ctr"/>
          <a:lstStyle/>
          <a:p>
            <a:pPr marL="0" indent="0" algn="ctr">
              <a:buNone/>
            </a:pPr>
            <a:r>
              <a:rPr lang="en-US" sz="1350" b="1" dirty="0">
                <a:solidFill>
                  <a:srgbClr val="14213D"/>
                </a:solidFill>
                <a:latin typeface="Calibri" pitchFamily="34" charset="0"/>
                <a:ea typeface="Calibri" pitchFamily="34" charset="-122"/>
                <a:cs typeface="Calibri" pitchFamily="34" charset="-120"/>
              </a:rPr>
              <a:t>G</a:t>
            </a:r>
            <a:endParaRPr lang="en-US" sz="1350" dirty="0"/>
          </a:p>
        </p:txBody>
      </p:sp>
      <p:sp>
        <p:nvSpPr>
          <p:cNvPr id="28" name="Shape 26"/>
          <p:cNvSpPr/>
          <p:nvPr/>
        </p:nvSpPr>
        <p:spPr>
          <a:xfrm>
            <a:off x="3210641" y="4567611"/>
            <a:ext cx="513527" cy="513527"/>
          </a:xfrm>
          <a:prstGeom prst="ellipse">
            <a:avLst/>
          </a:prstGeom>
          <a:solidFill>
            <a:srgbClr val="FFFFFF"/>
          </a:solidFill>
          <a:ln w="19050">
            <a:solidFill>
              <a:srgbClr val="435273"/>
            </a:solidFill>
            <a:prstDash val="solid"/>
          </a:ln>
        </p:spPr>
      </p:sp>
      <p:sp>
        <p:nvSpPr>
          <p:cNvPr id="29" name="Text 27"/>
          <p:cNvSpPr txBox="1"/>
          <p:nvPr/>
        </p:nvSpPr>
        <p:spPr>
          <a:xfrm>
            <a:off x="3210641" y="4567611"/>
            <a:ext cx="513527" cy="513527"/>
          </a:xfrm>
          <a:prstGeom prst="rect">
            <a:avLst/>
          </a:prstGeom>
          <a:noFill/>
          <a:ln/>
        </p:spPr>
        <p:txBody>
          <a:bodyPr wrap="square" rtlCol="0" anchor="ctr"/>
          <a:lstStyle/>
          <a:p>
            <a:pPr marL="0" indent="0" algn="ctr">
              <a:buNone/>
            </a:pPr>
            <a:r>
              <a:rPr lang="en-US" sz="1350" b="1" dirty="0">
                <a:solidFill>
                  <a:srgbClr val="14213D"/>
                </a:solidFill>
                <a:latin typeface="Calibri" pitchFamily="34" charset="0"/>
                <a:ea typeface="Calibri" pitchFamily="34" charset="-122"/>
                <a:cs typeface="Calibri" pitchFamily="34" charset="-120"/>
              </a:rPr>
              <a:t>H</a:t>
            </a:r>
            <a:endParaRPr lang="en-US" sz="1350" dirty="0"/>
          </a:p>
        </p:txBody>
      </p:sp>
      <p:sp>
        <p:nvSpPr>
          <p:cNvPr id="30" name="Shape 28"/>
          <p:cNvSpPr/>
          <p:nvPr/>
        </p:nvSpPr>
        <p:spPr>
          <a:xfrm>
            <a:off x="4395704" y="4567611"/>
            <a:ext cx="513527" cy="513527"/>
          </a:xfrm>
          <a:prstGeom prst="ellipse">
            <a:avLst/>
          </a:prstGeom>
          <a:solidFill>
            <a:srgbClr val="C9A227"/>
          </a:solidFill>
          <a:ln w="25400">
            <a:solidFill>
              <a:srgbClr val="14213D"/>
            </a:solidFill>
            <a:prstDash val="solid"/>
          </a:ln>
        </p:spPr>
      </p:sp>
      <p:sp>
        <p:nvSpPr>
          <p:cNvPr id="31" name="Text 29"/>
          <p:cNvSpPr txBox="1"/>
          <p:nvPr/>
        </p:nvSpPr>
        <p:spPr>
          <a:xfrm>
            <a:off x="4395704" y="4567611"/>
            <a:ext cx="513527" cy="513527"/>
          </a:xfrm>
          <a:prstGeom prst="rect">
            <a:avLst/>
          </a:prstGeom>
          <a:noFill/>
          <a:ln/>
        </p:spPr>
        <p:txBody>
          <a:bodyPr wrap="square" rtlCol="0" anchor="ctr"/>
          <a:lstStyle/>
          <a:p>
            <a:pPr marL="0" indent="0" algn="ctr">
              <a:buNone/>
            </a:pPr>
            <a:r>
              <a:rPr lang="en-US" sz="1350" b="1" dirty="0">
                <a:solidFill>
                  <a:srgbClr val="0A1226"/>
                </a:solidFill>
                <a:latin typeface="Calibri" pitchFamily="34" charset="0"/>
                <a:ea typeface="Calibri" pitchFamily="34" charset="-122"/>
                <a:cs typeface="Calibri" pitchFamily="34" charset="-120"/>
              </a:rPr>
              <a:t>I</a:t>
            </a:r>
            <a:endParaRPr lang="en-US" sz="1350" dirty="0"/>
          </a:p>
        </p:txBody>
      </p:sp>
      <p:sp>
        <p:nvSpPr>
          <p:cNvPr id="32" name="Shape 30"/>
          <p:cNvSpPr/>
          <p:nvPr/>
        </p:nvSpPr>
        <p:spPr>
          <a:xfrm>
            <a:off x="7863840" y="1417320"/>
            <a:ext cx="3794760" cy="5394960"/>
          </a:xfrm>
          <a:prstGeom prst="roundRect">
            <a:avLst>
              <a:gd name="adj" fmla="val 1928"/>
            </a:avLst>
          </a:prstGeom>
          <a:solidFill>
            <a:srgbClr val="EAEFF8"/>
          </a:solidFill>
          <a:ln/>
        </p:spPr>
      </p:sp>
      <p:sp>
        <p:nvSpPr>
          <p:cNvPr id="33" name="Text 31"/>
          <p:cNvSpPr txBox="1"/>
          <p:nvPr/>
        </p:nvSpPr>
        <p:spPr>
          <a:xfrm>
            <a:off x="8138160" y="1691640"/>
            <a:ext cx="3291840" cy="4846320"/>
          </a:xfrm>
          <a:prstGeom prst="rect">
            <a:avLst/>
          </a:prstGeom>
          <a:noFill/>
          <a:ln/>
        </p:spPr>
        <p:txBody>
          <a:bodyPr wrap="square" rtlCol="0" anchor="t"/>
          <a:lstStyle/>
          <a:p>
            <a:pPr marL="0" indent="0">
              <a:lnSpc>
                <a:spcPct val="125000"/>
              </a:lnSpc>
              <a:spcAft>
                <a:spcPts val="400"/>
              </a:spcAft>
              <a:buNone/>
            </a:pPr>
            <a:r>
              <a:rPr lang="en-US" b="1" dirty="0">
                <a:solidFill>
                  <a:srgbClr val="14213D"/>
                </a:solidFill>
                <a:latin typeface="Times New Roman" panose="02020603050405020304" pitchFamily="18" charset="0"/>
                <a:ea typeface="Calibri" pitchFamily="34" charset="-122"/>
                <a:cs typeface="Times New Roman" panose="02020603050405020304" pitchFamily="18" charset="0"/>
              </a:rPr>
              <a:t>Solution path:</a:t>
            </a:r>
            <a:endParaRPr lang="en-US" dirty="0">
              <a:latin typeface="Times New Roman" panose="02020603050405020304" pitchFamily="18" charset="0"/>
              <a:cs typeface="Times New Roman" panose="02020603050405020304" pitchFamily="18" charset="0"/>
            </a:endParaRPr>
          </a:p>
          <a:p>
            <a:pPr marL="0" indent="0">
              <a:lnSpc>
                <a:spcPct val="125000"/>
              </a:lnSpc>
              <a:spcAft>
                <a:spcPts val="1400"/>
              </a:spcAft>
              <a:buNone/>
            </a:pPr>
            <a:r>
              <a:rPr lang="en-US" b="1" dirty="0">
                <a:solidFill>
                  <a:srgbClr val="0A1226"/>
                </a:solidFill>
                <a:latin typeface="Times New Roman" panose="02020603050405020304" pitchFamily="18" charset="0"/>
                <a:ea typeface="Courier New" pitchFamily="34" charset="-122"/>
                <a:cs typeface="Times New Roman" panose="02020603050405020304" pitchFamily="18" charset="0"/>
              </a:rPr>
              <a:t>A → B → F → I</a:t>
            </a:r>
            <a:endParaRPr lang="en-US" dirty="0">
              <a:latin typeface="Times New Roman" panose="02020603050405020304" pitchFamily="18" charset="0"/>
              <a:cs typeface="Times New Roman" panose="02020603050405020304" pitchFamily="18" charset="0"/>
            </a:endParaRPr>
          </a:p>
          <a:p>
            <a:pPr marL="0" indent="0">
              <a:lnSpc>
                <a:spcPct val="125000"/>
              </a:lnSpc>
              <a:spcAft>
                <a:spcPts val="400"/>
              </a:spcAft>
              <a:buNone/>
            </a:pPr>
            <a:r>
              <a:rPr lang="en-US" dirty="0">
                <a:solidFill>
                  <a:srgbClr val="000000"/>
                </a:solidFill>
                <a:latin typeface="Times New Roman" panose="02020603050405020304" pitchFamily="18" charset="0"/>
                <a:ea typeface="Calibri" pitchFamily="34" charset="-122"/>
                <a:cs typeface="Times New Roman" panose="02020603050405020304" pitchFamily="18" charset="0"/>
              </a:rPr>
              <a:t>Actions taken:  3</a:t>
            </a:r>
            <a:endParaRPr lang="en-US" dirty="0">
              <a:latin typeface="Times New Roman" panose="02020603050405020304" pitchFamily="18" charset="0"/>
              <a:cs typeface="Times New Roman" panose="02020603050405020304" pitchFamily="18" charset="0"/>
            </a:endParaRPr>
          </a:p>
          <a:p>
            <a:pPr marL="0" indent="0">
              <a:lnSpc>
                <a:spcPct val="125000"/>
              </a:lnSpc>
              <a:spcAft>
                <a:spcPts val="1400"/>
              </a:spcAft>
              <a:buNone/>
            </a:pPr>
            <a:r>
              <a:rPr lang="en-US" dirty="0">
                <a:solidFill>
                  <a:srgbClr val="000000"/>
                </a:solidFill>
                <a:latin typeface="Times New Roman" panose="02020603050405020304" pitchFamily="18" charset="0"/>
                <a:ea typeface="Calibri" pitchFamily="34" charset="-122"/>
                <a:cs typeface="Times New Roman" panose="02020603050405020304" pitchFamily="18" charset="0"/>
              </a:rPr>
              <a:t>States visited:  4</a:t>
            </a:r>
            <a:endParaRPr lang="en-US" dirty="0">
              <a:latin typeface="Times New Roman" panose="02020603050405020304" pitchFamily="18" charset="0"/>
              <a:cs typeface="Times New Roman" panose="02020603050405020304" pitchFamily="18" charset="0"/>
            </a:endParaRPr>
          </a:p>
          <a:p>
            <a:pPr marL="0" indent="0">
              <a:lnSpc>
                <a:spcPct val="125000"/>
              </a:lnSpc>
              <a:buNone/>
            </a:pPr>
            <a:r>
              <a:rPr lang="en-US" i="1" dirty="0">
                <a:solidFill>
                  <a:srgbClr val="435273"/>
                </a:solidFill>
                <a:latin typeface="Times New Roman" panose="02020603050405020304" pitchFamily="18" charset="0"/>
                <a:ea typeface="Calibri" pitchFamily="34" charset="-122"/>
                <a:cs typeface="Times New Roman" panose="02020603050405020304" pitchFamily="18" charset="0"/>
              </a:rPr>
              <a:t>Path length = number of ACTIONS, not the number of states.</a:t>
            </a:r>
            <a:endParaRPr lang="en-US" dirty="0">
              <a:latin typeface="Times New Roman" panose="02020603050405020304" pitchFamily="18" charset="0"/>
              <a:cs typeface="Times New Roman" panose="02020603050405020304" pitchFamily="18" charset="0"/>
            </a:endParaRPr>
          </a:p>
        </p:txBody>
      </p:sp>
      <p:sp>
        <p:nvSpPr>
          <p:cNvPr id="34" name="Text 32"/>
          <p:cNvSpPr txBox="1"/>
          <p:nvPr/>
        </p:nvSpPr>
        <p:spPr>
          <a:xfrm>
            <a:off x="502920" y="5623560"/>
            <a:ext cx="6949440" cy="777240"/>
          </a:xfrm>
          <a:prstGeom prst="rect">
            <a:avLst/>
          </a:prstGeom>
          <a:noFill/>
          <a:ln/>
        </p:spPr>
        <p:txBody>
          <a:bodyPr wrap="square" rtlCol="0" anchor="ctr"/>
          <a:lstStyle/>
          <a:p>
            <a:pPr marL="0" indent="0">
              <a:lnSpc>
                <a:spcPct val="128000"/>
              </a:lnSpc>
              <a:buNone/>
            </a:pPr>
            <a:r>
              <a:rPr lang="en-US" i="1" dirty="0">
                <a:solidFill>
                  <a:srgbClr val="435273"/>
                </a:solidFill>
                <a:latin typeface="Times New Roman" panose="02020603050405020304" pitchFamily="18" charset="0"/>
                <a:ea typeface="Calibri" pitchFamily="34" charset="-122"/>
                <a:cs typeface="Times New Roman" panose="02020603050405020304" pitchFamily="18" charset="0"/>
              </a:rPr>
              <a:t>Because every step costs 1 in this tree, BFS's shallowest-first strategy guarantees this is a solution with the fewest possible actions — no path from A to I is shorter than 3 actions.</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92608"/>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UNINFORMED SEARCH · BFS</a:t>
            </a:r>
            <a:endParaRPr lang="en-US" sz="1200" dirty="0"/>
          </a:p>
        </p:txBody>
      </p:sp>
      <p:sp>
        <p:nvSpPr>
          <p:cNvPr id="3" name="Text 1"/>
          <p:cNvSpPr txBox="1"/>
          <p:nvPr/>
        </p:nvSpPr>
        <p:spPr>
          <a:xfrm>
            <a:off x="502920" y="621792"/>
            <a:ext cx="11155680" cy="658368"/>
          </a:xfrm>
          <a:prstGeom prst="rect">
            <a:avLst/>
          </a:prstGeom>
          <a:noFill/>
          <a:ln/>
        </p:spPr>
        <p:txBody>
          <a:bodyPr wrap="square" rtlCol="0" anchor="ctr"/>
          <a:lstStyle/>
          <a:p>
            <a:pPr marL="0" indent="0">
              <a:buNone/>
            </a:pPr>
            <a:r>
              <a:rPr lang="en-US" sz="2900" b="1" dirty="0">
                <a:solidFill>
                  <a:srgbClr val="14213D"/>
                </a:solidFill>
                <a:latin typeface="Cambria" pitchFamily="34" charset="0"/>
                <a:ea typeface="Cambria" pitchFamily="34" charset="-122"/>
                <a:cs typeface="Cambria" pitchFamily="34" charset="-120"/>
              </a:rPr>
              <a:t>BFS: Completeness and Optimality</a:t>
            </a:r>
            <a:endParaRPr lang="en-US" sz="2900" dirty="0"/>
          </a:p>
        </p:txBody>
      </p:sp>
      <p:sp>
        <p:nvSpPr>
          <p:cNvPr id="4" name="Text 2"/>
          <p:cNvSpPr txBox="1"/>
          <p:nvPr/>
        </p:nvSpPr>
        <p:spPr>
          <a:xfrm>
            <a:off x="502920" y="6473952"/>
            <a:ext cx="7315200" cy="274320"/>
          </a:xfrm>
          <a:prstGeom prst="rect">
            <a:avLst/>
          </a:prstGeom>
          <a:noFill/>
          <a:ln/>
        </p:spPr>
        <p:txBody>
          <a:bodyPr wrap="square" rtlCol="0" anchor="ctr"/>
          <a:lstStyle/>
          <a:p>
            <a:pPr marL="0" indent="0">
              <a:buNone/>
            </a:pPr>
            <a:r>
              <a:rPr lang="en-US" sz="950" b="1" dirty="0">
                <a:solidFill>
                  <a:srgbClr val="6B7280"/>
                </a:solidFill>
                <a:latin typeface="Calibri" pitchFamily="34" charset="0"/>
                <a:ea typeface="Calibri" pitchFamily="34" charset="-122"/>
                <a:cs typeface="Calibri" pitchFamily="34" charset="-120"/>
              </a:rPr>
              <a:t>Artificial Intelligence</a:t>
            </a:r>
            <a:r>
              <a:rPr lang="en-US" sz="950" dirty="0">
                <a:solidFill>
                  <a:srgbClr val="6B7280"/>
                </a:solidFill>
                <a:latin typeface="Calibri" pitchFamily="34" charset="0"/>
                <a:ea typeface="Calibri" pitchFamily="34" charset="-122"/>
                <a:cs typeface="Calibri" pitchFamily="34" charset="-120"/>
              </a:rPr>
              <a:t>   ·   BS Computer Science   ·   Lecture 3</a:t>
            </a:r>
            <a:endParaRPr lang="en-US" sz="950" dirty="0"/>
          </a:p>
        </p:txBody>
      </p:sp>
      <p:sp>
        <p:nvSpPr>
          <p:cNvPr id="5" name="Text 3"/>
          <p:cNvSpPr txBox="1"/>
          <p:nvPr/>
        </p:nvSpPr>
        <p:spPr>
          <a:xfrm>
            <a:off x="8762695" y="6473952"/>
            <a:ext cx="292608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Dr. Ghulam Ali   ·   23</a:t>
            </a:r>
            <a:endParaRPr lang="en-US" sz="950" dirty="0"/>
          </a:p>
        </p:txBody>
      </p:sp>
      <p:sp>
        <p:nvSpPr>
          <p:cNvPr id="6" name="Shape 4"/>
          <p:cNvSpPr/>
          <p:nvPr/>
        </p:nvSpPr>
        <p:spPr>
          <a:xfrm>
            <a:off x="502920" y="1417320"/>
            <a:ext cx="5440680" cy="566928"/>
          </a:xfrm>
          <a:prstGeom prst="roundRect">
            <a:avLst>
              <a:gd name="adj" fmla="val 12903"/>
            </a:avLst>
          </a:prstGeom>
          <a:solidFill>
            <a:srgbClr val="E4F0EA"/>
          </a:solidFill>
          <a:ln w="12700">
            <a:solidFill>
              <a:srgbClr val="2E6B4F"/>
            </a:solidFill>
            <a:prstDash val="solid"/>
          </a:ln>
        </p:spPr>
      </p:sp>
      <p:sp>
        <p:nvSpPr>
          <p:cNvPr id="7" name="Text 5"/>
          <p:cNvSpPr txBox="1"/>
          <p:nvPr/>
        </p:nvSpPr>
        <p:spPr>
          <a:xfrm>
            <a:off x="640080" y="1472184"/>
            <a:ext cx="1188720" cy="457200"/>
          </a:xfrm>
          <a:prstGeom prst="rect">
            <a:avLst/>
          </a:prstGeom>
          <a:noFill/>
          <a:ln/>
        </p:spPr>
        <p:txBody>
          <a:bodyPr wrap="square" rtlCol="0" anchor="ctr"/>
          <a:lstStyle/>
          <a:p>
            <a:pPr marL="0" indent="0">
              <a:buNone/>
            </a:pPr>
            <a:r>
              <a:rPr lang="en-US" sz="1800" b="1" dirty="0">
                <a:solidFill>
                  <a:srgbClr val="2E6B4F"/>
                </a:solidFill>
                <a:latin typeface="Calibri" pitchFamily="34" charset="0"/>
                <a:ea typeface="Calibri" pitchFamily="34" charset="-122"/>
                <a:cs typeface="Calibri" pitchFamily="34" charset="-120"/>
              </a:rPr>
              <a:t>YES</a:t>
            </a:r>
            <a:endParaRPr lang="en-US" sz="1800" dirty="0"/>
          </a:p>
        </p:txBody>
      </p:sp>
      <p:sp>
        <p:nvSpPr>
          <p:cNvPr id="8" name="Text 6"/>
          <p:cNvSpPr txBox="1"/>
          <p:nvPr/>
        </p:nvSpPr>
        <p:spPr>
          <a:xfrm>
            <a:off x="1874520" y="1472184"/>
            <a:ext cx="3931920" cy="457200"/>
          </a:xfrm>
          <a:prstGeom prst="rect">
            <a:avLst/>
          </a:prstGeom>
          <a:noFill/>
          <a:ln/>
        </p:spPr>
        <p:txBody>
          <a:bodyPr wrap="square" rtlCol="0" anchor="ctr"/>
          <a:lstStyle/>
          <a:p>
            <a:pPr marL="0" indent="0">
              <a:buNone/>
            </a:pPr>
            <a:r>
              <a:rPr lang="en-US" sz="1600" dirty="0">
                <a:solidFill>
                  <a:srgbClr val="1B2333"/>
                </a:solidFill>
                <a:latin typeface="Times New Roman" panose="02020603050405020304" pitchFamily="18" charset="0"/>
                <a:ea typeface="Calibri" pitchFamily="34" charset="-122"/>
                <a:cs typeface="Times New Roman" panose="02020603050405020304" pitchFamily="18" charset="0"/>
              </a:rPr>
              <a:t>Completeness — under the standard finite-branching-factor assumption</a:t>
            </a:r>
            <a:endParaRPr lang="en-US" sz="1600" dirty="0">
              <a:latin typeface="Times New Roman" panose="02020603050405020304" pitchFamily="18" charset="0"/>
              <a:cs typeface="Times New Roman" panose="02020603050405020304" pitchFamily="18" charset="0"/>
            </a:endParaRPr>
          </a:p>
        </p:txBody>
      </p:sp>
      <p:sp>
        <p:nvSpPr>
          <p:cNvPr id="9" name="Shape 7"/>
          <p:cNvSpPr/>
          <p:nvPr/>
        </p:nvSpPr>
        <p:spPr>
          <a:xfrm>
            <a:off x="6263640" y="1417320"/>
            <a:ext cx="5440680" cy="566928"/>
          </a:xfrm>
          <a:prstGeom prst="roundRect">
            <a:avLst>
              <a:gd name="adj" fmla="val 12903"/>
            </a:avLst>
          </a:prstGeom>
          <a:solidFill>
            <a:srgbClr val="E4F0EA"/>
          </a:solidFill>
          <a:ln w="12700">
            <a:solidFill>
              <a:srgbClr val="2E6B4F"/>
            </a:solidFill>
            <a:prstDash val="solid"/>
          </a:ln>
        </p:spPr>
      </p:sp>
      <p:sp>
        <p:nvSpPr>
          <p:cNvPr id="10" name="Text 8"/>
          <p:cNvSpPr txBox="1"/>
          <p:nvPr/>
        </p:nvSpPr>
        <p:spPr>
          <a:xfrm>
            <a:off x="6400800" y="1472184"/>
            <a:ext cx="1188720" cy="457200"/>
          </a:xfrm>
          <a:prstGeom prst="rect">
            <a:avLst/>
          </a:prstGeom>
          <a:noFill/>
          <a:ln/>
        </p:spPr>
        <p:txBody>
          <a:bodyPr wrap="square" rtlCol="0" anchor="ctr"/>
          <a:lstStyle/>
          <a:p>
            <a:pPr marL="0" indent="0">
              <a:buNone/>
            </a:pPr>
            <a:r>
              <a:rPr lang="en-US" sz="1800" b="1" dirty="0">
                <a:solidFill>
                  <a:srgbClr val="2E6B4F"/>
                </a:solidFill>
                <a:latin typeface="Calibri" pitchFamily="34" charset="0"/>
                <a:ea typeface="Calibri" pitchFamily="34" charset="-122"/>
                <a:cs typeface="Calibri" pitchFamily="34" charset="-120"/>
              </a:rPr>
              <a:t>YES</a:t>
            </a:r>
            <a:endParaRPr lang="en-US" sz="1800" dirty="0"/>
          </a:p>
        </p:txBody>
      </p:sp>
      <p:sp>
        <p:nvSpPr>
          <p:cNvPr id="11" name="Text 9"/>
          <p:cNvSpPr txBox="1"/>
          <p:nvPr/>
        </p:nvSpPr>
        <p:spPr>
          <a:xfrm>
            <a:off x="7635240" y="1472184"/>
            <a:ext cx="3931920" cy="457200"/>
          </a:xfrm>
          <a:prstGeom prst="rect">
            <a:avLst/>
          </a:prstGeom>
          <a:noFill/>
          <a:ln/>
        </p:spPr>
        <p:txBody>
          <a:bodyPr wrap="square" rtlCol="0" anchor="ctr"/>
          <a:lstStyle/>
          <a:p>
            <a:pPr marL="0" indent="0">
              <a:buNone/>
            </a:pPr>
            <a:r>
              <a:rPr lang="en-US" sz="1600" dirty="0">
                <a:solidFill>
                  <a:srgbClr val="1B2333"/>
                </a:solidFill>
                <a:latin typeface="Times New Roman" panose="02020603050405020304" pitchFamily="18" charset="0"/>
                <a:ea typeface="Calibri" pitchFamily="34" charset="-122"/>
                <a:cs typeface="Times New Roman" panose="02020603050405020304" pitchFamily="18" charset="0"/>
              </a:rPr>
              <a:t>Optimality — when every action has the same (uniform) step cost</a:t>
            </a:r>
            <a:endParaRPr lang="en-US" sz="1600" dirty="0">
              <a:latin typeface="Times New Roman" panose="02020603050405020304" pitchFamily="18" charset="0"/>
              <a:cs typeface="Times New Roman" panose="02020603050405020304" pitchFamily="18" charset="0"/>
            </a:endParaRPr>
          </a:p>
        </p:txBody>
      </p:sp>
      <p:sp>
        <p:nvSpPr>
          <p:cNvPr id="12" name="Text 10"/>
          <p:cNvSpPr txBox="1"/>
          <p:nvPr/>
        </p:nvSpPr>
        <p:spPr>
          <a:xfrm>
            <a:off x="502920" y="2194560"/>
            <a:ext cx="11185855" cy="1051560"/>
          </a:xfrm>
          <a:prstGeom prst="rect">
            <a:avLst/>
          </a:prstGeom>
          <a:noFill/>
          <a:ln/>
        </p:spPr>
        <p:txBody>
          <a:bodyPr wrap="square" rtlCol="0" anchor="ctr"/>
          <a:lstStyle/>
          <a:p>
            <a:pPr marL="0" indent="0">
              <a:lnSpc>
                <a:spcPct val="128000"/>
              </a:lnSpc>
              <a:buNone/>
            </a:pPr>
            <a:r>
              <a:rPr lang="en-US" sz="1600" dirty="0">
                <a:solidFill>
                  <a:srgbClr val="1B2333"/>
                </a:solidFill>
                <a:latin typeface="Times New Roman" panose="02020603050405020304" pitchFamily="18" charset="0"/>
                <a:ea typeface="Calibri" pitchFamily="34" charset="-122"/>
                <a:cs typeface="Times New Roman" panose="02020603050405020304" pitchFamily="18" charset="0"/>
              </a:rPr>
              <a:t>Why complete?  Breadth-First Search systematically explores the search space level by level. Under the standard assumption of a finite branching factor, if a solution exists at some finite depth d, BFS will eventually finish exploring every shallower level and reach depth d — so it is guaranteed to find a solution.</a:t>
            </a:r>
            <a:endParaRPr lang="en-US" sz="1600" dirty="0">
              <a:latin typeface="Times New Roman" panose="02020603050405020304" pitchFamily="18" charset="0"/>
              <a:cs typeface="Times New Roman" panose="02020603050405020304" pitchFamily="18" charset="0"/>
            </a:endParaRPr>
          </a:p>
        </p:txBody>
      </p:sp>
      <p:sp>
        <p:nvSpPr>
          <p:cNvPr id="13" name="Text 11"/>
          <p:cNvSpPr txBox="1"/>
          <p:nvPr/>
        </p:nvSpPr>
        <p:spPr>
          <a:xfrm>
            <a:off x="502920" y="3291840"/>
            <a:ext cx="11185855" cy="1051560"/>
          </a:xfrm>
          <a:prstGeom prst="rect">
            <a:avLst/>
          </a:prstGeom>
          <a:noFill/>
          <a:ln/>
        </p:spPr>
        <p:txBody>
          <a:bodyPr wrap="square" rtlCol="0" anchor="ctr"/>
          <a:lstStyle/>
          <a:p>
            <a:pPr marL="0" indent="0">
              <a:lnSpc>
                <a:spcPct val="128000"/>
              </a:lnSpc>
              <a:buNone/>
            </a:pPr>
            <a:r>
              <a:rPr lang="en-US" sz="1600" dirty="0">
                <a:solidFill>
                  <a:srgbClr val="1B2333"/>
                </a:solidFill>
                <a:latin typeface="Times New Roman" panose="02020603050405020304" pitchFamily="18" charset="0"/>
                <a:ea typeface="Calibri" pitchFamily="34" charset="-122"/>
                <a:cs typeface="Times New Roman" panose="02020603050405020304" pitchFamily="18" charset="0"/>
              </a:rPr>
              <a:t>Why optimal (under uniform cost)?  Because BFS never expands a depth-(k+1) node before every depth-k node has been expanded, the very first goal node it encounters must be at the shallowest depth of any goal — and when every action costs the same, shallowest depth means lowest path cost.</a:t>
            </a:r>
            <a:endParaRPr lang="en-US" sz="1600" dirty="0">
              <a:latin typeface="Times New Roman" panose="02020603050405020304" pitchFamily="18" charset="0"/>
              <a:cs typeface="Times New Roman" panose="02020603050405020304" pitchFamily="18" charset="0"/>
            </a:endParaRPr>
          </a:p>
        </p:txBody>
      </p:sp>
      <p:sp>
        <p:nvSpPr>
          <p:cNvPr id="14" name="Shape 12"/>
          <p:cNvSpPr/>
          <p:nvPr/>
        </p:nvSpPr>
        <p:spPr>
          <a:xfrm>
            <a:off x="502920" y="4480560"/>
            <a:ext cx="11185855" cy="1051560"/>
          </a:xfrm>
          <a:prstGeom prst="roundRect">
            <a:avLst>
              <a:gd name="adj" fmla="val 6957"/>
            </a:avLst>
          </a:prstGeom>
          <a:solidFill>
            <a:srgbClr val="EAEFF8"/>
          </a:solidFill>
          <a:ln/>
        </p:spPr>
      </p:sp>
      <p:sp>
        <p:nvSpPr>
          <p:cNvPr id="15" name="Shape 13"/>
          <p:cNvSpPr/>
          <p:nvPr/>
        </p:nvSpPr>
        <p:spPr>
          <a:xfrm>
            <a:off x="704088" y="4681728"/>
            <a:ext cx="347472" cy="347472"/>
          </a:xfrm>
          <a:prstGeom prst="ellipse">
            <a:avLst/>
          </a:prstGeom>
          <a:solidFill>
            <a:srgbClr val="9E3B3B"/>
          </a:solidFill>
          <a:ln/>
        </p:spPr>
      </p:sp>
      <p:sp>
        <p:nvSpPr>
          <p:cNvPr id="16" name="Text 14"/>
          <p:cNvSpPr txBox="1"/>
          <p:nvPr/>
        </p:nvSpPr>
        <p:spPr>
          <a:xfrm>
            <a:off x="704088" y="4681728"/>
            <a:ext cx="347472" cy="347472"/>
          </a:xfrm>
          <a:prstGeom prst="rect">
            <a:avLst/>
          </a:prstGeom>
          <a:noFill/>
          <a:ln/>
        </p:spPr>
        <p:txBody>
          <a:bodyPr wrap="none" rtlCol="0" anchor="ctr"/>
          <a:lstStyle/>
          <a:p>
            <a:pPr marL="0" indent="0" algn="ctr">
              <a:buNone/>
            </a:pPr>
            <a:r>
              <a:rPr lang="en-US" sz="1500" b="1" dirty="0">
                <a:solidFill>
                  <a:srgbClr val="0A1226"/>
                </a:solidFill>
                <a:latin typeface="Calibri" pitchFamily="34" charset="0"/>
                <a:ea typeface="Calibri" pitchFamily="34" charset="-122"/>
                <a:cs typeface="Calibri" pitchFamily="34" charset="-120"/>
              </a:rPr>
              <a:t>✗</a:t>
            </a:r>
            <a:endParaRPr lang="en-US" sz="1500" dirty="0"/>
          </a:p>
        </p:txBody>
      </p:sp>
      <p:sp>
        <p:nvSpPr>
          <p:cNvPr id="17" name="Text 15"/>
          <p:cNvSpPr txBox="1"/>
          <p:nvPr/>
        </p:nvSpPr>
        <p:spPr>
          <a:xfrm>
            <a:off x="1207008" y="4645152"/>
            <a:ext cx="10280599" cy="310896"/>
          </a:xfrm>
          <a:prstGeom prst="rect">
            <a:avLst/>
          </a:prstGeom>
          <a:noFill/>
          <a:ln/>
        </p:spPr>
        <p:txBody>
          <a:bodyPr wrap="square" rtlCol="0" anchor="ctr"/>
          <a:lstStyle/>
          <a:p>
            <a:pPr marL="0" indent="0">
              <a:buNone/>
            </a:pPr>
            <a:r>
              <a:rPr lang="en-US" sz="1400" b="1" dirty="0">
                <a:solidFill>
                  <a:srgbClr val="14213D"/>
                </a:solidFill>
                <a:latin typeface="Calibri" pitchFamily="34" charset="0"/>
                <a:ea typeface="Calibri" pitchFamily="34" charset="-122"/>
                <a:cs typeface="Calibri" pitchFamily="34" charset="-120"/>
              </a:rPr>
              <a:t>Misconception:  "BFS always finds the cheapest solution."</a:t>
            </a:r>
            <a:endParaRPr lang="en-US" sz="1400" dirty="0"/>
          </a:p>
        </p:txBody>
      </p:sp>
      <p:sp>
        <p:nvSpPr>
          <p:cNvPr id="18" name="Text 16"/>
          <p:cNvSpPr txBox="1"/>
          <p:nvPr/>
        </p:nvSpPr>
        <p:spPr>
          <a:xfrm>
            <a:off x="1207008" y="4974336"/>
            <a:ext cx="10280599" cy="521208"/>
          </a:xfrm>
          <a:prstGeom prst="rect">
            <a:avLst/>
          </a:prstGeom>
          <a:noFill/>
          <a:ln/>
        </p:spPr>
        <p:txBody>
          <a:bodyPr wrap="square" rtlCol="0" anchor="t"/>
          <a:lstStyle/>
          <a:p>
            <a:pPr marL="0" indent="0">
              <a:lnSpc>
                <a:spcPct val="112000"/>
              </a:lnSpc>
              <a:buNone/>
            </a:pPr>
            <a:r>
              <a:rPr lang="en-US" sz="1600" dirty="0">
                <a:solidFill>
                  <a:srgbClr val="1B2333"/>
                </a:solidFill>
                <a:latin typeface="Times New Roman" panose="02020603050405020304" pitchFamily="18" charset="0"/>
                <a:ea typeface="Calibri" pitchFamily="34" charset="-122"/>
                <a:cs typeface="Times New Roman" panose="02020603050405020304" pitchFamily="18" charset="0"/>
              </a:rPr>
              <a:t>False in general — BFS optimizes for FEWEST ACTIONS, not lowest cost. If step costs differ, the shallowest goal may not be the cheapest one (see Slide 30).</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92608"/>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UNINFORMED SEARCH · BFS</a:t>
            </a:r>
            <a:endParaRPr lang="en-US" sz="1200" dirty="0"/>
          </a:p>
        </p:txBody>
      </p:sp>
      <p:sp>
        <p:nvSpPr>
          <p:cNvPr id="3" name="Text 1"/>
          <p:cNvSpPr txBox="1"/>
          <p:nvPr/>
        </p:nvSpPr>
        <p:spPr>
          <a:xfrm>
            <a:off x="502920" y="621792"/>
            <a:ext cx="11155680" cy="658368"/>
          </a:xfrm>
          <a:prstGeom prst="rect">
            <a:avLst/>
          </a:prstGeom>
          <a:noFill/>
          <a:ln/>
        </p:spPr>
        <p:txBody>
          <a:bodyPr wrap="square" rtlCol="0" anchor="ctr"/>
          <a:lstStyle/>
          <a:p>
            <a:pPr marL="0" indent="0">
              <a:buNone/>
            </a:pPr>
            <a:r>
              <a:rPr lang="en-US" sz="2900" b="1" dirty="0">
                <a:solidFill>
                  <a:srgbClr val="14213D"/>
                </a:solidFill>
                <a:latin typeface="Cambria" pitchFamily="34" charset="0"/>
                <a:ea typeface="Cambria" pitchFamily="34" charset="-122"/>
                <a:cs typeface="Cambria" pitchFamily="34" charset="-120"/>
              </a:rPr>
              <a:t>BFS: Time and Space Complexity</a:t>
            </a:r>
            <a:endParaRPr lang="en-US" sz="2900" dirty="0"/>
          </a:p>
        </p:txBody>
      </p:sp>
      <p:sp>
        <p:nvSpPr>
          <p:cNvPr id="4" name="Text 2"/>
          <p:cNvSpPr txBox="1"/>
          <p:nvPr/>
        </p:nvSpPr>
        <p:spPr>
          <a:xfrm>
            <a:off x="502920" y="6473952"/>
            <a:ext cx="7315200" cy="274320"/>
          </a:xfrm>
          <a:prstGeom prst="rect">
            <a:avLst/>
          </a:prstGeom>
          <a:noFill/>
          <a:ln/>
        </p:spPr>
        <p:txBody>
          <a:bodyPr wrap="square" rtlCol="0" anchor="ctr"/>
          <a:lstStyle/>
          <a:p>
            <a:pPr marL="0" indent="0">
              <a:buNone/>
            </a:pPr>
            <a:r>
              <a:rPr lang="en-US" sz="950" b="1" dirty="0">
                <a:solidFill>
                  <a:srgbClr val="6B7280"/>
                </a:solidFill>
                <a:latin typeface="Calibri" pitchFamily="34" charset="0"/>
                <a:ea typeface="Calibri" pitchFamily="34" charset="-122"/>
                <a:cs typeface="Calibri" pitchFamily="34" charset="-120"/>
              </a:rPr>
              <a:t>Artificial Intelligence</a:t>
            </a:r>
            <a:r>
              <a:rPr lang="en-US" sz="950" dirty="0">
                <a:solidFill>
                  <a:srgbClr val="6B7280"/>
                </a:solidFill>
                <a:latin typeface="Calibri" pitchFamily="34" charset="0"/>
                <a:ea typeface="Calibri" pitchFamily="34" charset="-122"/>
                <a:cs typeface="Calibri" pitchFamily="34" charset="-120"/>
              </a:rPr>
              <a:t>   ·   BS Computer Science   ·   Lecture 3</a:t>
            </a:r>
            <a:endParaRPr lang="en-US" sz="950" dirty="0"/>
          </a:p>
        </p:txBody>
      </p:sp>
      <p:sp>
        <p:nvSpPr>
          <p:cNvPr id="5" name="Text 3"/>
          <p:cNvSpPr txBox="1"/>
          <p:nvPr/>
        </p:nvSpPr>
        <p:spPr>
          <a:xfrm>
            <a:off x="8762695" y="6473952"/>
            <a:ext cx="292608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Dr. Ghulam Ali   ·   24</a:t>
            </a:r>
            <a:endParaRPr lang="en-US" sz="950" dirty="0"/>
          </a:p>
        </p:txBody>
      </p:sp>
      <p:sp>
        <p:nvSpPr>
          <p:cNvPr id="6" name="Shape 4"/>
          <p:cNvSpPr/>
          <p:nvPr/>
        </p:nvSpPr>
        <p:spPr>
          <a:xfrm>
            <a:off x="502920" y="1417320"/>
            <a:ext cx="5120640" cy="1371600"/>
          </a:xfrm>
          <a:prstGeom prst="roundRect">
            <a:avLst>
              <a:gd name="adj" fmla="val 5333"/>
            </a:avLst>
          </a:prstGeom>
          <a:solidFill>
            <a:srgbClr val="14213D"/>
          </a:solidFill>
          <a:ln/>
        </p:spPr>
      </p:sp>
      <p:sp>
        <p:nvSpPr>
          <p:cNvPr id="7" name="Text 5"/>
          <p:cNvSpPr txBox="1"/>
          <p:nvPr/>
        </p:nvSpPr>
        <p:spPr>
          <a:xfrm>
            <a:off x="777240" y="1554480"/>
            <a:ext cx="4572000" cy="1097280"/>
          </a:xfrm>
          <a:prstGeom prst="rect">
            <a:avLst/>
          </a:prstGeom>
          <a:noFill/>
          <a:ln/>
        </p:spPr>
        <p:txBody>
          <a:bodyPr wrap="square" rtlCol="0" anchor="ctr"/>
          <a:lstStyle/>
          <a:p>
            <a:pPr marL="0" indent="0">
              <a:lnSpc>
                <a:spcPct val="130000"/>
              </a:lnSpc>
              <a:buNone/>
            </a:pPr>
            <a:r>
              <a:rPr lang="en-US" sz="2200" b="1" dirty="0">
                <a:solidFill>
                  <a:srgbClr val="FFFFFF"/>
                </a:solidFill>
                <a:latin typeface="Cambria Math" pitchFamily="34" charset="0"/>
                <a:ea typeface="Cambria Math" pitchFamily="34" charset="-122"/>
                <a:cs typeface="Cambria Math" pitchFamily="34" charset="-120"/>
              </a:rPr>
              <a:t>Time   =   O(b</a:t>
            </a:r>
            <a:r>
              <a:rPr lang="en-US" sz="2200" b="1" baseline="30000" dirty="0">
                <a:solidFill>
                  <a:srgbClr val="FFFFFF"/>
                </a:solidFill>
                <a:latin typeface="Cambria Math" pitchFamily="34" charset="0"/>
                <a:ea typeface="Cambria Math" pitchFamily="34" charset="-122"/>
                <a:cs typeface="Cambria Math" pitchFamily="34" charset="-120"/>
              </a:rPr>
              <a:t>d</a:t>
            </a:r>
            <a:r>
              <a:rPr lang="en-US" sz="2200" b="1" dirty="0">
                <a:solidFill>
                  <a:srgbClr val="FFFFFF"/>
                </a:solidFill>
                <a:latin typeface="Cambria Math" pitchFamily="34" charset="0"/>
                <a:ea typeface="Cambria Math" pitchFamily="34" charset="-122"/>
                <a:cs typeface="Cambria Math" pitchFamily="34" charset="-120"/>
              </a:rPr>
              <a:t>)</a:t>
            </a:r>
            <a:endParaRPr lang="en-US" sz="2200" dirty="0"/>
          </a:p>
          <a:p>
            <a:pPr marL="0" indent="0">
              <a:lnSpc>
                <a:spcPct val="130000"/>
              </a:lnSpc>
              <a:buNone/>
            </a:pPr>
            <a:r>
              <a:rPr lang="en-US" sz="2200" b="1" dirty="0">
                <a:solidFill>
                  <a:srgbClr val="FFFFFF"/>
                </a:solidFill>
                <a:latin typeface="Cambria Math" pitchFamily="34" charset="0"/>
                <a:ea typeface="Cambria Math" pitchFamily="34" charset="-122"/>
                <a:cs typeface="Cambria Math" pitchFamily="34" charset="-120"/>
              </a:rPr>
              <a:t>Space  =   O(b</a:t>
            </a:r>
            <a:r>
              <a:rPr lang="en-US" sz="2200" b="1" baseline="30000" dirty="0">
                <a:solidFill>
                  <a:srgbClr val="FFFFFF"/>
                </a:solidFill>
                <a:latin typeface="Cambria Math" pitchFamily="34" charset="0"/>
                <a:ea typeface="Cambria Math" pitchFamily="34" charset="-122"/>
                <a:cs typeface="Cambria Math" pitchFamily="34" charset="-120"/>
              </a:rPr>
              <a:t>d</a:t>
            </a:r>
            <a:r>
              <a:rPr lang="en-US" sz="2200" b="1" dirty="0">
                <a:solidFill>
                  <a:srgbClr val="FFFFFF"/>
                </a:solidFill>
                <a:latin typeface="Cambria Math" pitchFamily="34" charset="0"/>
                <a:ea typeface="Cambria Math" pitchFamily="34" charset="-122"/>
                <a:cs typeface="Cambria Math" pitchFamily="34" charset="-120"/>
              </a:rPr>
              <a:t>)</a:t>
            </a:r>
            <a:endParaRPr lang="en-US" sz="2200" dirty="0"/>
          </a:p>
        </p:txBody>
      </p:sp>
      <p:sp>
        <p:nvSpPr>
          <p:cNvPr id="8" name="Text 6"/>
          <p:cNvSpPr txBox="1"/>
          <p:nvPr/>
        </p:nvSpPr>
        <p:spPr>
          <a:xfrm>
            <a:off x="502920" y="3017520"/>
            <a:ext cx="5120640" cy="1188720"/>
          </a:xfrm>
          <a:prstGeom prst="rect">
            <a:avLst/>
          </a:prstGeom>
          <a:noFill/>
          <a:ln/>
        </p:spPr>
        <p:txBody>
          <a:bodyPr wrap="square" rtlCol="0" anchor="t"/>
          <a:lstStyle/>
          <a:p>
            <a:pPr marL="228600" indent="-228600">
              <a:lnSpc>
                <a:spcPct val="115000"/>
              </a:lnSpc>
              <a:buSzPct val="100000"/>
              <a:buChar char="•"/>
            </a:pPr>
            <a:r>
              <a:rPr lang="en-US" sz="1600" b="1" dirty="0">
                <a:solidFill>
                  <a:srgbClr val="1B2333"/>
                </a:solidFill>
                <a:latin typeface="Times New Roman" panose="02020603050405020304" pitchFamily="18" charset="0"/>
                <a:ea typeface="Cambria Math" pitchFamily="34" charset="-122"/>
                <a:cs typeface="Times New Roman" panose="02020603050405020304" pitchFamily="18" charset="0"/>
              </a:rPr>
              <a:t>b</a:t>
            </a:r>
            <a:r>
              <a:rPr lang="en-US" sz="1600" dirty="0">
                <a:solidFill>
                  <a:srgbClr val="1B2333"/>
                </a:solidFill>
                <a:latin typeface="Times New Roman" panose="02020603050405020304" pitchFamily="18" charset="0"/>
                <a:ea typeface="Calibri" pitchFamily="34" charset="-122"/>
                <a:cs typeface="Times New Roman" panose="02020603050405020304" pitchFamily="18" charset="0"/>
              </a:rPr>
              <a:t> = branching factor — the maximum number of successors of any state</a:t>
            </a:r>
            <a:endParaRPr lang="en-US" sz="1600" dirty="0">
              <a:latin typeface="Times New Roman" panose="02020603050405020304" pitchFamily="18" charset="0"/>
              <a:cs typeface="Times New Roman" panose="02020603050405020304" pitchFamily="18" charset="0"/>
            </a:endParaRPr>
          </a:p>
          <a:p>
            <a:pPr marL="228600" indent="-228600">
              <a:lnSpc>
                <a:spcPct val="115000"/>
              </a:lnSpc>
              <a:buSzPct val="100000"/>
              <a:buChar char="•"/>
            </a:pPr>
            <a:r>
              <a:rPr lang="en-US" sz="1600" b="1" dirty="0">
                <a:solidFill>
                  <a:srgbClr val="1B2333"/>
                </a:solidFill>
                <a:latin typeface="Times New Roman" panose="02020603050405020304" pitchFamily="18" charset="0"/>
                <a:ea typeface="Cambria Math" pitchFamily="34" charset="-122"/>
                <a:cs typeface="Times New Roman" panose="02020603050405020304" pitchFamily="18" charset="0"/>
              </a:rPr>
              <a:t>d</a:t>
            </a:r>
            <a:r>
              <a:rPr lang="en-US" sz="1600" dirty="0">
                <a:solidFill>
                  <a:srgbClr val="1B2333"/>
                </a:solidFill>
                <a:latin typeface="Times New Roman" panose="02020603050405020304" pitchFamily="18" charset="0"/>
                <a:ea typeface="Calibri" pitchFamily="34" charset="-122"/>
                <a:cs typeface="Times New Roman" panose="02020603050405020304" pitchFamily="18" charset="0"/>
              </a:rPr>
              <a:t> = depth of the shallowest goal node</a:t>
            </a:r>
            <a:endParaRPr lang="en-US" sz="1600" dirty="0">
              <a:latin typeface="Times New Roman" panose="02020603050405020304" pitchFamily="18" charset="0"/>
              <a:cs typeface="Times New Roman" panose="02020603050405020304" pitchFamily="18" charset="0"/>
            </a:endParaRPr>
          </a:p>
        </p:txBody>
      </p:sp>
      <p:sp>
        <p:nvSpPr>
          <p:cNvPr id="9" name="Shape 7"/>
          <p:cNvSpPr/>
          <p:nvPr/>
        </p:nvSpPr>
        <p:spPr>
          <a:xfrm>
            <a:off x="502920" y="4389120"/>
            <a:ext cx="5120640" cy="1691640"/>
          </a:xfrm>
          <a:prstGeom prst="roundRect">
            <a:avLst>
              <a:gd name="adj" fmla="val 4324"/>
            </a:avLst>
          </a:prstGeom>
          <a:solidFill>
            <a:srgbClr val="EAEFF8"/>
          </a:solidFill>
          <a:ln/>
        </p:spPr>
      </p:sp>
      <p:sp>
        <p:nvSpPr>
          <p:cNvPr id="10" name="Shape 8"/>
          <p:cNvSpPr/>
          <p:nvPr/>
        </p:nvSpPr>
        <p:spPr>
          <a:xfrm>
            <a:off x="704088" y="4590288"/>
            <a:ext cx="347472" cy="347472"/>
          </a:xfrm>
          <a:prstGeom prst="ellipse">
            <a:avLst/>
          </a:prstGeom>
          <a:solidFill>
            <a:srgbClr val="9E3B3B"/>
          </a:solidFill>
          <a:ln/>
        </p:spPr>
      </p:sp>
      <p:sp>
        <p:nvSpPr>
          <p:cNvPr id="11" name="Text 9"/>
          <p:cNvSpPr txBox="1"/>
          <p:nvPr/>
        </p:nvSpPr>
        <p:spPr>
          <a:xfrm>
            <a:off x="704088" y="4590288"/>
            <a:ext cx="347472" cy="347472"/>
          </a:xfrm>
          <a:prstGeom prst="rect">
            <a:avLst/>
          </a:prstGeom>
          <a:noFill/>
          <a:ln/>
        </p:spPr>
        <p:txBody>
          <a:bodyPr wrap="none" rtlCol="0" anchor="ctr"/>
          <a:lstStyle/>
          <a:p>
            <a:pPr marL="0" indent="0" algn="ctr">
              <a:buNone/>
            </a:pPr>
            <a:r>
              <a:rPr lang="en-US" sz="1500" b="1" dirty="0">
                <a:solidFill>
                  <a:srgbClr val="0A1226"/>
                </a:solidFill>
                <a:latin typeface="Calibri" pitchFamily="34" charset="0"/>
                <a:ea typeface="Calibri" pitchFamily="34" charset="-122"/>
                <a:cs typeface="Calibri" pitchFamily="34" charset="-120"/>
              </a:rPr>
              <a:t>!</a:t>
            </a:r>
            <a:endParaRPr lang="en-US" sz="1500" dirty="0"/>
          </a:p>
        </p:txBody>
      </p:sp>
      <p:sp>
        <p:nvSpPr>
          <p:cNvPr id="12" name="Text 10"/>
          <p:cNvSpPr txBox="1"/>
          <p:nvPr/>
        </p:nvSpPr>
        <p:spPr>
          <a:xfrm>
            <a:off x="1207008" y="4553712"/>
            <a:ext cx="4215384" cy="310896"/>
          </a:xfrm>
          <a:prstGeom prst="rect">
            <a:avLst/>
          </a:prstGeom>
          <a:noFill/>
          <a:ln/>
        </p:spPr>
        <p:txBody>
          <a:bodyPr wrap="square" rtlCol="0" anchor="ctr"/>
          <a:lstStyle/>
          <a:p>
            <a:pPr marL="0" indent="0">
              <a:buNone/>
            </a:pPr>
            <a:r>
              <a:rPr lang="en-US" sz="1400" b="1" dirty="0">
                <a:solidFill>
                  <a:srgbClr val="14213D"/>
                </a:solidFill>
                <a:latin typeface="Calibri" pitchFamily="34" charset="0"/>
                <a:ea typeface="Calibri" pitchFamily="34" charset="-122"/>
                <a:cs typeface="Calibri" pitchFamily="34" charset="-120"/>
              </a:rPr>
              <a:t>BFS's defining weakness: memory</a:t>
            </a:r>
            <a:endParaRPr lang="en-US" sz="1400" dirty="0"/>
          </a:p>
        </p:txBody>
      </p:sp>
      <p:sp>
        <p:nvSpPr>
          <p:cNvPr id="13" name="Text 11"/>
          <p:cNvSpPr txBox="1"/>
          <p:nvPr/>
        </p:nvSpPr>
        <p:spPr>
          <a:xfrm>
            <a:off x="1207008" y="4882896"/>
            <a:ext cx="4215384" cy="1161288"/>
          </a:xfrm>
          <a:prstGeom prst="rect">
            <a:avLst/>
          </a:prstGeom>
          <a:noFill/>
          <a:ln/>
        </p:spPr>
        <p:txBody>
          <a:bodyPr wrap="square" rtlCol="0" anchor="t"/>
          <a:lstStyle/>
          <a:p>
            <a:pPr marL="0" indent="0">
              <a:lnSpc>
                <a:spcPct val="112000"/>
              </a:lnSpc>
              <a:buNone/>
            </a:pPr>
            <a:r>
              <a:rPr lang="en-US" sz="1600" dirty="0">
                <a:solidFill>
                  <a:srgbClr val="1B2333"/>
                </a:solidFill>
                <a:latin typeface="Times New Roman" panose="02020603050405020304" pitchFamily="18" charset="0"/>
                <a:ea typeface="Calibri" pitchFamily="34" charset="-122"/>
                <a:cs typeface="Times New Roman" panose="02020603050405020304" pitchFamily="18" charset="0"/>
              </a:rPr>
              <a:t>BFS must hold an entire level's worth of nodes in the frontier simultaneously. Because that level grows exponentially with depth, memory — not time — is what makes BFS impractical on large or deep problems.</a:t>
            </a:r>
            <a:endParaRPr lang="en-US" sz="1600" dirty="0">
              <a:latin typeface="Times New Roman" panose="02020603050405020304" pitchFamily="18" charset="0"/>
              <a:cs typeface="Times New Roman" panose="02020603050405020304" pitchFamily="18" charset="0"/>
            </a:endParaRPr>
          </a:p>
        </p:txBody>
      </p:sp>
      <p:sp>
        <p:nvSpPr>
          <p:cNvPr id="14" name="Text 12"/>
          <p:cNvSpPr txBox="1"/>
          <p:nvPr/>
        </p:nvSpPr>
        <p:spPr>
          <a:xfrm>
            <a:off x="6766560" y="1188720"/>
            <a:ext cx="4754880" cy="274320"/>
          </a:xfrm>
          <a:prstGeom prst="rect">
            <a:avLst/>
          </a:prstGeom>
          <a:noFill/>
          <a:ln/>
        </p:spPr>
        <p:txBody>
          <a:bodyPr wrap="square" rtlCol="0" anchor="ctr"/>
          <a:lstStyle/>
          <a:p>
            <a:pPr marL="0" indent="0">
              <a:buNone/>
            </a:pPr>
            <a:r>
              <a:rPr lang="en-US" sz="1150" b="1" dirty="0">
                <a:solidFill>
                  <a:srgbClr val="435273"/>
                </a:solidFill>
                <a:latin typeface="Calibri" pitchFamily="34" charset="0"/>
                <a:ea typeface="Calibri" pitchFamily="34" charset="-122"/>
                <a:cs typeface="Calibri" pitchFamily="34" charset="-120"/>
              </a:rPr>
              <a:t>depth 0:  b = 1 node</a:t>
            </a:r>
            <a:endParaRPr lang="en-US" sz="1150" dirty="0"/>
          </a:p>
        </p:txBody>
      </p:sp>
      <p:sp>
        <p:nvSpPr>
          <p:cNvPr id="15" name="Shape 13"/>
          <p:cNvSpPr/>
          <p:nvPr/>
        </p:nvSpPr>
        <p:spPr>
          <a:xfrm>
            <a:off x="6766560" y="1463040"/>
            <a:ext cx="320040" cy="320040"/>
          </a:xfrm>
          <a:prstGeom prst="ellipse">
            <a:avLst/>
          </a:prstGeom>
          <a:solidFill>
            <a:srgbClr val="14213D"/>
          </a:solidFill>
          <a:ln/>
        </p:spPr>
      </p:sp>
      <p:sp>
        <p:nvSpPr>
          <p:cNvPr id="16" name="Text 14"/>
          <p:cNvSpPr txBox="1"/>
          <p:nvPr/>
        </p:nvSpPr>
        <p:spPr>
          <a:xfrm>
            <a:off x="6766560" y="2606040"/>
            <a:ext cx="4754880" cy="274320"/>
          </a:xfrm>
          <a:prstGeom prst="rect">
            <a:avLst/>
          </a:prstGeom>
          <a:noFill/>
          <a:ln/>
        </p:spPr>
        <p:txBody>
          <a:bodyPr wrap="square" rtlCol="0" anchor="ctr"/>
          <a:lstStyle/>
          <a:p>
            <a:pPr marL="0" indent="0">
              <a:buNone/>
            </a:pPr>
            <a:r>
              <a:rPr lang="en-US" sz="1150" b="1" dirty="0">
                <a:solidFill>
                  <a:srgbClr val="435273"/>
                </a:solidFill>
                <a:latin typeface="Calibri" pitchFamily="34" charset="0"/>
                <a:ea typeface="Calibri" pitchFamily="34" charset="-122"/>
                <a:cs typeface="Calibri" pitchFamily="34" charset="-120"/>
              </a:rPr>
              <a:t>depth 1:  b^1 = 3 nodes</a:t>
            </a:r>
            <a:endParaRPr lang="en-US" sz="1150" dirty="0"/>
          </a:p>
        </p:txBody>
      </p:sp>
      <p:sp>
        <p:nvSpPr>
          <p:cNvPr id="17" name="Shape 15"/>
          <p:cNvSpPr/>
          <p:nvPr/>
        </p:nvSpPr>
        <p:spPr>
          <a:xfrm>
            <a:off x="6766560" y="2880360"/>
            <a:ext cx="320040" cy="320040"/>
          </a:xfrm>
          <a:prstGeom prst="ellipse">
            <a:avLst/>
          </a:prstGeom>
          <a:solidFill>
            <a:srgbClr val="14213D"/>
          </a:solidFill>
          <a:ln/>
        </p:spPr>
      </p:sp>
      <p:sp>
        <p:nvSpPr>
          <p:cNvPr id="18" name="Shape 16"/>
          <p:cNvSpPr/>
          <p:nvPr/>
        </p:nvSpPr>
        <p:spPr>
          <a:xfrm>
            <a:off x="7269480" y="2880360"/>
            <a:ext cx="320040" cy="320040"/>
          </a:xfrm>
          <a:prstGeom prst="ellipse">
            <a:avLst/>
          </a:prstGeom>
          <a:solidFill>
            <a:srgbClr val="14213D"/>
          </a:solidFill>
          <a:ln/>
        </p:spPr>
      </p:sp>
      <p:sp>
        <p:nvSpPr>
          <p:cNvPr id="19" name="Shape 17"/>
          <p:cNvSpPr/>
          <p:nvPr/>
        </p:nvSpPr>
        <p:spPr>
          <a:xfrm>
            <a:off x="7772400" y="2880360"/>
            <a:ext cx="320040" cy="320040"/>
          </a:xfrm>
          <a:prstGeom prst="ellipse">
            <a:avLst/>
          </a:prstGeom>
          <a:solidFill>
            <a:srgbClr val="14213D"/>
          </a:solidFill>
          <a:ln/>
        </p:spPr>
      </p:sp>
      <p:sp>
        <p:nvSpPr>
          <p:cNvPr id="20" name="Text 18"/>
          <p:cNvSpPr txBox="1"/>
          <p:nvPr/>
        </p:nvSpPr>
        <p:spPr>
          <a:xfrm>
            <a:off x="6766560" y="4023360"/>
            <a:ext cx="4754880" cy="274320"/>
          </a:xfrm>
          <a:prstGeom prst="rect">
            <a:avLst/>
          </a:prstGeom>
          <a:noFill/>
          <a:ln/>
        </p:spPr>
        <p:txBody>
          <a:bodyPr wrap="square" rtlCol="0" anchor="ctr"/>
          <a:lstStyle/>
          <a:p>
            <a:pPr marL="0" indent="0">
              <a:buNone/>
            </a:pPr>
            <a:r>
              <a:rPr lang="en-US" sz="1150" b="1" dirty="0">
                <a:solidFill>
                  <a:srgbClr val="435273"/>
                </a:solidFill>
                <a:latin typeface="Calibri" pitchFamily="34" charset="0"/>
                <a:ea typeface="Calibri" pitchFamily="34" charset="-122"/>
                <a:cs typeface="Calibri" pitchFamily="34" charset="-120"/>
              </a:rPr>
              <a:t>depth 2:  b^2 = 9 nodes</a:t>
            </a:r>
            <a:endParaRPr lang="en-US" sz="1150" dirty="0"/>
          </a:p>
        </p:txBody>
      </p:sp>
      <p:sp>
        <p:nvSpPr>
          <p:cNvPr id="21" name="Shape 19"/>
          <p:cNvSpPr/>
          <p:nvPr/>
        </p:nvSpPr>
        <p:spPr>
          <a:xfrm>
            <a:off x="6766560" y="4297680"/>
            <a:ext cx="320040" cy="320040"/>
          </a:xfrm>
          <a:prstGeom prst="ellipse">
            <a:avLst/>
          </a:prstGeom>
          <a:solidFill>
            <a:srgbClr val="C9A227"/>
          </a:solidFill>
          <a:ln/>
        </p:spPr>
      </p:sp>
      <p:sp>
        <p:nvSpPr>
          <p:cNvPr id="22" name="Shape 20"/>
          <p:cNvSpPr/>
          <p:nvPr/>
        </p:nvSpPr>
        <p:spPr>
          <a:xfrm>
            <a:off x="7254240" y="4297680"/>
            <a:ext cx="320040" cy="320040"/>
          </a:xfrm>
          <a:prstGeom prst="ellipse">
            <a:avLst/>
          </a:prstGeom>
          <a:solidFill>
            <a:srgbClr val="C9A227"/>
          </a:solidFill>
          <a:ln/>
        </p:spPr>
      </p:sp>
      <p:sp>
        <p:nvSpPr>
          <p:cNvPr id="23" name="Shape 21"/>
          <p:cNvSpPr/>
          <p:nvPr/>
        </p:nvSpPr>
        <p:spPr>
          <a:xfrm>
            <a:off x="7741920" y="4297680"/>
            <a:ext cx="320040" cy="320040"/>
          </a:xfrm>
          <a:prstGeom prst="ellipse">
            <a:avLst/>
          </a:prstGeom>
          <a:solidFill>
            <a:srgbClr val="C9A227"/>
          </a:solidFill>
          <a:ln/>
        </p:spPr>
      </p:sp>
      <p:sp>
        <p:nvSpPr>
          <p:cNvPr id="24" name="Shape 22"/>
          <p:cNvSpPr/>
          <p:nvPr/>
        </p:nvSpPr>
        <p:spPr>
          <a:xfrm>
            <a:off x="8229600" y="4297680"/>
            <a:ext cx="320040" cy="320040"/>
          </a:xfrm>
          <a:prstGeom prst="ellipse">
            <a:avLst/>
          </a:prstGeom>
          <a:solidFill>
            <a:srgbClr val="C9A227"/>
          </a:solidFill>
          <a:ln/>
        </p:spPr>
      </p:sp>
      <p:sp>
        <p:nvSpPr>
          <p:cNvPr id="25" name="Shape 23"/>
          <p:cNvSpPr/>
          <p:nvPr/>
        </p:nvSpPr>
        <p:spPr>
          <a:xfrm>
            <a:off x="8717280" y="4297680"/>
            <a:ext cx="320040" cy="320040"/>
          </a:xfrm>
          <a:prstGeom prst="ellipse">
            <a:avLst/>
          </a:prstGeom>
          <a:solidFill>
            <a:srgbClr val="C9A227"/>
          </a:solidFill>
          <a:ln/>
        </p:spPr>
      </p:sp>
      <p:sp>
        <p:nvSpPr>
          <p:cNvPr id="26" name="Shape 24"/>
          <p:cNvSpPr/>
          <p:nvPr/>
        </p:nvSpPr>
        <p:spPr>
          <a:xfrm>
            <a:off x="9204960" y="4297680"/>
            <a:ext cx="320040" cy="320040"/>
          </a:xfrm>
          <a:prstGeom prst="ellipse">
            <a:avLst/>
          </a:prstGeom>
          <a:solidFill>
            <a:srgbClr val="C9A227"/>
          </a:solidFill>
          <a:ln/>
        </p:spPr>
      </p:sp>
      <p:sp>
        <p:nvSpPr>
          <p:cNvPr id="27" name="Shape 25"/>
          <p:cNvSpPr/>
          <p:nvPr/>
        </p:nvSpPr>
        <p:spPr>
          <a:xfrm>
            <a:off x="9692640" y="4297680"/>
            <a:ext cx="320040" cy="320040"/>
          </a:xfrm>
          <a:prstGeom prst="ellipse">
            <a:avLst/>
          </a:prstGeom>
          <a:solidFill>
            <a:srgbClr val="C9A227"/>
          </a:solidFill>
          <a:ln/>
        </p:spPr>
      </p:sp>
      <p:sp>
        <p:nvSpPr>
          <p:cNvPr id="28" name="Shape 26"/>
          <p:cNvSpPr/>
          <p:nvPr/>
        </p:nvSpPr>
        <p:spPr>
          <a:xfrm>
            <a:off x="10180320" y="4297680"/>
            <a:ext cx="320040" cy="320040"/>
          </a:xfrm>
          <a:prstGeom prst="ellipse">
            <a:avLst/>
          </a:prstGeom>
          <a:solidFill>
            <a:srgbClr val="C9A227"/>
          </a:solidFill>
          <a:ln/>
        </p:spPr>
      </p:sp>
      <p:sp>
        <p:nvSpPr>
          <p:cNvPr id="29" name="Shape 27"/>
          <p:cNvSpPr/>
          <p:nvPr/>
        </p:nvSpPr>
        <p:spPr>
          <a:xfrm>
            <a:off x="10668000" y="4297680"/>
            <a:ext cx="320040" cy="320040"/>
          </a:xfrm>
          <a:prstGeom prst="ellipse">
            <a:avLst/>
          </a:prstGeom>
          <a:solidFill>
            <a:srgbClr val="C9A227"/>
          </a:solidFill>
          <a:ln/>
        </p:spPr>
      </p:sp>
      <p:sp>
        <p:nvSpPr>
          <p:cNvPr id="30" name="Text 28"/>
          <p:cNvSpPr txBox="1"/>
          <p:nvPr/>
        </p:nvSpPr>
        <p:spPr>
          <a:xfrm>
            <a:off x="6675120" y="4892040"/>
            <a:ext cx="4937760" cy="914400"/>
          </a:xfrm>
          <a:prstGeom prst="rect">
            <a:avLst/>
          </a:prstGeom>
          <a:noFill/>
          <a:ln/>
        </p:spPr>
        <p:txBody>
          <a:bodyPr wrap="square" rtlCol="0" anchor="ctr"/>
          <a:lstStyle/>
          <a:p>
            <a:pPr marL="0" indent="0">
              <a:lnSpc>
                <a:spcPct val="122000"/>
              </a:lnSpc>
              <a:buNone/>
            </a:pPr>
            <a:r>
              <a:rPr lang="en-US" sz="1600" i="1" dirty="0">
                <a:solidFill>
                  <a:srgbClr val="435273"/>
                </a:solidFill>
                <a:latin typeface="Times New Roman" panose="02020603050405020304" pitchFamily="18" charset="0"/>
                <a:ea typeface="Calibri" pitchFamily="34" charset="-122"/>
                <a:cs typeface="Times New Roman" panose="02020603050405020304" pitchFamily="18" charset="0"/>
              </a:rPr>
              <a:t>With branching factor b = 3, the frontier TRIPLES in size at every depth — this is exponential growth, and it is why BFS memory usage explodes on real-sized problems.</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92608"/>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UNINFORMED SEARCH · DFS</a:t>
            </a:r>
            <a:endParaRPr lang="en-US" sz="1200" dirty="0"/>
          </a:p>
        </p:txBody>
      </p:sp>
      <p:sp>
        <p:nvSpPr>
          <p:cNvPr id="3" name="Text 1"/>
          <p:cNvSpPr txBox="1"/>
          <p:nvPr/>
        </p:nvSpPr>
        <p:spPr>
          <a:xfrm>
            <a:off x="502920" y="621792"/>
            <a:ext cx="11155680" cy="658368"/>
          </a:xfrm>
          <a:prstGeom prst="rect">
            <a:avLst/>
          </a:prstGeom>
          <a:noFill/>
          <a:ln/>
        </p:spPr>
        <p:txBody>
          <a:bodyPr wrap="square" rtlCol="0" anchor="ctr"/>
          <a:lstStyle/>
          <a:p>
            <a:pPr marL="0" indent="0">
              <a:buNone/>
            </a:pPr>
            <a:r>
              <a:rPr lang="en-US" sz="2900" b="1" dirty="0">
                <a:solidFill>
                  <a:srgbClr val="14213D"/>
                </a:solidFill>
                <a:latin typeface="Cambria" pitchFamily="34" charset="0"/>
                <a:ea typeface="Cambria" pitchFamily="34" charset="-122"/>
                <a:cs typeface="Cambria" pitchFamily="34" charset="-120"/>
              </a:rPr>
              <a:t>Depth-First Search: Concept</a:t>
            </a:r>
            <a:endParaRPr lang="en-US" sz="2900" dirty="0"/>
          </a:p>
        </p:txBody>
      </p:sp>
      <p:sp>
        <p:nvSpPr>
          <p:cNvPr id="4" name="Text 2"/>
          <p:cNvSpPr txBox="1"/>
          <p:nvPr/>
        </p:nvSpPr>
        <p:spPr>
          <a:xfrm>
            <a:off x="502920" y="6473952"/>
            <a:ext cx="7315200" cy="274320"/>
          </a:xfrm>
          <a:prstGeom prst="rect">
            <a:avLst/>
          </a:prstGeom>
          <a:noFill/>
          <a:ln/>
        </p:spPr>
        <p:txBody>
          <a:bodyPr wrap="square" rtlCol="0" anchor="ctr"/>
          <a:lstStyle/>
          <a:p>
            <a:pPr marL="0" indent="0">
              <a:buNone/>
            </a:pPr>
            <a:r>
              <a:rPr lang="en-US" sz="950" b="1" dirty="0">
                <a:solidFill>
                  <a:srgbClr val="6B7280"/>
                </a:solidFill>
                <a:latin typeface="Calibri" pitchFamily="34" charset="0"/>
                <a:ea typeface="Calibri" pitchFamily="34" charset="-122"/>
                <a:cs typeface="Calibri" pitchFamily="34" charset="-120"/>
              </a:rPr>
              <a:t>Artificial Intelligence</a:t>
            </a:r>
            <a:r>
              <a:rPr lang="en-US" sz="950" dirty="0">
                <a:solidFill>
                  <a:srgbClr val="6B7280"/>
                </a:solidFill>
                <a:latin typeface="Calibri" pitchFamily="34" charset="0"/>
                <a:ea typeface="Calibri" pitchFamily="34" charset="-122"/>
                <a:cs typeface="Calibri" pitchFamily="34" charset="-120"/>
              </a:rPr>
              <a:t>   ·   BS Computer Science   ·   Lecture 3</a:t>
            </a:r>
            <a:endParaRPr lang="en-US" sz="950" dirty="0"/>
          </a:p>
        </p:txBody>
      </p:sp>
      <p:sp>
        <p:nvSpPr>
          <p:cNvPr id="5" name="Text 3"/>
          <p:cNvSpPr txBox="1"/>
          <p:nvPr/>
        </p:nvSpPr>
        <p:spPr>
          <a:xfrm>
            <a:off x="8762695" y="6473952"/>
            <a:ext cx="292608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Dr. Ghulam Ali   ·   25</a:t>
            </a:r>
            <a:endParaRPr lang="en-US" sz="950" dirty="0"/>
          </a:p>
        </p:txBody>
      </p:sp>
      <p:sp>
        <p:nvSpPr>
          <p:cNvPr id="6" name="Text 4"/>
          <p:cNvSpPr txBox="1"/>
          <p:nvPr/>
        </p:nvSpPr>
        <p:spPr>
          <a:xfrm>
            <a:off x="502920" y="1417320"/>
            <a:ext cx="11185855" cy="1005840"/>
          </a:xfrm>
          <a:prstGeom prst="rect">
            <a:avLst/>
          </a:prstGeom>
          <a:noFill/>
          <a:ln/>
        </p:spPr>
        <p:txBody>
          <a:bodyPr wrap="square" rtlCol="0" anchor="ctr"/>
          <a:lstStyle/>
          <a:p>
            <a:pPr marL="0" indent="0">
              <a:lnSpc>
                <a:spcPct val="126000"/>
              </a:lnSpc>
              <a:buNone/>
            </a:pPr>
            <a:r>
              <a:rPr lang="en-US" sz="1600" dirty="0">
                <a:solidFill>
                  <a:srgbClr val="1B2333"/>
                </a:solidFill>
                <a:latin typeface="Times New Roman" panose="02020603050405020304" pitchFamily="18" charset="0"/>
                <a:ea typeface="Calibri" pitchFamily="34" charset="-122"/>
                <a:cs typeface="Times New Roman" panose="02020603050405020304" pitchFamily="18" charset="0"/>
              </a:rPr>
              <a:t>Depth-First Search expands the deepest unexpanded node first. Rather than exhausting a level before going deeper, DFS commits immediately to one branch and follows it as far as it possibly can — 'deep before wide' — only backtracking to try a sibling branch once the current one is exhausted.</a:t>
            </a:r>
            <a:endParaRPr lang="en-US" sz="1600" dirty="0">
              <a:latin typeface="Times New Roman" panose="02020603050405020304" pitchFamily="18" charset="0"/>
              <a:cs typeface="Times New Roman" panose="02020603050405020304" pitchFamily="18" charset="0"/>
            </a:endParaRPr>
          </a:p>
        </p:txBody>
      </p:sp>
      <p:sp>
        <p:nvSpPr>
          <p:cNvPr id="7" name="Shape 5"/>
          <p:cNvSpPr/>
          <p:nvPr/>
        </p:nvSpPr>
        <p:spPr>
          <a:xfrm flipH="1">
            <a:off x="3705061" y="2681199"/>
            <a:ext cx="1444928" cy="830834"/>
          </a:xfrm>
          <a:prstGeom prst="line">
            <a:avLst/>
          </a:prstGeom>
          <a:noFill/>
          <a:ln w="38100">
            <a:solidFill>
              <a:srgbClr val="C9A227"/>
            </a:solidFill>
            <a:prstDash val="solid"/>
          </a:ln>
        </p:spPr>
      </p:sp>
      <p:sp>
        <p:nvSpPr>
          <p:cNvPr id="8" name="Shape 6"/>
          <p:cNvSpPr/>
          <p:nvPr/>
        </p:nvSpPr>
        <p:spPr>
          <a:xfrm>
            <a:off x="5360213" y="2802819"/>
            <a:ext cx="9144" cy="587593"/>
          </a:xfrm>
          <a:prstGeom prst="line">
            <a:avLst/>
          </a:prstGeom>
          <a:noFill/>
          <a:ln w="19050">
            <a:solidFill>
              <a:srgbClr val="435273"/>
            </a:solidFill>
            <a:prstDash val="solid"/>
          </a:ln>
        </p:spPr>
      </p:sp>
      <p:sp>
        <p:nvSpPr>
          <p:cNvPr id="9" name="Shape 7"/>
          <p:cNvSpPr/>
          <p:nvPr/>
        </p:nvSpPr>
        <p:spPr>
          <a:xfrm>
            <a:off x="5570437" y="2681199"/>
            <a:ext cx="1444928" cy="830834"/>
          </a:xfrm>
          <a:prstGeom prst="line">
            <a:avLst/>
          </a:prstGeom>
          <a:noFill/>
          <a:ln w="19050">
            <a:solidFill>
              <a:srgbClr val="435273"/>
            </a:solidFill>
            <a:prstDash val="solid"/>
          </a:ln>
        </p:spPr>
      </p:sp>
      <p:sp>
        <p:nvSpPr>
          <p:cNvPr id="10" name="Shape 8"/>
          <p:cNvSpPr/>
          <p:nvPr/>
        </p:nvSpPr>
        <p:spPr>
          <a:xfrm flipH="1">
            <a:off x="3007913" y="3844022"/>
            <a:ext cx="367601" cy="650370"/>
          </a:xfrm>
          <a:prstGeom prst="line">
            <a:avLst/>
          </a:prstGeom>
          <a:noFill/>
          <a:ln w="38100">
            <a:solidFill>
              <a:srgbClr val="C9A227"/>
            </a:solidFill>
            <a:prstDash val="solid"/>
          </a:ln>
        </p:spPr>
      </p:sp>
      <p:sp>
        <p:nvSpPr>
          <p:cNvPr id="11" name="Shape 9"/>
          <p:cNvSpPr/>
          <p:nvPr/>
        </p:nvSpPr>
        <p:spPr>
          <a:xfrm>
            <a:off x="3614160" y="3844022"/>
            <a:ext cx="367601" cy="650370"/>
          </a:xfrm>
          <a:prstGeom prst="line">
            <a:avLst/>
          </a:prstGeom>
          <a:noFill/>
          <a:ln w="38100">
            <a:solidFill>
              <a:srgbClr val="C9A227"/>
            </a:solidFill>
            <a:prstDash val="solid"/>
          </a:ln>
        </p:spPr>
      </p:sp>
      <p:sp>
        <p:nvSpPr>
          <p:cNvPr id="12" name="Shape 10"/>
          <p:cNvSpPr/>
          <p:nvPr/>
        </p:nvSpPr>
        <p:spPr>
          <a:xfrm>
            <a:off x="7225589" y="3875410"/>
            <a:ext cx="9144" cy="587593"/>
          </a:xfrm>
          <a:prstGeom prst="line">
            <a:avLst/>
          </a:prstGeom>
          <a:noFill/>
          <a:ln w="19050">
            <a:solidFill>
              <a:srgbClr val="435273"/>
            </a:solidFill>
            <a:prstDash val="solid"/>
          </a:ln>
        </p:spPr>
      </p:sp>
      <p:sp>
        <p:nvSpPr>
          <p:cNvPr id="13" name="Shape 11"/>
          <p:cNvSpPr/>
          <p:nvPr/>
        </p:nvSpPr>
        <p:spPr>
          <a:xfrm flipH="1">
            <a:off x="3653643" y="4920498"/>
            <a:ext cx="335269" cy="642600"/>
          </a:xfrm>
          <a:prstGeom prst="line">
            <a:avLst/>
          </a:prstGeom>
          <a:noFill/>
          <a:ln w="38100">
            <a:solidFill>
              <a:srgbClr val="C9A227"/>
            </a:solidFill>
            <a:prstDash val="solid"/>
          </a:ln>
        </p:spPr>
      </p:sp>
      <p:sp>
        <p:nvSpPr>
          <p:cNvPr id="14" name="Shape 12"/>
          <p:cNvSpPr/>
          <p:nvPr/>
        </p:nvSpPr>
        <p:spPr>
          <a:xfrm>
            <a:off x="4213256" y="4920498"/>
            <a:ext cx="335269" cy="642600"/>
          </a:xfrm>
          <a:prstGeom prst="line">
            <a:avLst/>
          </a:prstGeom>
          <a:noFill/>
          <a:ln w="38100">
            <a:solidFill>
              <a:srgbClr val="C9A227"/>
            </a:solidFill>
            <a:prstDash val="solid"/>
          </a:ln>
        </p:spPr>
      </p:sp>
      <p:sp>
        <p:nvSpPr>
          <p:cNvPr id="15" name="Shape 13"/>
          <p:cNvSpPr/>
          <p:nvPr/>
        </p:nvSpPr>
        <p:spPr>
          <a:xfrm>
            <a:off x="5117714" y="2317821"/>
            <a:ext cx="484998" cy="484998"/>
          </a:xfrm>
          <a:prstGeom prst="ellipse">
            <a:avLst/>
          </a:prstGeom>
          <a:solidFill>
            <a:srgbClr val="14213D"/>
          </a:solidFill>
          <a:ln w="31750">
            <a:solidFill>
              <a:srgbClr val="C9A227"/>
            </a:solidFill>
            <a:prstDash val="solid"/>
          </a:ln>
        </p:spPr>
      </p:sp>
      <p:sp>
        <p:nvSpPr>
          <p:cNvPr id="16" name="Text 14"/>
          <p:cNvSpPr txBox="1"/>
          <p:nvPr/>
        </p:nvSpPr>
        <p:spPr>
          <a:xfrm>
            <a:off x="5117714" y="2317821"/>
            <a:ext cx="484998" cy="484998"/>
          </a:xfrm>
          <a:prstGeom prst="rect">
            <a:avLst/>
          </a:prstGeom>
          <a:noFill/>
          <a:ln/>
        </p:spPr>
        <p:txBody>
          <a:bodyPr wrap="square" rtlCol="0" anchor="ctr"/>
          <a:lstStyle/>
          <a:p>
            <a:pPr marL="0" indent="0" algn="ctr">
              <a:buNone/>
            </a:pPr>
            <a:r>
              <a:rPr lang="en-US" sz="1275" b="1" dirty="0">
                <a:solidFill>
                  <a:srgbClr val="FFFFFF"/>
                </a:solidFill>
                <a:latin typeface="Calibri" pitchFamily="34" charset="0"/>
                <a:ea typeface="Calibri" pitchFamily="34" charset="-122"/>
                <a:cs typeface="Calibri" pitchFamily="34" charset="-120"/>
              </a:rPr>
              <a:t>A</a:t>
            </a:r>
            <a:endParaRPr lang="en-US" sz="1275" dirty="0"/>
          </a:p>
        </p:txBody>
      </p:sp>
      <p:sp>
        <p:nvSpPr>
          <p:cNvPr id="17" name="Shape 15"/>
          <p:cNvSpPr/>
          <p:nvPr/>
        </p:nvSpPr>
        <p:spPr>
          <a:xfrm>
            <a:off x="3252338" y="3390412"/>
            <a:ext cx="484998" cy="484998"/>
          </a:xfrm>
          <a:prstGeom prst="ellipse">
            <a:avLst/>
          </a:prstGeom>
          <a:solidFill>
            <a:srgbClr val="14213D"/>
          </a:solidFill>
          <a:ln w="31750">
            <a:solidFill>
              <a:srgbClr val="C9A227"/>
            </a:solidFill>
            <a:prstDash val="solid"/>
          </a:ln>
        </p:spPr>
      </p:sp>
      <p:sp>
        <p:nvSpPr>
          <p:cNvPr id="18" name="Text 16"/>
          <p:cNvSpPr txBox="1"/>
          <p:nvPr/>
        </p:nvSpPr>
        <p:spPr>
          <a:xfrm>
            <a:off x="3252338" y="3390412"/>
            <a:ext cx="484998" cy="484998"/>
          </a:xfrm>
          <a:prstGeom prst="rect">
            <a:avLst/>
          </a:prstGeom>
          <a:noFill/>
          <a:ln/>
        </p:spPr>
        <p:txBody>
          <a:bodyPr wrap="square" rtlCol="0" anchor="ctr"/>
          <a:lstStyle/>
          <a:p>
            <a:pPr marL="0" indent="0" algn="ctr">
              <a:buNone/>
            </a:pPr>
            <a:r>
              <a:rPr lang="en-US" sz="1275" b="1" dirty="0">
                <a:solidFill>
                  <a:srgbClr val="FFFFFF"/>
                </a:solidFill>
                <a:latin typeface="Calibri" pitchFamily="34" charset="0"/>
                <a:ea typeface="Calibri" pitchFamily="34" charset="-122"/>
                <a:cs typeface="Calibri" pitchFamily="34" charset="-120"/>
              </a:rPr>
              <a:t>B</a:t>
            </a:r>
            <a:endParaRPr lang="en-US" sz="1275" dirty="0"/>
          </a:p>
        </p:txBody>
      </p:sp>
      <p:sp>
        <p:nvSpPr>
          <p:cNvPr id="19" name="Shape 17"/>
          <p:cNvSpPr/>
          <p:nvPr/>
        </p:nvSpPr>
        <p:spPr>
          <a:xfrm>
            <a:off x="5117714" y="3390412"/>
            <a:ext cx="484998" cy="484998"/>
          </a:xfrm>
          <a:prstGeom prst="ellipse">
            <a:avLst/>
          </a:prstGeom>
          <a:solidFill>
            <a:srgbClr val="FFFFFF"/>
          </a:solidFill>
          <a:ln w="19050">
            <a:solidFill>
              <a:srgbClr val="435273"/>
            </a:solidFill>
            <a:prstDash val="solid"/>
          </a:ln>
        </p:spPr>
      </p:sp>
      <p:sp>
        <p:nvSpPr>
          <p:cNvPr id="20" name="Text 18"/>
          <p:cNvSpPr txBox="1"/>
          <p:nvPr/>
        </p:nvSpPr>
        <p:spPr>
          <a:xfrm>
            <a:off x="5117714" y="3390412"/>
            <a:ext cx="484998" cy="484998"/>
          </a:xfrm>
          <a:prstGeom prst="rect">
            <a:avLst/>
          </a:prstGeom>
          <a:noFill/>
          <a:ln/>
        </p:spPr>
        <p:txBody>
          <a:bodyPr wrap="square" rtlCol="0" anchor="ctr"/>
          <a:lstStyle/>
          <a:p>
            <a:pPr marL="0" indent="0" algn="ctr">
              <a:buNone/>
            </a:pPr>
            <a:r>
              <a:rPr lang="en-US" sz="1275" b="1" dirty="0">
                <a:solidFill>
                  <a:srgbClr val="14213D"/>
                </a:solidFill>
                <a:latin typeface="Calibri" pitchFamily="34" charset="0"/>
                <a:ea typeface="Calibri" pitchFamily="34" charset="-122"/>
                <a:cs typeface="Calibri" pitchFamily="34" charset="-120"/>
              </a:rPr>
              <a:t>C</a:t>
            </a:r>
            <a:endParaRPr lang="en-US" sz="1275" dirty="0"/>
          </a:p>
        </p:txBody>
      </p:sp>
      <p:sp>
        <p:nvSpPr>
          <p:cNvPr id="21" name="Shape 19"/>
          <p:cNvSpPr/>
          <p:nvPr/>
        </p:nvSpPr>
        <p:spPr>
          <a:xfrm>
            <a:off x="6983090" y="3390412"/>
            <a:ext cx="484998" cy="484998"/>
          </a:xfrm>
          <a:prstGeom prst="ellipse">
            <a:avLst/>
          </a:prstGeom>
          <a:solidFill>
            <a:srgbClr val="FFFFFF"/>
          </a:solidFill>
          <a:ln w="19050">
            <a:solidFill>
              <a:srgbClr val="435273"/>
            </a:solidFill>
            <a:prstDash val="solid"/>
          </a:ln>
        </p:spPr>
      </p:sp>
      <p:sp>
        <p:nvSpPr>
          <p:cNvPr id="22" name="Text 20"/>
          <p:cNvSpPr txBox="1"/>
          <p:nvPr/>
        </p:nvSpPr>
        <p:spPr>
          <a:xfrm>
            <a:off x="6983090" y="3390412"/>
            <a:ext cx="484998" cy="484998"/>
          </a:xfrm>
          <a:prstGeom prst="rect">
            <a:avLst/>
          </a:prstGeom>
          <a:noFill/>
          <a:ln/>
        </p:spPr>
        <p:txBody>
          <a:bodyPr wrap="square" rtlCol="0" anchor="ctr"/>
          <a:lstStyle/>
          <a:p>
            <a:pPr marL="0" indent="0" algn="ctr">
              <a:buNone/>
            </a:pPr>
            <a:r>
              <a:rPr lang="en-US" sz="1275" b="1" dirty="0">
                <a:solidFill>
                  <a:srgbClr val="14213D"/>
                </a:solidFill>
                <a:latin typeface="Calibri" pitchFamily="34" charset="0"/>
                <a:ea typeface="Calibri" pitchFamily="34" charset="-122"/>
                <a:cs typeface="Calibri" pitchFamily="34" charset="-120"/>
              </a:rPr>
              <a:t>D</a:t>
            </a:r>
            <a:endParaRPr lang="en-US" sz="1275" dirty="0"/>
          </a:p>
        </p:txBody>
      </p:sp>
      <p:sp>
        <p:nvSpPr>
          <p:cNvPr id="23" name="Shape 21"/>
          <p:cNvSpPr/>
          <p:nvPr/>
        </p:nvSpPr>
        <p:spPr>
          <a:xfrm>
            <a:off x="2646091" y="4463004"/>
            <a:ext cx="484998" cy="484998"/>
          </a:xfrm>
          <a:prstGeom prst="ellipse">
            <a:avLst/>
          </a:prstGeom>
          <a:solidFill>
            <a:srgbClr val="435273"/>
          </a:solidFill>
          <a:ln w="19050">
            <a:solidFill>
              <a:srgbClr val="435273"/>
            </a:solidFill>
            <a:prstDash val="solid"/>
          </a:ln>
        </p:spPr>
      </p:sp>
      <p:sp>
        <p:nvSpPr>
          <p:cNvPr id="24" name="Text 22"/>
          <p:cNvSpPr txBox="1"/>
          <p:nvPr/>
        </p:nvSpPr>
        <p:spPr>
          <a:xfrm>
            <a:off x="2646091" y="4463004"/>
            <a:ext cx="484998" cy="484998"/>
          </a:xfrm>
          <a:prstGeom prst="rect">
            <a:avLst/>
          </a:prstGeom>
          <a:noFill/>
          <a:ln/>
        </p:spPr>
        <p:txBody>
          <a:bodyPr wrap="square" rtlCol="0" anchor="ctr"/>
          <a:lstStyle/>
          <a:p>
            <a:pPr marL="0" indent="0" algn="ctr">
              <a:buNone/>
            </a:pPr>
            <a:r>
              <a:rPr lang="en-US" sz="1275" b="1" dirty="0">
                <a:solidFill>
                  <a:srgbClr val="FFFFFF"/>
                </a:solidFill>
                <a:latin typeface="Calibri" pitchFamily="34" charset="0"/>
                <a:ea typeface="Calibri" pitchFamily="34" charset="-122"/>
                <a:cs typeface="Calibri" pitchFamily="34" charset="-120"/>
              </a:rPr>
              <a:t>E</a:t>
            </a:r>
            <a:endParaRPr lang="en-US" sz="1275" dirty="0"/>
          </a:p>
        </p:txBody>
      </p:sp>
      <p:sp>
        <p:nvSpPr>
          <p:cNvPr id="25" name="Shape 23"/>
          <p:cNvSpPr/>
          <p:nvPr/>
        </p:nvSpPr>
        <p:spPr>
          <a:xfrm>
            <a:off x="3858585" y="4463004"/>
            <a:ext cx="484998" cy="484998"/>
          </a:xfrm>
          <a:prstGeom prst="ellipse">
            <a:avLst/>
          </a:prstGeom>
          <a:solidFill>
            <a:srgbClr val="14213D"/>
          </a:solidFill>
          <a:ln w="31750">
            <a:solidFill>
              <a:srgbClr val="C9A227"/>
            </a:solidFill>
            <a:prstDash val="solid"/>
          </a:ln>
        </p:spPr>
      </p:sp>
      <p:sp>
        <p:nvSpPr>
          <p:cNvPr id="26" name="Text 24"/>
          <p:cNvSpPr txBox="1"/>
          <p:nvPr/>
        </p:nvSpPr>
        <p:spPr>
          <a:xfrm>
            <a:off x="3858585" y="4463004"/>
            <a:ext cx="484998" cy="484998"/>
          </a:xfrm>
          <a:prstGeom prst="rect">
            <a:avLst/>
          </a:prstGeom>
          <a:noFill/>
          <a:ln/>
        </p:spPr>
        <p:txBody>
          <a:bodyPr wrap="square" rtlCol="0" anchor="ctr"/>
          <a:lstStyle/>
          <a:p>
            <a:pPr marL="0" indent="0" algn="ctr">
              <a:buNone/>
            </a:pPr>
            <a:r>
              <a:rPr lang="en-US" sz="1275" b="1" dirty="0">
                <a:solidFill>
                  <a:srgbClr val="FFFFFF"/>
                </a:solidFill>
                <a:latin typeface="Calibri" pitchFamily="34" charset="0"/>
                <a:ea typeface="Calibri" pitchFamily="34" charset="-122"/>
                <a:cs typeface="Calibri" pitchFamily="34" charset="-120"/>
              </a:rPr>
              <a:t>F</a:t>
            </a:r>
            <a:endParaRPr lang="en-US" sz="1275" dirty="0"/>
          </a:p>
        </p:txBody>
      </p:sp>
      <p:sp>
        <p:nvSpPr>
          <p:cNvPr id="27" name="Shape 25"/>
          <p:cNvSpPr/>
          <p:nvPr/>
        </p:nvSpPr>
        <p:spPr>
          <a:xfrm>
            <a:off x="6983090" y="4463004"/>
            <a:ext cx="484998" cy="484998"/>
          </a:xfrm>
          <a:prstGeom prst="ellipse">
            <a:avLst/>
          </a:prstGeom>
          <a:solidFill>
            <a:srgbClr val="FFFFFF"/>
          </a:solidFill>
          <a:ln w="19050">
            <a:solidFill>
              <a:srgbClr val="435273"/>
            </a:solidFill>
            <a:prstDash val="solid"/>
          </a:ln>
        </p:spPr>
      </p:sp>
      <p:sp>
        <p:nvSpPr>
          <p:cNvPr id="28" name="Text 26"/>
          <p:cNvSpPr txBox="1"/>
          <p:nvPr/>
        </p:nvSpPr>
        <p:spPr>
          <a:xfrm>
            <a:off x="6983090" y="4463004"/>
            <a:ext cx="484998" cy="484998"/>
          </a:xfrm>
          <a:prstGeom prst="rect">
            <a:avLst/>
          </a:prstGeom>
          <a:noFill/>
          <a:ln/>
        </p:spPr>
        <p:txBody>
          <a:bodyPr wrap="square" rtlCol="0" anchor="ctr"/>
          <a:lstStyle/>
          <a:p>
            <a:pPr marL="0" indent="0" algn="ctr">
              <a:buNone/>
            </a:pPr>
            <a:r>
              <a:rPr lang="en-US" sz="1275" b="1" dirty="0">
                <a:solidFill>
                  <a:srgbClr val="14213D"/>
                </a:solidFill>
                <a:latin typeface="Calibri" pitchFamily="34" charset="0"/>
                <a:ea typeface="Calibri" pitchFamily="34" charset="-122"/>
                <a:cs typeface="Calibri" pitchFamily="34" charset="-120"/>
              </a:rPr>
              <a:t>G</a:t>
            </a:r>
            <a:endParaRPr lang="en-US" sz="1275" dirty="0"/>
          </a:p>
        </p:txBody>
      </p:sp>
      <p:sp>
        <p:nvSpPr>
          <p:cNvPr id="29" name="Shape 27"/>
          <p:cNvSpPr/>
          <p:nvPr/>
        </p:nvSpPr>
        <p:spPr>
          <a:xfrm>
            <a:off x="3298972" y="5535595"/>
            <a:ext cx="484998" cy="484998"/>
          </a:xfrm>
          <a:prstGeom prst="ellipse">
            <a:avLst/>
          </a:prstGeom>
          <a:solidFill>
            <a:srgbClr val="435273"/>
          </a:solidFill>
          <a:ln w="19050">
            <a:solidFill>
              <a:srgbClr val="435273"/>
            </a:solidFill>
            <a:prstDash val="solid"/>
          </a:ln>
        </p:spPr>
      </p:sp>
      <p:sp>
        <p:nvSpPr>
          <p:cNvPr id="30" name="Text 28"/>
          <p:cNvSpPr txBox="1"/>
          <p:nvPr/>
        </p:nvSpPr>
        <p:spPr>
          <a:xfrm>
            <a:off x="3298972" y="5535595"/>
            <a:ext cx="484998" cy="484998"/>
          </a:xfrm>
          <a:prstGeom prst="rect">
            <a:avLst/>
          </a:prstGeom>
          <a:noFill/>
          <a:ln/>
        </p:spPr>
        <p:txBody>
          <a:bodyPr wrap="square" rtlCol="0" anchor="ctr"/>
          <a:lstStyle/>
          <a:p>
            <a:pPr marL="0" indent="0" algn="ctr">
              <a:buNone/>
            </a:pPr>
            <a:r>
              <a:rPr lang="en-US" sz="1275" b="1" dirty="0">
                <a:solidFill>
                  <a:srgbClr val="FFFFFF"/>
                </a:solidFill>
                <a:latin typeface="Calibri" pitchFamily="34" charset="0"/>
                <a:ea typeface="Calibri" pitchFamily="34" charset="-122"/>
                <a:cs typeface="Calibri" pitchFamily="34" charset="-120"/>
              </a:rPr>
              <a:t>H</a:t>
            </a:r>
            <a:endParaRPr lang="en-US" sz="1275" dirty="0"/>
          </a:p>
        </p:txBody>
      </p:sp>
      <p:sp>
        <p:nvSpPr>
          <p:cNvPr id="31" name="Shape 29"/>
          <p:cNvSpPr/>
          <p:nvPr/>
        </p:nvSpPr>
        <p:spPr>
          <a:xfrm>
            <a:off x="4418198" y="5535595"/>
            <a:ext cx="484998" cy="484998"/>
          </a:xfrm>
          <a:prstGeom prst="ellipse">
            <a:avLst/>
          </a:prstGeom>
          <a:solidFill>
            <a:srgbClr val="C9A227"/>
          </a:solidFill>
          <a:ln w="25400">
            <a:solidFill>
              <a:srgbClr val="14213D"/>
            </a:solidFill>
            <a:prstDash val="solid"/>
          </a:ln>
        </p:spPr>
      </p:sp>
      <p:sp>
        <p:nvSpPr>
          <p:cNvPr id="32" name="Text 30"/>
          <p:cNvSpPr txBox="1"/>
          <p:nvPr/>
        </p:nvSpPr>
        <p:spPr>
          <a:xfrm>
            <a:off x="4418198" y="5535595"/>
            <a:ext cx="484998" cy="484998"/>
          </a:xfrm>
          <a:prstGeom prst="rect">
            <a:avLst/>
          </a:prstGeom>
          <a:noFill/>
          <a:ln/>
        </p:spPr>
        <p:txBody>
          <a:bodyPr wrap="square" rtlCol="0" anchor="ctr"/>
          <a:lstStyle/>
          <a:p>
            <a:pPr marL="0" indent="0" algn="ctr">
              <a:buNone/>
            </a:pPr>
            <a:r>
              <a:rPr lang="en-US" sz="1275" b="1" dirty="0">
                <a:solidFill>
                  <a:srgbClr val="0A1226"/>
                </a:solidFill>
                <a:latin typeface="Calibri" pitchFamily="34" charset="0"/>
                <a:ea typeface="Calibri" pitchFamily="34" charset="-122"/>
                <a:cs typeface="Calibri" pitchFamily="34" charset="-120"/>
              </a:rPr>
              <a:t>I</a:t>
            </a:r>
            <a:endParaRPr lang="en-US" sz="1275" dirty="0"/>
          </a:p>
        </p:txBody>
      </p:sp>
      <p:sp>
        <p:nvSpPr>
          <p:cNvPr id="33" name="Text 31"/>
          <p:cNvSpPr txBox="1"/>
          <p:nvPr/>
        </p:nvSpPr>
        <p:spPr>
          <a:xfrm>
            <a:off x="5621365" y="2168591"/>
            <a:ext cx="274320" cy="274320"/>
          </a:xfrm>
          <a:prstGeom prst="rect">
            <a:avLst/>
          </a:prstGeom>
          <a:noFill/>
          <a:ln/>
        </p:spPr>
        <p:txBody>
          <a:bodyPr wrap="square" rtlCol="0" anchor="ctr"/>
          <a:lstStyle/>
          <a:p>
            <a:pPr marL="0" indent="0" algn="ctr">
              <a:buNone/>
            </a:pPr>
            <a:r>
              <a:rPr lang="en-US" sz="1200" b="1" dirty="0">
                <a:solidFill>
                  <a:srgbClr val="C9A227"/>
                </a:solidFill>
                <a:latin typeface="Calibri" pitchFamily="34" charset="0"/>
                <a:ea typeface="Calibri" pitchFamily="34" charset="-122"/>
                <a:cs typeface="Calibri" pitchFamily="34" charset="-120"/>
              </a:rPr>
              <a:t>1</a:t>
            </a:r>
            <a:endParaRPr lang="en-US" sz="1200" dirty="0"/>
          </a:p>
        </p:txBody>
      </p:sp>
      <p:sp>
        <p:nvSpPr>
          <p:cNvPr id="34" name="Text 32"/>
          <p:cNvSpPr txBox="1"/>
          <p:nvPr/>
        </p:nvSpPr>
        <p:spPr>
          <a:xfrm>
            <a:off x="3755989" y="3241182"/>
            <a:ext cx="274320" cy="274320"/>
          </a:xfrm>
          <a:prstGeom prst="rect">
            <a:avLst/>
          </a:prstGeom>
          <a:noFill/>
          <a:ln/>
        </p:spPr>
        <p:txBody>
          <a:bodyPr wrap="square" rtlCol="0" anchor="ctr"/>
          <a:lstStyle/>
          <a:p>
            <a:pPr marL="0" indent="0" algn="ctr">
              <a:buNone/>
            </a:pPr>
            <a:r>
              <a:rPr lang="en-US" sz="1200" b="1" dirty="0">
                <a:solidFill>
                  <a:srgbClr val="C9A227"/>
                </a:solidFill>
                <a:latin typeface="Calibri" pitchFamily="34" charset="0"/>
                <a:ea typeface="Calibri" pitchFamily="34" charset="-122"/>
                <a:cs typeface="Calibri" pitchFamily="34" charset="-120"/>
              </a:rPr>
              <a:t>2</a:t>
            </a:r>
            <a:endParaRPr lang="en-US" sz="1200" dirty="0"/>
          </a:p>
        </p:txBody>
      </p:sp>
      <p:sp>
        <p:nvSpPr>
          <p:cNvPr id="35" name="Text 33"/>
          <p:cNvSpPr txBox="1"/>
          <p:nvPr/>
        </p:nvSpPr>
        <p:spPr>
          <a:xfrm>
            <a:off x="3149742" y="4313773"/>
            <a:ext cx="274320" cy="274320"/>
          </a:xfrm>
          <a:prstGeom prst="rect">
            <a:avLst/>
          </a:prstGeom>
          <a:noFill/>
          <a:ln/>
        </p:spPr>
        <p:txBody>
          <a:bodyPr wrap="square" rtlCol="0" anchor="ctr"/>
          <a:lstStyle/>
          <a:p>
            <a:pPr marL="0" indent="0" algn="ctr">
              <a:buNone/>
            </a:pPr>
            <a:r>
              <a:rPr lang="en-US" sz="1200" b="1" dirty="0">
                <a:solidFill>
                  <a:srgbClr val="C9A227"/>
                </a:solidFill>
                <a:latin typeface="Calibri" pitchFamily="34" charset="0"/>
                <a:ea typeface="Calibri" pitchFamily="34" charset="-122"/>
                <a:cs typeface="Calibri" pitchFamily="34" charset="-120"/>
              </a:rPr>
              <a:t>3</a:t>
            </a:r>
            <a:endParaRPr lang="en-US" sz="1200" dirty="0"/>
          </a:p>
        </p:txBody>
      </p:sp>
      <p:sp>
        <p:nvSpPr>
          <p:cNvPr id="36" name="Text 34"/>
          <p:cNvSpPr txBox="1"/>
          <p:nvPr/>
        </p:nvSpPr>
        <p:spPr>
          <a:xfrm>
            <a:off x="4362237" y="4313773"/>
            <a:ext cx="274320" cy="274320"/>
          </a:xfrm>
          <a:prstGeom prst="rect">
            <a:avLst/>
          </a:prstGeom>
          <a:noFill/>
          <a:ln/>
        </p:spPr>
        <p:txBody>
          <a:bodyPr wrap="square" rtlCol="0" anchor="ctr"/>
          <a:lstStyle/>
          <a:p>
            <a:pPr marL="0" indent="0" algn="ctr">
              <a:buNone/>
            </a:pPr>
            <a:r>
              <a:rPr lang="en-US" sz="1200" b="1" dirty="0">
                <a:solidFill>
                  <a:srgbClr val="C9A227"/>
                </a:solidFill>
                <a:latin typeface="Calibri" pitchFamily="34" charset="0"/>
                <a:ea typeface="Calibri" pitchFamily="34" charset="-122"/>
                <a:cs typeface="Calibri" pitchFamily="34" charset="-120"/>
              </a:rPr>
              <a:t>4</a:t>
            </a:r>
            <a:endParaRPr lang="en-US" sz="1200" dirty="0"/>
          </a:p>
        </p:txBody>
      </p:sp>
      <p:sp>
        <p:nvSpPr>
          <p:cNvPr id="37" name="Text 35"/>
          <p:cNvSpPr txBox="1"/>
          <p:nvPr/>
        </p:nvSpPr>
        <p:spPr>
          <a:xfrm>
            <a:off x="3802624" y="5386365"/>
            <a:ext cx="274320" cy="274320"/>
          </a:xfrm>
          <a:prstGeom prst="rect">
            <a:avLst/>
          </a:prstGeom>
          <a:noFill/>
          <a:ln/>
        </p:spPr>
        <p:txBody>
          <a:bodyPr wrap="square" rtlCol="0" anchor="ctr"/>
          <a:lstStyle/>
          <a:p>
            <a:pPr marL="0" indent="0" algn="ctr">
              <a:buNone/>
            </a:pPr>
            <a:r>
              <a:rPr lang="en-US" sz="1200" b="1" dirty="0">
                <a:solidFill>
                  <a:srgbClr val="C9A227"/>
                </a:solidFill>
                <a:latin typeface="Calibri" pitchFamily="34" charset="0"/>
                <a:ea typeface="Calibri" pitchFamily="34" charset="-122"/>
                <a:cs typeface="Calibri" pitchFamily="34" charset="-120"/>
              </a:rPr>
              <a:t>5</a:t>
            </a:r>
            <a:endParaRPr lang="en-US" sz="1200" dirty="0"/>
          </a:p>
        </p:txBody>
      </p:sp>
      <p:sp>
        <p:nvSpPr>
          <p:cNvPr id="38" name="Text 36"/>
          <p:cNvSpPr txBox="1"/>
          <p:nvPr/>
        </p:nvSpPr>
        <p:spPr>
          <a:xfrm>
            <a:off x="4921849" y="5386365"/>
            <a:ext cx="274320" cy="274320"/>
          </a:xfrm>
          <a:prstGeom prst="rect">
            <a:avLst/>
          </a:prstGeom>
          <a:noFill/>
          <a:ln/>
        </p:spPr>
        <p:txBody>
          <a:bodyPr wrap="square" rtlCol="0" anchor="ctr"/>
          <a:lstStyle/>
          <a:p>
            <a:pPr marL="0" indent="0" algn="ctr">
              <a:buNone/>
            </a:pPr>
            <a:r>
              <a:rPr lang="en-US" sz="1200" b="1" dirty="0">
                <a:solidFill>
                  <a:srgbClr val="C9A227"/>
                </a:solidFill>
                <a:latin typeface="Calibri" pitchFamily="34" charset="0"/>
                <a:ea typeface="Calibri" pitchFamily="34" charset="-122"/>
                <a:cs typeface="Calibri" pitchFamily="34" charset="-120"/>
              </a:rPr>
              <a:t>6</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92608"/>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UNINFORMED SEARCH · DFS</a:t>
            </a:r>
            <a:endParaRPr lang="en-US" sz="1200" dirty="0"/>
          </a:p>
        </p:txBody>
      </p:sp>
      <p:sp>
        <p:nvSpPr>
          <p:cNvPr id="3" name="Text 1"/>
          <p:cNvSpPr txBox="1"/>
          <p:nvPr/>
        </p:nvSpPr>
        <p:spPr>
          <a:xfrm>
            <a:off x="502920" y="621792"/>
            <a:ext cx="11155680" cy="658368"/>
          </a:xfrm>
          <a:prstGeom prst="rect">
            <a:avLst/>
          </a:prstGeom>
          <a:noFill/>
          <a:ln/>
        </p:spPr>
        <p:txBody>
          <a:bodyPr wrap="square" rtlCol="0" anchor="ctr"/>
          <a:lstStyle/>
          <a:p>
            <a:pPr marL="0" indent="0">
              <a:buNone/>
            </a:pPr>
            <a:r>
              <a:rPr lang="en-US" sz="2900" b="1" dirty="0">
                <a:solidFill>
                  <a:srgbClr val="14213D"/>
                </a:solidFill>
                <a:latin typeface="Cambria" pitchFamily="34" charset="0"/>
                <a:ea typeface="Cambria" pitchFamily="34" charset="-122"/>
                <a:cs typeface="Cambria" pitchFamily="34" charset="-120"/>
              </a:rPr>
              <a:t>DFS and the LIFO Stack</a:t>
            </a:r>
            <a:endParaRPr lang="en-US" sz="2900" dirty="0"/>
          </a:p>
        </p:txBody>
      </p:sp>
      <p:sp>
        <p:nvSpPr>
          <p:cNvPr id="4" name="Text 2"/>
          <p:cNvSpPr txBox="1"/>
          <p:nvPr/>
        </p:nvSpPr>
        <p:spPr>
          <a:xfrm>
            <a:off x="502920" y="6473952"/>
            <a:ext cx="7315200" cy="274320"/>
          </a:xfrm>
          <a:prstGeom prst="rect">
            <a:avLst/>
          </a:prstGeom>
          <a:noFill/>
          <a:ln/>
        </p:spPr>
        <p:txBody>
          <a:bodyPr wrap="square" rtlCol="0" anchor="ctr"/>
          <a:lstStyle/>
          <a:p>
            <a:pPr marL="0" indent="0">
              <a:buNone/>
            </a:pPr>
            <a:r>
              <a:rPr lang="en-US" sz="950" b="1" dirty="0">
                <a:solidFill>
                  <a:srgbClr val="6B7280"/>
                </a:solidFill>
                <a:latin typeface="Calibri" pitchFamily="34" charset="0"/>
                <a:ea typeface="Calibri" pitchFamily="34" charset="-122"/>
                <a:cs typeface="Calibri" pitchFamily="34" charset="-120"/>
              </a:rPr>
              <a:t>Artificial Intelligence</a:t>
            </a:r>
            <a:r>
              <a:rPr lang="en-US" sz="950" dirty="0">
                <a:solidFill>
                  <a:srgbClr val="6B7280"/>
                </a:solidFill>
                <a:latin typeface="Calibri" pitchFamily="34" charset="0"/>
                <a:ea typeface="Calibri" pitchFamily="34" charset="-122"/>
                <a:cs typeface="Calibri" pitchFamily="34" charset="-120"/>
              </a:rPr>
              <a:t>   ·   BS Computer Science   ·   Lecture 3</a:t>
            </a:r>
            <a:endParaRPr lang="en-US" sz="950" dirty="0"/>
          </a:p>
        </p:txBody>
      </p:sp>
      <p:sp>
        <p:nvSpPr>
          <p:cNvPr id="5" name="Text 3"/>
          <p:cNvSpPr txBox="1"/>
          <p:nvPr/>
        </p:nvSpPr>
        <p:spPr>
          <a:xfrm>
            <a:off x="8762695" y="6473952"/>
            <a:ext cx="292608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Dr. Ghulam Ali   ·   26</a:t>
            </a:r>
            <a:endParaRPr lang="en-US" sz="950" dirty="0"/>
          </a:p>
        </p:txBody>
      </p:sp>
      <p:sp>
        <p:nvSpPr>
          <p:cNvPr id="6" name="Text 4"/>
          <p:cNvSpPr txBox="1"/>
          <p:nvPr/>
        </p:nvSpPr>
        <p:spPr>
          <a:xfrm>
            <a:off x="502920" y="1417320"/>
            <a:ext cx="11185855" cy="1005840"/>
          </a:xfrm>
          <a:prstGeom prst="rect">
            <a:avLst/>
          </a:prstGeom>
          <a:noFill/>
          <a:ln/>
        </p:spPr>
        <p:txBody>
          <a:bodyPr wrap="square" rtlCol="0" anchor="ctr"/>
          <a:lstStyle/>
          <a:p>
            <a:pPr marL="0" indent="0">
              <a:lnSpc>
                <a:spcPct val="130000"/>
              </a:lnSpc>
              <a:buNone/>
            </a:pPr>
            <a:r>
              <a:rPr lang="en-US" sz="1600" dirty="0">
                <a:solidFill>
                  <a:srgbClr val="1B2333"/>
                </a:solidFill>
                <a:latin typeface="Times New Roman" panose="02020603050405020304" pitchFamily="18" charset="0"/>
                <a:ea typeface="Calibri" pitchFamily="34" charset="-122"/>
                <a:cs typeface="Times New Roman" panose="02020603050405020304" pitchFamily="18" charset="0"/>
              </a:rPr>
              <a:t>A LIFO (Last-In, First-Out) stack always removes the most recently inserted node first. When a node's children are pushed onto the stack, they are explored immediately — before any previously waiting sibling — which is exactly what produces DFS's depth-first, backtracking behavior.</a:t>
            </a:r>
            <a:endParaRPr lang="en-US" sz="1600" dirty="0">
              <a:latin typeface="Times New Roman" panose="02020603050405020304" pitchFamily="18" charset="0"/>
              <a:cs typeface="Times New Roman" panose="02020603050405020304" pitchFamily="18" charset="0"/>
            </a:endParaRPr>
          </a:p>
        </p:txBody>
      </p:sp>
      <p:graphicFrame>
        <p:nvGraphicFramePr>
          <p:cNvPr id="27" name="Table 0"/>
          <p:cNvGraphicFramePr>
            <a:graphicFrameLocks noGrp="1"/>
          </p:cNvGraphicFramePr>
          <p:nvPr>
            <p:extLst>
              <p:ext uri="{D42A27DB-BD31-4B8C-83A1-F6EECF244321}">
                <p14:modId xmlns:p14="http://schemas.microsoft.com/office/powerpoint/2010/main" val="1925659805"/>
              </p:ext>
            </p:extLst>
          </p:nvPr>
        </p:nvGraphicFramePr>
        <p:xfrm>
          <a:off x="502920" y="2514600"/>
          <a:ext cx="11201400" cy="2514600"/>
        </p:xfrm>
        <a:graphic>
          <a:graphicData uri="http://schemas.openxmlformats.org/drawingml/2006/table">
            <a:tbl>
              <a:tblPr/>
              <a:tblGrid>
                <a:gridCol w="4572000">
                  <a:extLst>
                    <a:ext uri="{9D8B030D-6E8A-4147-A177-3AD203B41FA5}">
                      <a16:colId xmlns:a16="http://schemas.microsoft.com/office/drawing/2014/main" val="20000"/>
                    </a:ext>
                  </a:extLst>
                </a:gridCol>
                <a:gridCol w="6629400">
                  <a:extLst>
                    <a:ext uri="{9D8B030D-6E8A-4147-A177-3AD203B41FA5}">
                      <a16:colId xmlns:a16="http://schemas.microsoft.com/office/drawing/2014/main" val="20001"/>
                    </a:ext>
                  </a:extLst>
                </a:gridCol>
              </a:tblGrid>
              <a:tr h="502920">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Frontier state</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4213D"/>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Contents (bottom → top)</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502920">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Initial</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 A ]</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After expanding A</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 D, C, B ]</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extLst>
                  <a:ext uri="{0D108BD9-81ED-4DB2-BD59-A6C34878D82A}">
                    <a16:rowId xmlns:a16="http://schemas.microsoft.com/office/drawing/2014/main" val="10002"/>
                  </a:ext>
                </a:extLst>
              </a:tr>
              <a:tr h="502920">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After expanding B</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 D, C, F, E ]</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After expanding E (leaf — backtrack)</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 D, C, F ]</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extLst>
                  <a:ext uri="{0D108BD9-81ED-4DB2-BD59-A6C34878D82A}">
                    <a16:rowId xmlns:a16="http://schemas.microsoft.com/office/drawing/2014/main" val="10004"/>
                  </a:ext>
                </a:extLst>
              </a:tr>
            </a:tbl>
          </a:graphicData>
        </a:graphic>
      </p:graphicFrame>
      <p:sp>
        <p:nvSpPr>
          <p:cNvPr id="8" name="Shape 5"/>
          <p:cNvSpPr/>
          <p:nvPr/>
        </p:nvSpPr>
        <p:spPr>
          <a:xfrm>
            <a:off x="502920" y="5166360"/>
            <a:ext cx="11185855" cy="960120"/>
          </a:xfrm>
          <a:prstGeom prst="roundRect">
            <a:avLst>
              <a:gd name="adj" fmla="val 7619"/>
            </a:avLst>
          </a:prstGeom>
          <a:solidFill>
            <a:srgbClr val="EAEFF8"/>
          </a:solidFill>
          <a:ln/>
        </p:spPr>
      </p:sp>
      <p:sp>
        <p:nvSpPr>
          <p:cNvPr id="9" name="Shape 6"/>
          <p:cNvSpPr/>
          <p:nvPr/>
        </p:nvSpPr>
        <p:spPr>
          <a:xfrm>
            <a:off x="704088" y="5367528"/>
            <a:ext cx="347472" cy="347472"/>
          </a:xfrm>
          <a:prstGeom prst="ellipse">
            <a:avLst/>
          </a:prstGeom>
          <a:solidFill>
            <a:srgbClr val="C9A227"/>
          </a:solidFill>
          <a:ln/>
        </p:spPr>
      </p:sp>
      <p:sp>
        <p:nvSpPr>
          <p:cNvPr id="10" name="Text 7"/>
          <p:cNvSpPr txBox="1"/>
          <p:nvPr/>
        </p:nvSpPr>
        <p:spPr>
          <a:xfrm>
            <a:off x="704088" y="5367528"/>
            <a:ext cx="347472" cy="347472"/>
          </a:xfrm>
          <a:prstGeom prst="rect">
            <a:avLst/>
          </a:prstGeom>
          <a:noFill/>
          <a:ln/>
        </p:spPr>
        <p:txBody>
          <a:bodyPr wrap="none" rtlCol="0" anchor="ctr"/>
          <a:lstStyle/>
          <a:p>
            <a:pPr marL="0" indent="0" algn="ctr">
              <a:buNone/>
            </a:pPr>
            <a:r>
              <a:rPr lang="en-US" sz="1500" b="1" dirty="0">
                <a:solidFill>
                  <a:srgbClr val="0A1226"/>
                </a:solidFill>
                <a:latin typeface="Calibri" pitchFamily="34" charset="0"/>
                <a:ea typeface="Calibri" pitchFamily="34" charset="-122"/>
                <a:cs typeface="Calibri" pitchFamily="34" charset="-120"/>
              </a:rPr>
              <a:t>↩</a:t>
            </a:r>
            <a:endParaRPr lang="en-US" sz="1500" dirty="0"/>
          </a:p>
        </p:txBody>
      </p:sp>
      <p:sp>
        <p:nvSpPr>
          <p:cNvPr id="11" name="Text 8"/>
          <p:cNvSpPr txBox="1"/>
          <p:nvPr/>
        </p:nvSpPr>
        <p:spPr>
          <a:xfrm>
            <a:off x="1207008" y="5330952"/>
            <a:ext cx="10280599" cy="310896"/>
          </a:xfrm>
          <a:prstGeom prst="rect">
            <a:avLst/>
          </a:prstGeom>
          <a:noFill/>
          <a:ln/>
        </p:spPr>
        <p:txBody>
          <a:bodyPr wrap="square" rtlCol="0" anchor="ctr"/>
          <a:lstStyle/>
          <a:p>
            <a:pPr marL="0" indent="0">
              <a:buNone/>
            </a:pPr>
            <a:r>
              <a:rPr lang="en-US" sz="1400" b="1" dirty="0">
                <a:solidFill>
                  <a:srgbClr val="14213D"/>
                </a:solidFill>
                <a:latin typeface="Calibri" pitchFamily="34" charset="0"/>
                <a:ea typeface="Calibri" pitchFamily="34" charset="-122"/>
                <a:cs typeface="Calibri" pitchFamily="34" charset="-120"/>
              </a:rPr>
              <a:t>BFS = FIFO   ·   DFS = LIFO</a:t>
            </a:r>
            <a:endParaRPr lang="en-US" sz="1400" dirty="0"/>
          </a:p>
        </p:txBody>
      </p:sp>
      <p:sp>
        <p:nvSpPr>
          <p:cNvPr id="12" name="Text 9"/>
          <p:cNvSpPr txBox="1"/>
          <p:nvPr/>
        </p:nvSpPr>
        <p:spPr>
          <a:xfrm>
            <a:off x="1207008" y="5660136"/>
            <a:ext cx="10280599" cy="429768"/>
          </a:xfrm>
          <a:prstGeom prst="rect">
            <a:avLst/>
          </a:prstGeom>
          <a:noFill/>
          <a:ln/>
        </p:spPr>
        <p:txBody>
          <a:bodyPr wrap="square" rtlCol="0" anchor="t"/>
          <a:lstStyle/>
          <a:p>
            <a:pPr marL="0" indent="0">
              <a:lnSpc>
                <a:spcPct val="112000"/>
              </a:lnSpc>
              <a:buNone/>
            </a:pPr>
            <a:r>
              <a:rPr lang="en-US" sz="1600" dirty="0">
                <a:solidFill>
                  <a:srgbClr val="1B2333"/>
                </a:solidFill>
                <a:latin typeface="Times New Roman" panose="02020603050405020304" pitchFamily="18" charset="0"/>
                <a:ea typeface="Calibri" pitchFamily="34" charset="-122"/>
                <a:cs typeface="Times New Roman" panose="02020603050405020304" pitchFamily="18" charset="0"/>
              </a:rPr>
              <a:t>This single data-structure swap is the entire mechanical difference between the two algorithms — both use the exact same generic expand-and-generate procedure otherwise.</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92608"/>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UNINFORMED SEARCH · DFS</a:t>
            </a:r>
            <a:endParaRPr lang="en-US" sz="1200" dirty="0"/>
          </a:p>
        </p:txBody>
      </p:sp>
      <p:sp>
        <p:nvSpPr>
          <p:cNvPr id="3" name="Text 1"/>
          <p:cNvSpPr txBox="1"/>
          <p:nvPr/>
        </p:nvSpPr>
        <p:spPr>
          <a:xfrm>
            <a:off x="502920" y="621792"/>
            <a:ext cx="11155680" cy="658368"/>
          </a:xfrm>
          <a:prstGeom prst="rect">
            <a:avLst/>
          </a:prstGeom>
          <a:noFill/>
          <a:ln/>
        </p:spPr>
        <p:txBody>
          <a:bodyPr wrap="square" rtlCol="0" anchor="ctr"/>
          <a:lstStyle/>
          <a:p>
            <a:pPr marL="0" indent="0">
              <a:buNone/>
            </a:pPr>
            <a:r>
              <a:rPr lang="en-US" sz="2900" b="1" dirty="0">
                <a:solidFill>
                  <a:srgbClr val="14213D"/>
                </a:solidFill>
                <a:latin typeface="Cambria" pitchFamily="34" charset="0"/>
                <a:ea typeface="Cambria" pitchFamily="34" charset="-122"/>
                <a:cs typeface="Cambria" pitchFamily="34" charset="-120"/>
              </a:rPr>
              <a:t>DFS Worked Example — Full Trace</a:t>
            </a:r>
            <a:endParaRPr lang="en-US" sz="2900" dirty="0"/>
          </a:p>
        </p:txBody>
      </p:sp>
      <p:sp>
        <p:nvSpPr>
          <p:cNvPr id="4" name="Text 2"/>
          <p:cNvSpPr txBox="1"/>
          <p:nvPr/>
        </p:nvSpPr>
        <p:spPr>
          <a:xfrm>
            <a:off x="502920" y="6473952"/>
            <a:ext cx="7315200" cy="274320"/>
          </a:xfrm>
          <a:prstGeom prst="rect">
            <a:avLst/>
          </a:prstGeom>
          <a:noFill/>
          <a:ln/>
        </p:spPr>
        <p:txBody>
          <a:bodyPr wrap="square" rtlCol="0" anchor="ctr"/>
          <a:lstStyle/>
          <a:p>
            <a:pPr marL="0" indent="0">
              <a:buNone/>
            </a:pPr>
            <a:r>
              <a:rPr lang="en-US" sz="950" b="1" dirty="0">
                <a:solidFill>
                  <a:srgbClr val="6B7280"/>
                </a:solidFill>
                <a:latin typeface="Calibri" pitchFamily="34" charset="0"/>
                <a:ea typeface="Calibri" pitchFamily="34" charset="-122"/>
                <a:cs typeface="Calibri" pitchFamily="34" charset="-120"/>
              </a:rPr>
              <a:t>Artificial Intelligence</a:t>
            </a:r>
            <a:r>
              <a:rPr lang="en-US" sz="950" dirty="0">
                <a:solidFill>
                  <a:srgbClr val="6B7280"/>
                </a:solidFill>
                <a:latin typeface="Calibri" pitchFamily="34" charset="0"/>
                <a:ea typeface="Calibri" pitchFamily="34" charset="-122"/>
                <a:cs typeface="Calibri" pitchFamily="34" charset="-120"/>
              </a:rPr>
              <a:t>   ·   BS Computer Science   ·   Lecture 3</a:t>
            </a:r>
            <a:endParaRPr lang="en-US" sz="950" dirty="0"/>
          </a:p>
        </p:txBody>
      </p:sp>
      <p:sp>
        <p:nvSpPr>
          <p:cNvPr id="5" name="Text 3"/>
          <p:cNvSpPr txBox="1"/>
          <p:nvPr/>
        </p:nvSpPr>
        <p:spPr>
          <a:xfrm>
            <a:off x="8762695" y="6473952"/>
            <a:ext cx="292608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Dr. Ghulam Ali   ·   27</a:t>
            </a:r>
            <a:endParaRPr lang="en-US" sz="950" dirty="0"/>
          </a:p>
        </p:txBody>
      </p:sp>
      <p:sp>
        <p:nvSpPr>
          <p:cNvPr id="6" name="Shape 4"/>
          <p:cNvSpPr/>
          <p:nvPr/>
        </p:nvSpPr>
        <p:spPr>
          <a:xfrm flipH="1">
            <a:off x="1617906" y="1480628"/>
            <a:ext cx="1303269" cy="749380"/>
          </a:xfrm>
          <a:prstGeom prst="line">
            <a:avLst/>
          </a:prstGeom>
          <a:noFill/>
          <a:ln w="19050">
            <a:solidFill>
              <a:srgbClr val="435273"/>
            </a:solidFill>
            <a:prstDash val="solid"/>
          </a:ln>
        </p:spPr>
      </p:sp>
      <p:sp>
        <p:nvSpPr>
          <p:cNvPr id="7" name="Shape 5"/>
          <p:cNvSpPr/>
          <p:nvPr/>
        </p:nvSpPr>
        <p:spPr>
          <a:xfrm>
            <a:off x="3110789" y="1590324"/>
            <a:ext cx="9144" cy="529986"/>
          </a:xfrm>
          <a:prstGeom prst="line">
            <a:avLst/>
          </a:prstGeom>
          <a:noFill/>
          <a:ln w="19050">
            <a:solidFill>
              <a:srgbClr val="435273"/>
            </a:solidFill>
            <a:prstDash val="solid"/>
          </a:ln>
        </p:spPr>
      </p:sp>
      <p:sp>
        <p:nvSpPr>
          <p:cNvPr id="8" name="Shape 6"/>
          <p:cNvSpPr/>
          <p:nvPr/>
        </p:nvSpPr>
        <p:spPr>
          <a:xfrm>
            <a:off x="3300402" y="1480628"/>
            <a:ext cx="1303269" cy="749380"/>
          </a:xfrm>
          <a:prstGeom prst="line">
            <a:avLst/>
          </a:prstGeom>
          <a:noFill/>
          <a:ln w="19050">
            <a:solidFill>
              <a:srgbClr val="435273"/>
            </a:solidFill>
            <a:prstDash val="solid"/>
          </a:ln>
        </p:spPr>
      </p:sp>
      <p:sp>
        <p:nvSpPr>
          <p:cNvPr id="9" name="Shape 7"/>
          <p:cNvSpPr/>
          <p:nvPr/>
        </p:nvSpPr>
        <p:spPr>
          <a:xfrm flipH="1">
            <a:off x="989107" y="2529449"/>
            <a:ext cx="331561" cy="586608"/>
          </a:xfrm>
          <a:prstGeom prst="line">
            <a:avLst/>
          </a:prstGeom>
          <a:noFill/>
          <a:ln w="19050">
            <a:solidFill>
              <a:srgbClr val="435273"/>
            </a:solidFill>
            <a:prstDash val="solid"/>
          </a:ln>
        </p:spPr>
      </p:sp>
      <p:sp>
        <p:nvSpPr>
          <p:cNvPr id="10" name="Shape 8"/>
          <p:cNvSpPr/>
          <p:nvPr/>
        </p:nvSpPr>
        <p:spPr>
          <a:xfrm>
            <a:off x="1535918" y="2529449"/>
            <a:ext cx="331561" cy="586608"/>
          </a:xfrm>
          <a:prstGeom prst="line">
            <a:avLst/>
          </a:prstGeom>
          <a:noFill/>
          <a:ln w="19050">
            <a:solidFill>
              <a:srgbClr val="435273"/>
            </a:solidFill>
            <a:prstDash val="solid"/>
          </a:ln>
        </p:spPr>
      </p:sp>
      <p:sp>
        <p:nvSpPr>
          <p:cNvPr id="11" name="Shape 9"/>
          <p:cNvSpPr/>
          <p:nvPr/>
        </p:nvSpPr>
        <p:spPr>
          <a:xfrm>
            <a:off x="4793285" y="2557760"/>
            <a:ext cx="9144" cy="529986"/>
          </a:xfrm>
          <a:prstGeom prst="line">
            <a:avLst/>
          </a:prstGeom>
          <a:noFill/>
          <a:ln w="19050">
            <a:solidFill>
              <a:srgbClr val="435273"/>
            </a:solidFill>
            <a:prstDash val="solid"/>
          </a:ln>
        </p:spPr>
      </p:sp>
      <p:sp>
        <p:nvSpPr>
          <p:cNvPr id="12" name="Shape 10"/>
          <p:cNvSpPr/>
          <p:nvPr/>
        </p:nvSpPr>
        <p:spPr>
          <a:xfrm flipH="1">
            <a:off x="1571530" y="3500388"/>
            <a:ext cx="302400" cy="579600"/>
          </a:xfrm>
          <a:prstGeom prst="line">
            <a:avLst/>
          </a:prstGeom>
          <a:noFill/>
          <a:ln w="19050">
            <a:solidFill>
              <a:srgbClr val="435273"/>
            </a:solidFill>
            <a:prstDash val="solid"/>
          </a:ln>
        </p:spPr>
      </p:sp>
      <p:sp>
        <p:nvSpPr>
          <p:cNvPr id="13" name="Shape 11"/>
          <p:cNvSpPr/>
          <p:nvPr/>
        </p:nvSpPr>
        <p:spPr>
          <a:xfrm>
            <a:off x="2076279" y="3500388"/>
            <a:ext cx="302400" cy="579600"/>
          </a:xfrm>
          <a:prstGeom prst="line">
            <a:avLst/>
          </a:prstGeom>
          <a:noFill/>
          <a:ln w="19050">
            <a:solidFill>
              <a:srgbClr val="435273"/>
            </a:solidFill>
            <a:prstDash val="solid"/>
          </a:ln>
        </p:spPr>
      </p:sp>
      <p:sp>
        <p:nvSpPr>
          <p:cNvPr id="14" name="Shape 12"/>
          <p:cNvSpPr/>
          <p:nvPr/>
        </p:nvSpPr>
        <p:spPr>
          <a:xfrm>
            <a:off x="2892064" y="1152876"/>
            <a:ext cx="437449" cy="437449"/>
          </a:xfrm>
          <a:prstGeom prst="ellipse">
            <a:avLst/>
          </a:prstGeom>
          <a:solidFill>
            <a:srgbClr val="FFFFFF"/>
          </a:solidFill>
          <a:ln w="19050">
            <a:solidFill>
              <a:srgbClr val="435273"/>
            </a:solidFill>
            <a:prstDash val="solid"/>
          </a:ln>
        </p:spPr>
      </p:sp>
      <p:sp>
        <p:nvSpPr>
          <p:cNvPr id="15" name="Text 13"/>
          <p:cNvSpPr txBox="1"/>
          <p:nvPr/>
        </p:nvSpPr>
        <p:spPr>
          <a:xfrm>
            <a:off x="2892064" y="1152876"/>
            <a:ext cx="437449" cy="437449"/>
          </a:xfrm>
          <a:prstGeom prst="rect">
            <a:avLst/>
          </a:prstGeom>
          <a:noFill/>
          <a:ln/>
        </p:spPr>
        <p:txBody>
          <a:bodyPr wrap="square" rtlCol="0" anchor="ctr"/>
          <a:lstStyle/>
          <a:p>
            <a:pPr marL="0" indent="0" algn="ctr">
              <a:buNone/>
            </a:pPr>
            <a:r>
              <a:rPr lang="en-US" sz="1150" b="1" dirty="0">
                <a:solidFill>
                  <a:srgbClr val="14213D"/>
                </a:solidFill>
                <a:latin typeface="Calibri" pitchFamily="34" charset="0"/>
                <a:ea typeface="Calibri" pitchFamily="34" charset="-122"/>
                <a:cs typeface="Calibri" pitchFamily="34" charset="-120"/>
              </a:rPr>
              <a:t>A</a:t>
            </a:r>
            <a:endParaRPr lang="en-US" sz="1150" dirty="0"/>
          </a:p>
        </p:txBody>
      </p:sp>
      <p:sp>
        <p:nvSpPr>
          <p:cNvPr id="16" name="Shape 14"/>
          <p:cNvSpPr/>
          <p:nvPr/>
        </p:nvSpPr>
        <p:spPr>
          <a:xfrm>
            <a:off x="1209568" y="2120311"/>
            <a:ext cx="437449" cy="437449"/>
          </a:xfrm>
          <a:prstGeom prst="ellipse">
            <a:avLst/>
          </a:prstGeom>
          <a:solidFill>
            <a:srgbClr val="FFFFFF"/>
          </a:solidFill>
          <a:ln w="19050">
            <a:solidFill>
              <a:srgbClr val="435273"/>
            </a:solidFill>
            <a:prstDash val="solid"/>
          </a:ln>
        </p:spPr>
      </p:sp>
      <p:sp>
        <p:nvSpPr>
          <p:cNvPr id="17" name="Text 15"/>
          <p:cNvSpPr txBox="1"/>
          <p:nvPr/>
        </p:nvSpPr>
        <p:spPr>
          <a:xfrm>
            <a:off x="1209568" y="2120311"/>
            <a:ext cx="437449" cy="437449"/>
          </a:xfrm>
          <a:prstGeom prst="rect">
            <a:avLst/>
          </a:prstGeom>
          <a:noFill/>
          <a:ln/>
        </p:spPr>
        <p:txBody>
          <a:bodyPr wrap="square" rtlCol="0" anchor="ctr"/>
          <a:lstStyle/>
          <a:p>
            <a:pPr marL="0" indent="0" algn="ctr">
              <a:buNone/>
            </a:pPr>
            <a:r>
              <a:rPr lang="en-US" sz="1150" b="1" dirty="0">
                <a:solidFill>
                  <a:srgbClr val="14213D"/>
                </a:solidFill>
                <a:latin typeface="Calibri" pitchFamily="34" charset="0"/>
                <a:ea typeface="Calibri" pitchFamily="34" charset="-122"/>
                <a:cs typeface="Calibri" pitchFamily="34" charset="-120"/>
              </a:rPr>
              <a:t>B</a:t>
            </a:r>
            <a:endParaRPr lang="en-US" sz="1150" dirty="0"/>
          </a:p>
        </p:txBody>
      </p:sp>
      <p:sp>
        <p:nvSpPr>
          <p:cNvPr id="18" name="Shape 16"/>
          <p:cNvSpPr/>
          <p:nvPr/>
        </p:nvSpPr>
        <p:spPr>
          <a:xfrm>
            <a:off x="2892064" y="2120311"/>
            <a:ext cx="437449" cy="437449"/>
          </a:xfrm>
          <a:prstGeom prst="ellipse">
            <a:avLst/>
          </a:prstGeom>
          <a:solidFill>
            <a:srgbClr val="FFFFFF"/>
          </a:solidFill>
          <a:ln w="19050">
            <a:solidFill>
              <a:srgbClr val="435273"/>
            </a:solidFill>
            <a:prstDash val="solid"/>
          </a:ln>
        </p:spPr>
      </p:sp>
      <p:sp>
        <p:nvSpPr>
          <p:cNvPr id="19" name="Text 17"/>
          <p:cNvSpPr txBox="1"/>
          <p:nvPr/>
        </p:nvSpPr>
        <p:spPr>
          <a:xfrm>
            <a:off x="2892064" y="2120311"/>
            <a:ext cx="437449" cy="437449"/>
          </a:xfrm>
          <a:prstGeom prst="rect">
            <a:avLst/>
          </a:prstGeom>
          <a:noFill/>
          <a:ln/>
        </p:spPr>
        <p:txBody>
          <a:bodyPr wrap="square" rtlCol="0" anchor="ctr"/>
          <a:lstStyle/>
          <a:p>
            <a:pPr marL="0" indent="0" algn="ctr">
              <a:buNone/>
            </a:pPr>
            <a:r>
              <a:rPr lang="en-US" sz="1150" b="1" dirty="0">
                <a:solidFill>
                  <a:srgbClr val="14213D"/>
                </a:solidFill>
                <a:latin typeface="Calibri" pitchFamily="34" charset="0"/>
                <a:ea typeface="Calibri" pitchFamily="34" charset="-122"/>
                <a:cs typeface="Calibri" pitchFamily="34" charset="-120"/>
              </a:rPr>
              <a:t>C</a:t>
            </a:r>
            <a:endParaRPr lang="en-US" sz="1150" dirty="0"/>
          </a:p>
        </p:txBody>
      </p:sp>
      <p:sp>
        <p:nvSpPr>
          <p:cNvPr id="20" name="Shape 18"/>
          <p:cNvSpPr/>
          <p:nvPr/>
        </p:nvSpPr>
        <p:spPr>
          <a:xfrm>
            <a:off x="4574560" y="2120311"/>
            <a:ext cx="437449" cy="437449"/>
          </a:xfrm>
          <a:prstGeom prst="ellipse">
            <a:avLst/>
          </a:prstGeom>
          <a:solidFill>
            <a:srgbClr val="FFFFFF"/>
          </a:solidFill>
          <a:ln w="19050">
            <a:solidFill>
              <a:srgbClr val="435273"/>
            </a:solidFill>
            <a:prstDash val="solid"/>
          </a:ln>
        </p:spPr>
      </p:sp>
      <p:sp>
        <p:nvSpPr>
          <p:cNvPr id="21" name="Text 19"/>
          <p:cNvSpPr txBox="1"/>
          <p:nvPr/>
        </p:nvSpPr>
        <p:spPr>
          <a:xfrm>
            <a:off x="4574560" y="2120311"/>
            <a:ext cx="437449" cy="437449"/>
          </a:xfrm>
          <a:prstGeom prst="rect">
            <a:avLst/>
          </a:prstGeom>
          <a:noFill/>
          <a:ln/>
        </p:spPr>
        <p:txBody>
          <a:bodyPr wrap="square" rtlCol="0" anchor="ctr"/>
          <a:lstStyle/>
          <a:p>
            <a:pPr marL="0" indent="0" algn="ctr">
              <a:buNone/>
            </a:pPr>
            <a:r>
              <a:rPr lang="en-US" sz="1150" b="1" dirty="0">
                <a:solidFill>
                  <a:srgbClr val="14213D"/>
                </a:solidFill>
                <a:latin typeface="Calibri" pitchFamily="34" charset="0"/>
                <a:ea typeface="Calibri" pitchFamily="34" charset="-122"/>
                <a:cs typeface="Calibri" pitchFamily="34" charset="-120"/>
              </a:rPr>
              <a:t>D</a:t>
            </a:r>
            <a:endParaRPr lang="en-US" sz="1150" dirty="0"/>
          </a:p>
        </p:txBody>
      </p:sp>
      <p:sp>
        <p:nvSpPr>
          <p:cNvPr id="22" name="Shape 20"/>
          <p:cNvSpPr/>
          <p:nvPr/>
        </p:nvSpPr>
        <p:spPr>
          <a:xfrm>
            <a:off x="662757" y="3087746"/>
            <a:ext cx="437449" cy="437449"/>
          </a:xfrm>
          <a:prstGeom prst="ellipse">
            <a:avLst/>
          </a:prstGeom>
          <a:solidFill>
            <a:srgbClr val="FFFFFF"/>
          </a:solidFill>
          <a:ln w="19050">
            <a:solidFill>
              <a:srgbClr val="435273"/>
            </a:solidFill>
            <a:prstDash val="solid"/>
          </a:ln>
        </p:spPr>
      </p:sp>
      <p:sp>
        <p:nvSpPr>
          <p:cNvPr id="23" name="Text 21"/>
          <p:cNvSpPr txBox="1"/>
          <p:nvPr/>
        </p:nvSpPr>
        <p:spPr>
          <a:xfrm>
            <a:off x="662757" y="3087746"/>
            <a:ext cx="437449" cy="437449"/>
          </a:xfrm>
          <a:prstGeom prst="rect">
            <a:avLst/>
          </a:prstGeom>
          <a:noFill/>
          <a:ln/>
        </p:spPr>
        <p:txBody>
          <a:bodyPr wrap="square" rtlCol="0" anchor="ctr"/>
          <a:lstStyle/>
          <a:p>
            <a:pPr marL="0" indent="0" algn="ctr">
              <a:buNone/>
            </a:pPr>
            <a:r>
              <a:rPr lang="en-US" sz="1150" b="1" dirty="0">
                <a:solidFill>
                  <a:srgbClr val="14213D"/>
                </a:solidFill>
                <a:latin typeface="Calibri" pitchFamily="34" charset="0"/>
                <a:ea typeface="Calibri" pitchFamily="34" charset="-122"/>
                <a:cs typeface="Calibri" pitchFamily="34" charset="-120"/>
              </a:rPr>
              <a:t>E</a:t>
            </a:r>
            <a:endParaRPr lang="en-US" sz="1150" dirty="0"/>
          </a:p>
        </p:txBody>
      </p:sp>
      <p:sp>
        <p:nvSpPr>
          <p:cNvPr id="24" name="Shape 22"/>
          <p:cNvSpPr/>
          <p:nvPr/>
        </p:nvSpPr>
        <p:spPr>
          <a:xfrm>
            <a:off x="1756380" y="3087746"/>
            <a:ext cx="437449" cy="437449"/>
          </a:xfrm>
          <a:prstGeom prst="ellipse">
            <a:avLst/>
          </a:prstGeom>
          <a:solidFill>
            <a:srgbClr val="FFFFFF"/>
          </a:solidFill>
          <a:ln w="19050">
            <a:solidFill>
              <a:srgbClr val="435273"/>
            </a:solidFill>
            <a:prstDash val="solid"/>
          </a:ln>
        </p:spPr>
      </p:sp>
      <p:sp>
        <p:nvSpPr>
          <p:cNvPr id="25" name="Text 23"/>
          <p:cNvSpPr txBox="1"/>
          <p:nvPr/>
        </p:nvSpPr>
        <p:spPr>
          <a:xfrm>
            <a:off x="1756380" y="3087746"/>
            <a:ext cx="437449" cy="437449"/>
          </a:xfrm>
          <a:prstGeom prst="rect">
            <a:avLst/>
          </a:prstGeom>
          <a:noFill/>
          <a:ln/>
        </p:spPr>
        <p:txBody>
          <a:bodyPr wrap="square" rtlCol="0" anchor="ctr"/>
          <a:lstStyle/>
          <a:p>
            <a:pPr marL="0" indent="0" algn="ctr">
              <a:buNone/>
            </a:pPr>
            <a:r>
              <a:rPr lang="en-US" sz="1150" b="1" dirty="0">
                <a:solidFill>
                  <a:srgbClr val="14213D"/>
                </a:solidFill>
                <a:latin typeface="Calibri" pitchFamily="34" charset="0"/>
                <a:ea typeface="Calibri" pitchFamily="34" charset="-122"/>
                <a:cs typeface="Calibri" pitchFamily="34" charset="-120"/>
              </a:rPr>
              <a:t>F</a:t>
            </a:r>
            <a:endParaRPr lang="en-US" sz="1150" dirty="0"/>
          </a:p>
        </p:txBody>
      </p:sp>
      <p:sp>
        <p:nvSpPr>
          <p:cNvPr id="26" name="Shape 24"/>
          <p:cNvSpPr/>
          <p:nvPr/>
        </p:nvSpPr>
        <p:spPr>
          <a:xfrm>
            <a:off x="4574560" y="3087746"/>
            <a:ext cx="437449" cy="437449"/>
          </a:xfrm>
          <a:prstGeom prst="ellipse">
            <a:avLst/>
          </a:prstGeom>
          <a:solidFill>
            <a:srgbClr val="FFFFFF"/>
          </a:solidFill>
          <a:ln w="19050">
            <a:solidFill>
              <a:srgbClr val="435273"/>
            </a:solidFill>
            <a:prstDash val="solid"/>
          </a:ln>
        </p:spPr>
      </p:sp>
      <p:sp>
        <p:nvSpPr>
          <p:cNvPr id="27" name="Text 25"/>
          <p:cNvSpPr txBox="1"/>
          <p:nvPr/>
        </p:nvSpPr>
        <p:spPr>
          <a:xfrm>
            <a:off x="4574560" y="3087746"/>
            <a:ext cx="437449" cy="437449"/>
          </a:xfrm>
          <a:prstGeom prst="rect">
            <a:avLst/>
          </a:prstGeom>
          <a:noFill/>
          <a:ln/>
        </p:spPr>
        <p:txBody>
          <a:bodyPr wrap="square" rtlCol="0" anchor="ctr"/>
          <a:lstStyle/>
          <a:p>
            <a:pPr marL="0" indent="0" algn="ctr">
              <a:buNone/>
            </a:pPr>
            <a:r>
              <a:rPr lang="en-US" sz="1150" b="1" dirty="0">
                <a:solidFill>
                  <a:srgbClr val="14213D"/>
                </a:solidFill>
                <a:latin typeface="Calibri" pitchFamily="34" charset="0"/>
                <a:ea typeface="Calibri" pitchFamily="34" charset="-122"/>
                <a:cs typeface="Calibri" pitchFamily="34" charset="-120"/>
              </a:rPr>
              <a:t>G</a:t>
            </a:r>
            <a:endParaRPr lang="en-US" sz="1150" dirty="0"/>
          </a:p>
        </p:txBody>
      </p:sp>
      <p:sp>
        <p:nvSpPr>
          <p:cNvPr id="28" name="Shape 26"/>
          <p:cNvSpPr/>
          <p:nvPr/>
        </p:nvSpPr>
        <p:spPr>
          <a:xfrm>
            <a:off x="1251631" y="4055181"/>
            <a:ext cx="437449" cy="437449"/>
          </a:xfrm>
          <a:prstGeom prst="ellipse">
            <a:avLst/>
          </a:prstGeom>
          <a:solidFill>
            <a:srgbClr val="FFFFFF"/>
          </a:solidFill>
          <a:ln w="19050">
            <a:solidFill>
              <a:srgbClr val="435273"/>
            </a:solidFill>
            <a:prstDash val="solid"/>
          </a:ln>
        </p:spPr>
      </p:sp>
      <p:sp>
        <p:nvSpPr>
          <p:cNvPr id="29" name="Text 27"/>
          <p:cNvSpPr txBox="1"/>
          <p:nvPr/>
        </p:nvSpPr>
        <p:spPr>
          <a:xfrm>
            <a:off x="1251631" y="4055181"/>
            <a:ext cx="437449" cy="437449"/>
          </a:xfrm>
          <a:prstGeom prst="rect">
            <a:avLst/>
          </a:prstGeom>
          <a:noFill/>
          <a:ln/>
        </p:spPr>
        <p:txBody>
          <a:bodyPr wrap="square" rtlCol="0" anchor="ctr"/>
          <a:lstStyle/>
          <a:p>
            <a:pPr marL="0" indent="0" algn="ctr">
              <a:buNone/>
            </a:pPr>
            <a:r>
              <a:rPr lang="en-US" sz="1150" b="1" dirty="0">
                <a:solidFill>
                  <a:srgbClr val="14213D"/>
                </a:solidFill>
                <a:latin typeface="Calibri" pitchFamily="34" charset="0"/>
                <a:ea typeface="Calibri" pitchFamily="34" charset="-122"/>
                <a:cs typeface="Calibri" pitchFamily="34" charset="-120"/>
              </a:rPr>
              <a:t>H</a:t>
            </a:r>
            <a:endParaRPr lang="en-US" sz="1150" dirty="0"/>
          </a:p>
        </p:txBody>
      </p:sp>
      <p:sp>
        <p:nvSpPr>
          <p:cNvPr id="30" name="Shape 28"/>
          <p:cNvSpPr/>
          <p:nvPr/>
        </p:nvSpPr>
        <p:spPr>
          <a:xfrm>
            <a:off x="2261128" y="4055181"/>
            <a:ext cx="437449" cy="437449"/>
          </a:xfrm>
          <a:prstGeom prst="ellipse">
            <a:avLst/>
          </a:prstGeom>
          <a:solidFill>
            <a:srgbClr val="C9A227"/>
          </a:solidFill>
          <a:ln w="25400">
            <a:solidFill>
              <a:srgbClr val="14213D"/>
            </a:solidFill>
            <a:prstDash val="solid"/>
          </a:ln>
        </p:spPr>
      </p:sp>
      <p:sp>
        <p:nvSpPr>
          <p:cNvPr id="31" name="Text 29"/>
          <p:cNvSpPr txBox="1"/>
          <p:nvPr/>
        </p:nvSpPr>
        <p:spPr>
          <a:xfrm>
            <a:off x="2261128" y="4055181"/>
            <a:ext cx="437449" cy="437449"/>
          </a:xfrm>
          <a:prstGeom prst="rect">
            <a:avLst/>
          </a:prstGeom>
          <a:noFill/>
          <a:ln/>
        </p:spPr>
        <p:txBody>
          <a:bodyPr wrap="square" rtlCol="0" anchor="ctr"/>
          <a:lstStyle/>
          <a:p>
            <a:pPr marL="0" indent="0" algn="ctr">
              <a:buNone/>
            </a:pPr>
            <a:r>
              <a:rPr lang="en-US" sz="1150" b="1" dirty="0">
                <a:solidFill>
                  <a:srgbClr val="0A1226"/>
                </a:solidFill>
                <a:latin typeface="Calibri" pitchFamily="34" charset="0"/>
                <a:ea typeface="Calibri" pitchFamily="34" charset="-122"/>
                <a:cs typeface="Calibri" pitchFamily="34" charset="-120"/>
              </a:rPr>
              <a:t>I</a:t>
            </a:r>
            <a:endParaRPr lang="en-US" sz="1150" dirty="0"/>
          </a:p>
        </p:txBody>
      </p:sp>
      <p:sp>
        <p:nvSpPr>
          <p:cNvPr id="32" name="Text 30"/>
          <p:cNvSpPr txBox="1"/>
          <p:nvPr/>
        </p:nvSpPr>
        <p:spPr>
          <a:xfrm>
            <a:off x="274320" y="4617720"/>
            <a:ext cx="3657600" cy="274320"/>
          </a:xfrm>
          <a:prstGeom prst="rect">
            <a:avLst/>
          </a:prstGeom>
          <a:noFill/>
          <a:ln/>
        </p:spPr>
        <p:txBody>
          <a:bodyPr wrap="square" rtlCol="0" anchor="ctr"/>
          <a:lstStyle/>
          <a:p>
            <a:pPr marL="0" indent="0">
              <a:buNone/>
            </a:pPr>
            <a:r>
              <a:rPr lang="en-US" sz="1100" b="1" dirty="0">
                <a:solidFill>
                  <a:srgbClr val="C9A227"/>
                </a:solidFill>
                <a:latin typeface="Calibri" pitchFamily="34" charset="0"/>
                <a:ea typeface="Calibri" pitchFamily="34" charset="-122"/>
                <a:cs typeface="Calibri" pitchFamily="34" charset="-120"/>
              </a:rPr>
              <a:t>Goal = I    ·    same tree as the BFS example</a:t>
            </a:r>
            <a:endParaRPr lang="en-US" sz="1100" dirty="0"/>
          </a:p>
        </p:txBody>
      </p:sp>
      <p:graphicFrame>
        <p:nvGraphicFramePr>
          <p:cNvPr id="33" name="Table 0"/>
          <p:cNvGraphicFramePr>
            <a:graphicFrameLocks noGrp="1"/>
          </p:cNvGraphicFramePr>
          <p:nvPr>
            <p:extLst>
              <p:ext uri="{D42A27DB-BD31-4B8C-83A1-F6EECF244321}">
                <p14:modId xmlns:p14="http://schemas.microsoft.com/office/powerpoint/2010/main" val="1176986066"/>
              </p:ext>
            </p:extLst>
          </p:nvPr>
        </p:nvGraphicFramePr>
        <p:xfrm>
          <a:off x="5298033" y="1325880"/>
          <a:ext cx="6452006" cy="3990848"/>
        </p:xfrm>
        <a:graphic>
          <a:graphicData uri="http://schemas.openxmlformats.org/drawingml/2006/table">
            <a:tbl>
              <a:tblPr/>
              <a:tblGrid>
                <a:gridCol w="442423">
                  <a:extLst>
                    <a:ext uri="{9D8B030D-6E8A-4147-A177-3AD203B41FA5}">
                      <a16:colId xmlns:a16="http://schemas.microsoft.com/office/drawing/2014/main" val="20000"/>
                    </a:ext>
                  </a:extLst>
                </a:gridCol>
                <a:gridCol w="1548481">
                  <a:extLst>
                    <a:ext uri="{9D8B030D-6E8A-4147-A177-3AD203B41FA5}">
                      <a16:colId xmlns:a16="http://schemas.microsoft.com/office/drawing/2014/main" val="20001"/>
                    </a:ext>
                  </a:extLst>
                </a:gridCol>
                <a:gridCol w="2212117">
                  <a:extLst>
                    <a:ext uri="{9D8B030D-6E8A-4147-A177-3AD203B41FA5}">
                      <a16:colId xmlns:a16="http://schemas.microsoft.com/office/drawing/2014/main" val="20002"/>
                    </a:ext>
                  </a:extLst>
                </a:gridCol>
                <a:gridCol w="2248985">
                  <a:extLst>
                    <a:ext uri="{9D8B030D-6E8A-4147-A177-3AD203B41FA5}">
                      <a16:colId xmlns:a16="http://schemas.microsoft.com/office/drawing/2014/main" val="20003"/>
                    </a:ext>
                  </a:extLst>
                </a:gridCol>
              </a:tblGrid>
              <a:tr h="566928">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Step</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4213D"/>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Expanded</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4213D"/>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Stack (bottom→top, after)</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4213D"/>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Explored</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566928">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A</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D, C, B</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A</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B</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D, C, F, E</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A, B</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extLst>
                  <a:ext uri="{0D108BD9-81ED-4DB2-BD59-A6C34878D82A}">
                    <a16:rowId xmlns:a16="http://schemas.microsoft.com/office/drawing/2014/main" val="10002"/>
                  </a:ext>
                </a:extLst>
              </a:tr>
              <a:tr h="566928">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E  (leaf)</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D, C, F</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A, B, E</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F</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D, C, I, H</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A, B, E, F</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extLst>
                  <a:ext uri="{0D108BD9-81ED-4DB2-BD59-A6C34878D82A}">
                    <a16:rowId xmlns:a16="http://schemas.microsoft.com/office/drawing/2014/main" val="10004"/>
                  </a:ext>
                </a:extLst>
              </a:tr>
              <a:tr h="566928">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H  (leaf)</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D, C, I</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A, B, E, F, H</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I — GOAL</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D, C</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A, B, E, F, H, I</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extLst>
                  <a:ext uri="{0D108BD9-81ED-4DB2-BD59-A6C34878D82A}">
                    <a16:rowId xmlns:a16="http://schemas.microsoft.com/office/drawing/2014/main" val="10006"/>
                  </a:ext>
                </a:extLst>
              </a:tr>
            </a:tbl>
          </a:graphicData>
        </a:graphic>
      </p:graphicFrame>
      <p:sp>
        <p:nvSpPr>
          <p:cNvPr id="34" name="Text 31"/>
          <p:cNvSpPr txBox="1"/>
          <p:nvPr/>
        </p:nvSpPr>
        <p:spPr>
          <a:xfrm>
            <a:off x="502920" y="5806440"/>
            <a:ext cx="11247120" cy="502920"/>
          </a:xfrm>
          <a:prstGeom prst="rect">
            <a:avLst/>
          </a:prstGeom>
          <a:noFill/>
          <a:ln/>
        </p:spPr>
        <p:txBody>
          <a:bodyPr wrap="square" rtlCol="0" anchor="ctr"/>
          <a:lstStyle/>
          <a:p>
            <a:pPr marL="0" indent="0">
              <a:buNone/>
            </a:pPr>
            <a:r>
              <a:rPr lang="en-US" sz="1600" i="1" dirty="0">
                <a:solidFill>
                  <a:srgbClr val="435273"/>
                </a:solidFill>
                <a:latin typeface="Times New Roman" panose="02020603050405020304" pitchFamily="18" charset="0"/>
                <a:ea typeface="Calibri" pitchFamily="34" charset="-122"/>
                <a:cs typeface="Times New Roman" panose="02020603050405020304" pitchFamily="18" charset="0"/>
              </a:rPr>
              <a:t>Successor ordering matters: DFS visited only 6 of the 9 nodes before finding I — but this depends entirely on the left-to-right ordering we chose for pushing children.</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92608"/>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UNINFORMED SEARCH · DFS</a:t>
            </a:r>
            <a:endParaRPr lang="en-US" sz="1200" dirty="0"/>
          </a:p>
        </p:txBody>
      </p:sp>
      <p:sp>
        <p:nvSpPr>
          <p:cNvPr id="3" name="Text 1"/>
          <p:cNvSpPr txBox="1"/>
          <p:nvPr/>
        </p:nvSpPr>
        <p:spPr>
          <a:xfrm>
            <a:off x="502920" y="621792"/>
            <a:ext cx="11155680" cy="658368"/>
          </a:xfrm>
          <a:prstGeom prst="rect">
            <a:avLst/>
          </a:prstGeom>
          <a:noFill/>
          <a:ln/>
        </p:spPr>
        <p:txBody>
          <a:bodyPr wrap="square" rtlCol="0" anchor="ctr"/>
          <a:lstStyle/>
          <a:p>
            <a:pPr marL="0" indent="0">
              <a:buNone/>
            </a:pPr>
            <a:r>
              <a:rPr lang="en-US" sz="2900" b="1" dirty="0">
                <a:solidFill>
                  <a:srgbClr val="14213D"/>
                </a:solidFill>
                <a:latin typeface="Cambria" pitchFamily="34" charset="0"/>
                <a:ea typeface="Cambria" pitchFamily="34" charset="-122"/>
                <a:cs typeface="Cambria" pitchFamily="34" charset="-120"/>
              </a:rPr>
              <a:t>DFS: Completeness and Optimality</a:t>
            </a:r>
            <a:endParaRPr lang="en-US" sz="2900" dirty="0"/>
          </a:p>
        </p:txBody>
      </p:sp>
      <p:sp>
        <p:nvSpPr>
          <p:cNvPr id="4" name="Text 2"/>
          <p:cNvSpPr txBox="1"/>
          <p:nvPr/>
        </p:nvSpPr>
        <p:spPr>
          <a:xfrm>
            <a:off x="502920" y="6473952"/>
            <a:ext cx="7315200" cy="274320"/>
          </a:xfrm>
          <a:prstGeom prst="rect">
            <a:avLst/>
          </a:prstGeom>
          <a:noFill/>
          <a:ln/>
        </p:spPr>
        <p:txBody>
          <a:bodyPr wrap="square" rtlCol="0" anchor="ctr"/>
          <a:lstStyle/>
          <a:p>
            <a:pPr marL="0" indent="0">
              <a:buNone/>
            </a:pPr>
            <a:r>
              <a:rPr lang="en-US" sz="950" b="1" dirty="0">
                <a:solidFill>
                  <a:srgbClr val="6B7280"/>
                </a:solidFill>
                <a:latin typeface="Calibri" pitchFamily="34" charset="0"/>
                <a:ea typeface="Calibri" pitchFamily="34" charset="-122"/>
                <a:cs typeface="Calibri" pitchFamily="34" charset="-120"/>
              </a:rPr>
              <a:t>Artificial Intelligence</a:t>
            </a:r>
            <a:r>
              <a:rPr lang="en-US" sz="950" dirty="0">
                <a:solidFill>
                  <a:srgbClr val="6B7280"/>
                </a:solidFill>
                <a:latin typeface="Calibri" pitchFamily="34" charset="0"/>
                <a:ea typeface="Calibri" pitchFamily="34" charset="-122"/>
                <a:cs typeface="Calibri" pitchFamily="34" charset="-120"/>
              </a:rPr>
              <a:t>   ·   BS Computer Science   ·   Lecture 3</a:t>
            </a:r>
            <a:endParaRPr lang="en-US" sz="950" dirty="0"/>
          </a:p>
        </p:txBody>
      </p:sp>
      <p:sp>
        <p:nvSpPr>
          <p:cNvPr id="5" name="Text 3"/>
          <p:cNvSpPr txBox="1"/>
          <p:nvPr/>
        </p:nvSpPr>
        <p:spPr>
          <a:xfrm>
            <a:off x="8762695" y="6473952"/>
            <a:ext cx="292608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Dr. Ghulam Ali   ·   28</a:t>
            </a:r>
            <a:endParaRPr lang="en-US" sz="950" dirty="0"/>
          </a:p>
        </p:txBody>
      </p:sp>
      <p:sp>
        <p:nvSpPr>
          <p:cNvPr id="6" name="Shape 4"/>
          <p:cNvSpPr/>
          <p:nvPr/>
        </p:nvSpPr>
        <p:spPr>
          <a:xfrm>
            <a:off x="502920" y="1417320"/>
            <a:ext cx="5440680" cy="566928"/>
          </a:xfrm>
          <a:prstGeom prst="roundRect">
            <a:avLst>
              <a:gd name="adj" fmla="val 12903"/>
            </a:avLst>
          </a:prstGeom>
          <a:solidFill>
            <a:srgbClr val="F5E7E7"/>
          </a:solidFill>
          <a:ln w="12700">
            <a:solidFill>
              <a:srgbClr val="9E3B3B"/>
            </a:solidFill>
            <a:prstDash val="solid"/>
          </a:ln>
        </p:spPr>
      </p:sp>
      <p:sp>
        <p:nvSpPr>
          <p:cNvPr id="7" name="Text 5"/>
          <p:cNvSpPr txBox="1"/>
          <p:nvPr/>
        </p:nvSpPr>
        <p:spPr>
          <a:xfrm>
            <a:off x="640080" y="1472184"/>
            <a:ext cx="1188720" cy="457200"/>
          </a:xfrm>
          <a:prstGeom prst="rect">
            <a:avLst/>
          </a:prstGeom>
          <a:noFill/>
          <a:ln/>
        </p:spPr>
        <p:txBody>
          <a:bodyPr wrap="square" rtlCol="0" anchor="ctr"/>
          <a:lstStyle/>
          <a:p>
            <a:pPr marL="0" indent="0">
              <a:buNone/>
            </a:pPr>
            <a:r>
              <a:rPr lang="en-US" sz="1800" b="1" dirty="0">
                <a:solidFill>
                  <a:srgbClr val="9E3B3B"/>
                </a:solidFill>
                <a:latin typeface="Calibri" pitchFamily="34" charset="0"/>
                <a:ea typeface="Calibri" pitchFamily="34" charset="-122"/>
                <a:cs typeface="Calibri" pitchFamily="34" charset="-120"/>
              </a:rPr>
              <a:t>NO</a:t>
            </a:r>
            <a:endParaRPr lang="en-US" sz="1800" dirty="0"/>
          </a:p>
        </p:txBody>
      </p:sp>
      <p:sp>
        <p:nvSpPr>
          <p:cNvPr id="8" name="Text 6"/>
          <p:cNvSpPr txBox="1"/>
          <p:nvPr/>
        </p:nvSpPr>
        <p:spPr>
          <a:xfrm>
            <a:off x="996696" y="1472184"/>
            <a:ext cx="4809744" cy="457200"/>
          </a:xfrm>
          <a:prstGeom prst="rect">
            <a:avLst/>
          </a:prstGeom>
          <a:noFill/>
          <a:ln/>
        </p:spPr>
        <p:txBody>
          <a:bodyPr wrap="square" rtlCol="0" anchor="ctr"/>
          <a:lstStyle/>
          <a:p>
            <a:pPr marL="0" indent="0">
              <a:buNone/>
            </a:pPr>
            <a:r>
              <a:rPr lang="en-US" sz="1600" dirty="0">
                <a:solidFill>
                  <a:srgbClr val="1B2333"/>
                </a:solidFill>
                <a:latin typeface="Times New Roman" panose="02020603050405020304" pitchFamily="18" charset="0"/>
                <a:ea typeface="Calibri" pitchFamily="34" charset="-122"/>
                <a:cs typeface="Times New Roman" panose="02020603050405020304" pitchFamily="18" charset="0"/>
              </a:rPr>
              <a:t>Completeness — NOT guaranteed on infinite or cyclic state spaces (tree search)</a:t>
            </a:r>
            <a:endParaRPr lang="en-US" sz="1600" dirty="0">
              <a:latin typeface="Times New Roman" panose="02020603050405020304" pitchFamily="18" charset="0"/>
              <a:cs typeface="Times New Roman" panose="02020603050405020304" pitchFamily="18" charset="0"/>
            </a:endParaRPr>
          </a:p>
        </p:txBody>
      </p:sp>
      <p:sp>
        <p:nvSpPr>
          <p:cNvPr id="9" name="Shape 7"/>
          <p:cNvSpPr/>
          <p:nvPr/>
        </p:nvSpPr>
        <p:spPr>
          <a:xfrm>
            <a:off x="6263640" y="1417320"/>
            <a:ext cx="5440680" cy="566928"/>
          </a:xfrm>
          <a:prstGeom prst="roundRect">
            <a:avLst>
              <a:gd name="adj" fmla="val 12903"/>
            </a:avLst>
          </a:prstGeom>
          <a:solidFill>
            <a:srgbClr val="F5E7E7"/>
          </a:solidFill>
          <a:ln w="12700">
            <a:solidFill>
              <a:srgbClr val="9E3B3B"/>
            </a:solidFill>
            <a:prstDash val="solid"/>
          </a:ln>
        </p:spPr>
      </p:sp>
      <p:sp>
        <p:nvSpPr>
          <p:cNvPr id="10" name="Text 8"/>
          <p:cNvSpPr txBox="1"/>
          <p:nvPr/>
        </p:nvSpPr>
        <p:spPr>
          <a:xfrm>
            <a:off x="6400800" y="1472184"/>
            <a:ext cx="1188720" cy="457200"/>
          </a:xfrm>
          <a:prstGeom prst="rect">
            <a:avLst/>
          </a:prstGeom>
          <a:noFill/>
          <a:ln/>
        </p:spPr>
        <p:txBody>
          <a:bodyPr wrap="square" rtlCol="0" anchor="ctr"/>
          <a:lstStyle/>
          <a:p>
            <a:pPr marL="0" indent="0">
              <a:buNone/>
            </a:pPr>
            <a:r>
              <a:rPr lang="en-US" sz="1800" b="1" dirty="0">
                <a:solidFill>
                  <a:srgbClr val="9E3B3B"/>
                </a:solidFill>
                <a:latin typeface="Calibri" pitchFamily="34" charset="0"/>
                <a:ea typeface="Calibri" pitchFamily="34" charset="-122"/>
                <a:cs typeface="Calibri" pitchFamily="34" charset="-120"/>
              </a:rPr>
              <a:t>NO</a:t>
            </a:r>
            <a:endParaRPr lang="en-US" sz="1800" dirty="0"/>
          </a:p>
        </p:txBody>
      </p:sp>
      <p:sp>
        <p:nvSpPr>
          <p:cNvPr id="11" name="Text 9"/>
          <p:cNvSpPr txBox="1"/>
          <p:nvPr/>
        </p:nvSpPr>
        <p:spPr>
          <a:xfrm>
            <a:off x="6908800" y="1472184"/>
            <a:ext cx="4658360" cy="457200"/>
          </a:xfrm>
          <a:prstGeom prst="rect">
            <a:avLst/>
          </a:prstGeom>
          <a:noFill/>
          <a:ln/>
        </p:spPr>
        <p:txBody>
          <a:bodyPr wrap="square" rtlCol="0" anchor="ctr"/>
          <a:lstStyle/>
          <a:p>
            <a:pPr marL="0" indent="0">
              <a:buNone/>
            </a:pPr>
            <a:r>
              <a:rPr lang="en-US" sz="1600" dirty="0">
                <a:solidFill>
                  <a:srgbClr val="1B2333"/>
                </a:solidFill>
                <a:latin typeface="Calibri" pitchFamily="34" charset="0"/>
                <a:ea typeface="Calibri" pitchFamily="34" charset="-122"/>
                <a:cs typeface="Calibri" pitchFamily="34" charset="-120"/>
              </a:rPr>
              <a:t>Optimality — NO. DFS has no mechanism that favors cheaper or shallower solutions</a:t>
            </a:r>
            <a:endParaRPr lang="en-US" sz="1600" dirty="0"/>
          </a:p>
        </p:txBody>
      </p:sp>
      <p:sp>
        <p:nvSpPr>
          <p:cNvPr id="12" name="Text 10"/>
          <p:cNvSpPr txBox="1"/>
          <p:nvPr/>
        </p:nvSpPr>
        <p:spPr>
          <a:xfrm>
            <a:off x="502920" y="2194560"/>
            <a:ext cx="5760720" cy="320040"/>
          </a:xfrm>
          <a:prstGeom prst="rect">
            <a:avLst/>
          </a:prstGeom>
          <a:noFill/>
          <a:ln/>
        </p:spPr>
        <p:txBody>
          <a:bodyPr wrap="square" rtlCol="0" anchor="ctr"/>
          <a:lstStyle/>
          <a:p>
            <a:pPr marL="0" indent="0">
              <a:buNone/>
            </a:pPr>
            <a:r>
              <a:rPr lang="en-US" sz="1350" b="1" dirty="0">
                <a:solidFill>
                  <a:srgbClr val="14213D"/>
                </a:solidFill>
                <a:latin typeface="Calibri" pitchFamily="34" charset="0"/>
                <a:ea typeface="Calibri" pitchFamily="34" charset="-122"/>
                <a:cs typeface="Calibri" pitchFamily="34" charset="-120"/>
              </a:rPr>
              <a:t>Why can DFS fail to terminate?</a:t>
            </a:r>
            <a:endParaRPr lang="en-US" sz="1350" dirty="0"/>
          </a:p>
        </p:txBody>
      </p:sp>
      <p:sp>
        <p:nvSpPr>
          <p:cNvPr id="13" name="Shape 11"/>
          <p:cNvSpPr/>
          <p:nvPr/>
        </p:nvSpPr>
        <p:spPr>
          <a:xfrm>
            <a:off x="1335024" y="2752344"/>
            <a:ext cx="438912" cy="438912"/>
          </a:xfrm>
          <a:prstGeom prst="ellipse">
            <a:avLst/>
          </a:prstGeom>
          <a:solidFill>
            <a:srgbClr val="FFFFFF"/>
          </a:solidFill>
          <a:ln w="19050">
            <a:solidFill>
              <a:srgbClr val="435273"/>
            </a:solidFill>
            <a:prstDash val="solid"/>
          </a:ln>
        </p:spPr>
      </p:sp>
      <p:sp>
        <p:nvSpPr>
          <p:cNvPr id="14" name="Text 12"/>
          <p:cNvSpPr txBox="1"/>
          <p:nvPr/>
        </p:nvSpPr>
        <p:spPr>
          <a:xfrm>
            <a:off x="1335024" y="2752344"/>
            <a:ext cx="438912" cy="438912"/>
          </a:xfrm>
          <a:prstGeom prst="rect">
            <a:avLst/>
          </a:prstGeom>
          <a:noFill/>
          <a:ln/>
        </p:spPr>
        <p:txBody>
          <a:bodyPr wrap="square" rtlCol="0" anchor="ctr"/>
          <a:lstStyle/>
          <a:p>
            <a:pPr marL="0" indent="0" algn="ctr">
              <a:buNone/>
            </a:pPr>
            <a:r>
              <a:rPr lang="en-US" sz="1300" b="1" dirty="0">
                <a:solidFill>
                  <a:srgbClr val="14213D"/>
                </a:solidFill>
                <a:latin typeface="Calibri" pitchFamily="34" charset="0"/>
                <a:ea typeface="Calibri" pitchFamily="34" charset="-122"/>
                <a:cs typeface="Calibri" pitchFamily="34" charset="-120"/>
              </a:rPr>
              <a:t>A</a:t>
            </a:r>
            <a:endParaRPr lang="en-US" sz="1300" dirty="0"/>
          </a:p>
        </p:txBody>
      </p:sp>
      <p:sp>
        <p:nvSpPr>
          <p:cNvPr id="15" name="Shape 13"/>
          <p:cNvSpPr/>
          <p:nvPr/>
        </p:nvSpPr>
        <p:spPr>
          <a:xfrm>
            <a:off x="557784" y="3529584"/>
            <a:ext cx="438912" cy="438912"/>
          </a:xfrm>
          <a:prstGeom prst="ellipse">
            <a:avLst/>
          </a:prstGeom>
          <a:solidFill>
            <a:srgbClr val="FFFFFF"/>
          </a:solidFill>
          <a:ln w="19050">
            <a:solidFill>
              <a:srgbClr val="435273"/>
            </a:solidFill>
            <a:prstDash val="solid"/>
          </a:ln>
        </p:spPr>
      </p:sp>
      <p:sp>
        <p:nvSpPr>
          <p:cNvPr id="16" name="Text 14"/>
          <p:cNvSpPr txBox="1"/>
          <p:nvPr/>
        </p:nvSpPr>
        <p:spPr>
          <a:xfrm>
            <a:off x="557784" y="3529584"/>
            <a:ext cx="438912" cy="438912"/>
          </a:xfrm>
          <a:prstGeom prst="rect">
            <a:avLst/>
          </a:prstGeom>
          <a:noFill/>
          <a:ln/>
        </p:spPr>
        <p:txBody>
          <a:bodyPr wrap="square" rtlCol="0" anchor="ctr"/>
          <a:lstStyle/>
          <a:p>
            <a:pPr marL="0" indent="0" algn="ctr">
              <a:buNone/>
            </a:pPr>
            <a:r>
              <a:rPr lang="en-US" sz="1300" b="1" dirty="0">
                <a:solidFill>
                  <a:srgbClr val="14213D"/>
                </a:solidFill>
                <a:latin typeface="Calibri" pitchFamily="34" charset="0"/>
                <a:ea typeface="Calibri" pitchFamily="34" charset="-122"/>
                <a:cs typeface="Calibri" pitchFamily="34" charset="-120"/>
              </a:rPr>
              <a:t>B</a:t>
            </a:r>
            <a:endParaRPr lang="en-US" sz="1300" dirty="0"/>
          </a:p>
        </p:txBody>
      </p:sp>
      <p:sp>
        <p:nvSpPr>
          <p:cNvPr id="17" name="Shape 15"/>
          <p:cNvSpPr/>
          <p:nvPr/>
        </p:nvSpPr>
        <p:spPr>
          <a:xfrm>
            <a:off x="2112264" y="3529584"/>
            <a:ext cx="438912" cy="438912"/>
          </a:xfrm>
          <a:prstGeom prst="ellipse">
            <a:avLst/>
          </a:prstGeom>
          <a:solidFill>
            <a:srgbClr val="C9A227"/>
          </a:solidFill>
          <a:ln w="25400">
            <a:solidFill>
              <a:srgbClr val="14213D"/>
            </a:solidFill>
            <a:prstDash val="solid"/>
          </a:ln>
        </p:spPr>
      </p:sp>
      <p:sp>
        <p:nvSpPr>
          <p:cNvPr id="18" name="Text 16"/>
          <p:cNvSpPr txBox="1"/>
          <p:nvPr/>
        </p:nvSpPr>
        <p:spPr>
          <a:xfrm>
            <a:off x="2112264" y="3529584"/>
            <a:ext cx="438912" cy="438912"/>
          </a:xfrm>
          <a:prstGeom prst="rect">
            <a:avLst/>
          </a:prstGeom>
          <a:noFill/>
          <a:ln/>
        </p:spPr>
        <p:txBody>
          <a:bodyPr wrap="square" rtlCol="0" anchor="ctr"/>
          <a:lstStyle/>
          <a:p>
            <a:pPr marL="0" indent="0" algn="ctr">
              <a:buNone/>
            </a:pPr>
            <a:r>
              <a:rPr lang="en-US" sz="1300" b="1" dirty="0">
                <a:solidFill>
                  <a:srgbClr val="0A1226"/>
                </a:solidFill>
                <a:latin typeface="Calibri" pitchFamily="34" charset="0"/>
                <a:ea typeface="Calibri" pitchFamily="34" charset="-122"/>
                <a:cs typeface="Calibri" pitchFamily="34" charset="-120"/>
              </a:rPr>
              <a:t>C</a:t>
            </a:r>
            <a:endParaRPr lang="en-US" sz="1300" dirty="0"/>
          </a:p>
        </p:txBody>
      </p:sp>
      <p:sp>
        <p:nvSpPr>
          <p:cNvPr id="19" name="Shape 17"/>
          <p:cNvSpPr/>
          <p:nvPr/>
        </p:nvSpPr>
        <p:spPr>
          <a:xfrm flipH="1">
            <a:off x="958282" y="3152842"/>
            <a:ext cx="415156" cy="415156"/>
          </a:xfrm>
          <a:prstGeom prst="line">
            <a:avLst/>
          </a:prstGeom>
          <a:noFill/>
          <a:ln w="25400">
            <a:solidFill>
              <a:srgbClr val="9E3B3B"/>
            </a:solidFill>
            <a:prstDash val="solid"/>
          </a:ln>
        </p:spPr>
      </p:sp>
      <p:sp>
        <p:nvSpPr>
          <p:cNvPr id="20" name="Shape 18"/>
          <p:cNvSpPr/>
          <p:nvPr/>
        </p:nvSpPr>
        <p:spPr>
          <a:xfrm>
            <a:off x="1735522" y="3152842"/>
            <a:ext cx="415156" cy="415156"/>
          </a:xfrm>
          <a:prstGeom prst="line">
            <a:avLst/>
          </a:prstGeom>
          <a:noFill/>
          <a:ln w="19050">
            <a:solidFill>
              <a:srgbClr val="435273"/>
            </a:solidFill>
            <a:prstDash val="dash"/>
          </a:ln>
        </p:spPr>
      </p:sp>
      <p:sp>
        <p:nvSpPr>
          <p:cNvPr id="21" name="Shape 19"/>
          <p:cNvSpPr/>
          <p:nvPr/>
        </p:nvSpPr>
        <p:spPr>
          <a:xfrm>
            <a:off x="557784" y="4032504"/>
            <a:ext cx="438912" cy="438912"/>
          </a:xfrm>
          <a:prstGeom prst="ellipse">
            <a:avLst/>
          </a:prstGeom>
          <a:solidFill>
            <a:srgbClr val="FFFFFF"/>
          </a:solidFill>
          <a:ln w="19050">
            <a:solidFill>
              <a:srgbClr val="435273"/>
            </a:solidFill>
            <a:prstDash val="solid"/>
          </a:ln>
        </p:spPr>
      </p:sp>
      <p:sp>
        <p:nvSpPr>
          <p:cNvPr id="22" name="Text 20"/>
          <p:cNvSpPr txBox="1"/>
          <p:nvPr/>
        </p:nvSpPr>
        <p:spPr>
          <a:xfrm>
            <a:off x="557784" y="4032504"/>
            <a:ext cx="438912" cy="438912"/>
          </a:xfrm>
          <a:prstGeom prst="rect">
            <a:avLst/>
          </a:prstGeom>
          <a:noFill/>
          <a:ln/>
        </p:spPr>
        <p:txBody>
          <a:bodyPr wrap="square" rtlCol="0" anchor="ctr"/>
          <a:lstStyle/>
          <a:p>
            <a:pPr marL="0" indent="0" algn="ctr">
              <a:buNone/>
            </a:pPr>
            <a:r>
              <a:rPr lang="en-US" sz="1500" b="1" dirty="0">
                <a:solidFill>
                  <a:srgbClr val="14213D"/>
                </a:solidFill>
                <a:latin typeface="Calibri" pitchFamily="34" charset="0"/>
                <a:ea typeface="Calibri" pitchFamily="34" charset="-122"/>
                <a:cs typeface="Calibri" pitchFamily="34" charset="-120"/>
              </a:rPr>
              <a:t>⋮</a:t>
            </a:r>
            <a:endParaRPr lang="en-US" sz="1500" dirty="0"/>
          </a:p>
        </p:txBody>
      </p:sp>
      <p:sp>
        <p:nvSpPr>
          <p:cNvPr id="23" name="Shape 21"/>
          <p:cNvSpPr/>
          <p:nvPr/>
        </p:nvSpPr>
        <p:spPr>
          <a:xfrm flipV="1">
            <a:off x="777240" y="3995928"/>
            <a:ext cx="9144" cy="9144"/>
          </a:xfrm>
          <a:prstGeom prst="line">
            <a:avLst/>
          </a:prstGeom>
          <a:noFill/>
          <a:ln w="25400">
            <a:solidFill>
              <a:srgbClr val="9E3B3B"/>
            </a:solidFill>
            <a:prstDash val="solid"/>
          </a:ln>
        </p:spPr>
      </p:sp>
      <p:sp>
        <p:nvSpPr>
          <p:cNvPr id="24" name="Shape 22"/>
          <p:cNvSpPr/>
          <p:nvPr/>
        </p:nvSpPr>
        <p:spPr>
          <a:xfrm>
            <a:off x="557784" y="4535424"/>
            <a:ext cx="438912" cy="438912"/>
          </a:xfrm>
          <a:prstGeom prst="ellipse">
            <a:avLst/>
          </a:prstGeom>
          <a:solidFill>
            <a:srgbClr val="FFFFFF"/>
          </a:solidFill>
          <a:ln w="19050">
            <a:solidFill>
              <a:srgbClr val="435273"/>
            </a:solidFill>
            <a:prstDash val="solid"/>
          </a:ln>
        </p:spPr>
      </p:sp>
      <p:sp>
        <p:nvSpPr>
          <p:cNvPr id="25" name="Text 23"/>
          <p:cNvSpPr txBox="1"/>
          <p:nvPr/>
        </p:nvSpPr>
        <p:spPr>
          <a:xfrm>
            <a:off x="557784" y="4535424"/>
            <a:ext cx="438912" cy="438912"/>
          </a:xfrm>
          <a:prstGeom prst="rect">
            <a:avLst/>
          </a:prstGeom>
          <a:noFill/>
          <a:ln/>
        </p:spPr>
        <p:txBody>
          <a:bodyPr wrap="square" rtlCol="0" anchor="ctr"/>
          <a:lstStyle/>
          <a:p>
            <a:pPr marL="0" indent="0" algn="ctr">
              <a:buNone/>
            </a:pPr>
            <a:r>
              <a:rPr lang="en-US" sz="1500" b="1" dirty="0">
                <a:solidFill>
                  <a:srgbClr val="14213D"/>
                </a:solidFill>
                <a:latin typeface="Calibri" pitchFamily="34" charset="0"/>
                <a:ea typeface="Calibri" pitchFamily="34" charset="-122"/>
                <a:cs typeface="Calibri" pitchFamily="34" charset="-120"/>
              </a:rPr>
              <a:t>⋮</a:t>
            </a:r>
            <a:endParaRPr lang="en-US" sz="1500" dirty="0"/>
          </a:p>
        </p:txBody>
      </p:sp>
      <p:sp>
        <p:nvSpPr>
          <p:cNvPr id="26" name="Shape 24"/>
          <p:cNvSpPr/>
          <p:nvPr/>
        </p:nvSpPr>
        <p:spPr>
          <a:xfrm flipV="1">
            <a:off x="777240" y="4498848"/>
            <a:ext cx="9144" cy="9144"/>
          </a:xfrm>
          <a:prstGeom prst="line">
            <a:avLst/>
          </a:prstGeom>
          <a:noFill/>
          <a:ln w="25400">
            <a:solidFill>
              <a:srgbClr val="9E3B3B"/>
            </a:solidFill>
            <a:prstDash val="dash"/>
          </a:ln>
        </p:spPr>
      </p:sp>
      <p:sp>
        <p:nvSpPr>
          <p:cNvPr id="27" name="Text 25"/>
          <p:cNvSpPr txBox="1"/>
          <p:nvPr/>
        </p:nvSpPr>
        <p:spPr>
          <a:xfrm>
            <a:off x="228600" y="5128768"/>
            <a:ext cx="3429000" cy="777240"/>
          </a:xfrm>
          <a:prstGeom prst="rect">
            <a:avLst/>
          </a:prstGeom>
          <a:noFill/>
          <a:ln/>
        </p:spPr>
        <p:txBody>
          <a:bodyPr wrap="square" rtlCol="0" anchor="ctr"/>
          <a:lstStyle/>
          <a:p>
            <a:pPr marL="0" indent="0" algn="ctr">
              <a:lnSpc>
                <a:spcPct val="120000"/>
              </a:lnSpc>
              <a:buNone/>
            </a:pPr>
            <a:r>
              <a:rPr lang="en-US" sz="1600" i="1" dirty="0">
                <a:solidFill>
                  <a:srgbClr val="435273"/>
                </a:solidFill>
                <a:latin typeface="Calibri" pitchFamily="34" charset="0"/>
                <a:ea typeface="Calibri" pitchFamily="34" charset="-122"/>
                <a:cs typeface="Calibri" pitchFamily="34" charset="-120"/>
              </a:rPr>
              <a:t>An infinite (or very deep) branch traps DFS forever — it never backtracks to try the goal on the other side.</a:t>
            </a:r>
            <a:endParaRPr lang="en-US" sz="1600" dirty="0"/>
          </a:p>
        </p:txBody>
      </p:sp>
      <p:sp>
        <p:nvSpPr>
          <p:cNvPr id="28" name="Shape 26"/>
          <p:cNvSpPr/>
          <p:nvPr/>
        </p:nvSpPr>
        <p:spPr>
          <a:xfrm>
            <a:off x="6035040" y="2560320"/>
            <a:ext cx="5669280" cy="2743200"/>
          </a:xfrm>
          <a:prstGeom prst="roundRect">
            <a:avLst>
              <a:gd name="adj" fmla="val 2667"/>
            </a:avLst>
          </a:prstGeom>
          <a:solidFill>
            <a:srgbClr val="EAEFF8"/>
          </a:solidFill>
          <a:ln/>
        </p:spPr>
      </p:sp>
      <p:sp>
        <p:nvSpPr>
          <p:cNvPr id="29" name="Shape 27"/>
          <p:cNvSpPr/>
          <p:nvPr/>
        </p:nvSpPr>
        <p:spPr>
          <a:xfrm>
            <a:off x="6236208" y="2761488"/>
            <a:ext cx="347472" cy="347472"/>
          </a:xfrm>
          <a:prstGeom prst="ellipse">
            <a:avLst/>
          </a:prstGeom>
          <a:solidFill>
            <a:srgbClr val="9E3B3B"/>
          </a:solidFill>
          <a:ln/>
        </p:spPr>
      </p:sp>
      <p:sp>
        <p:nvSpPr>
          <p:cNvPr id="30" name="Text 28"/>
          <p:cNvSpPr txBox="1"/>
          <p:nvPr/>
        </p:nvSpPr>
        <p:spPr>
          <a:xfrm>
            <a:off x="6236208" y="2761488"/>
            <a:ext cx="347472" cy="347472"/>
          </a:xfrm>
          <a:prstGeom prst="rect">
            <a:avLst/>
          </a:prstGeom>
          <a:noFill/>
          <a:ln/>
        </p:spPr>
        <p:txBody>
          <a:bodyPr wrap="none" rtlCol="0" anchor="ctr"/>
          <a:lstStyle/>
          <a:p>
            <a:pPr marL="0" indent="0" algn="ctr">
              <a:buNone/>
            </a:pPr>
            <a:r>
              <a:rPr lang="en-US" sz="1500" b="1" dirty="0">
                <a:solidFill>
                  <a:srgbClr val="0A1226"/>
                </a:solidFill>
                <a:latin typeface="Calibri" pitchFamily="34" charset="0"/>
                <a:ea typeface="Calibri" pitchFamily="34" charset="-122"/>
                <a:cs typeface="Calibri" pitchFamily="34" charset="-120"/>
              </a:rPr>
              <a:t>✗</a:t>
            </a:r>
            <a:endParaRPr lang="en-US" sz="1500" dirty="0"/>
          </a:p>
        </p:txBody>
      </p:sp>
      <p:sp>
        <p:nvSpPr>
          <p:cNvPr id="31" name="Text 29"/>
          <p:cNvSpPr txBox="1"/>
          <p:nvPr/>
        </p:nvSpPr>
        <p:spPr>
          <a:xfrm>
            <a:off x="6739128" y="2724912"/>
            <a:ext cx="4764024" cy="310896"/>
          </a:xfrm>
          <a:prstGeom prst="rect">
            <a:avLst/>
          </a:prstGeom>
          <a:noFill/>
          <a:ln/>
        </p:spPr>
        <p:txBody>
          <a:bodyPr wrap="square" rtlCol="0" anchor="ctr"/>
          <a:lstStyle/>
          <a:p>
            <a:pPr marL="0" indent="0">
              <a:buNone/>
            </a:pPr>
            <a:r>
              <a:rPr lang="en-US" sz="1400" b="1" dirty="0">
                <a:solidFill>
                  <a:srgbClr val="14213D"/>
                </a:solidFill>
                <a:latin typeface="Calibri" pitchFamily="34" charset="0"/>
                <a:ea typeface="Calibri" pitchFamily="34" charset="-122"/>
                <a:cs typeface="Calibri" pitchFamily="34" charset="-120"/>
              </a:rPr>
              <a:t>Two safeguards, two limits</a:t>
            </a:r>
            <a:endParaRPr lang="en-US" sz="1400" dirty="0"/>
          </a:p>
        </p:txBody>
      </p:sp>
      <p:sp>
        <p:nvSpPr>
          <p:cNvPr id="32" name="Text 30"/>
          <p:cNvSpPr txBox="1"/>
          <p:nvPr/>
        </p:nvSpPr>
        <p:spPr>
          <a:xfrm>
            <a:off x="6739128" y="3054096"/>
            <a:ext cx="4764024" cy="2212848"/>
          </a:xfrm>
          <a:prstGeom prst="rect">
            <a:avLst/>
          </a:prstGeom>
          <a:noFill/>
          <a:ln/>
        </p:spPr>
        <p:txBody>
          <a:bodyPr wrap="square" rtlCol="0" anchor="t"/>
          <a:lstStyle/>
          <a:p>
            <a:pPr marL="0" indent="0">
              <a:lnSpc>
                <a:spcPct val="112000"/>
              </a:lnSpc>
              <a:buNone/>
            </a:pPr>
            <a:r>
              <a:rPr lang="en-US" sz="1200" dirty="0">
                <a:solidFill>
                  <a:srgbClr val="1B2333"/>
                </a:solidFill>
                <a:latin typeface="Calibri" pitchFamily="34" charset="0"/>
                <a:ea typeface="Calibri" pitchFamily="34" charset="-122"/>
                <a:cs typeface="Calibri" pitchFamily="34" charset="-120"/>
              </a:rPr>
              <a:t>Tracking an explored set (graph search) prevents DFS from looping on CYCLES. It does NOT fix an infinite or extremely deep acyclic branch — DFS can still commit to a very long, ultimately fruitless path before a shallow, cheap goal elsewhere is ever tried. This is also why DFS is not optimal: it stops at the first goal it reaches along its current branch, with no comparison to any other path's depth or cost.</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92608"/>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UNINFORMED SEARCH · DFS</a:t>
            </a:r>
            <a:endParaRPr lang="en-US" sz="1200" dirty="0"/>
          </a:p>
        </p:txBody>
      </p:sp>
      <p:sp>
        <p:nvSpPr>
          <p:cNvPr id="3" name="Text 1"/>
          <p:cNvSpPr txBox="1"/>
          <p:nvPr/>
        </p:nvSpPr>
        <p:spPr>
          <a:xfrm>
            <a:off x="502920" y="638725"/>
            <a:ext cx="11155680" cy="658368"/>
          </a:xfrm>
          <a:prstGeom prst="rect">
            <a:avLst/>
          </a:prstGeom>
          <a:noFill/>
          <a:ln/>
        </p:spPr>
        <p:txBody>
          <a:bodyPr wrap="square" rtlCol="0" anchor="ctr"/>
          <a:lstStyle/>
          <a:p>
            <a:pPr marL="0" indent="0">
              <a:buNone/>
            </a:pPr>
            <a:r>
              <a:rPr lang="en-US" sz="2900" b="1" dirty="0">
                <a:solidFill>
                  <a:srgbClr val="14213D"/>
                </a:solidFill>
                <a:latin typeface="Cambria" pitchFamily="34" charset="0"/>
                <a:ea typeface="Cambria" pitchFamily="34" charset="-122"/>
                <a:cs typeface="Cambria" pitchFamily="34" charset="-120"/>
              </a:rPr>
              <a:t>DFS: Time and Space Complexity</a:t>
            </a:r>
            <a:endParaRPr lang="en-US" sz="2900" dirty="0"/>
          </a:p>
        </p:txBody>
      </p:sp>
      <p:sp>
        <p:nvSpPr>
          <p:cNvPr id="4" name="Text 2"/>
          <p:cNvSpPr txBox="1"/>
          <p:nvPr/>
        </p:nvSpPr>
        <p:spPr>
          <a:xfrm>
            <a:off x="502920" y="6473952"/>
            <a:ext cx="7315200" cy="274320"/>
          </a:xfrm>
          <a:prstGeom prst="rect">
            <a:avLst/>
          </a:prstGeom>
          <a:noFill/>
          <a:ln/>
        </p:spPr>
        <p:txBody>
          <a:bodyPr wrap="square" rtlCol="0" anchor="ctr"/>
          <a:lstStyle/>
          <a:p>
            <a:pPr marL="0" indent="0">
              <a:buNone/>
            </a:pPr>
            <a:r>
              <a:rPr lang="en-US" sz="950" b="1" dirty="0">
                <a:solidFill>
                  <a:srgbClr val="6B7280"/>
                </a:solidFill>
                <a:latin typeface="Calibri" pitchFamily="34" charset="0"/>
                <a:ea typeface="Calibri" pitchFamily="34" charset="-122"/>
                <a:cs typeface="Calibri" pitchFamily="34" charset="-120"/>
              </a:rPr>
              <a:t>Artificial Intelligence</a:t>
            </a:r>
            <a:r>
              <a:rPr lang="en-US" sz="950" dirty="0">
                <a:solidFill>
                  <a:srgbClr val="6B7280"/>
                </a:solidFill>
                <a:latin typeface="Calibri" pitchFamily="34" charset="0"/>
                <a:ea typeface="Calibri" pitchFamily="34" charset="-122"/>
                <a:cs typeface="Calibri" pitchFamily="34" charset="-120"/>
              </a:rPr>
              <a:t>   ·   BS Computer Science   ·   Lecture 3</a:t>
            </a:r>
            <a:endParaRPr lang="en-US" sz="950" dirty="0"/>
          </a:p>
        </p:txBody>
      </p:sp>
      <p:sp>
        <p:nvSpPr>
          <p:cNvPr id="5" name="Text 3"/>
          <p:cNvSpPr txBox="1"/>
          <p:nvPr/>
        </p:nvSpPr>
        <p:spPr>
          <a:xfrm>
            <a:off x="8762695" y="6473952"/>
            <a:ext cx="292608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Dr. Ghulam Ali   ·   29</a:t>
            </a:r>
            <a:endParaRPr lang="en-US" sz="950" dirty="0"/>
          </a:p>
        </p:txBody>
      </p:sp>
      <p:sp>
        <p:nvSpPr>
          <p:cNvPr id="6" name="Shape 4"/>
          <p:cNvSpPr/>
          <p:nvPr/>
        </p:nvSpPr>
        <p:spPr>
          <a:xfrm>
            <a:off x="502920" y="1417320"/>
            <a:ext cx="5120640" cy="1371600"/>
          </a:xfrm>
          <a:prstGeom prst="roundRect">
            <a:avLst>
              <a:gd name="adj" fmla="val 5333"/>
            </a:avLst>
          </a:prstGeom>
          <a:solidFill>
            <a:srgbClr val="14213D"/>
          </a:solidFill>
          <a:ln/>
        </p:spPr>
      </p:sp>
      <p:sp>
        <p:nvSpPr>
          <p:cNvPr id="7" name="Text 5"/>
          <p:cNvSpPr txBox="1"/>
          <p:nvPr/>
        </p:nvSpPr>
        <p:spPr>
          <a:xfrm>
            <a:off x="777240" y="1554480"/>
            <a:ext cx="4572000" cy="1097280"/>
          </a:xfrm>
          <a:prstGeom prst="rect">
            <a:avLst/>
          </a:prstGeom>
          <a:noFill/>
          <a:ln/>
        </p:spPr>
        <p:txBody>
          <a:bodyPr wrap="square" rtlCol="0" anchor="ctr"/>
          <a:lstStyle/>
          <a:p>
            <a:pPr marL="0" indent="0">
              <a:lnSpc>
                <a:spcPct val="130000"/>
              </a:lnSpc>
              <a:buNone/>
            </a:pPr>
            <a:r>
              <a:rPr lang="en-US" sz="2200" b="1" dirty="0">
                <a:solidFill>
                  <a:srgbClr val="FFFFFF"/>
                </a:solidFill>
                <a:latin typeface="Cambria Math" pitchFamily="34" charset="0"/>
                <a:ea typeface="Cambria Math" pitchFamily="34" charset="-122"/>
                <a:cs typeface="Cambria Math" pitchFamily="34" charset="-120"/>
              </a:rPr>
              <a:t>Time   =   O(b</a:t>
            </a:r>
            <a:r>
              <a:rPr lang="en-US" sz="2200" b="1" baseline="30000" dirty="0">
                <a:solidFill>
                  <a:srgbClr val="FFFFFF"/>
                </a:solidFill>
                <a:latin typeface="Cambria Math" pitchFamily="34" charset="0"/>
                <a:ea typeface="Cambria Math" pitchFamily="34" charset="-122"/>
                <a:cs typeface="Cambria Math" pitchFamily="34" charset="-120"/>
              </a:rPr>
              <a:t>m</a:t>
            </a:r>
            <a:r>
              <a:rPr lang="en-US" sz="2200" b="1" dirty="0">
                <a:solidFill>
                  <a:srgbClr val="FFFFFF"/>
                </a:solidFill>
                <a:latin typeface="Cambria Math" pitchFamily="34" charset="0"/>
                <a:ea typeface="Cambria Math" pitchFamily="34" charset="-122"/>
                <a:cs typeface="Cambria Math" pitchFamily="34" charset="-120"/>
              </a:rPr>
              <a:t>)</a:t>
            </a:r>
            <a:endParaRPr lang="en-US" sz="2200" dirty="0"/>
          </a:p>
          <a:p>
            <a:pPr marL="0" indent="0">
              <a:lnSpc>
                <a:spcPct val="130000"/>
              </a:lnSpc>
              <a:buNone/>
            </a:pPr>
            <a:r>
              <a:rPr lang="en-US" sz="2200" b="1" dirty="0">
                <a:solidFill>
                  <a:srgbClr val="FFFFFF"/>
                </a:solidFill>
                <a:latin typeface="Cambria Math" pitchFamily="34" charset="0"/>
                <a:ea typeface="Cambria Math" pitchFamily="34" charset="-122"/>
                <a:cs typeface="Cambria Math" pitchFamily="34" charset="-120"/>
              </a:rPr>
              <a:t>Space  =   O(b·m)</a:t>
            </a:r>
            <a:endParaRPr lang="en-US" sz="2200" dirty="0"/>
          </a:p>
        </p:txBody>
      </p:sp>
      <p:sp>
        <p:nvSpPr>
          <p:cNvPr id="8" name="Text 6"/>
          <p:cNvSpPr txBox="1"/>
          <p:nvPr/>
        </p:nvSpPr>
        <p:spPr>
          <a:xfrm>
            <a:off x="502920" y="3017520"/>
            <a:ext cx="5120640" cy="731520"/>
          </a:xfrm>
          <a:prstGeom prst="rect">
            <a:avLst/>
          </a:prstGeom>
          <a:noFill/>
          <a:ln/>
        </p:spPr>
        <p:txBody>
          <a:bodyPr wrap="square" rtlCol="0" anchor="t"/>
          <a:lstStyle/>
          <a:p>
            <a:pPr marL="228600" indent="-228600">
              <a:lnSpc>
                <a:spcPct val="115000"/>
              </a:lnSpc>
              <a:buSzPct val="100000"/>
              <a:buChar char="•"/>
            </a:pPr>
            <a:r>
              <a:rPr lang="en-US" sz="1250" b="1" dirty="0">
                <a:solidFill>
                  <a:srgbClr val="1B2333"/>
                </a:solidFill>
                <a:latin typeface="Cambria Math" pitchFamily="34" charset="0"/>
                <a:ea typeface="Cambria Math" pitchFamily="34" charset="-122"/>
                <a:cs typeface="Cambria Math" pitchFamily="34" charset="-120"/>
              </a:rPr>
              <a:t>m</a:t>
            </a:r>
            <a:r>
              <a:rPr lang="en-US" sz="1250" dirty="0">
                <a:solidFill>
                  <a:srgbClr val="1B2333"/>
                </a:solidFill>
                <a:latin typeface="Calibri" pitchFamily="34" charset="0"/>
                <a:ea typeface="Calibri" pitchFamily="34" charset="-122"/>
                <a:cs typeface="Calibri" pitchFamily="34" charset="-120"/>
              </a:rPr>
              <a:t> = maximum depth of the state space (or search tree)</a:t>
            </a:r>
            <a:endParaRPr lang="en-US" sz="1250" dirty="0"/>
          </a:p>
        </p:txBody>
      </p:sp>
      <p:sp>
        <p:nvSpPr>
          <p:cNvPr id="9" name="Shape 7"/>
          <p:cNvSpPr/>
          <p:nvPr/>
        </p:nvSpPr>
        <p:spPr>
          <a:xfrm>
            <a:off x="502920" y="3840480"/>
            <a:ext cx="5120640" cy="2240280"/>
          </a:xfrm>
          <a:prstGeom prst="roundRect">
            <a:avLst>
              <a:gd name="adj" fmla="val 3265"/>
            </a:avLst>
          </a:prstGeom>
          <a:solidFill>
            <a:srgbClr val="EAEFF8"/>
          </a:solidFill>
          <a:ln/>
        </p:spPr>
      </p:sp>
      <p:sp>
        <p:nvSpPr>
          <p:cNvPr id="10" name="Shape 8"/>
          <p:cNvSpPr/>
          <p:nvPr/>
        </p:nvSpPr>
        <p:spPr>
          <a:xfrm>
            <a:off x="704088" y="4041648"/>
            <a:ext cx="347472" cy="347472"/>
          </a:xfrm>
          <a:prstGeom prst="ellipse">
            <a:avLst/>
          </a:prstGeom>
          <a:solidFill>
            <a:srgbClr val="C9A227"/>
          </a:solidFill>
          <a:ln/>
        </p:spPr>
      </p:sp>
      <p:sp>
        <p:nvSpPr>
          <p:cNvPr id="11" name="Text 9"/>
          <p:cNvSpPr txBox="1"/>
          <p:nvPr/>
        </p:nvSpPr>
        <p:spPr>
          <a:xfrm>
            <a:off x="704088" y="4041648"/>
            <a:ext cx="347472" cy="347472"/>
          </a:xfrm>
          <a:prstGeom prst="rect">
            <a:avLst/>
          </a:prstGeom>
          <a:noFill/>
          <a:ln/>
        </p:spPr>
        <p:txBody>
          <a:bodyPr wrap="none" rtlCol="0" anchor="ctr"/>
          <a:lstStyle/>
          <a:p>
            <a:pPr marL="0" indent="0" algn="ctr">
              <a:buNone/>
            </a:pPr>
            <a:r>
              <a:rPr lang="en-US" sz="1500" b="1" dirty="0">
                <a:solidFill>
                  <a:srgbClr val="0A1226"/>
                </a:solidFill>
                <a:latin typeface="Calibri" pitchFamily="34" charset="0"/>
                <a:ea typeface="Calibri" pitchFamily="34" charset="-122"/>
                <a:cs typeface="Calibri" pitchFamily="34" charset="-120"/>
              </a:rPr>
              <a:t>✓</a:t>
            </a:r>
            <a:endParaRPr lang="en-US" sz="1500" dirty="0"/>
          </a:p>
        </p:txBody>
      </p:sp>
      <p:sp>
        <p:nvSpPr>
          <p:cNvPr id="12" name="Text 10"/>
          <p:cNvSpPr txBox="1"/>
          <p:nvPr/>
        </p:nvSpPr>
        <p:spPr>
          <a:xfrm>
            <a:off x="1207008" y="4005072"/>
            <a:ext cx="4215384" cy="310896"/>
          </a:xfrm>
          <a:prstGeom prst="rect">
            <a:avLst/>
          </a:prstGeom>
          <a:noFill/>
          <a:ln/>
        </p:spPr>
        <p:txBody>
          <a:bodyPr wrap="square" rtlCol="0" anchor="ctr"/>
          <a:lstStyle/>
          <a:p>
            <a:pPr marL="0" indent="0">
              <a:buNone/>
            </a:pPr>
            <a:r>
              <a:rPr lang="en-US" sz="1400" b="1" dirty="0">
                <a:solidFill>
                  <a:srgbClr val="14213D"/>
                </a:solidFill>
                <a:latin typeface="Calibri" pitchFamily="34" charset="0"/>
                <a:ea typeface="Calibri" pitchFamily="34" charset="-122"/>
                <a:cs typeface="Calibri" pitchFamily="34" charset="-120"/>
              </a:rPr>
              <a:t>DFS's practical appeal: linear memory</a:t>
            </a:r>
            <a:endParaRPr lang="en-US" sz="1400" dirty="0"/>
          </a:p>
        </p:txBody>
      </p:sp>
      <p:sp>
        <p:nvSpPr>
          <p:cNvPr id="13" name="Text 11"/>
          <p:cNvSpPr txBox="1"/>
          <p:nvPr/>
        </p:nvSpPr>
        <p:spPr>
          <a:xfrm>
            <a:off x="1207008" y="4334256"/>
            <a:ext cx="4215384" cy="1709928"/>
          </a:xfrm>
          <a:prstGeom prst="rect">
            <a:avLst/>
          </a:prstGeom>
          <a:noFill/>
          <a:ln/>
        </p:spPr>
        <p:txBody>
          <a:bodyPr wrap="square" rtlCol="0" anchor="t"/>
          <a:lstStyle/>
          <a:p>
            <a:pPr marL="0" indent="0">
              <a:lnSpc>
                <a:spcPct val="112000"/>
              </a:lnSpc>
              <a:buNone/>
            </a:pPr>
            <a:r>
              <a:rPr lang="en-US" sz="1300" dirty="0">
                <a:solidFill>
                  <a:srgbClr val="1B2333"/>
                </a:solidFill>
                <a:latin typeface="Calibri" pitchFamily="34" charset="0"/>
                <a:ea typeface="Calibri" pitchFamily="34" charset="-122"/>
                <a:cs typeface="Calibri" pitchFamily="34" charset="-120"/>
              </a:rPr>
              <a:t>DFS only needs to remember the single path currently being explored, plus the unexplored siblings along that path — not an entire level. This is why DFS is often preferred when memory is tightly constrained, even though it sacrifices completeness and optimality guarantees.</a:t>
            </a:r>
            <a:endParaRPr lang="en-US" sz="1300" dirty="0"/>
          </a:p>
          <a:p>
            <a:pPr marL="0" indent="0">
              <a:lnSpc>
                <a:spcPct val="112000"/>
              </a:lnSpc>
              <a:buNone/>
            </a:pPr>
            <a:endParaRPr lang="en-US" sz="1300" dirty="0"/>
          </a:p>
          <a:p>
            <a:pPr marL="0" indent="0">
              <a:lnSpc>
                <a:spcPct val="112000"/>
              </a:lnSpc>
              <a:buNone/>
            </a:pPr>
            <a:r>
              <a:rPr lang="en-US" sz="1300" dirty="0">
                <a:solidFill>
                  <a:srgbClr val="1B2333"/>
                </a:solidFill>
                <a:latin typeface="Calibri" pitchFamily="34" charset="0"/>
                <a:ea typeface="Calibri" pitchFamily="34" charset="-122"/>
                <a:cs typeface="Calibri" pitchFamily="34" charset="-120"/>
              </a:rPr>
              <a:t>Caution: this is O(b·m) in the standard model — actual memory still depends on implementation details (e.g., how successors are generated and stored), so treat this as a bound, not a promise.</a:t>
            </a:r>
            <a:endParaRPr lang="en-US" sz="1300" dirty="0"/>
          </a:p>
        </p:txBody>
      </p:sp>
      <p:graphicFrame>
        <p:nvGraphicFramePr>
          <p:cNvPr id="30" name="Table 0"/>
          <p:cNvGraphicFramePr>
            <a:graphicFrameLocks noGrp="1"/>
          </p:cNvGraphicFramePr>
          <p:nvPr>
            <p:extLst>
              <p:ext uri="{D42A27DB-BD31-4B8C-83A1-F6EECF244321}">
                <p14:modId xmlns:p14="http://schemas.microsoft.com/office/powerpoint/2010/main" val="3148830395"/>
              </p:ext>
            </p:extLst>
          </p:nvPr>
        </p:nvGraphicFramePr>
        <p:xfrm>
          <a:off x="6492240" y="1463040"/>
          <a:ext cx="5166360" cy="2235200"/>
        </p:xfrm>
        <a:graphic>
          <a:graphicData uri="http://schemas.openxmlformats.org/drawingml/2006/table">
            <a:tbl>
              <a:tblPr/>
              <a:tblGrid>
                <a:gridCol w="14173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548640">
                <a:tc>
                  <a:txBody>
                    <a:bodyPr/>
                    <a:lstStyle/>
                    <a:p>
                      <a:pPr marL="0" indent="0" algn="l">
                        <a:buNone/>
                      </a:pP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4213D"/>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BFS</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4213D"/>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DFS</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548640">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Time</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O(bᵈ)</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O(bᵐ)</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Space</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O(bᵈ)</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O(b·m)</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extLst>
                  <a:ext uri="{0D108BD9-81ED-4DB2-BD59-A6C34878D82A}">
                    <a16:rowId xmlns:a16="http://schemas.microsoft.com/office/drawing/2014/main" val="10002"/>
                  </a:ext>
                </a:extLst>
              </a:tr>
              <a:tr h="548640">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Growth pattern</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Exponential in solution depth d</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Linear in maximum depth m</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5" name="Shape 12"/>
          <p:cNvSpPr/>
          <p:nvPr/>
        </p:nvSpPr>
        <p:spPr>
          <a:xfrm>
            <a:off x="6492240" y="3931920"/>
            <a:ext cx="5166360" cy="2148840"/>
          </a:xfrm>
          <a:prstGeom prst="roundRect">
            <a:avLst>
              <a:gd name="adj" fmla="val 3404"/>
            </a:avLst>
          </a:prstGeom>
          <a:solidFill>
            <a:srgbClr val="EAEFF8"/>
          </a:solidFill>
          <a:ln/>
        </p:spPr>
      </p:sp>
      <p:sp>
        <p:nvSpPr>
          <p:cNvPr id="16" name="Shape 13"/>
          <p:cNvSpPr/>
          <p:nvPr/>
        </p:nvSpPr>
        <p:spPr>
          <a:xfrm>
            <a:off x="6693408" y="4133088"/>
            <a:ext cx="347472" cy="347472"/>
          </a:xfrm>
          <a:prstGeom prst="ellipse">
            <a:avLst/>
          </a:prstGeom>
          <a:solidFill>
            <a:srgbClr val="9E3B3B"/>
          </a:solidFill>
          <a:ln/>
        </p:spPr>
      </p:sp>
      <p:sp>
        <p:nvSpPr>
          <p:cNvPr id="17" name="Text 14"/>
          <p:cNvSpPr txBox="1"/>
          <p:nvPr/>
        </p:nvSpPr>
        <p:spPr>
          <a:xfrm>
            <a:off x="6693408" y="4133088"/>
            <a:ext cx="347472" cy="347472"/>
          </a:xfrm>
          <a:prstGeom prst="rect">
            <a:avLst/>
          </a:prstGeom>
          <a:noFill/>
          <a:ln/>
        </p:spPr>
        <p:txBody>
          <a:bodyPr wrap="none" rtlCol="0" anchor="ctr"/>
          <a:lstStyle/>
          <a:p>
            <a:pPr marL="0" indent="0" algn="ctr">
              <a:buNone/>
            </a:pPr>
            <a:r>
              <a:rPr lang="en-US" sz="1500" b="1" dirty="0">
                <a:solidFill>
                  <a:srgbClr val="0A1226"/>
                </a:solidFill>
                <a:latin typeface="Calibri" pitchFamily="34" charset="0"/>
                <a:ea typeface="Calibri" pitchFamily="34" charset="-122"/>
                <a:cs typeface="Calibri" pitchFamily="34" charset="-120"/>
              </a:rPr>
              <a:t>!</a:t>
            </a:r>
            <a:endParaRPr lang="en-US" sz="1500" dirty="0"/>
          </a:p>
        </p:txBody>
      </p:sp>
      <p:sp>
        <p:nvSpPr>
          <p:cNvPr id="18" name="Text 15"/>
          <p:cNvSpPr txBox="1"/>
          <p:nvPr/>
        </p:nvSpPr>
        <p:spPr>
          <a:xfrm>
            <a:off x="7196328" y="4096512"/>
            <a:ext cx="4261104" cy="310896"/>
          </a:xfrm>
          <a:prstGeom prst="rect">
            <a:avLst/>
          </a:prstGeom>
          <a:noFill/>
          <a:ln/>
        </p:spPr>
        <p:txBody>
          <a:bodyPr wrap="square" rtlCol="0" anchor="ctr"/>
          <a:lstStyle/>
          <a:p>
            <a:pPr marL="0" indent="0">
              <a:buNone/>
            </a:pPr>
            <a:r>
              <a:rPr lang="en-US" sz="1400" b="1" dirty="0">
                <a:solidFill>
                  <a:srgbClr val="14213D"/>
                </a:solidFill>
                <a:latin typeface="Calibri" pitchFamily="34" charset="0"/>
                <a:ea typeface="Calibri" pitchFamily="34" charset="-122"/>
                <a:cs typeface="Calibri" pitchFamily="34" charset="-120"/>
              </a:rPr>
              <a:t>Misconception:  "DFS is always faster than BFS."</a:t>
            </a:r>
            <a:endParaRPr lang="en-US" sz="1400" dirty="0"/>
          </a:p>
        </p:txBody>
      </p:sp>
      <p:sp>
        <p:nvSpPr>
          <p:cNvPr id="19" name="Text 16"/>
          <p:cNvSpPr txBox="1"/>
          <p:nvPr/>
        </p:nvSpPr>
        <p:spPr>
          <a:xfrm>
            <a:off x="7196328" y="4425696"/>
            <a:ext cx="4261104" cy="1618488"/>
          </a:xfrm>
          <a:prstGeom prst="rect">
            <a:avLst/>
          </a:prstGeom>
          <a:noFill/>
          <a:ln/>
        </p:spPr>
        <p:txBody>
          <a:bodyPr wrap="square" rtlCol="0" anchor="t"/>
          <a:lstStyle/>
          <a:p>
            <a:pPr marL="0" indent="0">
              <a:lnSpc>
                <a:spcPct val="112000"/>
              </a:lnSpc>
              <a:buNone/>
            </a:pPr>
            <a:r>
              <a:rPr lang="en-US" sz="1400" dirty="0">
                <a:solidFill>
                  <a:srgbClr val="1B2333"/>
                </a:solidFill>
                <a:latin typeface="Calibri" pitchFamily="34" charset="0"/>
                <a:ea typeface="Calibri" pitchFamily="34" charset="-122"/>
                <a:cs typeface="Calibri" pitchFamily="34" charset="-120"/>
              </a:rPr>
              <a:t>Not necessarily true. Time complexity depends on m, the MAXIMUM depth, which can be far larger than d, the shallowest solution's depth — especially if the solution is shallow but the tree extends much deeper elsewhere. DFS's advantage is memory, not a general time guarantee.</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92608"/>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UNINFORMED SEARCH · UCS</a:t>
            </a:r>
            <a:endParaRPr lang="en-US" sz="1200" dirty="0"/>
          </a:p>
        </p:txBody>
      </p:sp>
      <p:sp>
        <p:nvSpPr>
          <p:cNvPr id="3" name="Text 1"/>
          <p:cNvSpPr txBox="1"/>
          <p:nvPr/>
        </p:nvSpPr>
        <p:spPr>
          <a:xfrm>
            <a:off x="502920" y="621792"/>
            <a:ext cx="11155680" cy="658368"/>
          </a:xfrm>
          <a:prstGeom prst="rect">
            <a:avLst/>
          </a:prstGeom>
          <a:noFill/>
          <a:ln/>
        </p:spPr>
        <p:txBody>
          <a:bodyPr wrap="square" rtlCol="0" anchor="ctr"/>
          <a:lstStyle/>
          <a:p>
            <a:pPr marL="0" indent="0">
              <a:buNone/>
            </a:pPr>
            <a:r>
              <a:rPr lang="en-US" sz="2900" b="1" dirty="0">
                <a:solidFill>
                  <a:srgbClr val="14213D"/>
                </a:solidFill>
                <a:latin typeface="Cambria" pitchFamily="34" charset="0"/>
                <a:ea typeface="Cambria" pitchFamily="34" charset="-122"/>
                <a:cs typeface="Cambria" pitchFamily="34" charset="-120"/>
              </a:rPr>
              <a:t>Why BFS Is Not Enough</a:t>
            </a:r>
            <a:endParaRPr lang="en-US" sz="2900" dirty="0"/>
          </a:p>
        </p:txBody>
      </p:sp>
      <p:sp>
        <p:nvSpPr>
          <p:cNvPr id="4" name="Text 2"/>
          <p:cNvSpPr txBox="1"/>
          <p:nvPr/>
        </p:nvSpPr>
        <p:spPr>
          <a:xfrm>
            <a:off x="502920" y="6473952"/>
            <a:ext cx="7315200" cy="274320"/>
          </a:xfrm>
          <a:prstGeom prst="rect">
            <a:avLst/>
          </a:prstGeom>
          <a:noFill/>
          <a:ln/>
        </p:spPr>
        <p:txBody>
          <a:bodyPr wrap="square" rtlCol="0" anchor="ctr"/>
          <a:lstStyle/>
          <a:p>
            <a:pPr marL="0" indent="0">
              <a:buNone/>
            </a:pPr>
            <a:r>
              <a:rPr lang="en-US" sz="950" b="1" dirty="0">
                <a:solidFill>
                  <a:srgbClr val="6B7280"/>
                </a:solidFill>
                <a:latin typeface="Calibri" pitchFamily="34" charset="0"/>
                <a:ea typeface="Calibri" pitchFamily="34" charset="-122"/>
                <a:cs typeface="Calibri" pitchFamily="34" charset="-120"/>
              </a:rPr>
              <a:t>Artificial Intelligence</a:t>
            </a:r>
            <a:r>
              <a:rPr lang="en-US" sz="950" dirty="0">
                <a:solidFill>
                  <a:srgbClr val="6B7280"/>
                </a:solidFill>
                <a:latin typeface="Calibri" pitchFamily="34" charset="0"/>
                <a:ea typeface="Calibri" pitchFamily="34" charset="-122"/>
                <a:cs typeface="Calibri" pitchFamily="34" charset="-120"/>
              </a:rPr>
              <a:t>   ·   BS Computer Science   ·   Lecture 3</a:t>
            </a:r>
            <a:endParaRPr lang="en-US" sz="950" dirty="0"/>
          </a:p>
        </p:txBody>
      </p:sp>
      <p:sp>
        <p:nvSpPr>
          <p:cNvPr id="5" name="Text 3"/>
          <p:cNvSpPr txBox="1"/>
          <p:nvPr/>
        </p:nvSpPr>
        <p:spPr>
          <a:xfrm>
            <a:off x="8762695" y="6473952"/>
            <a:ext cx="292608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Dr. Ghulam Ali   ·   30</a:t>
            </a:r>
            <a:endParaRPr lang="en-US" sz="950" dirty="0"/>
          </a:p>
        </p:txBody>
      </p:sp>
      <p:sp>
        <p:nvSpPr>
          <p:cNvPr id="6" name="Text 4"/>
          <p:cNvSpPr txBox="1"/>
          <p:nvPr/>
        </p:nvSpPr>
        <p:spPr>
          <a:xfrm>
            <a:off x="502920" y="1417320"/>
            <a:ext cx="11185855" cy="685800"/>
          </a:xfrm>
          <a:prstGeom prst="rect">
            <a:avLst/>
          </a:prstGeom>
          <a:noFill/>
          <a:ln/>
        </p:spPr>
        <p:txBody>
          <a:bodyPr wrap="square" rtlCol="0" anchor="ctr"/>
          <a:lstStyle/>
          <a:p>
            <a:pPr marL="0" indent="0">
              <a:lnSpc>
                <a:spcPct val="128000"/>
              </a:lnSpc>
              <a:buNone/>
            </a:pPr>
            <a:r>
              <a:rPr lang="en-US" sz="1600" dirty="0">
                <a:solidFill>
                  <a:srgbClr val="1B2333"/>
                </a:solidFill>
                <a:latin typeface="Times New Roman" panose="02020603050405020304" pitchFamily="18" charset="0"/>
                <a:ea typeface="Calibri" pitchFamily="34" charset="-122"/>
                <a:cs typeface="Times New Roman" panose="02020603050405020304" pitchFamily="18" charset="0"/>
              </a:rPr>
              <a:t>BFS prefers the path with fewer edges. But when actions have different costs, the path with fewer edges is not always the cheaper one — and BFS has no way to notice.</a:t>
            </a:r>
            <a:endParaRPr lang="en-US" sz="1600" dirty="0">
              <a:latin typeface="Times New Roman" panose="02020603050405020304" pitchFamily="18" charset="0"/>
              <a:cs typeface="Times New Roman" panose="02020603050405020304" pitchFamily="18" charset="0"/>
            </a:endParaRPr>
          </a:p>
        </p:txBody>
      </p:sp>
      <p:sp>
        <p:nvSpPr>
          <p:cNvPr id="7" name="Shape 5"/>
          <p:cNvSpPr/>
          <p:nvPr/>
        </p:nvSpPr>
        <p:spPr>
          <a:xfrm flipV="1">
            <a:off x="2616406" y="2515070"/>
            <a:ext cx="1899507" cy="730580"/>
          </a:xfrm>
          <a:prstGeom prst="line">
            <a:avLst/>
          </a:prstGeom>
          <a:noFill/>
          <a:ln w="31750">
            <a:solidFill>
              <a:srgbClr val="435273"/>
            </a:solidFill>
            <a:prstDash val="solid"/>
          </a:ln>
        </p:spPr>
      </p:sp>
      <p:sp>
        <p:nvSpPr>
          <p:cNvPr id="8" name="Shape 6"/>
          <p:cNvSpPr/>
          <p:nvPr/>
        </p:nvSpPr>
        <p:spPr>
          <a:xfrm>
            <a:off x="3410712" y="2743200"/>
            <a:ext cx="310896" cy="237744"/>
          </a:xfrm>
          <a:prstGeom prst="rect">
            <a:avLst/>
          </a:prstGeom>
          <a:solidFill>
            <a:srgbClr val="F7F9FC"/>
          </a:solidFill>
          <a:ln/>
        </p:spPr>
      </p:sp>
      <p:sp>
        <p:nvSpPr>
          <p:cNvPr id="9" name="Text 7"/>
          <p:cNvSpPr txBox="1"/>
          <p:nvPr/>
        </p:nvSpPr>
        <p:spPr>
          <a:xfrm>
            <a:off x="3410712" y="2743200"/>
            <a:ext cx="310896" cy="237744"/>
          </a:xfrm>
          <a:prstGeom prst="rect">
            <a:avLst/>
          </a:prstGeom>
          <a:noFill/>
          <a:ln/>
        </p:spPr>
        <p:txBody>
          <a:bodyPr wrap="square" rtlCol="0" anchor="ctr"/>
          <a:lstStyle/>
          <a:p>
            <a:pPr marL="0" indent="0" algn="ctr">
              <a:buNone/>
            </a:pPr>
            <a:r>
              <a:rPr lang="en-US" sz="1150" b="1" dirty="0">
                <a:solidFill>
                  <a:srgbClr val="14213D"/>
                </a:solidFill>
                <a:latin typeface="Calibri" pitchFamily="34" charset="0"/>
                <a:ea typeface="Calibri" pitchFamily="34" charset="-122"/>
                <a:cs typeface="Calibri" pitchFamily="34" charset="-120"/>
              </a:rPr>
              <a:t>6</a:t>
            </a:r>
            <a:endParaRPr lang="en-US" sz="1150" dirty="0"/>
          </a:p>
        </p:txBody>
      </p:sp>
      <p:sp>
        <p:nvSpPr>
          <p:cNvPr id="10" name="Shape 8"/>
          <p:cNvSpPr/>
          <p:nvPr/>
        </p:nvSpPr>
        <p:spPr>
          <a:xfrm>
            <a:off x="4995996" y="2509273"/>
            <a:ext cx="2078088" cy="742174"/>
          </a:xfrm>
          <a:prstGeom prst="line">
            <a:avLst/>
          </a:prstGeom>
          <a:noFill/>
          <a:ln w="31750">
            <a:solidFill>
              <a:srgbClr val="435273"/>
            </a:solidFill>
            <a:prstDash val="solid"/>
          </a:ln>
        </p:spPr>
      </p:sp>
      <p:sp>
        <p:nvSpPr>
          <p:cNvPr id="11" name="Shape 9"/>
          <p:cNvSpPr/>
          <p:nvPr/>
        </p:nvSpPr>
        <p:spPr>
          <a:xfrm>
            <a:off x="5879592" y="2743200"/>
            <a:ext cx="310896" cy="237744"/>
          </a:xfrm>
          <a:prstGeom prst="rect">
            <a:avLst/>
          </a:prstGeom>
          <a:solidFill>
            <a:srgbClr val="F7F9FC"/>
          </a:solidFill>
          <a:ln/>
        </p:spPr>
      </p:sp>
      <p:sp>
        <p:nvSpPr>
          <p:cNvPr id="12" name="Text 10"/>
          <p:cNvSpPr txBox="1"/>
          <p:nvPr/>
        </p:nvSpPr>
        <p:spPr>
          <a:xfrm>
            <a:off x="5879592" y="2743200"/>
            <a:ext cx="310896" cy="237744"/>
          </a:xfrm>
          <a:prstGeom prst="rect">
            <a:avLst/>
          </a:prstGeom>
          <a:noFill/>
          <a:ln/>
        </p:spPr>
        <p:txBody>
          <a:bodyPr wrap="square" rtlCol="0" anchor="ctr"/>
          <a:lstStyle/>
          <a:p>
            <a:pPr marL="0" indent="0" algn="ctr">
              <a:buNone/>
            </a:pPr>
            <a:r>
              <a:rPr lang="en-US" sz="1150" b="1" dirty="0">
                <a:solidFill>
                  <a:srgbClr val="14213D"/>
                </a:solidFill>
                <a:latin typeface="Calibri" pitchFamily="34" charset="0"/>
                <a:ea typeface="Calibri" pitchFamily="34" charset="-122"/>
                <a:cs typeface="Calibri" pitchFamily="34" charset="-120"/>
              </a:rPr>
              <a:t>4</a:t>
            </a:r>
            <a:endParaRPr lang="en-US" sz="1150" dirty="0"/>
          </a:p>
        </p:txBody>
      </p:sp>
      <p:sp>
        <p:nvSpPr>
          <p:cNvPr id="13" name="Shape 11"/>
          <p:cNvSpPr/>
          <p:nvPr/>
        </p:nvSpPr>
        <p:spPr>
          <a:xfrm>
            <a:off x="2606442" y="3452061"/>
            <a:ext cx="1553676" cy="776838"/>
          </a:xfrm>
          <a:prstGeom prst="line">
            <a:avLst/>
          </a:prstGeom>
          <a:noFill/>
          <a:ln w="31750">
            <a:solidFill>
              <a:srgbClr val="C9A227"/>
            </a:solidFill>
            <a:prstDash val="solid"/>
          </a:ln>
        </p:spPr>
      </p:sp>
      <p:sp>
        <p:nvSpPr>
          <p:cNvPr id="14" name="Shape 12"/>
          <p:cNvSpPr/>
          <p:nvPr/>
        </p:nvSpPr>
        <p:spPr>
          <a:xfrm>
            <a:off x="3227832" y="3703320"/>
            <a:ext cx="310896" cy="237744"/>
          </a:xfrm>
          <a:prstGeom prst="rect">
            <a:avLst/>
          </a:prstGeom>
          <a:solidFill>
            <a:srgbClr val="F7F9FC"/>
          </a:solidFill>
          <a:ln/>
        </p:spPr>
      </p:sp>
      <p:sp>
        <p:nvSpPr>
          <p:cNvPr id="15" name="Text 13"/>
          <p:cNvSpPr txBox="1"/>
          <p:nvPr/>
        </p:nvSpPr>
        <p:spPr>
          <a:xfrm>
            <a:off x="3227832" y="3703320"/>
            <a:ext cx="310896" cy="237744"/>
          </a:xfrm>
          <a:prstGeom prst="rect">
            <a:avLst/>
          </a:prstGeom>
          <a:noFill/>
          <a:ln/>
        </p:spPr>
        <p:txBody>
          <a:bodyPr wrap="square" rtlCol="0" anchor="ctr"/>
          <a:lstStyle/>
          <a:p>
            <a:pPr marL="0" indent="0" algn="ctr">
              <a:buNone/>
            </a:pPr>
            <a:r>
              <a:rPr lang="en-US" sz="1150" b="1" dirty="0">
                <a:solidFill>
                  <a:srgbClr val="14213D"/>
                </a:solidFill>
                <a:latin typeface="Calibri" pitchFamily="34" charset="0"/>
                <a:ea typeface="Calibri" pitchFamily="34" charset="-122"/>
                <a:cs typeface="Calibri" pitchFamily="34" charset="-120"/>
              </a:rPr>
              <a:t>2</a:t>
            </a:r>
            <a:endParaRPr lang="en-US" sz="1150" dirty="0"/>
          </a:p>
        </p:txBody>
      </p:sp>
      <p:sp>
        <p:nvSpPr>
          <p:cNvPr id="16" name="Shape 14"/>
          <p:cNvSpPr/>
          <p:nvPr/>
        </p:nvSpPr>
        <p:spPr>
          <a:xfrm>
            <a:off x="4645152" y="4343400"/>
            <a:ext cx="1316736" cy="9144"/>
          </a:xfrm>
          <a:prstGeom prst="line">
            <a:avLst/>
          </a:prstGeom>
          <a:noFill/>
          <a:ln w="31750">
            <a:solidFill>
              <a:srgbClr val="C9A227"/>
            </a:solidFill>
            <a:prstDash val="solid"/>
          </a:ln>
        </p:spPr>
      </p:sp>
      <p:sp>
        <p:nvSpPr>
          <p:cNvPr id="17" name="Shape 15"/>
          <p:cNvSpPr/>
          <p:nvPr/>
        </p:nvSpPr>
        <p:spPr>
          <a:xfrm>
            <a:off x="5148072" y="4206240"/>
            <a:ext cx="310896" cy="237744"/>
          </a:xfrm>
          <a:prstGeom prst="rect">
            <a:avLst/>
          </a:prstGeom>
          <a:solidFill>
            <a:srgbClr val="F7F9FC"/>
          </a:solidFill>
          <a:ln/>
        </p:spPr>
      </p:sp>
      <p:sp>
        <p:nvSpPr>
          <p:cNvPr id="18" name="Text 16"/>
          <p:cNvSpPr txBox="1"/>
          <p:nvPr/>
        </p:nvSpPr>
        <p:spPr>
          <a:xfrm>
            <a:off x="5148072" y="4206240"/>
            <a:ext cx="310896" cy="237744"/>
          </a:xfrm>
          <a:prstGeom prst="rect">
            <a:avLst/>
          </a:prstGeom>
          <a:noFill/>
          <a:ln/>
        </p:spPr>
        <p:txBody>
          <a:bodyPr wrap="square" rtlCol="0" anchor="ctr"/>
          <a:lstStyle/>
          <a:p>
            <a:pPr marL="0" indent="0" algn="ctr">
              <a:buNone/>
            </a:pPr>
            <a:r>
              <a:rPr lang="en-US" sz="1150" b="1" dirty="0">
                <a:solidFill>
                  <a:srgbClr val="14213D"/>
                </a:solidFill>
                <a:latin typeface="Calibri" pitchFamily="34" charset="0"/>
                <a:ea typeface="Calibri" pitchFamily="34" charset="-122"/>
                <a:cs typeface="Calibri" pitchFamily="34" charset="-120"/>
              </a:rPr>
              <a:t>2</a:t>
            </a:r>
            <a:endParaRPr lang="en-US" sz="1150" dirty="0"/>
          </a:p>
        </p:txBody>
      </p:sp>
      <p:sp>
        <p:nvSpPr>
          <p:cNvPr id="19" name="Shape 17"/>
          <p:cNvSpPr/>
          <p:nvPr/>
        </p:nvSpPr>
        <p:spPr>
          <a:xfrm flipV="1">
            <a:off x="6406655" y="3510567"/>
            <a:ext cx="719810" cy="659826"/>
          </a:xfrm>
          <a:prstGeom prst="line">
            <a:avLst/>
          </a:prstGeom>
          <a:noFill/>
          <a:ln w="31750">
            <a:solidFill>
              <a:srgbClr val="C9A227"/>
            </a:solidFill>
            <a:prstDash val="solid"/>
          </a:ln>
        </p:spPr>
      </p:sp>
      <p:sp>
        <p:nvSpPr>
          <p:cNvPr id="20" name="Shape 18"/>
          <p:cNvSpPr/>
          <p:nvPr/>
        </p:nvSpPr>
        <p:spPr>
          <a:xfrm>
            <a:off x="6611112" y="3703320"/>
            <a:ext cx="310896" cy="237744"/>
          </a:xfrm>
          <a:prstGeom prst="rect">
            <a:avLst/>
          </a:prstGeom>
          <a:solidFill>
            <a:srgbClr val="F7F9FC"/>
          </a:solidFill>
          <a:ln/>
        </p:spPr>
      </p:sp>
      <p:sp>
        <p:nvSpPr>
          <p:cNvPr id="21" name="Text 19"/>
          <p:cNvSpPr txBox="1"/>
          <p:nvPr/>
        </p:nvSpPr>
        <p:spPr>
          <a:xfrm>
            <a:off x="6611112" y="3703320"/>
            <a:ext cx="310896" cy="237744"/>
          </a:xfrm>
          <a:prstGeom prst="rect">
            <a:avLst/>
          </a:prstGeom>
          <a:noFill/>
          <a:ln/>
        </p:spPr>
        <p:txBody>
          <a:bodyPr wrap="square" rtlCol="0" anchor="ctr"/>
          <a:lstStyle/>
          <a:p>
            <a:pPr marL="0" indent="0" algn="ctr">
              <a:buNone/>
            </a:pPr>
            <a:r>
              <a:rPr lang="en-US" sz="1150" b="1" dirty="0">
                <a:solidFill>
                  <a:srgbClr val="14213D"/>
                </a:solidFill>
                <a:latin typeface="Calibri" pitchFamily="34" charset="0"/>
                <a:ea typeface="Calibri" pitchFamily="34" charset="-122"/>
                <a:cs typeface="Calibri" pitchFamily="34" charset="-120"/>
              </a:rPr>
              <a:t>3</a:t>
            </a:r>
            <a:endParaRPr lang="en-US" sz="1150" dirty="0"/>
          </a:p>
        </p:txBody>
      </p:sp>
      <p:sp>
        <p:nvSpPr>
          <p:cNvPr id="22" name="Shape 20"/>
          <p:cNvSpPr/>
          <p:nvPr/>
        </p:nvSpPr>
        <p:spPr>
          <a:xfrm>
            <a:off x="2121408" y="3081528"/>
            <a:ext cx="512064" cy="512064"/>
          </a:xfrm>
          <a:prstGeom prst="ellipse">
            <a:avLst/>
          </a:prstGeom>
          <a:solidFill>
            <a:srgbClr val="14213D"/>
          </a:solidFill>
          <a:ln w="31750">
            <a:solidFill>
              <a:srgbClr val="C9A227"/>
            </a:solidFill>
            <a:prstDash val="solid"/>
          </a:ln>
        </p:spPr>
      </p:sp>
      <p:sp>
        <p:nvSpPr>
          <p:cNvPr id="23" name="Text 21"/>
          <p:cNvSpPr txBox="1"/>
          <p:nvPr/>
        </p:nvSpPr>
        <p:spPr>
          <a:xfrm>
            <a:off x="2121408" y="3081528"/>
            <a:ext cx="512064" cy="512064"/>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24" name="Shape 22"/>
          <p:cNvSpPr/>
          <p:nvPr/>
        </p:nvSpPr>
        <p:spPr>
          <a:xfrm>
            <a:off x="4498848" y="2167128"/>
            <a:ext cx="512064" cy="512064"/>
          </a:xfrm>
          <a:prstGeom prst="ellipse">
            <a:avLst/>
          </a:prstGeom>
          <a:solidFill>
            <a:srgbClr val="FFFFFF"/>
          </a:solidFill>
          <a:ln w="19050">
            <a:solidFill>
              <a:srgbClr val="435273"/>
            </a:solidFill>
            <a:prstDash val="solid"/>
          </a:ln>
        </p:spPr>
      </p:sp>
      <p:sp>
        <p:nvSpPr>
          <p:cNvPr id="25" name="Text 23"/>
          <p:cNvSpPr txBox="1"/>
          <p:nvPr/>
        </p:nvSpPr>
        <p:spPr>
          <a:xfrm>
            <a:off x="4498848" y="2167128"/>
            <a:ext cx="512064" cy="512064"/>
          </a:xfrm>
          <a:prstGeom prst="rect">
            <a:avLst/>
          </a:prstGeom>
          <a:noFill/>
          <a:ln/>
        </p:spPr>
        <p:txBody>
          <a:bodyPr wrap="square" rtlCol="0" anchor="ctr"/>
          <a:lstStyle/>
          <a:p>
            <a:pPr marL="0" indent="0" algn="ctr">
              <a:buNone/>
            </a:pPr>
            <a:r>
              <a:rPr lang="en-US" sz="1300" b="1" dirty="0">
                <a:solidFill>
                  <a:srgbClr val="14213D"/>
                </a:solidFill>
                <a:latin typeface="Calibri" pitchFamily="34" charset="0"/>
                <a:ea typeface="Calibri" pitchFamily="34" charset="-122"/>
                <a:cs typeface="Calibri" pitchFamily="34" charset="-120"/>
              </a:rPr>
              <a:t>B</a:t>
            </a:r>
            <a:endParaRPr lang="en-US" sz="1300" dirty="0"/>
          </a:p>
        </p:txBody>
      </p:sp>
      <p:sp>
        <p:nvSpPr>
          <p:cNvPr id="26" name="Shape 24"/>
          <p:cNvSpPr/>
          <p:nvPr/>
        </p:nvSpPr>
        <p:spPr>
          <a:xfrm>
            <a:off x="7059168" y="3081528"/>
            <a:ext cx="512064" cy="512064"/>
          </a:xfrm>
          <a:prstGeom prst="ellipse">
            <a:avLst/>
          </a:prstGeom>
          <a:solidFill>
            <a:srgbClr val="C9A227"/>
          </a:solidFill>
          <a:ln w="25400">
            <a:solidFill>
              <a:srgbClr val="14213D"/>
            </a:solidFill>
            <a:prstDash val="solid"/>
          </a:ln>
        </p:spPr>
      </p:sp>
      <p:sp>
        <p:nvSpPr>
          <p:cNvPr id="27" name="Text 25"/>
          <p:cNvSpPr txBox="1"/>
          <p:nvPr/>
        </p:nvSpPr>
        <p:spPr>
          <a:xfrm>
            <a:off x="7059168" y="3081528"/>
            <a:ext cx="512064" cy="512064"/>
          </a:xfrm>
          <a:prstGeom prst="rect">
            <a:avLst/>
          </a:prstGeom>
          <a:noFill/>
          <a:ln/>
        </p:spPr>
        <p:txBody>
          <a:bodyPr wrap="square" rtlCol="0" anchor="ctr"/>
          <a:lstStyle/>
          <a:p>
            <a:pPr marL="0" indent="0" algn="ctr">
              <a:buNone/>
            </a:pPr>
            <a:r>
              <a:rPr lang="en-US" sz="1300" b="1" dirty="0">
                <a:solidFill>
                  <a:srgbClr val="0A1226"/>
                </a:solidFill>
                <a:latin typeface="Calibri" pitchFamily="34" charset="0"/>
                <a:ea typeface="Calibri" pitchFamily="34" charset="-122"/>
                <a:cs typeface="Calibri" pitchFamily="34" charset="-120"/>
              </a:rPr>
              <a:t>G</a:t>
            </a:r>
            <a:endParaRPr lang="en-US" sz="1300" dirty="0"/>
          </a:p>
        </p:txBody>
      </p:sp>
      <p:sp>
        <p:nvSpPr>
          <p:cNvPr id="28" name="Shape 26"/>
          <p:cNvSpPr/>
          <p:nvPr/>
        </p:nvSpPr>
        <p:spPr>
          <a:xfrm>
            <a:off x="4133088" y="4087368"/>
            <a:ext cx="512064" cy="512064"/>
          </a:xfrm>
          <a:prstGeom prst="ellipse">
            <a:avLst/>
          </a:prstGeom>
          <a:solidFill>
            <a:srgbClr val="FFFFFF"/>
          </a:solidFill>
          <a:ln w="19050">
            <a:solidFill>
              <a:srgbClr val="435273"/>
            </a:solidFill>
            <a:prstDash val="solid"/>
          </a:ln>
        </p:spPr>
      </p:sp>
      <p:sp>
        <p:nvSpPr>
          <p:cNvPr id="29" name="Text 27"/>
          <p:cNvSpPr txBox="1"/>
          <p:nvPr/>
        </p:nvSpPr>
        <p:spPr>
          <a:xfrm>
            <a:off x="4133088" y="4087368"/>
            <a:ext cx="512064" cy="512064"/>
          </a:xfrm>
          <a:prstGeom prst="rect">
            <a:avLst/>
          </a:prstGeom>
          <a:noFill/>
          <a:ln/>
        </p:spPr>
        <p:txBody>
          <a:bodyPr wrap="square" rtlCol="0" anchor="ctr"/>
          <a:lstStyle/>
          <a:p>
            <a:pPr marL="0" indent="0" algn="ctr">
              <a:buNone/>
            </a:pPr>
            <a:r>
              <a:rPr lang="en-US" sz="1300" b="1" dirty="0">
                <a:solidFill>
                  <a:srgbClr val="14213D"/>
                </a:solidFill>
                <a:latin typeface="Calibri" pitchFamily="34" charset="0"/>
                <a:ea typeface="Calibri" pitchFamily="34" charset="-122"/>
                <a:cs typeface="Calibri" pitchFamily="34" charset="-120"/>
              </a:rPr>
              <a:t>C</a:t>
            </a:r>
            <a:endParaRPr lang="en-US" sz="1300" dirty="0"/>
          </a:p>
        </p:txBody>
      </p:sp>
      <p:sp>
        <p:nvSpPr>
          <p:cNvPr id="30" name="Shape 28"/>
          <p:cNvSpPr/>
          <p:nvPr/>
        </p:nvSpPr>
        <p:spPr>
          <a:xfrm>
            <a:off x="5961888" y="4087368"/>
            <a:ext cx="512064" cy="512064"/>
          </a:xfrm>
          <a:prstGeom prst="ellipse">
            <a:avLst/>
          </a:prstGeom>
          <a:solidFill>
            <a:srgbClr val="FFFFFF"/>
          </a:solidFill>
          <a:ln w="19050">
            <a:solidFill>
              <a:srgbClr val="435273"/>
            </a:solidFill>
            <a:prstDash val="solid"/>
          </a:ln>
        </p:spPr>
      </p:sp>
      <p:sp>
        <p:nvSpPr>
          <p:cNvPr id="31" name="Text 29"/>
          <p:cNvSpPr txBox="1"/>
          <p:nvPr/>
        </p:nvSpPr>
        <p:spPr>
          <a:xfrm>
            <a:off x="5961888" y="4087368"/>
            <a:ext cx="512064" cy="512064"/>
          </a:xfrm>
          <a:prstGeom prst="rect">
            <a:avLst/>
          </a:prstGeom>
          <a:noFill/>
          <a:ln/>
        </p:spPr>
        <p:txBody>
          <a:bodyPr wrap="square" rtlCol="0" anchor="ctr"/>
          <a:lstStyle/>
          <a:p>
            <a:pPr marL="0" indent="0" algn="ctr">
              <a:buNone/>
            </a:pPr>
            <a:r>
              <a:rPr lang="en-US" sz="1300" b="1" dirty="0">
                <a:solidFill>
                  <a:srgbClr val="14213D"/>
                </a:solidFill>
                <a:latin typeface="Calibri" pitchFamily="34" charset="0"/>
                <a:ea typeface="Calibri" pitchFamily="34" charset="-122"/>
                <a:cs typeface="Calibri" pitchFamily="34" charset="-120"/>
              </a:rPr>
              <a:t>D</a:t>
            </a:r>
            <a:endParaRPr lang="en-US" sz="1300" dirty="0"/>
          </a:p>
        </p:txBody>
      </p:sp>
      <p:sp>
        <p:nvSpPr>
          <p:cNvPr id="32" name="Shape 30"/>
          <p:cNvSpPr/>
          <p:nvPr/>
        </p:nvSpPr>
        <p:spPr>
          <a:xfrm>
            <a:off x="8778240" y="2468880"/>
            <a:ext cx="2926080" cy="914400"/>
          </a:xfrm>
          <a:prstGeom prst="roundRect">
            <a:avLst>
              <a:gd name="adj" fmla="val 7000"/>
            </a:avLst>
          </a:prstGeom>
          <a:solidFill>
            <a:srgbClr val="2C3B63"/>
          </a:solidFill>
          <a:ln/>
        </p:spPr>
      </p:sp>
      <p:sp>
        <p:nvSpPr>
          <p:cNvPr id="33" name="Text 31"/>
          <p:cNvSpPr txBox="1"/>
          <p:nvPr/>
        </p:nvSpPr>
        <p:spPr>
          <a:xfrm>
            <a:off x="8915400" y="2532888"/>
            <a:ext cx="2651760" cy="822960"/>
          </a:xfrm>
          <a:prstGeom prst="rect">
            <a:avLst/>
          </a:prstGeom>
          <a:noFill/>
          <a:ln/>
        </p:spPr>
        <p:txBody>
          <a:bodyPr wrap="square" rtlCol="0" anchor="ctr"/>
          <a:lstStyle/>
          <a:p>
            <a:pPr marL="0" indent="0">
              <a:lnSpc>
                <a:spcPct val="120000"/>
              </a:lnSpc>
              <a:buNone/>
            </a:pPr>
            <a:r>
              <a:rPr lang="en-US" sz="1400" b="1" dirty="0">
                <a:solidFill>
                  <a:srgbClr val="FFFFFF"/>
                </a:solidFill>
                <a:latin typeface="Calibri" pitchFamily="34" charset="0"/>
                <a:ea typeface="Calibri" pitchFamily="34" charset="-122"/>
                <a:cs typeface="Calibri" pitchFamily="34" charset="-120"/>
              </a:rPr>
              <a:t>A → B → G</a:t>
            </a:r>
            <a:endParaRPr lang="en-US" sz="1400" dirty="0"/>
          </a:p>
          <a:p>
            <a:pPr marL="0" indent="0">
              <a:lnSpc>
                <a:spcPct val="120000"/>
              </a:lnSpc>
              <a:buNone/>
            </a:pPr>
            <a:r>
              <a:rPr lang="en-US" sz="1200" dirty="0">
                <a:solidFill>
                  <a:srgbClr val="FFFFFF"/>
                </a:solidFill>
                <a:latin typeface="Calibri" pitchFamily="34" charset="0"/>
                <a:ea typeface="Calibri" pitchFamily="34" charset="-122"/>
                <a:cs typeface="Calibri" pitchFamily="34" charset="-120"/>
              </a:rPr>
              <a:t>2 edges   ·   cost = 10</a:t>
            </a:r>
            <a:endParaRPr lang="en-US" sz="1400" dirty="0"/>
          </a:p>
        </p:txBody>
      </p:sp>
      <p:sp>
        <p:nvSpPr>
          <p:cNvPr id="34" name="Shape 32"/>
          <p:cNvSpPr/>
          <p:nvPr/>
        </p:nvSpPr>
        <p:spPr>
          <a:xfrm>
            <a:off x="8778240" y="3566160"/>
            <a:ext cx="2926080" cy="914400"/>
          </a:xfrm>
          <a:prstGeom prst="roundRect">
            <a:avLst>
              <a:gd name="adj" fmla="val 7000"/>
            </a:avLst>
          </a:prstGeom>
          <a:solidFill>
            <a:srgbClr val="C9A227"/>
          </a:solidFill>
          <a:ln/>
        </p:spPr>
      </p:sp>
      <p:sp>
        <p:nvSpPr>
          <p:cNvPr id="35" name="Text 33"/>
          <p:cNvSpPr txBox="1"/>
          <p:nvPr/>
        </p:nvSpPr>
        <p:spPr>
          <a:xfrm>
            <a:off x="8915400" y="3630168"/>
            <a:ext cx="2651760" cy="822960"/>
          </a:xfrm>
          <a:prstGeom prst="rect">
            <a:avLst/>
          </a:prstGeom>
          <a:noFill/>
          <a:ln/>
        </p:spPr>
        <p:txBody>
          <a:bodyPr wrap="square" rtlCol="0" anchor="ctr"/>
          <a:lstStyle/>
          <a:p>
            <a:pPr marL="0" indent="0">
              <a:lnSpc>
                <a:spcPct val="120000"/>
              </a:lnSpc>
              <a:buNone/>
            </a:pPr>
            <a:r>
              <a:rPr lang="en-US" sz="1400" b="1" dirty="0">
                <a:solidFill>
                  <a:srgbClr val="0A1226"/>
                </a:solidFill>
                <a:latin typeface="Calibri" pitchFamily="34" charset="0"/>
                <a:ea typeface="Calibri" pitchFamily="34" charset="-122"/>
                <a:cs typeface="Calibri" pitchFamily="34" charset="-120"/>
              </a:rPr>
              <a:t>A → C → D → G</a:t>
            </a:r>
            <a:endParaRPr lang="en-US" sz="1400" dirty="0"/>
          </a:p>
          <a:p>
            <a:pPr marL="0" indent="0">
              <a:lnSpc>
                <a:spcPct val="120000"/>
              </a:lnSpc>
              <a:buNone/>
            </a:pPr>
            <a:r>
              <a:rPr lang="en-US" sz="1200" dirty="0">
                <a:solidFill>
                  <a:srgbClr val="0A1226"/>
                </a:solidFill>
                <a:latin typeface="Calibri" pitchFamily="34" charset="0"/>
                <a:ea typeface="Calibri" pitchFamily="34" charset="-122"/>
                <a:cs typeface="Calibri" pitchFamily="34" charset="-120"/>
              </a:rPr>
              <a:t>3 edges   ·   cost = 7</a:t>
            </a:r>
            <a:endParaRPr lang="en-US" sz="1400" dirty="0"/>
          </a:p>
        </p:txBody>
      </p:sp>
      <p:sp>
        <p:nvSpPr>
          <p:cNvPr id="36" name="Shape 34"/>
          <p:cNvSpPr/>
          <p:nvPr/>
        </p:nvSpPr>
        <p:spPr>
          <a:xfrm>
            <a:off x="502920" y="4937760"/>
            <a:ext cx="11185855" cy="1234440"/>
          </a:xfrm>
          <a:prstGeom prst="roundRect">
            <a:avLst>
              <a:gd name="adj" fmla="val 5926"/>
            </a:avLst>
          </a:prstGeom>
          <a:solidFill>
            <a:srgbClr val="EAEFF8"/>
          </a:solidFill>
          <a:ln/>
        </p:spPr>
      </p:sp>
      <p:sp>
        <p:nvSpPr>
          <p:cNvPr id="37" name="Shape 35"/>
          <p:cNvSpPr/>
          <p:nvPr/>
        </p:nvSpPr>
        <p:spPr>
          <a:xfrm>
            <a:off x="704088" y="5138928"/>
            <a:ext cx="347472" cy="347472"/>
          </a:xfrm>
          <a:prstGeom prst="ellipse">
            <a:avLst/>
          </a:prstGeom>
          <a:solidFill>
            <a:srgbClr val="C9A227"/>
          </a:solidFill>
          <a:ln/>
        </p:spPr>
      </p:sp>
      <p:sp>
        <p:nvSpPr>
          <p:cNvPr id="38" name="Text 36"/>
          <p:cNvSpPr txBox="1"/>
          <p:nvPr/>
        </p:nvSpPr>
        <p:spPr>
          <a:xfrm>
            <a:off x="704088" y="5138928"/>
            <a:ext cx="347472" cy="347472"/>
          </a:xfrm>
          <a:prstGeom prst="rect">
            <a:avLst/>
          </a:prstGeom>
          <a:noFill/>
          <a:ln/>
        </p:spPr>
        <p:txBody>
          <a:bodyPr wrap="none" rtlCol="0" anchor="ctr"/>
          <a:lstStyle/>
          <a:p>
            <a:pPr marL="0" indent="0" algn="ctr">
              <a:buNone/>
            </a:pPr>
            <a:r>
              <a:rPr lang="en-US" sz="1500" b="1" dirty="0">
                <a:solidFill>
                  <a:srgbClr val="0A1226"/>
                </a:solidFill>
                <a:latin typeface="Calibri" pitchFamily="34" charset="0"/>
                <a:ea typeface="Calibri" pitchFamily="34" charset="-122"/>
                <a:cs typeface="Calibri" pitchFamily="34" charset="-120"/>
              </a:rPr>
              <a:t>!</a:t>
            </a:r>
            <a:endParaRPr lang="en-US" sz="1500" dirty="0"/>
          </a:p>
        </p:txBody>
      </p:sp>
      <p:sp>
        <p:nvSpPr>
          <p:cNvPr id="39" name="Text 37"/>
          <p:cNvSpPr txBox="1"/>
          <p:nvPr/>
        </p:nvSpPr>
        <p:spPr>
          <a:xfrm>
            <a:off x="1207008" y="5102352"/>
            <a:ext cx="10280599" cy="310896"/>
          </a:xfrm>
          <a:prstGeom prst="rect">
            <a:avLst/>
          </a:prstGeom>
          <a:noFill/>
          <a:ln/>
        </p:spPr>
        <p:txBody>
          <a:bodyPr wrap="square" rtlCol="0" anchor="ctr"/>
          <a:lstStyle/>
          <a:p>
            <a:pPr marL="0" indent="0">
              <a:buNone/>
            </a:pPr>
            <a:r>
              <a:rPr lang="en-US" sz="1350" b="1" dirty="0">
                <a:solidFill>
                  <a:srgbClr val="14213D"/>
                </a:solidFill>
                <a:latin typeface="Calibri" pitchFamily="34" charset="0"/>
                <a:ea typeface="Calibri" pitchFamily="34" charset="-122"/>
                <a:cs typeface="Calibri" pitchFamily="34" charset="-120"/>
              </a:rPr>
              <a:t>BFS would return A → B → G — the more expensive path</a:t>
            </a:r>
            <a:endParaRPr lang="en-US" sz="1350" dirty="0"/>
          </a:p>
        </p:txBody>
      </p:sp>
      <p:sp>
        <p:nvSpPr>
          <p:cNvPr id="40" name="Text 38"/>
          <p:cNvSpPr txBox="1"/>
          <p:nvPr/>
        </p:nvSpPr>
        <p:spPr>
          <a:xfrm>
            <a:off x="1207008" y="5431536"/>
            <a:ext cx="10280599" cy="704088"/>
          </a:xfrm>
          <a:prstGeom prst="rect">
            <a:avLst/>
          </a:prstGeom>
          <a:noFill/>
          <a:ln/>
        </p:spPr>
        <p:txBody>
          <a:bodyPr wrap="square" rtlCol="0" anchor="t"/>
          <a:lstStyle/>
          <a:p>
            <a:pPr marL="0" indent="0">
              <a:lnSpc>
                <a:spcPct val="112000"/>
              </a:lnSpc>
              <a:buNone/>
            </a:pPr>
            <a:r>
              <a:rPr lang="en-US" sz="1600" dirty="0">
                <a:solidFill>
                  <a:srgbClr val="1B2333"/>
                </a:solidFill>
                <a:latin typeface="Times New Roman" panose="02020603050405020304" pitchFamily="18" charset="0"/>
                <a:ea typeface="Calibri" pitchFamily="34" charset="-122"/>
                <a:cs typeface="Times New Roman" panose="02020603050405020304" pitchFamily="18" charset="0"/>
              </a:rPr>
              <a:t>BFS terminates as soon as it reaches G at the shallowest depth (2 edges), never considering that a 3-edge alternative is actually cheaper (cost 7 vs. cost 10). We need a strategy that reasons about cumulative cost directly — this is exactly the motivation for Uniform Cost Search.</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92608"/>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UNINFORMED SEARCH · UCS</a:t>
            </a:r>
            <a:endParaRPr lang="en-US" sz="1200" dirty="0"/>
          </a:p>
        </p:txBody>
      </p:sp>
      <p:sp>
        <p:nvSpPr>
          <p:cNvPr id="3" name="Text 1"/>
          <p:cNvSpPr txBox="1"/>
          <p:nvPr/>
        </p:nvSpPr>
        <p:spPr>
          <a:xfrm>
            <a:off x="502920" y="621792"/>
            <a:ext cx="11155680" cy="658368"/>
          </a:xfrm>
          <a:prstGeom prst="rect">
            <a:avLst/>
          </a:prstGeom>
          <a:noFill/>
          <a:ln/>
        </p:spPr>
        <p:txBody>
          <a:bodyPr wrap="square" rtlCol="0" anchor="ctr"/>
          <a:lstStyle/>
          <a:p>
            <a:pPr marL="0" indent="0">
              <a:buNone/>
            </a:pPr>
            <a:r>
              <a:rPr lang="en-US" sz="2900" b="1" dirty="0">
                <a:solidFill>
                  <a:srgbClr val="14213D"/>
                </a:solidFill>
                <a:latin typeface="Cambria" pitchFamily="34" charset="0"/>
                <a:ea typeface="Cambria" pitchFamily="34" charset="-122"/>
                <a:cs typeface="Cambria" pitchFamily="34" charset="-120"/>
              </a:rPr>
              <a:t>Uniform Cost Search: Concept</a:t>
            </a:r>
            <a:endParaRPr lang="en-US" sz="2900" dirty="0"/>
          </a:p>
        </p:txBody>
      </p:sp>
      <p:sp>
        <p:nvSpPr>
          <p:cNvPr id="4" name="Text 2"/>
          <p:cNvSpPr txBox="1"/>
          <p:nvPr/>
        </p:nvSpPr>
        <p:spPr>
          <a:xfrm>
            <a:off x="502920" y="6473952"/>
            <a:ext cx="7315200" cy="274320"/>
          </a:xfrm>
          <a:prstGeom prst="rect">
            <a:avLst/>
          </a:prstGeom>
          <a:noFill/>
          <a:ln/>
        </p:spPr>
        <p:txBody>
          <a:bodyPr wrap="square" rtlCol="0" anchor="ctr"/>
          <a:lstStyle/>
          <a:p>
            <a:pPr marL="0" indent="0">
              <a:buNone/>
            </a:pPr>
            <a:r>
              <a:rPr lang="en-US" sz="950" b="1" dirty="0">
                <a:solidFill>
                  <a:srgbClr val="6B7280"/>
                </a:solidFill>
                <a:latin typeface="Calibri" pitchFamily="34" charset="0"/>
                <a:ea typeface="Calibri" pitchFamily="34" charset="-122"/>
                <a:cs typeface="Calibri" pitchFamily="34" charset="-120"/>
              </a:rPr>
              <a:t>Artificial Intelligence</a:t>
            </a:r>
            <a:r>
              <a:rPr lang="en-US" sz="950" dirty="0">
                <a:solidFill>
                  <a:srgbClr val="6B7280"/>
                </a:solidFill>
                <a:latin typeface="Calibri" pitchFamily="34" charset="0"/>
                <a:ea typeface="Calibri" pitchFamily="34" charset="-122"/>
                <a:cs typeface="Calibri" pitchFamily="34" charset="-120"/>
              </a:rPr>
              <a:t>   ·   BS Computer Science   ·   Lecture 3</a:t>
            </a:r>
            <a:endParaRPr lang="en-US" sz="950" dirty="0"/>
          </a:p>
        </p:txBody>
      </p:sp>
      <p:sp>
        <p:nvSpPr>
          <p:cNvPr id="5" name="Text 3"/>
          <p:cNvSpPr txBox="1"/>
          <p:nvPr/>
        </p:nvSpPr>
        <p:spPr>
          <a:xfrm>
            <a:off x="8762695" y="6473952"/>
            <a:ext cx="292608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Dr. Ghulam Ali   ·   31</a:t>
            </a:r>
            <a:endParaRPr lang="en-US" sz="950" dirty="0"/>
          </a:p>
        </p:txBody>
      </p:sp>
      <p:sp>
        <p:nvSpPr>
          <p:cNvPr id="6" name="Shape 4"/>
          <p:cNvSpPr/>
          <p:nvPr/>
        </p:nvSpPr>
        <p:spPr>
          <a:xfrm>
            <a:off x="502920" y="1417320"/>
            <a:ext cx="11185855" cy="868680"/>
          </a:xfrm>
          <a:prstGeom prst="roundRect">
            <a:avLst>
              <a:gd name="adj" fmla="val 8421"/>
            </a:avLst>
          </a:prstGeom>
          <a:solidFill>
            <a:srgbClr val="14213D"/>
          </a:solidFill>
          <a:ln/>
        </p:spPr>
      </p:sp>
      <p:sp>
        <p:nvSpPr>
          <p:cNvPr id="7" name="Text 5"/>
          <p:cNvSpPr txBox="1"/>
          <p:nvPr/>
        </p:nvSpPr>
        <p:spPr>
          <a:xfrm>
            <a:off x="822960" y="1417320"/>
            <a:ext cx="10545775" cy="868680"/>
          </a:xfrm>
          <a:prstGeom prst="rect">
            <a:avLst/>
          </a:prstGeom>
          <a:noFill/>
          <a:ln/>
        </p:spPr>
        <p:txBody>
          <a:bodyPr wrap="square" rtlCol="0" anchor="ctr"/>
          <a:lstStyle/>
          <a:p>
            <a:pPr marL="0" indent="0">
              <a:buNone/>
            </a:pPr>
            <a:r>
              <a:rPr lang="en-US" sz="1650" b="1" i="1" dirty="0">
                <a:solidFill>
                  <a:srgbClr val="FFFFFF"/>
                </a:solidFill>
                <a:latin typeface="Cambria" pitchFamily="34" charset="0"/>
                <a:ea typeface="Cambria" pitchFamily="34" charset="-122"/>
                <a:cs typeface="Cambria" pitchFamily="34" charset="-120"/>
              </a:rPr>
              <a:t>UCS expands the node with the smallest cumulative path cost g(n) — never the shallowest, and never the deepest.</a:t>
            </a:r>
            <a:endParaRPr lang="en-US" sz="1650" dirty="0"/>
          </a:p>
        </p:txBody>
      </p:sp>
      <p:sp>
        <p:nvSpPr>
          <p:cNvPr id="8" name="Shape 6"/>
          <p:cNvSpPr/>
          <p:nvPr/>
        </p:nvSpPr>
        <p:spPr>
          <a:xfrm>
            <a:off x="502920" y="2560320"/>
            <a:ext cx="3611880" cy="1417320"/>
          </a:xfrm>
          <a:prstGeom prst="roundRect">
            <a:avLst>
              <a:gd name="adj" fmla="val 5806"/>
            </a:avLst>
          </a:prstGeom>
          <a:solidFill>
            <a:srgbClr val="EAEFF8"/>
          </a:solidFill>
          <a:ln/>
        </p:spPr>
      </p:sp>
      <p:sp>
        <p:nvSpPr>
          <p:cNvPr id="9" name="Text 7"/>
          <p:cNvSpPr txBox="1"/>
          <p:nvPr/>
        </p:nvSpPr>
        <p:spPr>
          <a:xfrm>
            <a:off x="731520" y="2724912"/>
            <a:ext cx="3154680" cy="320040"/>
          </a:xfrm>
          <a:prstGeom prst="rect">
            <a:avLst/>
          </a:prstGeom>
          <a:noFill/>
          <a:ln/>
        </p:spPr>
        <p:txBody>
          <a:bodyPr wrap="square" rtlCol="0" anchor="ctr"/>
          <a:lstStyle/>
          <a:p>
            <a:pPr marL="0" indent="0">
              <a:buNone/>
            </a:pPr>
            <a:r>
              <a:rPr lang="en-US" sz="1250" b="1" dirty="0">
                <a:solidFill>
                  <a:srgbClr val="435273"/>
                </a:solidFill>
                <a:latin typeface="Calibri" pitchFamily="34" charset="0"/>
                <a:ea typeface="Calibri" pitchFamily="34" charset="-122"/>
                <a:cs typeface="Calibri" pitchFamily="34" charset="-120"/>
              </a:rPr>
              <a:t>BFS chooses:</a:t>
            </a:r>
            <a:endParaRPr lang="en-US" sz="1250" dirty="0"/>
          </a:p>
        </p:txBody>
      </p:sp>
      <p:sp>
        <p:nvSpPr>
          <p:cNvPr id="10" name="Text 8"/>
          <p:cNvSpPr txBox="1"/>
          <p:nvPr/>
        </p:nvSpPr>
        <p:spPr>
          <a:xfrm>
            <a:off x="731520" y="3090672"/>
            <a:ext cx="3154680" cy="777240"/>
          </a:xfrm>
          <a:prstGeom prst="rect">
            <a:avLst/>
          </a:prstGeom>
          <a:noFill/>
          <a:ln/>
        </p:spPr>
        <p:txBody>
          <a:bodyPr wrap="square" rtlCol="0" anchor="t"/>
          <a:lstStyle/>
          <a:p>
            <a:pPr marL="0" indent="0">
              <a:lnSpc>
                <a:spcPct val="115000"/>
              </a:lnSpc>
              <a:buNone/>
            </a:pPr>
            <a:r>
              <a:rPr lang="en-US" sz="1500" b="1" dirty="0">
                <a:solidFill>
                  <a:srgbClr val="14213D"/>
                </a:solidFill>
                <a:latin typeface="Calibri" pitchFamily="34" charset="0"/>
                <a:ea typeface="Calibri" pitchFamily="34" charset="-122"/>
                <a:cs typeface="Calibri" pitchFamily="34" charset="-120"/>
              </a:rPr>
              <a:t>the SHALLOWEST node</a:t>
            </a:r>
            <a:endParaRPr lang="en-US" sz="1500" dirty="0"/>
          </a:p>
        </p:txBody>
      </p:sp>
      <p:sp>
        <p:nvSpPr>
          <p:cNvPr id="11" name="Shape 9"/>
          <p:cNvSpPr/>
          <p:nvPr/>
        </p:nvSpPr>
        <p:spPr>
          <a:xfrm>
            <a:off x="4297680" y="2560320"/>
            <a:ext cx="3611880" cy="1417320"/>
          </a:xfrm>
          <a:prstGeom prst="roundRect">
            <a:avLst>
              <a:gd name="adj" fmla="val 5806"/>
            </a:avLst>
          </a:prstGeom>
          <a:solidFill>
            <a:srgbClr val="EAEFF8"/>
          </a:solidFill>
          <a:ln/>
        </p:spPr>
      </p:sp>
      <p:sp>
        <p:nvSpPr>
          <p:cNvPr id="12" name="Text 10"/>
          <p:cNvSpPr txBox="1"/>
          <p:nvPr/>
        </p:nvSpPr>
        <p:spPr>
          <a:xfrm>
            <a:off x="4526280" y="2724912"/>
            <a:ext cx="3154680" cy="320040"/>
          </a:xfrm>
          <a:prstGeom prst="rect">
            <a:avLst/>
          </a:prstGeom>
          <a:noFill/>
          <a:ln/>
        </p:spPr>
        <p:txBody>
          <a:bodyPr wrap="square" rtlCol="0" anchor="ctr"/>
          <a:lstStyle/>
          <a:p>
            <a:pPr marL="0" indent="0">
              <a:buNone/>
            </a:pPr>
            <a:r>
              <a:rPr lang="en-US" sz="1250" b="1" dirty="0">
                <a:solidFill>
                  <a:srgbClr val="435273"/>
                </a:solidFill>
                <a:latin typeface="Calibri" pitchFamily="34" charset="0"/>
                <a:ea typeface="Calibri" pitchFamily="34" charset="-122"/>
                <a:cs typeface="Calibri" pitchFamily="34" charset="-120"/>
              </a:rPr>
              <a:t>DFS chooses:</a:t>
            </a:r>
            <a:endParaRPr lang="en-US" sz="1250" dirty="0"/>
          </a:p>
        </p:txBody>
      </p:sp>
      <p:sp>
        <p:nvSpPr>
          <p:cNvPr id="13" name="Text 11"/>
          <p:cNvSpPr txBox="1"/>
          <p:nvPr/>
        </p:nvSpPr>
        <p:spPr>
          <a:xfrm>
            <a:off x="4526280" y="3090672"/>
            <a:ext cx="3154680" cy="777240"/>
          </a:xfrm>
          <a:prstGeom prst="rect">
            <a:avLst/>
          </a:prstGeom>
          <a:noFill/>
          <a:ln/>
        </p:spPr>
        <p:txBody>
          <a:bodyPr wrap="square" rtlCol="0" anchor="t"/>
          <a:lstStyle/>
          <a:p>
            <a:pPr marL="0" indent="0">
              <a:lnSpc>
                <a:spcPct val="115000"/>
              </a:lnSpc>
              <a:buNone/>
            </a:pPr>
            <a:r>
              <a:rPr lang="en-US" sz="1500" b="1" dirty="0">
                <a:solidFill>
                  <a:srgbClr val="14213D"/>
                </a:solidFill>
                <a:latin typeface="Calibri" pitchFamily="34" charset="0"/>
                <a:ea typeface="Calibri" pitchFamily="34" charset="-122"/>
                <a:cs typeface="Calibri" pitchFamily="34" charset="-120"/>
              </a:rPr>
              <a:t>the DEEPEST node</a:t>
            </a:r>
            <a:endParaRPr lang="en-US" sz="1500" dirty="0"/>
          </a:p>
        </p:txBody>
      </p:sp>
      <p:sp>
        <p:nvSpPr>
          <p:cNvPr id="14" name="Shape 12"/>
          <p:cNvSpPr/>
          <p:nvPr/>
        </p:nvSpPr>
        <p:spPr>
          <a:xfrm>
            <a:off x="8092440" y="2560320"/>
            <a:ext cx="3611880" cy="1417320"/>
          </a:xfrm>
          <a:prstGeom prst="roundRect">
            <a:avLst>
              <a:gd name="adj" fmla="val 5806"/>
            </a:avLst>
          </a:prstGeom>
          <a:solidFill>
            <a:srgbClr val="C9A227"/>
          </a:solidFill>
          <a:ln/>
        </p:spPr>
      </p:sp>
      <p:sp>
        <p:nvSpPr>
          <p:cNvPr id="15" name="Text 13"/>
          <p:cNvSpPr txBox="1"/>
          <p:nvPr/>
        </p:nvSpPr>
        <p:spPr>
          <a:xfrm>
            <a:off x="8321040" y="2724912"/>
            <a:ext cx="3154680" cy="320040"/>
          </a:xfrm>
          <a:prstGeom prst="rect">
            <a:avLst/>
          </a:prstGeom>
          <a:noFill/>
          <a:ln/>
        </p:spPr>
        <p:txBody>
          <a:bodyPr wrap="square" rtlCol="0" anchor="ctr"/>
          <a:lstStyle/>
          <a:p>
            <a:pPr marL="0" indent="0">
              <a:buNone/>
            </a:pPr>
            <a:r>
              <a:rPr lang="en-US" sz="1250" b="1" dirty="0">
                <a:solidFill>
                  <a:srgbClr val="0A1226"/>
                </a:solidFill>
                <a:latin typeface="Calibri" pitchFamily="34" charset="0"/>
                <a:ea typeface="Calibri" pitchFamily="34" charset="-122"/>
                <a:cs typeface="Calibri" pitchFamily="34" charset="-120"/>
              </a:rPr>
              <a:t>UCS chooses:</a:t>
            </a:r>
            <a:endParaRPr lang="en-US" sz="1250" dirty="0"/>
          </a:p>
        </p:txBody>
      </p:sp>
      <p:sp>
        <p:nvSpPr>
          <p:cNvPr id="16" name="Text 14"/>
          <p:cNvSpPr txBox="1"/>
          <p:nvPr/>
        </p:nvSpPr>
        <p:spPr>
          <a:xfrm>
            <a:off x="8321040" y="3090672"/>
            <a:ext cx="3154680" cy="777240"/>
          </a:xfrm>
          <a:prstGeom prst="rect">
            <a:avLst/>
          </a:prstGeom>
          <a:noFill/>
          <a:ln/>
        </p:spPr>
        <p:txBody>
          <a:bodyPr wrap="square" rtlCol="0" anchor="t"/>
          <a:lstStyle/>
          <a:p>
            <a:pPr marL="0" indent="0">
              <a:lnSpc>
                <a:spcPct val="115000"/>
              </a:lnSpc>
              <a:buNone/>
            </a:pPr>
            <a:r>
              <a:rPr lang="en-US" sz="1500" b="1" dirty="0">
                <a:solidFill>
                  <a:srgbClr val="0A1226"/>
                </a:solidFill>
                <a:latin typeface="Calibri" pitchFamily="34" charset="0"/>
                <a:ea typeface="Calibri" pitchFamily="34" charset="-122"/>
                <a:cs typeface="Calibri" pitchFamily="34" charset="-120"/>
              </a:rPr>
              <a:t>the CHEAPEST node — smallest g(n)</a:t>
            </a:r>
            <a:endParaRPr lang="en-US" sz="1500" dirty="0"/>
          </a:p>
        </p:txBody>
      </p:sp>
      <p:sp>
        <p:nvSpPr>
          <p:cNvPr id="17" name="Text 15"/>
          <p:cNvSpPr txBox="1"/>
          <p:nvPr/>
        </p:nvSpPr>
        <p:spPr>
          <a:xfrm>
            <a:off x="502920" y="4251960"/>
            <a:ext cx="11185855" cy="1051560"/>
          </a:xfrm>
          <a:prstGeom prst="rect">
            <a:avLst/>
          </a:prstGeom>
          <a:noFill/>
          <a:ln/>
        </p:spPr>
        <p:txBody>
          <a:bodyPr wrap="square" rtlCol="0" anchor="ctr"/>
          <a:lstStyle/>
          <a:p>
            <a:pPr marL="0" indent="0">
              <a:lnSpc>
                <a:spcPct val="130000"/>
              </a:lnSpc>
              <a:buNone/>
            </a:pPr>
            <a:r>
              <a:rPr lang="en-US" sz="1600" dirty="0">
                <a:solidFill>
                  <a:srgbClr val="1B2333"/>
                </a:solidFill>
                <a:latin typeface="Times New Roman" panose="02020603050405020304" pitchFamily="18" charset="0"/>
                <a:ea typeface="Calibri" pitchFamily="34" charset="-122"/>
                <a:cs typeface="Times New Roman" panose="02020603050405020304" pitchFamily="18" charset="0"/>
              </a:rPr>
              <a:t>UCS still uses the exact same generic search skeleton as BFS and DFS — generate successors, add to the frontier, pick the next node to expand. Only the selection rule changes: instead of a queue's insertion order or a stack's recency, UCS always removes whichever frontier node currently has the lowest g(n).</a:t>
            </a:r>
            <a:endParaRPr lang="en-US" sz="1600" dirty="0">
              <a:latin typeface="Times New Roman" panose="02020603050405020304" pitchFamily="18" charset="0"/>
              <a:cs typeface="Times New Roman" panose="02020603050405020304" pitchFamily="18" charset="0"/>
            </a:endParaRPr>
          </a:p>
        </p:txBody>
      </p:sp>
      <p:sp>
        <p:nvSpPr>
          <p:cNvPr id="18" name="Shape 16"/>
          <p:cNvSpPr/>
          <p:nvPr/>
        </p:nvSpPr>
        <p:spPr>
          <a:xfrm>
            <a:off x="502920" y="5440680"/>
            <a:ext cx="11185855" cy="960120"/>
          </a:xfrm>
          <a:prstGeom prst="roundRect">
            <a:avLst>
              <a:gd name="adj" fmla="val 7619"/>
            </a:avLst>
          </a:prstGeom>
          <a:solidFill>
            <a:srgbClr val="EAEFF8"/>
          </a:solidFill>
          <a:ln/>
        </p:spPr>
      </p:sp>
      <p:sp>
        <p:nvSpPr>
          <p:cNvPr id="19" name="Shape 17"/>
          <p:cNvSpPr/>
          <p:nvPr/>
        </p:nvSpPr>
        <p:spPr>
          <a:xfrm>
            <a:off x="704088" y="5641848"/>
            <a:ext cx="512064" cy="512064"/>
          </a:xfrm>
          <a:prstGeom prst="ellipse">
            <a:avLst/>
          </a:prstGeom>
          <a:solidFill>
            <a:srgbClr val="C9A227"/>
          </a:solidFill>
          <a:ln/>
        </p:spPr>
      </p:sp>
      <p:sp>
        <p:nvSpPr>
          <p:cNvPr id="20" name="Text 18"/>
          <p:cNvSpPr txBox="1"/>
          <p:nvPr/>
        </p:nvSpPr>
        <p:spPr>
          <a:xfrm>
            <a:off x="704088" y="5641848"/>
            <a:ext cx="512064" cy="512064"/>
          </a:xfrm>
          <a:prstGeom prst="rect">
            <a:avLst/>
          </a:prstGeom>
          <a:noFill/>
          <a:ln/>
        </p:spPr>
        <p:txBody>
          <a:bodyPr wrap="none" rtlCol="0" anchor="ctr"/>
          <a:lstStyle/>
          <a:p>
            <a:pPr marL="0" indent="0" algn="ctr">
              <a:buNone/>
            </a:pPr>
            <a:r>
              <a:rPr lang="en-US" sz="950" b="1" dirty="0">
                <a:solidFill>
                  <a:srgbClr val="0A1226"/>
                </a:solidFill>
                <a:latin typeface="Calibri" pitchFamily="34" charset="0"/>
                <a:ea typeface="Calibri" pitchFamily="34" charset="-122"/>
                <a:cs typeface="Calibri" pitchFamily="34" charset="-120"/>
              </a:rPr>
              <a:t>g(n)</a:t>
            </a:r>
            <a:endParaRPr lang="en-US" sz="950" dirty="0"/>
          </a:p>
        </p:txBody>
      </p:sp>
      <p:sp>
        <p:nvSpPr>
          <p:cNvPr id="21" name="Text 19"/>
          <p:cNvSpPr txBox="1"/>
          <p:nvPr/>
        </p:nvSpPr>
        <p:spPr>
          <a:xfrm>
            <a:off x="1371600" y="5605272"/>
            <a:ext cx="10116007" cy="310896"/>
          </a:xfrm>
          <a:prstGeom prst="rect">
            <a:avLst/>
          </a:prstGeom>
          <a:noFill/>
          <a:ln/>
        </p:spPr>
        <p:txBody>
          <a:bodyPr wrap="square" rtlCol="0" anchor="ctr"/>
          <a:lstStyle/>
          <a:p>
            <a:pPr marL="0" indent="0">
              <a:buNone/>
            </a:pPr>
            <a:r>
              <a:rPr lang="en-US" sz="1400" b="1" dirty="0">
                <a:solidFill>
                  <a:srgbClr val="14213D"/>
                </a:solidFill>
                <a:latin typeface="Calibri" pitchFamily="34" charset="0"/>
                <a:ea typeface="Calibri" pitchFamily="34" charset="-122"/>
                <a:cs typeface="Calibri" pitchFamily="34" charset="-120"/>
              </a:rPr>
              <a:t>Path cost accumulates from the root</a:t>
            </a:r>
            <a:endParaRPr lang="en-US" sz="1400" dirty="0"/>
          </a:p>
        </p:txBody>
      </p:sp>
      <p:sp>
        <p:nvSpPr>
          <p:cNvPr id="22" name="Text 20"/>
          <p:cNvSpPr txBox="1"/>
          <p:nvPr/>
        </p:nvSpPr>
        <p:spPr>
          <a:xfrm>
            <a:off x="1371600" y="5934456"/>
            <a:ext cx="10116007" cy="429768"/>
          </a:xfrm>
          <a:prstGeom prst="rect">
            <a:avLst/>
          </a:prstGeom>
          <a:noFill/>
          <a:ln/>
        </p:spPr>
        <p:txBody>
          <a:bodyPr wrap="square" rtlCol="0" anchor="t"/>
          <a:lstStyle/>
          <a:p>
            <a:pPr marL="0" indent="0">
              <a:lnSpc>
                <a:spcPct val="112000"/>
              </a:lnSpc>
              <a:buNone/>
            </a:pPr>
            <a:r>
              <a:rPr lang="en-US" sz="1600" dirty="0">
                <a:solidFill>
                  <a:srgbClr val="1B2333"/>
                </a:solidFill>
                <a:latin typeface="Times New Roman" panose="02020603050405020304" pitchFamily="18" charset="0"/>
                <a:ea typeface="Calibri" pitchFamily="34" charset="-122"/>
                <a:cs typeface="Times New Roman" panose="02020603050405020304" pitchFamily="18" charset="0"/>
              </a:rPr>
              <a:t>g(n) is not the cost of the last action alone — it is the running SUM of every action cost from the initial state s₀ to node n. UCS compares these running totals across the whole frontier, not just locally.</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92608"/>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UNINFORMED SEARCH · UCS</a:t>
            </a:r>
            <a:endParaRPr lang="en-US" sz="1200" dirty="0"/>
          </a:p>
        </p:txBody>
      </p:sp>
      <p:sp>
        <p:nvSpPr>
          <p:cNvPr id="3" name="Text 1"/>
          <p:cNvSpPr txBox="1"/>
          <p:nvPr/>
        </p:nvSpPr>
        <p:spPr>
          <a:xfrm>
            <a:off x="502920" y="621792"/>
            <a:ext cx="11155680" cy="658368"/>
          </a:xfrm>
          <a:prstGeom prst="rect">
            <a:avLst/>
          </a:prstGeom>
          <a:noFill/>
          <a:ln/>
        </p:spPr>
        <p:txBody>
          <a:bodyPr wrap="square" rtlCol="0" anchor="ctr"/>
          <a:lstStyle/>
          <a:p>
            <a:pPr marL="0" indent="0">
              <a:buNone/>
            </a:pPr>
            <a:r>
              <a:rPr lang="en-US" sz="2900" b="1" dirty="0">
                <a:solidFill>
                  <a:srgbClr val="14213D"/>
                </a:solidFill>
                <a:latin typeface="Cambria" pitchFamily="34" charset="0"/>
                <a:ea typeface="Cambria" pitchFamily="34" charset="-122"/>
                <a:cs typeface="Cambria" pitchFamily="34" charset="-120"/>
              </a:rPr>
              <a:t>UCS and the Priority Queue</a:t>
            </a:r>
            <a:endParaRPr lang="en-US" sz="2900" dirty="0"/>
          </a:p>
        </p:txBody>
      </p:sp>
      <p:sp>
        <p:nvSpPr>
          <p:cNvPr id="4" name="Text 2"/>
          <p:cNvSpPr txBox="1"/>
          <p:nvPr/>
        </p:nvSpPr>
        <p:spPr>
          <a:xfrm>
            <a:off x="502920" y="6473952"/>
            <a:ext cx="7315200" cy="274320"/>
          </a:xfrm>
          <a:prstGeom prst="rect">
            <a:avLst/>
          </a:prstGeom>
          <a:noFill/>
          <a:ln/>
        </p:spPr>
        <p:txBody>
          <a:bodyPr wrap="square" rtlCol="0" anchor="ctr"/>
          <a:lstStyle/>
          <a:p>
            <a:pPr marL="0" indent="0">
              <a:buNone/>
            </a:pPr>
            <a:r>
              <a:rPr lang="en-US" sz="950" b="1" dirty="0">
                <a:solidFill>
                  <a:srgbClr val="6B7280"/>
                </a:solidFill>
                <a:latin typeface="Calibri" pitchFamily="34" charset="0"/>
                <a:ea typeface="Calibri" pitchFamily="34" charset="-122"/>
                <a:cs typeface="Calibri" pitchFamily="34" charset="-120"/>
              </a:rPr>
              <a:t>Artificial Intelligence</a:t>
            </a:r>
            <a:r>
              <a:rPr lang="en-US" sz="950" dirty="0">
                <a:solidFill>
                  <a:srgbClr val="6B7280"/>
                </a:solidFill>
                <a:latin typeface="Calibri" pitchFamily="34" charset="0"/>
                <a:ea typeface="Calibri" pitchFamily="34" charset="-122"/>
                <a:cs typeface="Calibri" pitchFamily="34" charset="-120"/>
              </a:rPr>
              <a:t>   ·   BS Computer Science   ·   Lecture 3</a:t>
            </a:r>
            <a:endParaRPr lang="en-US" sz="950" dirty="0"/>
          </a:p>
        </p:txBody>
      </p:sp>
      <p:sp>
        <p:nvSpPr>
          <p:cNvPr id="5" name="Text 3"/>
          <p:cNvSpPr txBox="1"/>
          <p:nvPr/>
        </p:nvSpPr>
        <p:spPr>
          <a:xfrm>
            <a:off x="8762695" y="6473952"/>
            <a:ext cx="292608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Dr. Ghulam Ali   ·   32</a:t>
            </a:r>
            <a:endParaRPr lang="en-US" sz="950" dirty="0"/>
          </a:p>
        </p:txBody>
      </p:sp>
      <p:sp>
        <p:nvSpPr>
          <p:cNvPr id="6" name="Text 4"/>
          <p:cNvSpPr txBox="1"/>
          <p:nvPr/>
        </p:nvSpPr>
        <p:spPr>
          <a:xfrm>
            <a:off x="502920" y="1417320"/>
            <a:ext cx="11185855" cy="960120"/>
          </a:xfrm>
          <a:prstGeom prst="rect">
            <a:avLst/>
          </a:prstGeom>
          <a:noFill/>
          <a:ln/>
        </p:spPr>
        <p:txBody>
          <a:bodyPr wrap="square" rtlCol="0" anchor="ctr"/>
          <a:lstStyle/>
          <a:p>
            <a:pPr marL="0" indent="0">
              <a:lnSpc>
                <a:spcPct val="130000"/>
              </a:lnSpc>
              <a:buNone/>
            </a:pPr>
            <a:r>
              <a:rPr lang="en-US" sz="1600" dirty="0">
                <a:solidFill>
                  <a:srgbClr val="1B2333"/>
                </a:solidFill>
                <a:latin typeface="Times New Roman" panose="02020603050405020304" pitchFamily="18" charset="0"/>
                <a:ea typeface="Calibri" pitchFamily="34" charset="-122"/>
                <a:cs typeface="Times New Roman" panose="02020603050405020304" pitchFamily="18" charset="0"/>
              </a:rPr>
              <a:t>A priority queue always removes the element with the smallest priority value — here, the smallest g(n). Unlike FIFO or LIFO, removal order has nothing to do with WHEN a node was inserted; it depends entirely on cumulative cost.</a:t>
            </a:r>
            <a:endParaRPr lang="en-US" sz="1600" dirty="0">
              <a:latin typeface="Times New Roman" panose="02020603050405020304" pitchFamily="18" charset="0"/>
              <a:cs typeface="Times New Roman" panose="02020603050405020304" pitchFamily="18" charset="0"/>
            </a:endParaRPr>
          </a:p>
        </p:txBody>
      </p:sp>
      <p:sp>
        <p:nvSpPr>
          <p:cNvPr id="7" name="Shape 5"/>
          <p:cNvSpPr/>
          <p:nvPr/>
        </p:nvSpPr>
        <p:spPr>
          <a:xfrm>
            <a:off x="2103120" y="2697480"/>
            <a:ext cx="2377440" cy="1051560"/>
          </a:xfrm>
          <a:prstGeom prst="roundRect">
            <a:avLst>
              <a:gd name="adj" fmla="val 7826"/>
            </a:avLst>
          </a:prstGeom>
          <a:solidFill>
            <a:srgbClr val="EAEFF8"/>
          </a:solidFill>
          <a:ln w="12700">
            <a:solidFill>
              <a:srgbClr val="D7DEEA"/>
            </a:solidFill>
            <a:prstDash val="solid"/>
          </a:ln>
        </p:spPr>
      </p:sp>
      <p:sp>
        <p:nvSpPr>
          <p:cNvPr id="8" name="Text 6"/>
          <p:cNvSpPr txBox="1"/>
          <p:nvPr/>
        </p:nvSpPr>
        <p:spPr>
          <a:xfrm>
            <a:off x="2103120" y="2770632"/>
            <a:ext cx="2377440" cy="457200"/>
          </a:xfrm>
          <a:prstGeom prst="rect">
            <a:avLst/>
          </a:prstGeom>
          <a:noFill/>
          <a:ln/>
        </p:spPr>
        <p:txBody>
          <a:bodyPr wrap="square" rtlCol="0" anchor="ctr"/>
          <a:lstStyle/>
          <a:p>
            <a:pPr marL="0" indent="0" algn="ctr">
              <a:buNone/>
            </a:pPr>
            <a:r>
              <a:rPr lang="en-US" sz="2200" b="1" dirty="0">
                <a:solidFill>
                  <a:srgbClr val="0A1226"/>
                </a:solidFill>
                <a:latin typeface="Cambria" pitchFamily="34" charset="0"/>
                <a:ea typeface="Cambria" pitchFamily="34" charset="-122"/>
                <a:cs typeface="Cambria" pitchFamily="34" charset="-120"/>
              </a:rPr>
              <a:t>B</a:t>
            </a:r>
            <a:endParaRPr lang="en-US" sz="2200" dirty="0"/>
          </a:p>
        </p:txBody>
      </p:sp>
      <p:sp>
        <p:nvSpPr>
          <p:cNvPr id="9" name="Text 7"/>
          <p:cNvSpPr txBox="1"/>
          <p:nvPr/>
        </p:nvSpPr>
        <p:spPr>
          <a:xfrm>
            <a:off x="2103120" y="3291840"/>
            <a:ext cx="2377440" cy="365760"/>
          </a:xfrm>
          <a:prstGeom prst="rect">
            <a:avLst/>
          </a:prstGeom>
          <a:noFill/>
          <a:ln/>
        </p:spPr>
        <p:txBody>
          <a:bodyPr wrap="square" rtlCol="0" anchor="ctr"/>
          <a:lstStyle/>
          <a:p>
            <a:pPr marL="0" indent="0" algn="ctr">
              <a:buNone/>
            </a:pPr>
            <a:r>
              <a:rPr lang="en-US" sz="1500" b="1" dirty="0">
                <a:solidFill>
                  <a:srgbClr val="435273"/>
                </a:solidFill>
                <a:latin typeface="Courier New" pitchFamily="34" charset="0"/>
                <a:ea typeface="Courier New" pitchFamily="34" charset="-122"/>
                <a:cs typeface="Courier New" pitchFamily="34" charset="-120"/>
              </a:rPr>
              <a:t>g = 5</a:t>
            </a:r>
            <a:endParaRPr lang="en-US" sz="1500" dirty="0"/>
          </a:p>
        </p:txBody>
      </p:sp>
      <p:sp>
        <p:nvSpPr>
          <p:cNvPr id="10" name="Shape 8"/>
          <p:cNvSpPr/>
          <p:nvPr/>
        </p:nvSpPr>
        <p:spPr>
          <a:xfrm>
            <a:off x="4937760" y="2697480"/>
            <a:ext cx="2377440" cy="1051560"/>
          </a:xfrm>
          <a:prstGeom prst="roundRect">
            <a:avLst>
              <a:gd name="adj" fmla="val 7826"/>
            </a:avLst>
          </a:prstGeom>
          <a:solidFill>
            <a:srgbClr val="C9A227"/>
          </a:solidFill>
          <a:ln w="25400">
            <a:solidFill>
              <a:srgbClr val="14213D"/>
            </a:solidFill>
            <a:prstDash val="solid"/>
          </a:ln>
        </p:spPr>
      </p:sp>
      <p:sp>
        <p:nvSpPr>
          <p:cNvPr id="11" name="Text 9"/>
          <p:cNvSpPr txBox="1"/>
          <p:nvPr/>
        </p:nvSpPr>
        <p:spPr>
          <a:xfrm>
            <a:off x="4937760" y="2770632"/>
            <a:ext cx="2377440" cy="457200"/>
          </a:xfrm>
          <a:prstGeom prst="rect">
            <a:avLst/>
          </a:prstGeom>
          <a:noFill/>
          <a:ln/>
        </p:spPr>
        <p:txBody>
          <a:bodyPr wrap="square" rtlCol="0" anchor="ctr"/>
          <a:lstStyle/>
          <a:p>
            <a:pPr marL="0" indent="0" algn="ctr">
              <a:buNone/>
            </a:pPr>
            <a:r>
              <a:rPr lang="en-US" sz="2200" b="1" dirty="0">
                <a:solidFill>
                  <a:srgbClr val="0A1226"/>
                </a:solidFill>
                <a:latin typeface="Cambria" pitchFamily="34" charset="0"/>
                <a:ea typeface="Cambria" pitchFamily="34" charset="-122"/>
                <a:cs typeface="Cambria" pitchFamily="34" charset="-120"/>
              </a:rPr>
              <a:t>C</a:t>
            </a:r>
            <a:endParaRPr lang="en-US" sz="2200" dirty="0"/>
          </a:p>
        </p:txBody>
      </p:sp>
      <p:sp>
        <p:nvSpPr>
          <p:cNvPr id="12" name="Text 10"/>
          <p:cNvSpPr txBox="1"/>
          <p:nvPr/>
        </p:nvSpPr>
        <p:spPr>
          <a:xfrm>
            <a:off x="4937760" y="3291840"/>
            <a:ext cx="2377440" cy="365760"/>
          </a:xfrm>
          <a:prstGeom prst="rect">
            <a:avLst/>
          </a:prstGeom>
          <a:noFill/>
          <a:ln/>
        </p:spPr>
        <p:txBody>
          <a:bodyPr wrap="square" rtlCol="0" anchor="ctr"/>
          <a:lstStyle/>
          <a:p>
            <a:pPr marL="0" indent="0" algn="ctr">
              <a:buNone/>
            </a:pPr>
            <a:r>
              <a:rPr lang="en-US" sz="1500" b="1" dirty="0">
                <a:solidFill>
                  <a:srgbClr val="0A1226"/>
                </a:solidFill>
                <a:latin typeface="Courier New" pitchFamily="34" charset="0"/>
                <a:ea typeface="Courier New" pitchFamily="34" charset="-122"/>
                <a:cs typeface="Courier New" pitchFamily="34" charset="-120"/>
              </a:rPr>
              <a:t>g = 2</a:t>
            </a:r>
            <a:endParaRPr lang="en-US" sz="1500" dirty="0"/>
          </a:p>
        </p:txBody>
      </p:sp>
      <p:sp>
        <p:nvSpPr>
          <p:cNvPr id="13" name="Shape 11"/>
          <p:cNvSpPr/>
          <p:nvPr/>
        </p:nvSpPr>
        <p:spPr>
          <a:xfrm>
            <a:off x="7772400" y="2697480"/>
            <a:ext cx="2377440" cy="1051560"/>
          </a:xfrm>
          <a:prstGeom prst="roundRect">
            <a:avLst>
              <a:gd name="adj" fmla="val 7826"/>
            </a:avLst>
          </a:prstGeom>
          <a:solidFill>
            <a:srgbClr val="EAEFF8"/>
          </a:solidFill>
          <a:ln w="12700">
            <a:solidFill>
              <a:srgbClr val="D7DEEA"/>
            </a:solidFill>
            <a:prstDash val="solid"/>
          </a:ln>
        </p:spPr>
      </p:sp>
      <p:sp>
        <p:nvSpPr>
          <p:cNvPr id="14" name="Text 12"/>
          <p:cNvSpPr txBox="1"/>
          <p:nvPr/>
        </p:nvSpPr>
        <p:spPr>
          <a:xfrm>
            <a:off x="7772400" y="2770632"/>
            <a:ext cx="2377440" cy="457200"/>
          </a:xfrm>
          <a:prstGeom prst="rect">
            <a:avLst/>
          </a:prstGeom>
          <a:noFill/>
          <a:ln/>
        </p:spPr>
        <p:txBody>
          <a:bodyPr wrap="square" rtlCol="0" anchor="ctr"/>
          <a:lstStyle/>
          <a:p>
            <a:pPr marL="0" indent="0" algn="ctr">
              <a:buNone/>
            </a:pPr>
            <a:r>
              <a:rPr lang="en-US" sz="2200" b="1" dirty="0">
                <a:solidFill>
                  <a:srgbClr val="0A1226"/>
                </a:solidFill>
                <a:latin typeface="Cambria" pitchFamily="34" charset="0"/>
                <a:ea typeface="Cambria" pitchFamily="34" charset="-122"/>
                <a:cs typeface="Cambria" pitchFamily="34" charset="-120"/>
              </a:rPr>
              <a:t>D</a:t>
            </a:r>
            <a:endParaRPr lang="en-US" sz="2200" dirty="0"/>
          </a:p>
        </p:txBody>
      </p:sp>
      <p:sp>
        <p:nvSpPr>
          <p:cNvPr id="15" name="Text 13"/>
          <p:cNvSpPr txBox="1"/>
          <p:nvPr/>
        </p:nvSpPr>
        <p:spPr>
          <a:xfrm>
            <a:off x="7772400" y="3291840"/>
            <a:ext cx="2377440" cy="365760"/>
          </a:xfrm>
          <a:prstGeom prst="rect">
            <a:avLst/>
          </a:prstGeom>
          <a:noFill/>
          <a:ln/>
        </p:spPr>
        <p:txBody>
          <a:bodyPr wrap="square" rtlCol="0" anchor="ctr"/>
          <a:lstStyle/>
          <a:p>
            <a:pPr marL="0" indent="0" algn="ctr">
              <a:buNone/>
            </a:pPr>
            <a:r>
              <a:rPr lang="en-US" sz="1500" b="1" dirty="0">
                <a:solidFill>
                  <a:srgbClr val="435273"/>
                </a:solidFill>
                <a:latin typeface="Courier New" pitchFamily="34" charset="0"/>
                <a:ea typeface="Courier New" pitchFamily="34" charset="-122"/>
                <a:cs typeface="Courier New" pitchFamily="34" charset="-120"/>
              </a:rPr>
              <a:t>g = 8</a:t>
            </a:r>
            <a:endParaRPr lang="en-US" sz="1500" dirty="0"/>
          </a:p>
        </p:txBody>
      </p:sp>
      <p:sp>
        <p:nvSpPr>
          <p:cNvPr id="16" name="Shape 14"/>
          <p:cNvSpPr/>
          <p:nvPr/>
        </p:nvSpPr>
        <p:spPr>
          <a:xfrm>
            <a:off x="4937760" y="2331720"/>
            <a:ext cx="2377440" cy="292608"/>
          </a:xfrm>
          <a:prstGeom prst="roundRect">
            <a:avLst>
              <a:gd name="adj" fmla="val 50000"/>
            </a:avLst>
          </a:prstGeom>
          <a:solidFill>
            <a:srgbClr val="14213D"/>
          </a:solidFill>
          <a:ln/>
        </p:spPr>
      </p:sp>
      <p:sp>
        <p:nvSpPr>
          <p:cNvPr id="17" name="Text 15"/>
          <p:cNvSpPr txBox="1"/>
          <p:nvPr/>
        </p:nvSpPr>
        <p:spPr>
          <a:xfrm>
            <a:off x="4937760" y="2331720"/>
            <a:ext cx="2377440" cy="292608"/>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UCS chooses this one</a:t>
            </a:r>
            <a:endParaRPr lang="en-US" sz="1050" dirty="0"/>
          </a:p>
        </p:txBody>
      </p:sp>
      <p:sp>
        <p:nvSpPr>
          <p:cNvPr id="18" name="Shape 16"/>
          <p:cNvSpPr/>
          <p:nvPr/>
        </p:nvSpPr>
        <p:spPr>
          <a:xfrm>
            <a:off x="502920" y="4206240"/>
            <a:ext cx="11185855" cy="1371600"/>
          </a:xfrm>
          <a:prstGeom prst="roundRect">
            <a:avLst>
              <a:gd name="adj" fmla="val 5333"/>
            </a:avLst>
          </a:prstGeom>
          <a:solidFill>
            <a:srgbClr val="EAEFF8"/>
          </a:solidFill>
          <a:ln/>
        </p:spPr>
      </p:sp>
      <p:sp>
        <p:nvSpPr>
          <p:cNvPr id="19" name="Shape 17"/>
          <p:cNvSpPr/>
          <p:nvPr/>
        </p:nvSpPr>
        <p:spPr>
          <a:xfrm>
            <a:off x="704088" y="4407408"/>
            <a:ext cx="512064" cy="512064"/>
          </a:xfrm>
          <a:prstGeom prst="ellipse">
            <a:avLst/>
          </a:prstGeom>
          <a:solidFill>
            <a:srgbClr val="C9A227"/>
          </a:solidFill>
          <a:ln/>
        </p:spPr>
      </p:sp>
      <p:sp>
        <p:nvSpPr>
          <p:cNvPr id="20" name="Text 18"/>
          <p:cNvSpPr txBox="1"/>
          <p:nvPr/>
        </p:nvSpPr>
        <p:spPr>
          <a:xfrm>
            <a:off x="704088" y="4407408"/>
            <a:ext cx="512064" cy="512064"/>
          </a:xfrm>
          <a:prstGeom prst="rect">
            <a:avLst/>
          </a:prstGeom>
          <a:noFill/>
          <a:ln/>
        </p:spPr>
        <p:txBody>
          <a:bodyPr wrap="none" rtlCol="0" anchor="ctr"/>
          <a:lstStyle/>
          <a:p>
            <a:pPr marL="0" indent="0" algn="ctr">
              <a:buNone/>
            </a:pPr>
            <a:r>
              <a:rPr lang="en-US" sz="950" b="1" dirty="0">
                <a:solidFill>
                  <a:srgbClr val="0A1226"/>
                </a:solidFill>
                <a:latin typeface="Calibri" pitchFamily="34" charset="0"/>
                <a:ea typeface="Calibri" pitchFamily="34" charset="-122"/>
                <a:cs typeface="Calibri" pitchFamily="34" charset="-120"/>
              </a:rPr>
              <a:t>min</a:t>
            </a:r>
            <a:endParaRPr lang="en-US" sz="950" dirty="0"/>
          </a:p>
        </p:txBody>
      </p:sp>
      <p:sp>
        <p:nvSpPr>
          <p:cNvPr id="21" name="Text 19"/>
          <p:cNvSpPr txBox="1"/>
          <p:nvPr/>
        </p:nvSpPr>
        <p:spPr>
          <a:xfrm>
            <a:off x="1371600" y="4370832"/>
            <a:ext cx="10116007" cy="310896"/>
          </a:xfrm>
          <a:prstGeom prst="rect">
            <a:avLst/>
          </a:prstGeom>
          <a:noFill/>
          <a:ln/>
        </p:spPr>
        <p:txBody>
          <a:bodyPr wrap="square" rtlCol="0" anchor="ctr"/>
          <a:lstStyle/>
          <a:p>
            <a:pPr marL="0" indent="0">
              <a:buNone/>
            </a:pPr>
            <a:r>
              <a:rPr lang="en-US" sz="1400" b="1" dirty="0">
                <a:solidFill>
                  <a:srgbClr val="14213D"/>
                </a:solidFill>
                <a:latin typeface="Calibri" pitchFamily="34" charset="0"/>
                <a:ea typeface="Calibri" pitchFamily="34" charset="-122"/>
                <a:cs typeface="Calibri" pitchFamily="34" charset="-120"/>
              </a:rPr>
              <a:t>Frontier = { B: g=5,  C: g=2,  D: g=8 }  →  expand C</a:t>
            </a:r>
            <a:endParaRPr lang="en-US" sz="1400" dirty="0"/>
          </a:p>
        </p:txBody>
      </p:sp>
      <p:sp>
        <p:nvSpPr>
          <p:cNvPr id="22" name="Text 20"/>
          <p:cNvSpPr txBox="1"/>
          <p:nvPr/>
        </p:nvSpPr>
        <p:spPr>
          <a:xfrm>
            <a:off x="1371600" y="4700016"/>
            <a:ext cx="10116007" cy="841248"/>
          </a:xfrm>
          <a:prstGeom prst="rect">
            <a:avLst/>
          </a:prstGeom>
          <a:noFill/>
          <a:ln/>
        </p:spPr>
        <p:txBody>
          <a:bodyPr wrap="square" rtlCol="0" anchor="t"/>
          <a:lstStyle/>
          <a:p>
            <a:pPr marL="0" indent="0">
              <a:lnSpc>
                <a:spcPct val="112000"/>
              </a:lnSpc>
              <a:buNone/>
            </a:pPr>
            <a:r>
              <a:rPr lang="en-US" sz="1600" dirty="0">
                <a:solidFill>
                  <a:srgbClr val="1B2333"/>
                </a:solidFill>
                <a:latin typeface="Times New Roman" panose="02020603050405020304" pitchFamily="18" charset="0"/>
                <a:ea typeface="Calibri" pitchFamily="34" charset="-122"/>
                <a:cs typeface="Times New Roman" panose="02020603050405020304" pitchFamily="18" charset="0"/>
              </a:rPr>
              <a:t>Even though B and D might have been generated earlier or later, none of that matters to a priority queue — only the g(n) value decides. Because g(n) is a running total from s₀, this comparison is always fair, regardless of how many actions each path took to accumulate its cost.</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92608"/>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UNINFORMED SEARCH · UCS</a:t>
            </a:r>
            <a:endParaRPr lang="en-US" sz="1200" dirty="0"/>
          </a:p>
        </p:txBody>
      </p:sp>
      <p:sp>
        <p:nvSpPr>
          <p:cNvPr id="3" name="Text 1"/>
          <p:cNvSpPr txBox="1"/>
          <p:nvPr/>
        </p:nvSpPr>
        <p:spPr>
          <a:xfrm>
            <a:off x="502920" y="621792"/>
            <a:ext cx="11155680" cy="658368"/>
          </a:xfrm>
          <a:prstGeom prst="rect">
            <a:avLst/>
          </a:prstGeom>
          <a:noFill/>
          <a:ln/>
        </p:spPr>
        <p:txBody>
          <a:bodyPr wrap="square" rtlCol="0" anchor="ctr"/>
          <a:lstStyle/>
          <a:p>
            <a:pPr marL="0" indent="0">
              <a:buNone/>
            </a:pPr>
            <a:r>
              <a:rPr lang="en-US" sz="2900" b="1" dirty="0">
                <a:solidFill>
                  <a:srgbClr val="14213D"/>
                </a:solidFill>
                <a:latin typeface="Cambria" pitchFamily="34" charset="0"/>
                <a:ea typeface="Cambria" pitchFamily="34" charset="-122"/>
                <a:cs typeface="Cambria" pitchFamily="34" charset="-120"/>
              </a:rPr>
              <a:t>UCS Worked Example — Weighted Graph</a:t>
            </a:r>
            <a:endParaRPr lang="en-US" sz="2900" dirty="0"/>
          </a:p>
        </p:txBody>
      </p:sp>
      <p:sp>
        <p:nvSpPr>
          <p:cNvPr id="4" name="Text 2"/>
          <p:cNvSpPr txBox="1"/>
          <p:nvPr/>
        </p:nvSpPr>
        <p:spPr>
          <a:xfrm>
            <a:off x="502920" y="6473952"/>
            <a:ext cx="7315200" cy="274320"/>
          </a:xfrm>
          <a:prstGeom prst="rect">
            <a:avLst/>
          </a:prstGeom>
          <a:noFill/>
          <a:ln/>
        </p:spPr>
        <p:txBody>
          <a:bodyPr wrap="square" rtlCol="0" anchor="ctr"/>
          <a:lstStyle/>
          <a:p>
            <a:pPr marL="0" indent="0">
              <a:buNone/>
            </a:pPr>
            <a:r>
              <a:rPr lang="en-US" sz="950" b="1" dirty="0">
                <a:solidFill>
                  <a:srgbClr val="6B7280"/>
                </a:solidFill>
                <a:latin typeface="Calibri" pitchFamily="34" charset="0"/>
                <a:ea typeface="Calibri" pitchFamily="34" charset="-122"/>
                <a:cs typeface="Calibri" pitchFamily="34" charset="-120"/>
              </a:rPr>
              <a:t>Artificial Intelligence</a:t>
            </a:r>
            <a:r>
              <a:rPr lang="en-US" sz="950" dirty="0">
                <a:solidFill>
                  <a:srgbClr val="6B7280"/>
                </a:solidFill>
                <a:latin typeface="Calibri" pitchFamily="34" charset="0"/>
                <a:ea typeface="Calibri" pitchFamily="34" charset="-122"/>
                <a:cs typeface="Calibri" pitchFamily="34" charset="-120"/>
              </a:rPr>
              <a:t>   ·   BS Computer Science   ·   Lecture 3</a:t>
            </a:r>
            <a:endParaRPr lang="en-US" sz="950" dirty="0"/>
          </a:p>
        </p:txBody>
      </p:sp>
      <p:sp>
        <p:nvSpPr>
          <p:cNvPr id="5" name="Text 3"/>
          <p:cNvSpPr txBox="1"/>
          <p:nvPr/>
        </p:nvSpPr>
        <p:spPr>
          <a:xfrm>
            <a:off x="8762695" y="6473952"/>
            <a:ext cx="292608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Dr. Ghulam Ali   ·   33</a:t>
            </a:r>
            <a:endParaRPr lang="en-US" sz="950" dirty="0"/>
          </a:p>
        </p:txBody>
      </p:sp>
      <p:sp>
        <p:nvSpPr>
          <p:cNvPr id="6" name="Shape 4"/>
          <p:cNvSpPr/>
          <p:nvPr/>
        </p:nvSpPr>
        <p:spPr>
          <a:xfrm flipH="1">
            <a:off x="2051830" y="1693458"/>
            <a:ext cx="742659" cy="773604"/>
          </a:xfrm>
          <a:prstGeom prst="line">
            <a:avLst/>
          </a:prstGeom>
          <a:noFill/>
          <a:ln w="38100">
            <a:solidFill>
              <a:srgbClr val="C9A227"/>
            </a:solidFill>
            <a:prstDash val="solid"/>
          </a:ln>
        </p:spPr>
      </p:sp>
      <p:sp>
        <p:nvSpPr>
          <p:cNvPr id="7" name="Shape 5"/>
          <p:cNvSpPr/>
          <p:nvPr/>
        </p:nvSpPr>
        <p:spPr>
          <a:xfrm>
            <a:off x="2267712" y="1943100"/>
            <a:ext cx="310896" cy="237744"/>
          </a:xfrm>
          <a:prstGeom prst="rect">
            <a:avLst/>
          </a:prstGeom>
          <a:solidFill>
            <a:srgbClr val="F7F9FC"/>
          </a:solidFill>
          <a:ln/>
        </p:spPr>
      </p:sp>
      <p:sp>
        <p:nvSpPr>
          <p:cNvPr id="8" name="Text 6"/>
          <p:cNvSpPr txBox="1"/>
          <p:nvPr/>
        </p:nvSpPr>
        <p:spPr>
          <a:xfrm>
            <a:off x="2267712" y="1943100"/>
            <a:ext cx="310896" cy="237744"/>
          </a:xfrm>
          <a:prstGeom prst="rect">
            <a:avLst/>
          </a:prstGeom>
          <a:noFill/>
          <a:ln/>
        </p:spPr>
        <p:txBody>
          <a:bodyPr wrap="square" rtlCol="0" anchor="ctr"/>
          <a:lstStyle/>
          <a:p>
            <a:pPr marL="0" indent="0" algn="ctr">
              <a:buNone/>
            </a:pPr>
            <a:r>
              <a:rPr lang="en-US" sz="1150" b="1" dirty="0">
                <a:solidFill>
                  <a:srgbClr val="14213D"/>
                </a:solidFill>
                <a:latin typeface="Calibri" pitchFamily="34" charset="0"/>
                <a:ea typeface="Calibri" pitchFamily="34" charset="-122"/>
                <a:cs typeface="Calibri" pitchFamily="34" charset="-120"/>
              </a:rPr>
              <a:t>2</a:t>
            </a:r>
            <a:endParaRPr lang="en-US" sz="1150" dirty="0"/>
          </a:p>
        </p:txBody>
      </p:sp>
      <p:sp>
        <p:nvSpPr>
          <p:cNvPr id="9" name="Shape 7"/>
          <p:cNvSpPr/>
          <p:nvPr/>
        </p:nvSpPr>
        <p:spPr>
          <a:xfrm>
            <a:off x="3149110" y="1693458"/>
            <a:ext cx="742659" cy="773604"/>
          </a:xfrm>
          <a:prstGeom prst="line">
            <a:avLst/>
          </a:prstGeom>
          <a:noFill/>
          <a:ln w="19050">
            <a:solidFill>
              <a:srgbClr val="435273"/>
            </a:solidFill>
            <a:prstDash val="solid"/>
          </a:ln>
        </p:spPr>
      </p:sp>
      <p:sp>
        <p:nvSpPr>
          <p:cNvPr id="10" name="Shape 8"/>
          <p:cNvSpPr/>
          <p:nvPr/>
        </p:nvSpPr>
        <p:spPr>
          <a:xfrm>
            <a:off x="3364992" y="1943100"/>
            <a:ext cx="310896" cy="237744"/>
          </a:xfrm>
          <a:prstGeom prst="rect">
            <a:avLst/>
          </a:prstGeom>
          <a:solidFill>
            <a:srgbClr val="F7F9FC"/>
          </a:solidFill>
          <a:ln/>
        </p:spPr>
      </p:sp>
      <p:sp>
        <p:nvSpPr>
          <p:cNvPr id="11" name="Text 9"/>
          <p:cNvSpPr txBox="1"/>
          <p:nvPr/>
        </p:nvSpPr>
        <p:spPr>
          <a:xfrm>
            <a:off x="3364992" y="1943100"/>
            <a:ext cx="310896" cy="237744"/>
          </a:xfrm>
          <a:prstGeom prst="rect">
            <a:avLst/>
          </a:prstGeom>
          <a:noFill/>
          <a:ln/>
        </p:spPr>
        <p:txBody>
          <a:bodyPr wrap="square" rtlCol="0" anchor="ctr"/>
          <a:lstStyle/>
          <a:p>
            <a:pPr marL="0" indent="0" algn="ctr">
              <a:buNone/>
            </a:pPr>
            <a:r>
              <a:rPr lang="en-US" sz="1150" b="1" dirty="0">
                <a:solidFill>
                  <a:srgbClr val="14213D"/>
                </a:solidFill>
                <a:latin typeface="Calibri" pitchFamily="34" charset="0"/>
                <a:ea typeface="Calibri" pitchFamily="34" charset="-122"/>
                <a:cs typeface="Calibri" pitchFamily="34" charset="-120"/>
              </a:rPr>
              <a:t>5</a:t>
            </a:r>
            <a:endParaRPr lang="en-US" sz="1150" dirty="0"/>
          </a:p>
        </p:txBody>
      </p:sp>
      <p:sp>
        <p:nvSpPr>
          <p:cNvPr id="12" name="Shape 10"/>
          <p:cNvSpPr/>
          <p:nvPr/>
        </p:nvSpPr>
        <p:spPr>
          <a:xfrm flipH="1">
            <a:off x="1653846" y="2902109"/>
            <a:ext cx="167028" cy="779463"/>
          </a:xfrm>
          <a:prstGeom prst="line">
            <a:avLst/>
          </a:prstGeom>
          <a:noFill/>
          <a:ln w="38100">
            <a:solidFill>
              <a:srgbClr val="C9A227"/>
            </a:solidFill>
            <a:prstDash val="solid"/>
          </a:ln>
        </p:spPr>
      </p:sp>
      <p:sp>
        <p:nvSpPr>
          <p:cNvPr id="13" name="Shape 11"/>
          <p:cNvSpPr/>
          <p:nvPr/>
        </p:nvSpPr>
        <p:spPr>
          <a:xfrm>
            <a:off x="1581912" y="3154680"/>
            <a:ext cx="310896" cy="237744"/>
          </a:xfrm>
          <a:prstGeom prst="rect">
            <a:avLst/>
          </a:prstGeom>
          <a:solidFill>
            <a:srgbClr val="F7F9FC"/>
          </a:solidFill>
          <a:ln/>
        </p:spPr>
      </p:sp>
      <p:sp>
        <p:nvSpPr>
          <p:cNvPr id="14" name="Text 12"/>
          <p:cNvSpPr txBox="1"/>
          <p:nvPr/>
        </p:nvSpPr>
        <p:spPr>
          <a:xfrm>
            <a:off x="1581912" y="3154680"/>
            <a:ext cx="310896" cy="237744"/>
          </a:xfrm>
          <a:prstGeom prst="rect">
            <a:avLst/>
          </a:prstGeom>
          <a:noFill/>
          <a:ln/>
        </p:spPr>
        <p:txBody>
          <a:bodyPr wrap="square" rtlCol="0" anchor="ctr"/>
          <a:lstStyle/>
          <a:p>
            <a:pPr marL="0" indent="0" algn="ctr">
              <a:buNone/>
            </a:pPr>
            <a:r>
              <a:rPr lang="en-US" sz="1150" b="1" dirty="0">
                <a:solidFill>
                  <a:srgbClr val="14213D"/>
                </a:solidFill>
                <a:latin typeface="Calibri" pitchFamily="34" charset="0"/>
                <a:ea typeface="Calibri" pitchFamily="34" charset="-122"/>
                <a:cs typeface="Calibri" pitchFamily="34" charset="-120"/>
              </a:rPr>
              <a:t>2</a:t>
            </a:r>
            <a:endParaRPr lang="en-US" sz="1150" dirty="0"/>
          </a:p>
        </p:txBody>
      </p:sp>
      <p:sp>
        <p:nvSpPr>
          <p:cNvPr id="15" name="Shape 13"/>
          <p:cNvSpPr/>
          <p:nvPr/>
        </p:nvSpPr>
        <p:spPr>
          <a:xfrm>
            <a:off x="2001547" y="2874058"/>
            <a:ext cx="477465" cy="835564"/>
          </a:xfrm>
          <a:prstGeom prst="line">
            <a:avLst/>
          </a:prstGeom>
          <a:noFill/>
          <a:ln w="19050">
            <a:solidFill>
              <a:srgbClr val="435273"/>
            </a:solidFill>
            <a:prstDash val="solid"/>
          </a:ln>
        </p:spPr>
      </p:sp>
      <p:sp>
        <p:nvSpPr>
          <p:cNvPr id="16" name="Shape 14"/>
          <p:cNvSpPr/>
          <p:nvPr/>
        </p:nvSpPr>
        <p:spPr>
          <a:xfrm>
            <a:off x="2084832" y="3154680"/>
            <a:ext cx="310896" cy="237744"/>
          </a:xfrm>
          <a:prstGeom prst="rect">
            <a:avLst/>
          </a:prstGeom>
          <a:solidFill>
            <a:srgbClr val="F7F9FC"/>
          </a:solidFill>
          <a:ln/>
        </p:spPr>
      </p:sp>
      <p:sp>
        <p:nvSpPr>
          <p:cNvPr id="17" name="Text 15"/>
          <p:cNvSpPr txBox="1"/>
          <p:nvPr/>
        </p:nvSpPr>
        <p:spPr>
          <a:xfrm>
            <a:off x="2084832" y="3154680"/>
            <a:ext cx="310896" cy="237744"/>
          </a:xfrm>
          <a:prstGeom prst="rect">
            <a:avLst/>
          </a:prstGeom>
          <a:noFill/>
          <a:ln/>
        </p:spPr>
        <p:txBody>
          <a:bodyPr wrap="square" rtlCol="0" anchor="ctr"/>
          <a:lstStyle/>
          <a:p>
            <a:pPr marL="0" indent="0" algn="ctr">
              <a:buNone/>
            </a:pPr>
            <a:r>
              <a:rPr lang="en-US" sz="1150" b="1" dirty="0">
                <a:solidFill>
                  <a:srgbClr val="14213D"/>
                </a:solidFill>
                <a:latin typeface="Calibri" pitchFamily="34" charset="0"/>
                <a:ea typeface="Calibri" pitchFamily="34" charset="-122"/>
                <a:cs typeface="Calibri" pitchFamily="34" charset="-120"/>
              </a:rPr>
              <a:t>4</a:t>
            </a:r>
            <a:endParaRPr lang="en-US" sz="1150" dirty="0"/>
          </a:p>
        </p:txBody>
      </p:sp>
      <p:sp>
        <p:nvSpPr>
          <p:cNvPr id="18" name="Shape 16"/>
          <p:cNvSpPr/>
          <p:nvPr/>
        </p:nvSpPr>
        <p:spPr>
          <a:xfrm>
            <a:off x="4111171" y="2904308"/>
            <a:ext cx="98697" cy="592183"/>
          </a:xfrm>
          <a:prstGeom prst="line">
            <a:avLst/>
          </a:prstGeom>
          <a:noFill/>
          <a:ln w="19050">
            <a:solidFill>
              <a:srgbClr val="435273"/>
            </a:solidFill>
            <a:prstDash val="solid"/>
          </a:ln>
        </p:spPr>
      </p:sp>
      <p:sp>
        <p:nvSpPr>
          <p:cNvPr id="19" name="Shape 17"/>
          <p:cNvSpPr/>
          <p:nvPr/>
        </p:nvSpPr>
        <p:spPr>
          <a:xfrm>
            <a:off x="4005072" y="3063240"/>
            <a:ext cx="310896" cy="237744"/>
          </a:xfrm>
          <a:prstGeom prst="rect">
            <a:avLst/>
          </a:prstGeom>
          <a:solidFill>
            <a:srgbClr val="F7F9FC"/>
          </a:solidFill>
          <a:ln/>
        </p:spPr>
      </p:sp>
      <p:sp>
        <p:nvSpPr>
          <p:cNvPr id="20" name="Text 18"/>
          <p:cNvSpPr txBox="1"/>
          <p:nvPr/>
        </p:nvSpPr>
        <p:spPr>
          <a:xfrm>
            <a:off x="4005072" y="3063240"/>
            <a:ext cx="310896" cy="237744"/>
          </a:xfrm>
          <a:prstGeom prst="rect">
            <a:avLst/>
          </a:prstGeom>
          <a:noFill/>
          <a:ln/>
        </p:spPr>
        <p:txBody>
          <a:bodyPr wrap="square" rtlCol="0" anchor="ctr"/>
          <a:lstStyle/>
          <a:p>
            <a:pPr marL="0" indent="0" algn="ctr">
              <a:buNone/>
            </a:pPr>
            <a:r>
              <a:rPr lang="en-US" sz="1150" b="1" dirty="0">
                <a:solidFill>
                  <a:srgbClr val="14213D"/>
                </a:solidFill>
                <a:latin typeface="Calibri" pitchFamily="34" charset="0"/>
                <a:ea typeface="Calibri" pitchFamily="34" charset="-122"/>
                <a:cs typeface="Calibri" pitchFamily="34" charset="-120"/>
              </a:rPr>
              <a:t>1</a:t>
            </a:r>
            <a:endParaRPr lang="en-US" sz="1150" dirty="0"/>
          </a:p>
        </p:txBody>
      </p:sp>
      <p:sp>
        <p:nvSpPr>
          <p:cNvPr id="21" name="Shape 19"/>
          <p:cNvSpPr/>
          <p:nvPr/>
        </p:nvSpPr>
        <p:spPr>
          <a:xfrm>
            <a:off x="1793681" y="4099603"/>
            <a:ext cx="984639" cy="853354"/>
          </a:xfrm>
          <a:prstGeom prst="line">
            <a:avLst/>
          </a:prstGeom>
          <a:noFill/>
          <a:ln w="38100">
            <a:solidFill>
              <a:srgbClr val="C9A227"/>
            </a:solidFill>
            <a:prstDash val="solid"/>
          </a:ln>
        </p:spPr>
      </p:sp>
      <p:sp>
        <p:nvSpPr>
          <p:cNvPr id="22" name="Shape 20"/>
          <p:cNvSpPr/>
          <p:nvPr/>
        </p:nvSpPr>
        <p:spPr>
          <a:xfrm>
            <a:off x="2130552" y="4389120"/>
            <a:ext cx="310896" cy="237744"/>
          </a:xfrm>
          <a:prstGeom prst="rect">
            <a:avLst/>
          </a:prstGeom>
          <a:solidFill>
            <a:srgbClr val="F7F9FC"/>
          </a:solidFill>
          <a:ln/>
        </p:spPr>
      </p:sp>
      <p:sp>
        <p:nvSpPr>
          <p:cNvPr id="23" name="Text 21"/>
          <p:cNvSpPr txBox="1"/>
          <p:nvPr/>
        </p:nvSpPr>
        <p:spPr>
          <a:xfrm>
            <a:off x="2130552" y="4389120"/>
            <a:ext cx="310896" cy="237744"/>
          </a:xfrm>
          <a:prstGeom prst="rect">
            <a:avLst/>
          </a:prstGeom>
          <a:noFill/>
          <a:ln/>
        </p:spPr>
        <p:txBody>
          <a:bodyPr wrap="square" rtlCol="0" anchor="ctr"/>
          <a:lstStyle/>
          <a:p>
            <a:pPr marL="0" indent="0" algn="ctr">
              <a:buNone/>
            </a:pPr>
            <a:r>
              <a:rPr lang="en-US" sz="1150" b="1" dirty="0">
                <a:solidFill>
                  <a:srgbClr val="14213D"/>
                </a:solidFill>
                <a:latin typeface="Calibri" pitchFamily="34" charset="0"/>
                <a:ea typeface="Calibri" pitchFamily="34" charset="-122"/>
                <a:cs typeface="Calibri" pitchFamily="34" charset="-120"/>
              </a:rPr>
              <a:t>3</a:t>
            </a:r>
            <a:endParaRPr lang="en-US" sz="1150" dirty="0"/>
          </a:p>
        </p:txBody>
      </p:sp>
      <p:sp>
        <p:nvSpPr>
          <p:cNvPr id="24" name="Shape 22"/>
          <p:cNvSpPr/>
          <p:nvPr/>
        </p:nvSpPr>
        <p:spPr>
          <a:xfrm>
            <a:off x="2681335" y="4176630"/>
            <a:ext cx="215169" cy="699300"/>
          </a:xfrm>
          <a:prstGeom prst="line">
            <a:avLst/>
          </a:prstGeom>
          <a:noFill/>
          <a:ln w="19050">
            <a:solidFill>
              <a:srgbClr val="435273"/>
            </a:solidFill>
            <a:prstDash val="solid"/>
          </a:ln>
        </p:spPr>
      </p:sp>
      <p:sp>
        <p:nvSpPr>
          <p:cNvPr id="25" name="Shape 23"/>
          <p:cNvSpPr/>
          <p:nvPr/>
        </p:nvSpPr>
        <p:spPr>
          <a:xfrm>
            <a:off x="2633472" y="4389120"/>
            <a:ext cx="310896" cy="237744"/>
          </a:xfrm>
          <a:prstGeom prst="rect">
            <a:avLst/>
          </a:prstGeom>
          <a:solidFill>
            <a:srgbClr val="F7F9FC"/>
          </a:solidFill>
          <a:ln/>
        </p:spPr>
      </p:sp>
      <p:sp>
        <p:nvSpPr>
          <p:cNvPr id="26" name="Text 24"/>
          <p:cNvSpPr txBox="1"/>
          <p:nvPr/>
        </p:nvSpPr>
        <p:spPr>
          <a:xfrm>
            <a:off x="2633472" y="4389120"/>
            <a:ext cx="310896" cy="237744"/>
          </a:xfrm>
          <a:prstGeom prst="rect">
            <a:avLst/>
          </a:prstGeom>
          <a:noFill/>
          <a:ln/>
        </p:spPr>
        <p:txBody>
          <a:bodyPr wrap="square" rtlCol="0" anchor="ctr"/>
          <a:lstStyle/>
          <a:p>
            <a:pPr marL="0" indent="0" algn="ctr">
              <a:buNone/>
            </a:pPr>
            <a:r>
              <a:rPr lang="en-US" sz="1150" b="1" dirty="0">
                <a:solidFill>
                  <a:srgbClr val="14213D"/>
                </a:solidFill>
                <a:latin typeface="Calibri" pitchFamily="34" charset="0"/>
                <a:ea typeface="Calibri" pitchFamily="34" charset="-122"/>
                <a:cs typeface="Calibri" pitchFamily="34" charset="-120"/>
              </a:rPr>
              <a:t>1</a:t>
            </a:r>
            <a:endParaRPr lang="en-US" sz="1150" dirty="0"/>
          </a:p>
        </p:txBody>
      </p:sp>
      <p:sp>
        <p:nvSpPr>
          <p:cNvPr id="27" name="Shape 25"/>
          <p:cNvSpPr/>
          <p:nvPr/>
        </p:nvSpPr>
        <p:spPr>
          <a:xfrm flipH="1">
            <a:off x="3146495" y="3936214"/>
            <a:ext cx="930769" cy="997253"/>
          </a:xfrm>
          <a:prstGeom prst="line">
            <a:avLst/>
          </a:prstGeom>
          <a:noFill/>
          <a:ln w="19050">
            <a:solidFill>
              <a:srgbClr val="435273"/>
            </a:solidFill>
            <a:prstDash val="solid"/>
          </a:ln>
        </p:spPr>
      </p:sp>
      <p:sp>
        <p:nvSpPr>
          <p:cNvPr id="28" name="Shape 26"/>
          <p:cNvSpPr/>
          <p:nvPr/>
        </p:nvSpPr>
        <p:spPr>
          <a:xfrm>
            <a:off x="3456432" y="4297680"/>
            <a:ext cx="310896" cy="237744"/>
          </a:xfrm>
          <a:prstGeom prst="rect">
            <a:avLst/>
          </a:prstGeom>
          <a:solidFill>
            <a:srgbClr val="F7F9FC"/>
          </a:solidFill>
          <a:ln/>
        </p:spPr>
      </p:sp>
      <p:sp>
        <p:nvSpPr>
          <p:cNvPr id="29" name="Text 27"/>
          <p:cNvSpPr txBox="1"/>
          <p:nvPr/>
        </p:nvSpPr>
        <p:spPr>
          <a:xfrm>
            <a:off x="3456432" y="4297680"/>
            <a:ext cx="310896" cy="237744"/>
          </a:xfrm>
          <a:prstGeom prst="rect">
            <a:avLst/>
          </a:prstGeom>
          <a:noFill/>
          <a:ln/>
        </p:spPr>
        <p:txBody>
          <a:bodyPr wrap="square" rtlCol="0" anchor="ctr"/>
          <a:lstStyle/>
          <a:p>
            <a:pPr marL="0" indent="0" algn="ctr">
              <a:buNone/>
            </a:pPr>
            <a:r>
              <a:rPr lang="en-US" sz="1150" b="1" dirty="0">
                <a:solidFill>
                  <a:srgbClr val="14213D"/>
                </a:solidFill>
                <a:latin typeface="Calibri" pitchFamily="34" charset="0"/>
                <a:ea typeface="Calibri" pitchFamily="34" charset="-122"/>
                <a:cs typeface="Calibri" pitchFamily="34" charset="-120"/>
              </a:rPr>
              <a:t>2</a:t>
            </a:r>
            <a:endParaRPr lang="en-US" sz="1150" dirty="0"/>
          </a:p>
        </p:txBody>
      </p:sp>
      <p:sp>
        <p:nvSpPr>
          <p:cNvPr id="30" name="Shape 28"/>
          <p:cNvSpPr/>
          <p:nvPr/>
        </p:nvSpPr>
        <p:spPr>
          <a:xfrm>
            <a:off x="2743200" y="1280160"/>
            <a:ext cx="457200" cy="457200"/>
          </a:xfrm>
          <a:prstGeom prst="ellipse">
            <a:avLst/>
          </a:prstGeom>
          <a:solidFill>
            <a:srgbClr val="14213D"/>
          </a:solidFill>
          <a:ln w="31750">
            <a:solidFill>
              <a:srgbClr val="C9A227"/>
            </a:solidFill>
            <a:prstDash val="solid"/>
          </a:ln>
        </p:spPr>
      </p:sp>
      <p:sp>
        <p:nvSpPr>
          <p:cNvPr id="31" name="Text 29"/>
          <p:cNvSpPr txBox="1"/>
          <p:nvPr/>
        </p:nvSpPr>
        <p:spPr>
          <a:xfrm>
            <a:off x="2743200" y="1280160"/>
            <a:ext cx="457200" cy="45720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32" name="Shape 30"/>
          <p:cNvSpPr/>
          <p:nvPr/>
        </p:nvSpPr>
        <p:spPr>
          <a:xfrm>
            <a:off x="1645920" y="2423160"/>
            <a:ext cx="457200" cy="457200"/>
          </a:xfrm>
          <a:prstGeom prst="ellipse">
            <a:avLst/>
          </a:prstGeom>
          <a:solidFill>
            <a:srgbClr val="FFFFFF"/>
          </a:solidFill>
          <a:ln w="19050">
            <a:solidFill>
              <a:srgbClr val="435273"/>
            </a:solidFill>
            <a:prstDash val="solid"/>
          </a:ln>
        </p:spPr>
      </p:sp>
      <p:sp>
        <p:nvSpPr>
          <p:cNvPr id="33" name="Text 31"/>
          <p:cNvSpPr txBox="1"/>
          <p:nvPr/>
        </p:nvSpPr>
        <p:spPr>
          <a:xfrm>
            <a:off x="1645920" y="2423160"/>
            <a:ext cx="457200" cy="457200"/>
          </a:xfrm>
          <a:prstGeom prst="rect">
            <a:avLst/>
          </a:prstGeom>
          <a:noFill/>
          <a:ln/>
        </p:spPr>
        <p:txBody>
          <a:bodyPr wrap="square" rtlCol="0" anchor="ctr"/>
          <a:lstStyle/>
          <a:p>
            <a:pPr marL="0" indent="0" algn="ctr">
              <a:buNone/>
            </a:pPr>
            <a:r>
              <a:rPr lang="en-US" sz="1200" b="1" dirty="0">
                <a:solidFill>
                  <a:srgbClr val="14213D"/>
                </a:solidFill>
                <a:latin typeface="Calibri" pitchFamily="34" charset="0"/>
                <a:ea typeface="Calibri" pitchFamily="34" charset="-122"/>
                <a:cs typeface="Calibri" pitchFamily="34" charset="-120"/>
              </a:rPr>
              <a:t>B</a:t>
            </a:r>
            <a:endParaRPr lang="en-US" sz="1200" dirty="0"/>
          </a:p>
        </p:txBody>
      </p:sp>
      <p:sp>
        <p:nvSpPr>
          <p:cNvPr id="34" name="Shape 32"/>
          <p:cNvSpPr/>
          <p:nvPr/>
        </p:nvSpPr>
        <p:spPr>
          <a:xfrm>
            <a:off x="3840480" y="2423160"/>
            <a:ext cx="457200" cy="457200"/>
          </a:xfrm>
          <a:prstGeom prst="ellipse">
            <a:avLst/>
          </a:prstGeom>
          <a:solidFill>
            <a:srgbClr val="FFFFFF"/>
          </a:solidFill>
          <a:ln w="19050">
            <a:solidFill>
              <a:srgbClr val="435273"/>
            </a:solidFill>
            <a:prstDash val="solid"/>
          </a:ln>
        </p:spPr>
      </p:sp>
      <p:sp>
        <p:nvSpPr>
          <p:cNvPr id="35" name="Text 33"/>
          <p:cNvSpPr txBox="1"/>
          <p:nvPr/>
        </p:nvSpPr>
        <p:spPr>
          <a:xfrm>
            <a:off x="3840480" y="2423160"/>
            <a:ext cx="457200" cy="457200"/>
          </a:xfrm>
          <a:prstGeom prst="rect">
            <a:avLst/>
          </a:prstGeom>
          <a:noFill/>
          <a:ln/>
        </p:spPr>
        <p:txBody>
          <a:bodyPr wrap="square" rtlCol="0" anchor="ctr"/>
          <a:lstStyle/>
          <a:p>
            <a:pPr marL="0" indent="0" algn="ctr">
              <a:buNone/>
            </a:pPr>
            <a:r>
              <a:rPr lang="en-US" sz="1200" b="1" dirty="0">
                <a:solidFill>
                  <a:srgbClr val="14213D"/>
                </a:solidFill>
                <a:latin typeface="Calibri" pitchFamily="34" charset="0"/>
                <a:ea typeface="Calibri" pitchFamily="34" charset="-122"/>
                <a:cs typeface="Calibri" pitchFamily="34" charset="-120"/>
              </a:rPr>
              <a:t>C</a:t>
            </a:r>
            <a:endParaRPr lang="en-US" sz="1200" dirty="0"/>
          </a:p>
        </p:txBody>
      </p:sp>
      <p:sp>
        <p:nvSpPr>
          <p:cNvPr id="36" name="Shape 34"/>
          <p:cNvSpPr/>
          <p:nvPr/>
        </p:nvSpPr>
        <p:spPr>
          <a:xfrm>
            <a:off x="1371600" y="3703320"/>
            <a:ext cx="457200" cy="457200"/>
          </a:xfrm>
          <a:prstGeom prst="ellipse">
            <a:avLst/>
          </a:prstGeom>
          <a:solidFill>
            <a:srgbClr val="FFFFFF"/>
          </a:solidFill>
          <a:ln w="19050">
            <a:solidFill>
              <a:srgbClr val="435273"/>
            </a:solidFill>
            <a:prstDash val="solid"/>
          </a:ln>
        </p:spPr>
      </p:sp>
      <p:sp>
        <p:nvSpPr>
          <p:cNvPr id="37" name="Text 35"/>
          <p:cNvSpPr txBox="1"/>
          <p:nvPr/>
        </p:nvSpPr>
        <p:spPr>
          <a:xfrm>
            <a:off x="1371600" y="3703320"/>
            <a:ext cx="457200" cy="457200"/>
          </a:xfrm>
          <a:prstGeom prst="rect">
            <a:avLst/>
          </a:prstGeom>
          <a:noFill/>
          <a:ln/>
        </p:spPr>
        <p:txBody>
          <a:bodyPr wrap="square" rtlCol="0" anchor="ctr"/>
          <a:lstStyle/>
          <a:p>
            <a:pPr marL="0" indent="0" algn="ctr">
              <a:buNone/>
            </a:pPr>
            <a:r>
              <a:rPr lang="en-US" sz="1200" b="1" dirty="0">
                <a:solidFill>
                  <a:srgbClr val="14213D"/>
                </a:solidFill>
                <a:latin typeface="Calibri" pitchFamily="34" charset="0"/>
                <a:ea typeface="Calibri" pitchFamily="34" charset="-122"/>
                <a:cs typeface="Calibri" pitchFamily="34" charset="-120"/>
              </a:rPr>
              <a:t>D</a:t>
            </a:r>
            <a:endParaRPr lang="en-US" sz="1200" dirty="0"/>
          </a:p>
        </p:txBody>
      </p:sp>
      <p:sp>
        <p:nvSpPr>
          <p:cNvPr id="38" name="Shape 36"/>
          <p:cNvSpPr/>
          <p:nvPr/>
        </p:nvSpPr>
        <p:spPr>
          <a:xfrm>
            <a:off x="2377440" y="3703320"/>
            <a:ext cx="457200" cy="457200"/>
          </a:xfrm>
          <a:prstGeom prst="ellipse">
            <a:avLst/>
          </a:prstGeom>
          <a:solidFill>
            <a:srgbClr val="FFFFFF"/>
          </a:solidFill>
          <a:ln w="19050">
            <a:solidFill>
              <a:srgbClr val="435273"/>
            </a:solidFill>
            <a:prstDash val="solid"/>
          </a:ln>
        </p:spPr>
      </p:sp>
      <p:sp>
        <p:nvSpPr>
          <p:cNvPr id="39" name="Text 37"/>
          <p:cNvSpPr txBox="1"/>
          <p:nvPr/>
        </p:nvSpPr>
        <p:spPr>
          <a:xfrm>
            <a:off x="2377440" y="3703320"/>
            <a:ext cx="457200" cy="457200"/>
          </a:xfrm>
          <a:prstGeom prst="rect">
            <a:avLst/>
          </a:prstGeom>
          <a:noFill/>
          <a:ln/>
        </p:spPr>
        <p:txBody>
          <a:bodyPr wrap="square" rtlCol="0" anchor="ctr"/>
          <a:lstStyle/>
          <a:p>
            <a:pPr marL="0" indent="0" algn="ctr">
              <a:buNone/>
            </a:pPr>
            <a:r>
              <a:rPr lang="en-US" sz="1200" b="1" dirty="0">
                <a:solidFill>
                  <a:srgbClr val="14213D"/>
                </a:solidFill>
                <a:latin typeface="Calibri" pitchFamily="34" charset="0"/>
                <a:ea typeface="Calibri" pitchFamily="34" charset="-122"/>
                <a:cs typeface="Calibri" pitchFamily="34" charset="-120"/>
              </a:rPr>
              <a:t>E</a:t>
            </a:r>
            <a:endParaRPr lang="en-US" sz="1200" dirty="0"/>
          </a:p>
        </p:txBody>
      </p:sp>
      <p:sp>
        <p:nvSpPr>
          <p:cNvPr id="40" name="Shape 38"/>
          <p:cNvSpPr/>
          <p:nvPr/>
        </p:nvSpPr>
        <p:spPr>
          <a:xfrm>
            <a:off x="4023360" y="3520440"/>
            <a:ext cx="457200" cy="457200"/>
          </a:xfrm>
          <a:prstGeom prst="ellipse">
            <a:avLst/>
          </a:prstGeom>
          <a:solidFill>
            <a:srgbClr val="FFFFFF"/>
          </a:solidFill>
          <a:ln w="19050">
            <a:solidFill>
              <a:srgbClr val="435273"/>
            </a:solidFill>
            <a:prstDash val="solid"/>
          </a:ln>
        </p:spPr>
      </p:sp>
      <p:sp>
        <p:nvSpPr>
          <p:cNvPr id="41" name="Text 39"/>
          <p:cNvSpPr txBox="1"/>
          <p:nvPr/>
        </p:nvSpPr>
        <p:spPr>
          <a:xfrm>
            <a:off x="4023360" y="3520440"/>
            <a:ext cx="457200" cy="457200"/>
          </a:xfrm>
          <a:prstGeom prst="rect">
            <a:avLst/>
          </a:prstGeom>
          <a:noFill/>
          <a:ln/>
        </p:spPr>
        <p:txBody>
          <a:bodyPr wrap="square" rtlCol="0" anchor="ctr"/>
          <a:lstStyle/>
          <a:p>
            <a:pPr marL="0" indent="0" algn="ctr">
              <a:buNone/>
            </a:pPr>
            <a:r>
              <a:rPr lang="en-US" sz="1200" b="1" dirty="0">
                <a:solidFill>
                  <a:srgbClr val="14213D"/>
                </a:solidFill>
                <a:latin typeface="Calibri" pitchFamily="34" charset="0"/>
                <a:ea typeface="Calibri" pitchFamily="34" charset="-122"/>
                <a:cs typeface="Calibri" pitchFamily="34" charset="-120"/>
              </a:rPr>
              <a:t>F</a:t>
            </a:r>
            <a:endParaRPr lang="en-US" sz="1200" dirty="0"/>
          </a:p>
        </p:txBody>
      </p:sp>
      <p:sp>
        <p:nvSpPr>
          <p:cNvPr id="42" name="Shape 40"/>
          <p:cNvSpPr/>
          <p:nvPr/>
        </p:nvSpPr>
        <p:spPr>
          <a:xfrm>
            <a:off x="2743200" y="4892040"/>
            <a:ext cx="457200" cy="457200"/>
          </a:xfrm>
          <a:prstGeom prst="ellipse">
            <a:avLst/>
          </a:prstGeom>
          <a:solidFill>
            <a:srgbClr val="C9A227"/>
          </a:solidFill>
          <a:ln w="25400">
            <a:solidFill>
              <a:srgbClr val="14213D"/>
            </a:solidFill>
            <a:prstDash val="solid"/>
          </a:ln>
        </p:spPr>
      </p:sp>
      <p:sp>
        <p:nvSpPr>
          <p:cNvPr id="43" name="Text 41"/>
          <p:cNvSpPr txBox="1"/>
          <p:nvPr/>
        </p:nvSpPr>
        <p:spPr>
          <a:xfrm>
            <a:off x="2743200" y="4892040"/>
            <a:ext cx="457200" cy="457200"/>
          </a:xfrm>
          <a:prstGeom prst="rect">
            <a:avLst/>
          </a:prstGeom>
          <a:noFill/>
          <a:ln/>
        </p:spPr>
        <p:txBody>
          <a:bodyPr wrap="square" rtlCol="0" anchor="ctr"/>
          <a:lstStyle/>
          <a:p>
            <a:pPr marL="0" indent="0" algn="ctr">
              <a:buNone/>
            </a:pPr>
            <a:r>
              <a:rPr lang="en-US" sz="1200" b="1" dirty="0">
                <a:solidFill>
                  <a:srgbClr val="0A1226"/>
                </a:solidFill>
                <a:latin typeface="Calibri" pitchFamily="34" charset="0"/>
                <a:ea typeface="Calibri" pitchFamily="34" charset="-122"/>
                <a:cs typeface="Calibri" pitchFamily="34" charset="-120"/>
              </a:rPr>
              <a:t>G</a:t>
            </a:r>
            <a:endParaRPr lang="en-US" sz="1200" dirty="0"/>
          </a:p>
        </p:txBody>
      </p:sp>
      <p:graphicFrame>
        <p:nvGraphicFramePr>
          <p:cNvPr id="44" name="Table 0"/>
          <p:cNvGraphicFramePr>
            <a:graphicFrameLocks noGrp="1"/>
          </p:cNvGraphicFramePr>
          <p:nvPr>
            <p:extLst>
              <p:ext uri="{D42A27DB-BD31-4B8C-83A1-F6EECF244321}">
                <p14:modId xmlns:p14="http://schemas.microsoft.com/office/powerpoint/2010/main" val="352660493"/>
              </p:ext>
            </p:extLst>
          </p:nvPr>
        </p:nvGraphicFramePr>
        <p:xfrm>
          <a:off x="5989320" y="1280160"/>
          <a:ext cx="5760720" cy="3757168"/>
        </p:xfrm>
        <a:graphic>
          <a:graphicData uri="http://schemas.openxmlformats.org/drawingml/2006/table">
            <a:tbl>
              <a:tblPr/>
              <a:tblGrid>
                <a:gridCol w="50292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1965960">
                  <a:extLst>
                    <a:ext uri="{9D8B030D-6E8A-4147-A177-3AD203B41FA5}">
                      <a16:colId xmlns:a16="http://schemas.microsoft.com/office/drawing/2014/main" val="20003"/>
                    </a:ext>
                  </a:extLst>
                </a:gridCol>
                <a:gridCol w="1508760">
                  <a:extLst>
                    <a:ext uri="{9D8B030D-6E8A-4147-A177-3AD203B41FA5}">
                      <a16:colId xmlns:a16="http://schemas.microsoft.com/office/drawing/2014/main" val="20004"/>
                    </a:ext>
                  </a:extLst>
                </a:gridCol>
              </a:tblGrid>
              <a:tr h="429768">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Step</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4213D"/>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Expanded</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4213D"/>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g(n)</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4213D"/>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Frontier {node:g}</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4213D"/>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Explored</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429768">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A</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B:2, C:5</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A</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9768">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B</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C:5, D:4, E:6</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A, B</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extLst>
                  <a:ext uri="{0D108BD9-81ED-4DB2-BD59-A6C34878D82A}">
                    <a16:rowId xmlns:a16="http://schemas.microsoft.com/office/drawing/2014/main" val="10002"/>
                  </a:ext>
                </a:extLst>
              </a:tr>
              <a:tr h="429768">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D</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C:5, E:6, G:7</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A, B, D</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9768">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C</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E:6, G:7, F:6</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A, B, D, C</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extLst>
                  <a:ext uri="{0D108BD9-81ED-4DB2-BD59-A6C34878D82A}">
                    <a16:rowId xmlns:a16="http://schemas.microsoft.com/office/drawing/2014/main" val="10004"/>
                  </a:ext>
                </a:extLst>
              </a:tr>
              <a:tr h="429768">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E</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F:6, G:7</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A, B, D, C, E</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9768">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F</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G:7</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A, B, D, C, E, F</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extLst>
                  <a:ext uri="{0D108BD9-81ED-4DB2-BD59-A6C34878D82A}">
                    <a16:rowId xmlns:a16="http://schemas.microsoft.com/office/drawing/2014/main" val="10006"/>
                  </a:ext>
                </a:extLst>
              </a:tr>
              <a:tr h="429768">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G — GOAL</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A, B, D, C, E, F, G</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45" name="Text 42"/>
          <p:cNvSpPr txBox="1"/>
          <p:nvPr/>
        </p:nvSpPr>
        <p:spPr>
          <a:xfrm>
            <a:off x="1280160" y="5577840"/>
            <a:ext cx="4937760" cy="594360"/>
          </a:xfrm>
          <a:prstGeom prst="rect">
            <a:avLst/>
          </a:prstGeom>
          <a:noFill/>
          <a:ln/>
        </p:spPr>
        <p:txBody>
          <a:bodyPr wrap="square" rtlCol="0" anchor="ctr"/>
          <a:lstStyle/>
          <a:p>
            <a:pPr marL="0" indent="0">
              <a:lnSpc>
                <a:spcPct val="120000"/>
              </a:lnSpc>
              <a:buNone/>
            </a:pPr>
            <a:r>
              <a:rPr lang="en-US" sz="1600" b="1" dirty="0">
                <a:solidFill>
                  <a:srgbClr val="14213D"/>
                </a:solidFill>
                <a:latin typeface="Calibri" pitchFamily="34" charset="0"/>
                <a:ea typeface="Calibri" pitchFamily="34" charset="-122"/>
                <a:cs typeface="Calibri" pitchFamily="34" charset="-120"/>
              </a:rPr>
              <a:t>Cheapest path found:  A → B → D → G     total cost = 2 + 2 + 3 = 7</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92608"/>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UNINFORMED SEARCH · UCS</a:t>
            </a:r>
            <a:endParaRPr lang="en-US" sz="1200" dirty="0"/>
          </a:p>
        </p:txBody>
      </p:sp>
      <p:sp>
        <p:nvSpPr>
          <p:cNvPr id="3" name="Text 1"/>
          <p:cNvSpPr txBox="1"/>
          <p:nvPr/>
        </p:nvSpPr>
        <p:spPr>
          <a:xfrm>
            <a:off x="502920" y="621792"/>
            <a:ext cx="11155680" cy="658368"/>
          </a:xfrm>
          <a:prstGeom prst="rect">
            <a:avLst/>
          </a:prstGeom>
          <a:noFill/>
          <a:ln/>
        </p:spPr>
        <p:txBody>
          <a:bodyPr wrap="square" rtlCol="0" anchor="ctr"/>
          <a:lstStyle/>
          <a:p>
            <a:pPr marL="0" indent="0">
              <a:buNone/>
            </a:pPr>
            <a:r>
              <a:rPr lang="en-US" sz="2900" b="1" dirty="0">
                <a:solidFill>
                  <a:srgbClr val="14213D"/>
                </a:solidFill>
                <a:latin typeface="Cambria" pitchFamily="34" charset="0"/>
                <a:ea typeface="Cambria" pitchFamily="34" charset="-122"/>
                <a:cs typeface="Cambria" pitchFamily="34" charset="-120"/>
              </a:rPr>
              <a:t>UCS: Completeness and Optimality</a:t>
            </a:r>
            <a:endParaRPr lang="en-US" sz="2900" dirty="0"/>
          </a:p>
        </p:txBody>
      </p:sp>
      <p:sp>
        <p:nvSpPr>
          <p:cNvPr id="4" name="Text 2"/>
          <p:cNvSpPr txBox="1"/>
          <p:nvPr/>
        </p:nvSpPr>
        <p:spPr>
          <a:xfrm>
            <a:off x="502920" y="6473952"/>
            <a:ext cx="7315200" cy="274320"/>
          </a:xfrm>
          <a:prstGeom prst="rect">
            <a:avLst/>
          </a:prstGeom>
          <a:noFill/>
          <a:ln/>
        </p:spPr>
        <p:txBody>
          <a:bodyPr wrap="square" rtlCol="0" anchor="ctr"/>
          <a:lstStyle/>
          <a:p>
            <a:pPr marL="0" indent="0">
              <a:buNone/>
            </a:pPr>
            <a:r>
              <a:rPr lang="en-US" sz="950" b="1" dirty="0">
                <a:solidFill>
                  <a:srgbClr val="6B7280"/>
                </a:solidFill>
                <a:latin typeface="Calibri" pitchFamily="34" charset="0"/>
                <a:ea typeface="Calibri" pitchFamily="34" charset="-122"/>
                <a:cs typeface="Calibri" pitchFamily="34" charset="-120"/>
              </a:rPr>
              <a:t>Artificial Intelligence</a:t>
            </a:r>
            <a:r>
              <a:rPr lang="en-US" sz="950" dirty="0">
                <a:solidFill>
                  <a:srgbClr val="6B7280"/>
                </a:solidFill>
                <a:latin typeface="Calibri" pitchFamily="34" charset="0"/>
                <a:ea typeface="Calibri" pitchFamily="34" charset="-122"/>
                <a:cs typeface="Calibri" pitchFamily="34" charset="-120"/>
              </a:rPr>
              <a:t>   ·   BS Computer Science   ·   Lecture 3</a:t>
            </a:r>
            <a:endParaRPr lang="en-US" sz="950" dirty="0"/>
          </a:p>
        </p:txBody>
      </p:sp>
      <p:sp>
        <p:nvSpPr>
          <p:cNvPr id="5" name="Text 3"/>
          <p:cNvSpPr txBox="1"/>
          <p:nvPr/>
        </p:nvSpPr>
        <p:spPr>
          <a:xfrm>
            <a:off x="8762695" y="6473952"/>
            <a:ext cx="292608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Dr. Ghulam Ali   ·   34</a:t>
            </a:r>
            <a:endParaRPr lang="en-US" sz="950" dirty="0"/>
          </a:p>
        </p:txBody>
      </p:sp>
      <p:sp>
        <p:nvSpPr>
          <p:cNvPr id="6" name="Shape 4"/>
          <p:cNvSpPr/>
          <p:nvPr/>
        </p:nvSpPr>
        <p:spPr>
          <a:xfrm>
            <a:off x="502920" y="1417320"/>
            <a:ext cx="5440680" cy="566928"/>
          </a:xfrm>
          <a:prstGeom prst="roundRect">
            <a:avLst>
              <a:gd name="adj" fmla="val 12903"/>
            </a:avLst>
          </a:prstGeom>
          <a:solidFill>
            <a:srgbClr val="E4F0EA"/>
          </a:solidFill>
          <a:ln w="12700">
            <a:solidFill>
              <a:srgbClr val="2E6B4F"/>
            </a:solidFill>
            <a:prstDash val="solid"/>
          </a:ln>
        </p:spPr>
      </p:sp>
      <p:sp>
        <p:nvSpPr>
          <p:cNvPr id="7" name="Text 5"/>
          <p:cNvSpPr txBox="1"/>
          <p:nvPr/>
        </p:nvSpPr>
        <p:spPr>
          <a:xfrm>
            <a:off x="640080" y="1472184"/>
            <a:ext cx="1188720" cy="457200"/>
          </a:xfrm>
          <a:prstGeom prst="rect">
            <a:avLst/>
          </a:prstGeom>
          <a:noFill/>
          <a:ln/>
        </p:spPr>
        <p:txBody>
          <a:bodyPr wrap="square" rtlCol="0" anchor="ctr"/>
          <a:lstStyle/>
          <a:p>
            <a:pPr marL="0" indent="0">
              <a:buNone/>
            </a:pPr>
            <a:r>
              <a:rPr lang="en-US" sz="1800" b="1" dirty="0">
                <a:solidFill>
                  <a:srgbClr val="2E6B4F"/>
                </a:solidFill>
                <a:latin typeface="Calibri" pitchFamily="34" charset="0"/>
                <a:ea typeface="Calibri" pitchFamily="34" charset="-122"/>
                <a:cs typeface="Calibri" pitchFamily="34" charset="-120"/>
              </a:rPr>
              <a:t>YES</a:t>
            </a:r>
            <a:endParaRPr lang="en-US" sz="1800" dirty="0"/>
          </a:p>
        </p:txBody>
      </p:sp>
      <p:sp>
        <p:nvSpPr>
          <p:cNvPr id="8" name="Text 6"/>
          <p:cNvSpPr txBox="1"/>
          <p:nvPr/>
        </p:nvSpPr>
        <p:spPr>
          <a:xfrm>
            <a:off x="1874520" y="1472184"/>
            <a:ext cx="3931920" cy="457200"/>
          </a:xfrm>
          <a:prstGeom prst="rect">
            <a:avLst/>
          </a:prstGeom>
          <a:noFill/>
          <a:ln/>
        </p:spPr>
        <p:txBody>
          <a:bodyPr wrap="square" rtlCol="0" anchor="ctr"/>
          <a:lstStyle/>
          <a:p>
            <a:pPr marL="0" indent="0">
              <a:buNone/>
            </a:pPr>
            <a:r>
              <a:rPr lang="en-US" sz="1150" dirty="0">
                <a:solidFill>
                  <a:srgbClr val="1B2333"/>
                </a:solidFill>
                <a:latin typeface="Calibri" pitchFamily="34" charset="0"/>
                <a:ea typeface="Calibri" pitchFamily="34" charset="-122"/>
                <a:cs typeface="Calibri" pitchFamily="34" charset="-120"/>
              </a:rPr>
              <a:t>Completeness — under standard positive step-cost assumptions</a:t>
            </a:r>
            <a:endParaRPr lang="en-US" sz="1150" dirty="0"/>
          </a:p>
        </p:txBody>
      </p:sp>
      <p:sp>
        <p:nvSpPr>
          <p:cNvPr id="9" name="Shape 7"/>
          <p:cNvSpPr/>
          <p:nvPr/>
        </p:nvSpPr>
        <p:spPr>
          <a:xfrm>
            <a:off x="6263640" y="1417320"/>
            <a:ext cx="5440680" cy="566928"/>
          </a:xfrm>
          <a:prstGeom prst="roundRect">
            <a:avLst>
              <a:gd name="adj" fmla="val 12903"/>
            </a:avLst>
          </a:prstGeom>
          <a:solidFill>
            <a:srgbClr val="E4F0EA"/>
          </a:solidFill>
          <a:ln w="12700">
            <a:solidFill>
              <a:srgbClr val="2E6B4F"/>
            </a:solidFill>
            <a:prstDash val="solid"/>
          </a:ln>
        </p:spPr>
      </p:sp>
      <p:sp>
        <p:nvSpPr>
          <p:cNvPr id="10" name="Text 8"/>
          <p:cNvSpPr txBox="1"/>
          <p:nvPr/>
        </p:nvSpPr>
        <p:spPr>
          <a:xfrm>
            <a:off x="6400800" y="1472184"/>
            <a:ext cx="1188720" cy="457200"/>
          </a:xfrm>
          <a:prstGeom prst="rect">
            <a:avLst/>
          </a:prstGeom>
          <a:noFill/>
          <a:ln/>
        </p:spPr>
        <p:txBody>
          <a:bodyPr wrap="square" rtlCol="0" anchor="ctr"/>
          <a:lstStyle/>
          <a:p>
            <a:pPr marL="0" indent="0">
              <a:buNone/>
            </a:pPr>
            <a:r>
              <a:rPr lang="en-US" sz="1800" b="1" dirty="0">
                <a:solidFill>
                  <a:srgbClr val="2E6B4F"/>
                </a:solidFill>
                <a:latin typeface="Calibri" pitchFamily="34" charset="0"/>
                <a:ea typeface="Calibri" pitchFamily="34" charset="-122"/>
                <a:cs typeface="Calibri" pitchFamily="34" charset="-120"/>
              </a:rPr>
              <a:t>YES</a:t>
            </a:r>
            <a:endParaRPr lang="en-US" sz="1800" dirty="0"/>
          </a:p>
        </p:txBody>
      </p:sp>
      <p:sp>
        <p:nvSpPr>
          <p:cNvPr id="11" name="Text 9"/>
          <p:cNvSpPr txBox="1"/>
          <p:nvPr/>
        </p:nvSpPr>
        <p:spPr>
          <a:xfrm>
            <a:off x="7635240" y="1472184"/>
            <a:ext cx="3931920" cy="457200"/>
          </a:xfrm>
          <a:prstGeom prst="rect">
            <a:avLst/>
          </a:prstGeom>
          <a:noFill/>
          <a:ln/>
        </p:spPr>
        <p:txBody>
          <a:bodyPr wrap="square" rtlCol="0" anchor="ctr"/>
          <a:lstStyle/>
          <a:p>
            <a:pPr marL="0" indent="0">
              <a:buNone/>
            </a:pPr>
            <a:r>
              <a:rPr lang="en-US" sz="1150" dirty="0">
                <a:solidFill>
                  <a:srgbClr val="1B2333"/>
                </a:solidFill>
                <a:latin typeface="Calibri" pitchFamily="34" charset="0"/>
                <a:ea typeface="Calibri" pitchFamily="34" charset="-122"/>
                <a:cs typeface="Calibri" pitchFamily="34" charset="-120"/>
              </a:rPr>
              <a:t>Optimality — guaranteed under those same standard conditions</a:t>
            </a:r>
            <a:endParaRPr lang="en-US" sz="1150" dirty="0"/>
          </a:p>
        </p:txBody>
      </p:sp>
      <p:sp>
        <p:nvSpPr>
          <p:cNvPr id="12" name="Text 10"/>
          <p:cNvSpPr txBox="1"/>
          <p:nvPr/>
        </p:nvSpPr>
        <p:spPr>
          <a:xfrm>
            <a:off x="502920" y="2194560"/>
            <a:ext cx="11185855" cy="960120"/>
          </a:xfrm>
          <a:prstGeom prst="rect">
            <a:avLst/>
          </a:prstGeom>
          <a:noFill/>
          <a:ln/>
        </p:spPr>
        <p:txBody>
          <a:bodyPr wrap="square" rtlCol="0" anchor="ctr"/>
          <a:lstStyle/>
          <a:p>
            <a:pPr marL="0" indent="0">
              <a:lnSpc>
                <a:spcPct val="126000"/>
              </a:lnSpc>
              <a:buNone/>
            </a:pPr>
            <a:r>
              <a:rPr lang="en-US" sz="1600" dirty="0">
                <a:solidFill>
                  <a:srgbClr val="1B2333"/>
                </a:solidFill>
                <a:latin typeface="Calibri" pitchFamily="34" charset="0"/>
                <a:ea typeface="Calibri" pitchFamily="34" charset="-122"/>
                <a:cs typeface="Calibri" pitchFamily="34" charset="-120"/>
              </a:rPr>
              <a:t>Why complete?  As long as every step cost is a positive value bounded away from zero, the cumulative cost g(n) strictly increases along every path. UCS therefore cannot loop forever on a bounded-cost search — it will eventually reach and expand any goal at finite cost.</a:t>
            </a:r>
            <a:endParaRPr lang="en-US" sz="1600" dirty="0"/>
          </a:p>
        </p:txBody>
      </p:sp>
      <p:sp>
        <p:nvSpPr>
          <p:cNvPr id="13" name="Text 11"/>
          <p:cNvSpPr txBox="1"/>
          <p:nvPr/>
        </p:nvSpPr>
        <p:spPr>
          <a:xfrm>
            <a:off x="502920" y="3200400"/>
            <a:ext cx="11185855" cy="1005840"/>
          </a:xfrm>
          <a:prstGeom prst="rect">
            <a:avLst/>
          </a:prstGeom>
          <a:noFill/>
          <a:ln/>
        </p:spPr>
        <p:txBody>
          <a:bodyPr wrap="square" rtlCol="0" anchor="ctr"/>
          <a:lstStyle/>
          <a:p>
            <a:pPr marL="0" indent="0">
              <a:lnSpc>
                <a:spcPct val="126000"/>
              </a:lnSpc>
              <a:buNone/>
            </a:pPr>
            <a:r>
              <a:rPr lang="en-US" sz="1600" dirty="0">
                <a:solidFill>
                  <a:srgbClr val="1B2333"/>
                </a:solidFill>
                <a:latin typeface="Calibri" pitchFamily="34" charset="0"/>
                <a:ea typeface="Calibri" pitchFamily="34" charset="-122"/>
                <a:cs typeface="Calibri" pitchFamily="34" charset="-120"/>
              </a:rPr>
              <a:t>Why optimal?  UCS expands nodes in strictly non-decreasing order of g(n). The first time a goal node is popped for expansion, no node remaining in the frontier — and therefore no undiscovered path — can possibly have a lower cost. That first-popped goal must be the cheapest.</a:t>
            </a:r>
            <a:endParaRPr lang="en-US" sz="1600" dirty="0"/>
          </a:p>
        </p:txBody>
      </p:sp>
      <p:sp>
        <p:nvSpPr>
          <p:cNvPr id="14" name="Shape 12"/>
          <p:cNvSpPr/>
          <p:nvPr/>
        </p:nvSpPr>
        <p:spPr>
          <a:xfrm>
            <a:off x="502920" y="4297680"/>
            <a:ext cx="11185855" cy="960120"/>
          </a:xfrm>
          <a:prstGeom prst="roundRect">
            <a:avLst>
              <a:gd name="adj" fmla="val 7619"/>
            </a:avLst>
          </a:prstGeom>
          <a:solidFill>
            <a:srgbClr val="EAEFF8"/>
          </a:solidFill>
          <a:ln/>
        </p:spPr>
      </p:sp>
      <p:sp>
        <p:nvSpPr>
          <p:cNvPr id="15" name="Shape 13"/>
          <p:cNvSpPr/>
          <p:nvPr/>
        </p:nvSpPr>
        <p:spPr>
          <a:xfrm>
            <a:off x="704088" y="4498848"/>
            <a:ext cx="347472" cy="347472"/>
          </a:xfrm>
          <a:prstGeom prst="ellipse">
            <a:avLst/>
          </a:prstGeom>
          <a:solidFill>
            <a:srgbClr val="C9A227"/>
          </a:solidFill>
          <a:ln/>
        </p:spPr>
      </p:sp>
      <p:sp>
        <p:nvSpPr>
          <p:cNvPr id="16" name="Text 14"/>
          <p:cNvSpPr txBox="1"/>
          <p:nvPr/>
        </p:nvSpPr>
        <p:spPr>
          <a:xfrm>
            <a:off x="704088" y="4498848"/>
            <a:ext cx="347472" cy="347472"/>
          </a:xfrm>
          <a:prstGeom prst="rect">
            <a:avLst/>
          </a:prstGeom>
          <a:noFill/>
          <a:ln/>
        </p:spPr>
        <p:txBody>
          <a:bodyPr wrap="none" rtlCol="0" anchor="ctr"/>
          <a:lstStyle/>
          <a:p>
            <a:pPr marL="0" indent="0" algn="ctr">
              <a:buNone/>
            </a:pPr>
            <a:r>
              <a:rPr lang="en-US" sz="1500" b="1" dirty="0">
                <a:solidFill>
                  <a:srgbClr val="0A1226"/>
                </a:solidFill>
                <a:latin typeface="Calibri" pitchFamily="34" charset="0"/>
                <a:ea typeface="Calibri" pitchFamily="34" charset="-122"/>
                <a:cs typeface="Calibri" pitchFamily="34" charset="-120"/>
              </a:rPr>
              <a:t>=</a:t>
            </a:r>
            <a:endParaRPr lang="en-US" sz="1500" dirty="0"/>
          </a:p>
        </p:txBody>
      </p:sp>
      <p:sp>
        <p:nvSpPr>
          <p:cNvPr id="17" name="Text 15"/>
          <p:cNvSpPr txBox="1"/>
          <p:nvPr/>
        </p:nvSpPr>
        <p:spPr>
          <a:xfrm>
            <a:off x="1207008" y="4462272"/>
            <a:ext cx="10280599" cy="310896"/>
          </a:xfrm>
          <a:prstGeom prst="rect">
            <a:avLst/>
          </a:prstGeom>
          <a:noFill/>
          <a:ln/>
        </p:spPr>
        <p:txBody>
          <a:bodyPr wrap="square" rtlCol="0" anchor="ctr"/>
          <a:lstStyle/>
          <a:p>
            <a:pPr marL="0" indent="0">
              <a:buNone/>
            </a:pPr>
            <a:r>
              <a:rPr lang="en-US" sz="1400" b="1" dirty="0">
                <a:solidFill>
                  <a:srgbClr val="14213D"/>
                </a:solidFill>
                <a:latin typeface="Calibri" pitchFamily="34" charset="0"/>
                <a:ea typeface="Calibri" pitchFamily="34" charset="-122"/>
                <a:cs typeface="Calibri" pitchFamily="34" charset="-120"/>
              </a:rPr>
              <a:t>From Slide 33: two equally cheap paths existed</a:t>
            </a:r>
            <a:endParaRPr lang="en-US" sz="1400" dirty="0"/>
          </a:p>
        </p:txBody>
      </p:sp>
      <p:sp>
        <p:nvSpPr>
          <p:cNvPr id="18" name="Text 16"/>
          <p:cNvSpPr txBox="1"/>
          <p:nvPr/>
        </p:nvSpPr>
        <p:spPr>
          <a:xfrm>
            <a:off x="1207008" y="4791456"/>
            <a:ext cx="10280599" cy="429768"/>
          </a:xfrm>
          <a:prstGeom prst="rect">
            <a:avLst/>
          </a:prstGeom>
          <a:noFill/>
          <a:ln/>
        </p:spPr>
        <p:txBody>
          <a:bodyPr wrap="square" rtlCol="0" anchor="t"/>
          <a:lstStyle/>
          <a:p>
            <a:pPr marL="0" indent="0">
              <a:lnSpc>
                <a:spcPct val="112000"/>
              </a:lnSpc>
              <a:buNone/>
            </a:pPr>
            <a:r>
              <a:rPr lang="en-US" sz="1400" dirty="0">
                <a:solidFill>
                  <a:srgbClr val="1B2333"/>
                </a:solidFill>
                <a:latin typeface="Calibri" pitchFamily="34" charset="0"/>
                <a:ea typeface="Calibri" pitchFamily="34" charset="-122"/>
                <a:cs typeface="Calibri" pitchFamily="34" charset="-120"/>
              </a:rPr>
              <a:t>A-B-D-G and A-B-E-G both cost exactly 7. UCS returns whichever is confirmed first (A-B-D-G here) — optimality guarantees a CHEAPEST path, not a uniquely determined one when ties occur.</a:t>
            </a:r>
            <a:endParaRPr lang="en-US" sz="1400" dirty="0"/>
          </a:p>
        </p:txBody>
      </p:sp>
      <p:sp>
        <p:nvSpPr>
          <p:cNvPr id="19" name="Shape 17"/>
          <p:cNvSpPr/>
          <p:nvPr/>
        </p:nvSpPr>
        <p:spPr>
          <a:xfrm>
            <a:off x="502920" y="5394960"/>
            <a:ext cx="11185855" cy="868680"/>
          </a:xfrm>
          <a:prstGeom prst="roundRect">
            <a:avLst>
              <a:gd name="adj" fmla="val 8421"/>
            </a:avLst>
          </a:prstGeom>
          <a:solidFill>
            <a:srgbClr val="EAEFF8"/>
          </a:solidFill>
          <a:ln/>
        </p:spPr>
      </p:sp>
      <p:sp>
        <p:nvSpPr>
          <p:cNvPr id="20" name="Shape 18"/>
          <p:cNvSpPr/>
          <p:nvPr/>
        </p:nvSpPr>
        <p:spPr>
          <a:xfrm>
            <a:off x="704088" y="5596128"/>
            <a:ext cx="347472" cy="347472"/>
          </a:xfrm>
          <a:prstGeom prst="ellipse">
            <a:avLst/>
          </a:prstGeom>
          <a:solidFill>
            <a:srgbClr val="C9A227"/>
          </a:solidFill>
          <a:ln/>
        </p:spPr>
      </p:sp>
      <p:sp>
        <p:nvSpPr>
          <p:cNvPr id="21" name="Text 19"/>
          <p:cNvSpPr txBox="1"/>
          <p:nvPr/>
        </p:nvSpPr>
        <p:spPr>
          <a:xfrm>
            <a:off x="704088" y="5596128"/>
            <a:ext cx="347472" cy="347472"/>
          </a:xfrm>
          <a:prstGeom prst="rect">
            <a:avLst/>
          </a:prstGeom>
          <a:noFill/>
          <a:ln/>
        </p:spPr>
        <p:txBody>
          <a:bodyPr wrap="none" rtlCol="0" anchor="ctr"/>
          <a:lstStyle/>
          <a:p>
            <a:pPr marL="0" indent="0" algn="ctr">
              <a:buNone/>
            </a:pPr>
            <a:r>
              <a:rPr lang="en-US" sz="1500" b="1" dirty="0">
                <a:solidFill>
                  <a:srgbClr val="0A1226"/>
                </a:solidFill>
                <a:latin typeface="Calibri" pitchFamily="34" charset="0"/>
                <a:ea typeface="Calibri" pitchFamily="34" charset="-122"/>
                <a:cs typeface="Calibri" pitchFamily="34" charset="-120"/>
              </a:rPr>
              <a:t>≠</a:t>
            </a:r>
            <a:endParaRPr lang="en-US" sz="1500" dirty="0"/>
          </a:p>
        </p:txBody>
      </p:sp>
      <p:sp>
        <p:nvSpPr>
          <p:cNvPr id="22" name="Text 20"/>
          <p:cNvSpPr txBox="1"/>
          <p:nvPr/>
        </p:nvSpPr>
        <p:spPr>
          <a:xfrm>
            <a:off x="1207008" y="5559552"/>
            <a:ext cx="10280599" cy="310896"/>
          </a:xfrm>
          <a:prstGeom prst="rect">
            <a:avLst/>
          </a:prstGeom>
          <a:noFill/>
          <a:ln/>
        </p:spPr>
        <p:txBody>
          <a:bodyPr wrap="square" rtlCol="0" anchor="ctr"/>
          <a:lstStyle/>
          <a:p>
            <a:pPr marL="0" indent="0">
              <a:buNone/>
            </a:pPr>
            <a:r>
              <a:rPr lang="en-US" sz="1400" b="1" dirty="0">
                <a:solidFill>
                  <a:srgbClr val="14213D"/>
                </a:solidFill>
                <a:latin typeface="Calibri" pitchFamily="34" charset="0"/>
                <a:ea typeface="Calibri" pitchFamily="34" charset="-122"/>
                <a:cs typeface="Calibri" pitchFamily="34" charset="-120"/>
              </a:rPr>
              <a:t>Cheapest ≠ shallowest</a:t>
            </a:r>
            <a:endParaRPr lang="en-US" sz="1400" dirty="0"/>
          </a:p>
        </p:txBody>
      </p:sp>
      <p:sp>
        <p:nvSpPr>
          <p:cNvPr id="23" name="Text 21"/>
          <p:cNvSpPr txBox="1"/>
          <p:nvPr/>
        </p:nvSpPr>
        <p:spPr>
          <a:xfrm>
            <a:off x="1207008" y="5888736"/>
            <a:ext cx="10280599" cy="338328"/>
          </a:xfrm>
          <a:prstGeom prst="rect">
            <a:avLst/>
          </a:prstGeom>
          <a:noFill/>
          <a:ln/>
        </p:spPr>
        <p:txBody>
          <a:bodyPr wrap="square" rtlCol="0" anchor="t"/>
          <a:lstStyle/>
          <a:p>
            <a:pPr marL="0" indent="0">
              <a:lnSpc>
                <a:spcPct val="112000"/>
              </a:lnSpc>
              <a:buNone/>
            </a:pPr>
            <a:r>
              <a:rPr lang="en-US" sz="1400" dirty="0">
                <a:solidFill>
                  <a:srgbClr val="1B2333"/>
                </a:solidFill>
                <a:latin typeface="Calibri" pitchFamily="34" charset="0"/>
                <a:ea typeface="Calibri" pitchFamily="34" charset="-122"/>
                <a:cs typeface="Calibri" pitchFamily="34" charset="-120"/>
              </a:rPr>
              <a:t>UCS guarantees the least-cost solution — not the solution with the fewest actions. A deeper (more edges) solution is returned whenever it is cheaper, exactly as in Slide 30.</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92608"/>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COMPARISON AND ANALYSIS</a:t>
            </a:r>
            <a:endParaRPr lang="en-US" sz="1200" dirty="0"/>
          </a:p>
        </p:txBody>
      </p:sp>
      <p:sp>
        <p:nvSpPr>
          <p:cNvPr id="3" name="Text 1"/>
          <p:cNvSpPr txBox="1"/>
          <p:nvPr/>
        </p:nvSpPr>
        <p:spPr>
          <a:xfrm>
            <a:off x="502920" y="621792"/>
            <a:ext cx="11155680" cy="658368"/>
          </a:xfrm>
          <a:prstGeom prst="rect">
            <a:avLst/>
          </a:prstGeom>
          <a:noFill/>
          <a:ln/>
        </p:spPr>
        <p:txBody>
          <a:bodyPr wrap="square" rtlCol="0" anchor="ctr"/>
          <a:lstStyle/>
          <a:p>
            <a:pPr marL="0" indent="0">
              <a:buNone/>
            </a:pPr>
            <a:r>
              <a:rPr lang="en-US" sz="2900" b="1" dirty="0">
                <a:solidFill>
                  <a:srgbClr val="14213D"/>
                </a:solidFill>
                <a:latin typeface="Cambria" pitchFamily="34" charset="0"/>
                <a:ea typeface="Cambria" pitchFamily="34" charset="-122"/>
                <a:cs typeface="Cambria" pitchFamily="34" charset="-120"/>
              </a:rPr>
              <a:t>Completeness vs. Optimality</a:t>
            </a:r>
            <a:endParaRPr lang="en-US" sz="2900" dirty="0"/>
          </a:p>
        </p:txBody>
      </p:sp>
      <p:sp>
        <p:nvSpPr>
          <p:cNvPr id="4" name="Text 2"/>
          <p:cNvSpPr txBox="1"/>
          <p:nvPr/>
        </p:nvSpPr>
        <p:spPr>
          <a:xfrm>
            <a:off x="502920" y="6473952"/>
            <a:ext cx="7315200" cy="274320"/>
          </a:xfrm>
          <a:prstGeom prst="rect">
            <a:avLst/>
          </a:prstGeom>
          <a:noFill/>
          <a:ln/>
        </p:spPr>
        <p:txBody>
          <a:bodyPr wrap="square" rtlCol="0" anchor="ctr"/>
          <a:lstStyle/>
          <a:p>
            <a:pPr marL="0" indent="0">
              <a:buNone/>
            </a:pPr>
            <a:r>
              <a:rPr lang="en-US" sz="950" b="1" dirty="0">
                <a:solidFill>
                  <a:srgbClr val="6B7280"/>
                </a:solidFill>
                <a:latin typeface="Calibri" pitchFamily="34" charset="0"/>
                <a:ea typeface="Calibri" pitchFamily="34" charset="-122"/>
                <a:cs typeface="Calibri" pitchFamily="34" charset="-120"/>
              </a:rPr>
              <a:t>Artificial Intelligence</a:t>
            </a:r>
            <a:r>
              <a:rPr lang="en-US" sz="950" dirty="0">
                <a:solidFill>
                  <a:srgbClr val="6B7280"/>
                </a:solidFill>
                <a:latin typeface="Calibri" pitchFamily="34" charset="0"/>
                <a:ea typeface="Calibri" pitchFamily="34" charset="-122"/>
                <a:cs typeface="Calibri" pitchFamily="34" charset="-120"/>
              </a:rPr>
              <a:t>   ·   BS Computer Science   ·   Lecture 3</a:t>
            </a:r>
            <a:endParaRPr lang="en-US" sz="950" dirty="0"/>
          </a:p>
        </p:txBody>
      </p:sp>
      <p:sp>
        <p:nvSpPr>
          <p:cNvPr id="5" name="Text 3"/>
          <p:cNvSpPr txBox="1"/>
          <p:nvPr/>
        </p:nvSpPr>
        <p:spPr>
          <a:xfrm>
            <a:off x="8762695" y="6473952"/>
            <a:ext cx="292608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Dr. Ghulam Ali   ·   35</a:t>
            </a:r>
            <a:endParaRPr lang="en-US" sz="950" dirty="0"/>
          </a:p>
        </p:txBody>
      </p:sp>
      <p:sp>
        <p:nvSpPr>
          <p:cNvPr id="6" name="Shape 4"/>
          <p:cNvSpPr/>
          <p:nvPr/>
        </p:nvSpPr>
        <p:spPr>
          <a:xfrm>
            <a:off x="502920" y="1417320"/>
            <a:ext cx="5440680" cy="2194560"/>
          </a:xfrm>
          <a:prstGeom prst="roundRect">
            <a:avLst>
              <a:gd name="adj" fmla="val 3333"/>
            </a:avLst>
          </a:prstGeom>
          <a:solidFill>
            <a:srgbClr val="EAEFF8"/>
          </a:solidFill>
          <a:ln/>
        </p:spPr>
      </p:sp>
      <p:sp>
        <p:nvSpPr>
          <p:cNvPr id="7" name="Shape 5"/>
          <p:cNvSpPr/>
          <p:nvPr/>
        </p:nvSpPr>
        <p:spPr>
          <a:xfrm>
            <a:off x="704088" y="1618488"/>
            <a:ext cx="347472" cy="347472"/>
          </a:xfrm>
          <a:prstGeom prst="ellipse">
            <a:avLst/>
          </a:prstGeom>
          <a:solidFill>
            <a:srgbClr val="C9A227"/>
          </a:solidFill>
          <a:ln/>
        </p:spPr>
      </p:sp>
      <p:sp>
        <p:nvSpPr>
          <p:cNvPr id="8" name="Text 6"/>
          <p:cNvSpPr txBox="1"/>
          <p:nvPr/>
        </p:nvSpPr>
        <p:spPr>
          <a:xfrm>
            <a:off x="704088" y="1618488"/>
            <a:ext cx="347472" cy="347472"/>
          </a:xfrm>
          <a:prstGeom prst="rect">
            <a:avLst/>
          </a:prstGeom>
          <a:noFill/>
          <a:ln/>
        </p:spPr>
        <p:txBody>
          <a:bodyPr wrap="none" rtlCol="0" anchor="ctr"/>
          <a:lstStyle/>
          <a:p>
            <a:pPr marL="0" indent="0" algn="ctr">
              <a:buNone/>
            </a:pPr>
            <a:r>
              <a:rPr lang="en-US" sz="1500" b="1" dirty="0">
                <a:solidFill>
                  <a:srgbClr val="0A1226"/>
                </a:solidFill>
                <a:latin typeface="Calibri" pitchFamily="34" charset="0"/>
                <a:ea typeface="Calibri" pitchFamily="34" charset="-122"/>
                <a:cs typeface="Calibri" pitchFamily="34" charset="-120"/>
              </a:rPr>
              <a:t>∃</a:t>
            </a:r>
            <a:endParaRPr lang="en-US" sz="1500" dirty="0"/>
          </a:p>
        </p:txBody>
      </p:sp>
      <p:sp>
        <p:nvSpPr>
          <p:cNvPr id="9" name="Text 7"/>
          <p:cNvSpPr txBox="1"/>
          <p:nvPr/>
        </p:nvSpPr>
        <p:spPr>
          <a:xfrm>
            <a:off x="1207008" y="1581912"/>
            <a:ext cx="4535424" cy="310896"/>
          </a:xfrm>
          <a:prstGeom prst="rect">
            <a:avLst/>
          </a:prstGeom>
          <a:noFill/>
          <a:ln/>
        </p:spPr>
        <p:txBody>
          <a:bodyPr wrap="square" rtlCol="0" anchor="ctr"/>
          <a:lstStyle/>
          <a:p>
            <a:pPr marL="0" indent="0">
              <a:buNone/>
            </a:pPr>
            <a:r>
              <a:rPr lang="en-US" sz="1500" b="1" dirty="0">
                <a:solidFill>
                  <a:srgbClr val="14213D"/>
                </a:solidFill>
                <a:latin typeface="Calibri" pitchFamily="34" charset="0"/>
                <a:ea typeface="Calibri" pitchFamily="34" charset="-122"/>
                <a:cs typeface="Calibri" pitchFamily="34" charset="-120"/>
              </a:rPr>
              <a:t>Completeness</a:t>
            </a:r>
            <a:endParaRPr lang="en-US" sz="1500" dirty="0"/>
          </a:p>
        </p:txBody>
      </p:sp>
      <p:sp>
        <p:nvSpPr>
          <p:cNvPr id="10" name="Text 8"/>
          <p:cNvSpPr txBox="1"/>
          <p:nvPr/>
        </p:nvSpPr>
        <p:spPr>
          <a:xfrm>
            <a:off x="1207008" y="1911096"/>
            <a:ext cx="4535424" cy="1664208"/>
          </a:xfrm>
          <a:prstGeom prst="rect">
            <a:avLst/>
          </a:prstGeom>
          <a:noFill/>
          <a:ln/>
        </p:spPr>
        <p:txBody>
          <a:bodyPr wrap="square" rtlCol="0" anchor="t"/>
          <a:lstStyle/>
          <a:p>
            <a:pPr marL="0" indent="0">
              <a:lnSpc>
                <a:spcPct val="112000"/>
              </a:lnSpc>
              <a:buNone/>
            </a:pPr>
            <a:r>
              <a:rPr lang="en-US" sz="1600" dirty="0">
                <a:solidFill>
                  <a:srgbClr val="1B2333"/>
                </a:solidFill>
                <a:latin typeface="Calibri" pitchFamily="34" charset="0"/>
                <a:ea typeface="Calibri" pitchFamily="34" charset="-122"/>
                <a:cs typeface="Calibri" pitchFamily="34" charset="-120"/>
              </a:rPr>
              <a:t>"Will the algorithm find A solution, if one exists at all?" This asks only about SUCCESS — it says nothing about the quality of what is found. An algorithm can be complete yet return a poor solution.</a:t>
            </a:r>
            <a:endParaRPr lang="en-US" sz="1600" dirty="0"/>
          </a:p>
        </p:txBody>
      </p:sp>
      <p:sp>
        <p:nvSpPr>
          <p:cNvPr id="11" name="Shape 9"/>
          <p:cNvSpPr/>
          <p:nvPr/>
        </p:nvSpPr>
        <p:spPr>
          <a:xfrm>
            <a:off x="6263640" y="1417320"/>
            <a:ext cx="5440680" cy="2194560"/>
          </a:xfrm>
          <a:prstGeom prst="roundRect">
            <a:avLst>
              <a:gd name="adj" fmla="val 3333"/>
            </a:avLst>
          </a:prstGeom>
          <a:solidFill>
            <a:srgbClr val="EAEFF8"/>
          </a:solidFill>
          <a:ln/>
        </p:spPr>
      </p:sp>
      <p:sp>
        <p:nvSpPr>
          <p:cNvPr id="12" name="Shape 10"/>
          <p:cNvSpPr/>
          <p:nvPr/>
        </p:nvSpPr>
        <p:spPr>
          <a:xfrm>
            <a:off x="6464808" y="1618488"/>
            <a:ext cx="512064" cy="512064"/>
          </a:xfrm>
          <a:prstGeom prst="ellipse">
            <a:avLst/>
          </a:prstGeom>
          <a:solidFill>
            <a:srgbClr val="C9A227"/>
          </a:solidFill>
          <a:ln/>
        </p:spPr>
      </p:sp>
      <p:sp>
        <p:nvSpPr>
          <p:cNvPr id="13" name="Text 11"/>
          <p:cNvSpPr txBox="1"/>
          <p:nvPr/>
        </p:nvSpPr>
        <p:spPr>
          <a:xfrm>
            <a:off x="6464808" y="1618488"/>
            <a:ext cx="512064" cy="512064"/>
          </a:xfrm>
          <a:prstGeom prst="rect">
            <a:avLst/>
          </a:prstGeom>
          <a:noFill/>
          <a:ln/>
        </p:spPr>
        <p:txBody>
          <a:bodyPr wrap="none" rtlCol="0" anchor="ctr"/>
          <a:lstStyle/>
          <a:p>
            <a:pPr marL="0" indent="0" algn="ctr">
              <a:buNone/>
            </a:pPr>
            <a:r>
              <a:rPr lang="en-US" sz="950" b="1" dirty="0">
                <a:solidFill>
                  <a:srgbClr val="0A1226"/>
                </a:solidFill>
                <a:latin typeface="Calibri" pitchFamily="34" charset="0"/>
                <a:ea typeface="Calibri" pitchFamily="34" charset="-122"/>
                <a:cs typeface="Calibri" pitchFamily="34" charset="-120"/>
              </a:rPr>
              <a:t>min</a:t>
            </a:r>
            <a:endParaRPr lang="en-US" sz="950" dirty="0"/>
          </a:p>
        </p:txBody>
      </p:sp>
      <p:sp>
        <p:nvSpPr>
          <p:cNvPr id="14" name="Text 12"/>
          <p:cNvSpPr txBox="1"/>
          <p:nvPr/>
        </p:nvSpPr>
        <p:spPr>
          <a:xfrm>
            <a:off x="7132320" y="1581912"/>
            <a:ext cx="4370832" cy="310896"/>
          </a:xfrm>
          <a:prstGeom prst="rect">
            <a:avLst/>
          </a:prstGeom>
          <a:noFill/>
          <a:ln/>
        </p:spPr>
        <p:txBody>
          <a:bodyPr wrap="square" rtlCol="0" anchor="ctr"/>
          <a:lstStyle/>
          <a:p>
            <a:pPr marL="0" indent="0">
              <a:buNone/>
            </a:pPr>
            <a:r>
              <a:rPr lang="en-US" sz="1500" b="1" dirty="0">
                <a:solidFill>
                  <a:srgbClr val="14213D"/>
                </a:solidFill>
                <a:latin typeface="Calibri" pitchFamily="34" charset="0"/>
                <a:ea typeface="Calibri" pitchFamily="34" charset="-122"/>
                <a:cs typeface="Calibri" pitchFamily="34" charset="-120"/>
              </a:rPr>
              <a:t>Optimality</a:t>
            </a:r>
            <a:endParaRPr lang="en-US" sz="1500" dirty="0"/>
          </a:p>
        </p:txBody>
      </p:sp>
      <p:sp>
        <p:nvSpPr>
          <p:cNvPr id="15" name="Text 13"/>
          <p:cNvSpPr txBox="1"/>
          <p:nvPr/>
        </p:nvSpPr>
        <p:spPr>
          <a:xfrm>
            <a:off x="7132320" y="1911096"/>
            <a:ext cx="4370832" cy="1664208"/>
          </a:xfrm>
          <a:prstGeom prst="rect">
            <a:avLst/>
          </a:prstGeom>
          <a:noFill/>
          <a:ln/>
        </p:spPr>
        <p:txBody>
          <a:bodyPr wrap="square" rtlCol="0" anchor="t"/>
          <a:lstStyle/>
          <a:p>
            <a:pPr marL="0" indent="0">
              <a:lnSpc>
                <a:spcPct val="112000"/>
              </a:lnSpc>
              <a:buNone/>
            </a:pPr>
            <a:r>
              <a:rPr lang="en-US" sz="1400" dirty="0">
                <a:solidFill>
                  <a:srgbClr val="1B2333"/>
                </a:solidFill>
                <a:latin typeface="Calibri" pitchFamily="34" charset="0"/>
                <a:ea typeface="Calibri" pitchFamily="34" charset="-122"/>
                <a:cs typeface="Calibri" pitchFamily="34" charset="-120"/>
              </a:rPr>
              <a:t>"Will the algorithm find the BEST (least-cost) solution?" This is a strictly stronger requirement — it asks about quality, and it can only be asked of an algorithm that is already complete.</a:t>
            </a:r>
            <a:endParaRPr lang="en-US" sz="14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02920" y="3840480"/>
          <a:ext cx="10927080" cy="1901952"/>
        </p:xfrm>
        <a:graphic>
          <a:graphicData uri="http://schemas.openxmlformats.org/drawingml/2006/table">
            <a:tbl>
              <a:tblPr/>
              <a:tblGrid>
                <a:gridCol w="11887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331720">
                  <a:extLst>
                    <a:ext uri="{9D8B030D-6E8A-4147-A177-3AD203B41FA5}">
                      <a16:colId xmlns:a16="http://schemas.microsoft.com/office/drawing/2014/main" val="20002"/>
                    </a:ext>
                  </a:extLst>
                </a:gridCol>
                <a:gridCol w="5394960">
                  <a:extLst>
                    <a:ext uri="{9D8B030D-6E8A-4147-A177-3AD203B41FA5}">
                      <a16:colId xmlns:a16="http://schemas.microsoft.com/office/drawing/2014/main" val="20003"/>
                    </a:ext>
                  </a:extLst>
                </a:gridCol>
              </a:tblGrid>
              <a:tr h="475488">
                <a:tc>
                  <a:txBody>
                    <a:bodyPr/>
                    <a:lstStyle/>
                    <a:p>
                      <a:pPr marL="0" indent="0" algn="l">
                        <a:buNone/>
                      </a:pPr>
                      <a:endParaRPr lang="en-US" sz="12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4213D"/>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Complete?</a:t>
                      </a:r>
                      <a:endParaRPr lang="en-US" sz="12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4213D"/>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Optimal?</a:t>
                      </a:r>
                      <a:endParaRPr lang="en-US" sz="12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4213D"/>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Illustration</a:t>
                      </a:r>
                      <a:endParaRPr lang="en-US" sz="12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475488">
                <a:tc>
                  <a:txBody>
                    <a:bodyPr/>
                    <a:lstStyle/>
                    <a:p>
                      <a:pPr marL="0" indent="0" algn="l">
                        <a:buNone/>
                      </a:pPr>
                      <a:r>
                        <a:rPr lang="en-US" sz="1200" dirty="0">
                          <a:solidFill>
                            <a:srgbClr val="1B2333"/>
                          </a:solidFill>
                          <a:latin typeface="Calibri" pitchFamily="34" charset="0"/>
                          <a:ea typeface="Calibri" pitchFamily="34" charset="-122"/>
                          <a:cs typeface="Calibri" pitchFamily="34" charset="-120"/>
                        </a:rPr>
                        <a:t>BFS</a:t>
                      </a:r>
                      <a:endParaRPr lang="en-US" sz="12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333"/>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333"/>
                          </a:solidFill>
                          <a:latin typeface="Calibri" pitchFamily="34" charset="0"/>
                          <a:ea typeface="Calibri" pitchFamily="34" charset="-122"/>
                          <a:cs typeface="Calibri" pitchFamily="34" charset="-120"/>
                        </a:rPr>
                        <a:t>Yes, if uniform cost</a:t>
                      </a:r>
                      <a:endParaRPr lang="en-US" sz="12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333"/>
                          </a:solidFill>
                          <a:latin typeface="Calibri" pitchFamily="34" charset="0"/>
                          <a:ea typeface="Calibri" pitchFamily="34" charset="-122"/>
                          <a:cs typeface="Calibri" pitchFamily="34" charset="-120"/>
                        </a:rPr>
                        <a:t>Finds shortest-depth solution first</a:t>
                      </a:r>
                      <a:endParaRPr lang="en-US" sz="12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l">
                        <a:buNone/>
                      </a:pPr>
                      <a:r>
                        <a:rPr lang="en-US" sz="1200" dirty="0">
                          <a:solidFill>
                            <a:srgbClr val="1B2333"/>
                          </a:solidFill>
                          <a:latin typeface="Calibri" pitchFamily="34" charset="0"/>
                          <a:ea typeface="Calibri" pitchFamily="34" charset="-122"/>
                          <a:cs typeface="Calibri" pitchFamily="34" charset="-120"/>
                        </a:rPr>
                        <a:t>DFS</a:t>
                      </a:r>
                      <a:endParaRPr lang="en-US" sz="12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200" dirty="0">
                          <a:solidFill>
                            <a:srgbClr val="1B2333"/>
                          </a:solidFill>
                          <a:latin typeface="Calibri" pitchFamily="34" charset="0"/>
                          <a:ea typeface="Calibri" pitchFamily="34" charset="-122"/>
                          <a:cs typeface="Calibri" pitchFamily="34" charset="-120"/>
                        </a:rPr>
                        <a:t>Not guaranteed</a:t>
                      </a:r>
                      <a:endParaRPr lang="en-US" sz="12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200" dirty="0">
                          <a:solidFill>
                            <a:srgbClr val="1B2333"/>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200" dirty="0">
                          <a:solidFill>
                            <a:srgbClr val="1B2333"/>
                          </a:solidFill>
                          <a:latin typeface="Calibri" pitchFamily="34" charset="0"/>
                          <a:ea typeface="Calibri" pitchFamily="34" charset="-122"/>
                          <a:cs typeface="Calibri" pitchFamily="34" charset="-120"/>
                        </a:rPr>
                        <a:t>May return the first solution reached, regardless of cost</a:t>
                      </a:r>
                      <a:endParaRPr lang="en-US" sz="12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extLst>
                  <a:ext uri="{0D108BD9-81ED-4DB2-BD59-A6C34878D82A}">
                    <a16:rowId xmlns:a16="http://schemas.microsoft.com/office/drawing/2014/main" val="10002"/>
                  </a:ext>
                </a:extLst>
              </a:tr>
              <a:tr h="475488">
                <a:tc>
                  <a:txBody>
                    <a:bodyPr/>
                    <a:lstStyle/>
                    <a:p>
                      <a:pPr marL="0" indent="0" algn="l">
                        <a:buNone/>
                      </a:pPr>
                      <a:r>
                        <a:rPr lang="en-US" sz="1200" dirty="0">
                          <a:solidFill>
                            <a:srgbClr val="1B2333"/>
                          </a:solidFill>
                          <a:latin typeface="Calibri" pitchFamily="34" charset="0"/>
                          <a:ea typeface="Calibri" pitchFamily="34" charset="-122"/>
                          <a:cs typeface="Calibri" pitchFamily="34" charset="-120"/>
                        </a:rPr>
                        <a:t>UCS</a:t>
                      </a:r>
                      <a:endParaRPr lang="en-US" sz="12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333"/>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333"/>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333"/>
                          </a:solidFill>
                          <a:latin typeface="Calibri" pitchFamily="34" charset="0"/>
                          <a:ea typeface="Calibri" pitchFamily="34" charset="-122"/>
                          <a:cs typeface="Calibri" pitchFamily="34" charset="-120"/>
                        </a:rPr>
                        <a:t>Finds least-cost solution, whatever its depth</a:t>
                      </a:r>
                      <a:endParaRPr lang="en-US" sz="12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7" name="Text 14"/>
          <p:cNvSpPr txBox="1"/>
          <p:nvPr/>
        </p:nvSpPr>
        <p:spPr>
          <a:xfrm>
            <a:off x="502920" y="5897880"/>
            <a:ext cx="11185855" cy="685800"/>
          </a:xfrm>
          <a:prstGeom prst="rect">
            <a:avLst/>
          </a:prstGeom>
          <a:noFill/>
          <a:ln/>
        </p:spPr>
        <p:txBody>
          <a:bodyPr wrap="square" rtlCol="0" anchor="ctr"/>
          <a:lstStyle/>
          <a:p>
            <a:pPr marL="0" indent="0">
              <a:lnSpc>
                <a:spcPct val="125000"/>
              </a:lnSpc>
              <a:buNone/>
            </a:pPr>
            <a:r>
              <a:rPr lang="en-US" sz="1200" i="1" dirty="0">
                <a:solidFill>
                  <a:srgbClr val="435273"/>
                </a:solidFill>
                <a:latin typeface="Calibri" pitchFamily="34" charset="0"/>
                <a:ea typeface="Calibri" pitchFamily="34" charset="-122"/>
                <a:cs typeface="Calibri" pitchFamily="34" charset="-120"/>
              </a:rPr>
              <a:t>These are two independent properties — an algorithm can have either, both, or neither. Confusing 'finds a solution' with 'finds the best solution' is one of the most common errors in evaluating search strategies.</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92608"/>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COMPARISON AND ANALYSIS</a:t>
            </a:r>
            <a:endParaRPr lang="en-US" sz="1200" dirty="0"/>
          </a:p>
        </p:txBody>
      </p:sp>
      <p:sp>
        <p:nvSpPr>
          <p:cNvPr id="3" name="Text 1"/>
          <p:cNvSpPr txBox="1"/>
          <p:nvPr/>
        </p:nvSpPr>
        <p:spPr>
          <a:xfrm>
            <a:off x="502920" y="621792"/>
            <a:ext cx="11155680" cy="658368"/>
          </a:xfrm>
          <a:prstGeom prst="rect">
            <a:avLst/>
          </a:prstGeom>
          <a:noFill/>
          <a:ln/>
        </p:spPr>
        <p:txBody>
          <a:bodyPr wrap="square" rtlCol="0" anchor="ctr"/>
          <a:lstStyle/>
          <a:p>
            <a:pPr marL="0" indent="0">
              <a:buNone/>
            </a:pPr>
            <a:r>
              <a:rPr lang="en-US" sz="2900" b="1" dirty="0">
                <a:solidFill>
                  <a:srgbClr val="14213D"/>
                </a:solidFill>
                <a:latin typeface="Cambria" pitchFamily="34" charset="0"/>
                <a:ea typeface="Cambria" pitchFamily="34" charset="-122"/>
                <a:cs typeface="Cambria" pitchFamily="34" charset="-120"/>
              </a:rPr>
              <a:t>BFS vs. DFS vs. UCS — Master Comparison</a:t>
            </a:r>
            <a:endParaRPr lang="en-US" sz="2900" dirty="0"/>
          </a:p>
        </p:txBody>
      </p:sp>
      <p:sp>
        <p:nvSpPr>
          <p:cNvPr id="4" name="Text 2"/>
          <p:cNvSpPr txBox="1"/>
          <p:nvPr/>
        </p:nvSpPr>
        <p:spPr>
          <a:xfrm>
            <a:off x="502920" y="6473952"/>
            <a:ext cx="7315200" cy="274320"/>
          </a:xfrm>
          <a:prstGeom prst="rect">
            <a:avLst/>
          </a:prstGeom>
          <a:noFill/>
          <a:ln/>
        </p:spPr>
        <p:txBody>
          <a:bodyPr wrap="square" rtlCol="0" anchor="ctr"/>
          <a:lstStyle/>
          <a:p>
            <a:pPr marL="0" indent="0">
              <a:buNone/>
            </a:pPr>
            <a:r>
              <a:rPr lang="en-US" sz="950" b="1" dirty="0">
                <a:solidFill>
                  <a:srgbClr val="6B7280"/>
                </a:solidFill>
                <a:latin typeface="Calibri" pitchFamily="34" charset="0"/>
                <a:ea typeface="Calibri" pitchFamily="34" charset="-122"/>
                <a:cs typeface="Calibri" pitchFamily="34" charset="-120"/>
              </a:rPr>
              <a:t>Artificial Intelligence</a:t>
            </a:r>
            <a:r>
              <a:rPr lang="en-US" sz="950" dirty="0">
                <a:solidFill>
                  <a:srgbClr val="6B7280"/>
                </a:solidFill>
                <a:latin typeface="Calibri" pitchFamily="34" charset="0"/>
                <a:ea typeface="Calibri" pitchFamily="34" charset="-122"/>
                <a:cs typeface="Calibri" pitchFamily="34" charset="-120"/>
              </a:rPr>
              <a:t>   ·   BS Computer Science   ·   Lecture 3</a:t>
            </a:r>
            <a:endParaRPr lang="en-US" sz="950" dirty="0"/>
          </a:p>
        </p:txBody>
      </p:sp>
      <p:sp>
        <p:nvSpPr>
          <p:cNvPr id="5" name="Text 3"/>
          <p:cNvSpPr txBox="1"/>
          <p:nvPr/>
        </p:nvSpPr>
        <p:spPr>
          <a:xfrm>
            <a:off x="8762695" y="6473952"/>
            <a:ext cx="292608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Dr. Ghulam Ali   ·   36</a:t>
            </a:r>
            <a:endParaRPr lang="en-US" sz="950" dirty="0"/>
          </a:p>
        </p:txBody>
      </p:sp>
      <p:sp>
        <p:nvSpPr>
          <p:cNvPr id="6" name="Text 4"/>
          <p:cNvSpPr txBox="1"/>
          <p:nvPr/>
        </p:nvSpPr>
        <p:spPr>
          <a:xfrm>
            <a:off x="502920" y="1362456"/>
            <a:ext cx="11185855" cy="292608"/>
          </a:xfrm>
          <a:prstGeom prst="rect">
            <a:avLst/>
          </a:prstGeom>
          <a:noFill/>
          <a:ln/>
        </p:spPr>
        <p:txBody>
          <a:bodyPr wrap="square" rtlCol="0" anchor="ctr"/>
          <a:lstStyle/>
          <a:p>
            <a:pPr marL="0" indent="0">
              <a:buNone/>
            </a:pPr>
            <a:r>
              <a:rPr lang="en-US" sz="1000" i="1" dirty="0">
                <a:solidFill>
                  <a:srgbClr val="435273"/>
                </a:solidFill>
                <a:latin typeface="Calibri" pitchFamily="34" charset="0"/>
                <a:ea typeface="Calibri" pitchFamily="34" charset="-122"/>
                <a:cs typeface="Calibri" pitchFamily="34" charset="-120"/>
              </a:rPr>
              <a:t>Note: UCS complexity is best expressed relative to C* (optimal solution cost) and ε (smallest step cost): O(b^(1+⌊C*/ε⌋)) — never simply O(bᵈ), since UCS does not reason about depth at all.</a:t>
            </a:r>
            <a:endParaRPr lang="en-US" sz="1000" dirty="0"/>
          </a:p>
        </p:txBody>
      </p:sp>
      <p:graphicFrame>
        <p:nvGraphicFramePr>
          <p:cNvPr id="37" name="Table 0"/>
          <p:cNvGraphicFramePr>
            <a:graphicFrameLocks noGrp="1"/>
          </p:cNvGraphicFramePr>
          <p:nvPr>
            <p:extLst>
              <p:ext uri="{D42A27DB-BD31-4B8C-83A1-F6EECF244321}">
                <p14:modId xmlns:p14="http://schemas.microsoft.com/office/powerpoint/2010/main" val="2192061033"/>
              </p:ext>
            </p:extLst>
          </p:nvPr>
        </p:nvGraphicFramePr>
        <p:xfrm>
          <a:off x="502920" y="1691640"/>
          <a:ext cx="11155680" cy="5209540"/>
        </p:xfrm>
        <a:graphic>
          <a:graphicData uri="http://schemas.openxmlformats.org/drawingml/2006/table">
            <a:tbl>
              <a:tblPr/>
              <a:tblGrid>
                <a:gridCol w="169164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3337560">
                  <a:extLst>
                    <a:ext uri="{9D8B030D-6E8A-4147-A177-3AD203B41FA5}">
                      <a16:colId xmlns:a16="http://schemas.microsoft.com/office/drawing/2014/main" val="20002"/>
                    </a:ext>
                  </a:extLst>
                </a:gridCol>
                <a:gridCol w="3063240">
                  <a:extLst>
                    <a:ext uri="{9D8B030D-6E8A-4147-A177-3AD203B41FA5}">
                      <a16:colId xmlns:a16="http://schemas.microsoft.com/office/drawing/2014/main" val="20003"/>
                    </a:ext>
                  </a:extLst>
                </a:gridCol>
              </a:tblGrid>
              <a:tr h="452628">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Property</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4213D"/>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BFS</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4213D"/>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DFS</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4213D"/>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UCS</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452628">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Expansion rule</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Shallowest node first</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Deepest node first</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Lowest g(n) first</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2628">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Data structure</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FIFO queue</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LIFO stack</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Priority queue (by g(n))</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extLst>
                  <a:ext uri="{0D108BD9-81ED-4DB2-BD59-A6C34878D82A}">
                    <a16:rowId xmlns:a16="http://schemas.microsoft.com/office/drawing/2014/main" val="10002"/>
                  </a:ext>
                </a:extLst>
              </a:tr>
              <a:tr h="452628">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Complete?</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Yes (finite b)</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Not guaranteed (infinite/cyclic spaces)</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Yes (positive step costs)</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2628">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Optimal?</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Yes, if step cost is uniform</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No</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Yes, under positive step costs</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extLst>
                  <a:ext uri="{0D108BD9-81ED-4DB2-BD59-A6C34878D82A}">
                    <a16:rowId xmlns:a16="http://schemas.microsoft.com/office/drawing/2014/main" val="10004"/>
                  </a:ext>
                </a:extLst>
              </a:tr>
              <a:tr h="452628">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Time complexity</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O(bᵈ)</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O(bᵐ)</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Cost-dependent — not simply O(bᵈ)</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2628">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Space complexity</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O(bᵈ)</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O(b·m)</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Cost-dependent, can approach O(bᵈ)-scale</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extLst>
                  <a:ext uri="{0D108BD9-81ED-4DB2-BD59-A6C34878D82A}">
                    <a16:rowId xmlns:a16="http://schemas.microsoft.com/office/drawing/2014/main" val="10006"/>
                  </a:ext>
                </a:extLst>
              </a:tr>
              <a:tr h="452628">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Main strength</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Guarantees shortest #actions</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Very low memory relative to depth</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Guarantees lowest total cost</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52628">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Main weakness</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Exponential memory</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No optimality or completeness guarantee</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Can expand many nodes if costs are close/small</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AEFF8"/>
                    </a:solidFill>
                  </a:tcPr>
                </a:tc>
                <a:extLst>
                  <a:ext uri="{0D108BD9-81ED-4DB2-BD59-A6C34878D82A}">
                    <a16:rowId xmlns:a16="http://schemas.microsoft.com/office/drawing/2014/main" val="10008"/>
                  </a:ext>
                </a:extLst>
              </a:tr>
              <a:tr h="452628">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Typical use case</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Unweighted shortest-path problems</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Memory-limited exploration, deep search trees</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333"/>
                          </a:solidFill>
                          <a:latin typeface="Calibri" pitchFamily="34" charset="0"/>
                          <a:ea typeface="Calibri" pitchFamily="34" charset="-122"/>
                          <a:cs typeface="Calibri" pitchFamily="34" charset="-120"/>
                        </a:rPr>
                        <a:t>Weighted problems (routing, cost-sensitive planning)</a:t>
                      </a:r>
                      <a:endParaRPr lang="en-US" sz="16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92608"/>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COMPARISON AND ANALYSIS</a:t>
            </a:r>
            <a:endParaRPr lang="en-US" sz="1200" dirty="0"/>
          </a:p>
        </p:txBody>
      </p:sp>
      <p:sp>
        <p:nvSpPr>
          <p:cNvPr id="3" name="Text 1"/>
          <p:cNvSpPr txBox="1"/>
          <p:nvPr/>
        </p:nvSpPr>
        <p:spPr>
          <a:xfrm>
            <a:off x="502920" y="621792"/>
            <a:ext cx="11155680" cy="658368"/>
          </a:xfrm>
          <a:prstGeom prst="rect">
            <a:avLst/>
          </a:prstGeom>
          <a:noFill/>
          <a:ln/>
        </p:spPr>
        <p:txBody>
          <a:bodyPr wrap="square" rtlCol="0" anchor="ctr"/>
          <a:lstStyle/>
          <a:p>
            <a:pPr marL="0" indent="0">
              <a:buNone/>
            </a:pPr>
            <a:r>
              <a:rPr lang="en-US" sz="2900" b="1" dirty="0">
                <a:solidFill>
                  <a:srgbClr val="14213D"/>
                </a:solidFill>
                <a:latin typeface="Cambria" pitchFamily="34" charset="0"/>
                <a:ea typeface="Cambria" pitchFamily="34" charset="-122"/>
                <a:cs typeface="Cambria" pitchFamily="34" charset="-120"/>
              </a:rPr>
              <a:t>Memory Considerations</a:t>
            </a:r>
            <a:endParaRPr lang="en-US" sz="2900" dirty="0"/>
          </a:p>
        </p:txBody>
      </p:sp>
      <p:sp>
        <p:nvSpPr>
          <p:cNvPr id="4" name="Text 2"/>
          <p:cNvSpPr txBox="1"/>
          <p:nvPr/>
        </p:nvSpPr>
        <p:spPr>
          <a:xfrm>
            <a:off x="502920" y="6473952"/>
            <a:ext cx="7315200" cy="274320"/>
          </a:xfrm>
          <a:prstGeom prst="rect">
            <a:avLst/>
          </a:prstGeom>
          <a:noFill/>
          <a:ln/>
        </p:spPr>
        <p:txBody>
          <a:bodyPr wrap="square" rtlCol="0" anchor="ctr"/>
          <a:lstStyle/>
          <a:p>
            <a:pPr marL="0" indent="0">
              <a:buNone/>
            </a:pPr>
            <a:r>
              <a:rPr lang="en-US" sz="950" b="1" dirty="0">
                <a:solidFill>
                  <a:srgbClr val="6B7280"/>
                </a:solidFill>
                <a:latin typeface="Calibri" pitchFamily="34" charset="0"/>
                <a:ea typeface="Calibri" pitchFamily="34" charset="-122"/>
                <a:cs typeface="Calibri" pitchFamily="34" charset="-120"/>
              </a:rPr>
              <a:t>Artificial Intelligence</a:t>
            </a:r>
            <a:r>
              <a:rPr lang="en-US" sz="950" dirty="0">
                <a:solidFill>
                  <a:srgbClr val="6B7280"/>
                </a:solidFill>
                <a:latin typeface="Calibri" pitchFamily="34" charset="0"/>
                <a:ea typeface="Calibri" pitchFamily="34" charset="-122"/>
                <a:cs typeface="Calibri" pitchFamily="34" charset="-120"/>
              </a:rPr>
              <a:t>   ·   BS Computer Science   ·   Lecture 3</a:t>
            </a:r>
            <a:endParaRPr lang="en-US" sz="950" dirty="0"/>
          </a:p>
        </p:txBody>
      </p:sp>
      <p:sp>
        <p:nvSpPr>
          <p:cNvPr id="5" name="Text 3"/>
          <p:cNvSpPr txBox="1"/>
          <p:nvPr/>
        </p:nvSpPr>
        <p:spPr>
          <a:xfrm>
            <a:off x="8762695" y="6473952"/>
            <a:ext cx="292608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Dr. Ghulam Ali   ·   37</a:t>
            </a:r>
            <a:endParaRPr lang="en-US" sz="950" dirty="0"/>
          </a:p>
        </p:txBody>
      </p:sp>
      <p:sp>
        <p:nvSpPr>
          <p:cNvPr id="6" name="Text 4"/>
          <p:cNvSpPr txBox="1"/>
          <p:nvPr/>
        </p:nvSpPr>
        <p:spPr>
          <a:xfrm>
            <a:off x="502920" y="1417320"/>
            <a:ext cx="11185855" cy="868680"/>
          </a:xfrm>
          <a:prstGeom prst="rect">
            <a:avLst/>
          </a:prstGeom>
          <a:noFill/>
          <a:ln/>
        </p:spPr>
        <p:txBody>
          <a:bodyPr wrap="square" rtlCol="0" anchor="ctr"/>
          <a:lstStyle/>
          <a:p>
            <a:pPr marL="0" indent="0">
              <a:lnSpc>
                <a:spcPct val="128000"/>
              </a:lnSpc>
              <a:buNone/>
            </a:pPr>
            <a:r>
              <a:rPr lang="en-US" sz="1400" dirty="0">
                <a:solidFill>
                  <a:srgbClr val="1B2333"/>
                </a:solidFill>
                <a:latin typeface="Calibri" pitchFamily="34" charset="0"/>
                <a:ea typeface="Calibri" pitchFamily="34" charset="-122"/>
                <a:cs typeface="Calibri" pitchFamily="34" charset="-120"/>
              </a:rPr>
              <a:t>Search algorithms are frequently memory-bound before they are time-bound: a computation that would eventually finish can still fail in practice because the frontier or explored set exceeds available memory. Two quantities matter most: maximum frontier size and explored-set size.</a:t>
            </a:r>
            <a:endParaRPr lang="en-US" sz="1400" dirty="0"/>
          </a:p>
        </p:txBody>
      </p:sp>
      <p:graphicFrame>
        <p:nvGraphicFramePr>
          <p:cNvPr id="7" name="Chart 0"/>
          <p:cNvGraphicFramePr/>
          <p:nvPr>
            <p:extLst>
              <p:ext uri="{D42A27DB-BD31-4B8C-83A1-F6EECF244321}">
                <p14:modId xmlns:p14="http://schemas.microsoft.com/office/powerpoint/2010/main" val="1141537902"/>
              </p:ext>
            </p:extLst>
          </p:nvPr>
        </p:nvGraphicFramePr>
        <p:xfrm>
          <a:off x="502920" y="2377440"/>
          <a:ext cx="667512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txBox="1"/>
          <p:nvPr/>
        </p:nvSpPr>
        <p:spPr>
          <a:xfrm>
            <a:off x="502920" y="5760720"/>
            <a:ext cx="6675120" cy="411480"/>
          </a:xfrm>
          <a:prstGeom prst="rect">
            <a:avLst/>
          </a:prstGeom>
          <a:noFill/>
          <a:ln/>
        </p:spPr>
        <p:txBody>
          <a:bodyPr wrap="square" rtlCol="0" anchor="ctr"/>
          <a:lstStyle/>
          <a:p>
            <a:pPr marL="0" indent="0">
              <a:buNone/>
            </a:pPr>
            <a:r>
              <a:rPr lang="en-US" sz="950" i="1" dirty="0">
                <a:solidFill>
                  <a:srgbClr val="435273"/>
                </a:solidFill>
                <a:latin typeface="Calibri" pitchFamily="34" charset="0"/>
                <a:ea typeface="Calibri" pitchFamily="34" charset="-122"/>
                <a:cs typeface="Calibri" pitchFamily="34" charset="-120"/>
              </a:rPr>
              <a:t>Values are computed directly from the O(bᵈ) and O(b·m) formulas with b = 2 — an illustration of the formulas, not measured experimental data.</a:t>
            </a:r>
            <a:endParaRPr lang="en-US" sz="950" dirty="0"/>
          </a:p>
        </p:txBody>
      </p:sp>
      <p:sp>
        <p:nvSpPr>
          <p:cNvPr id="9" name="Shape 6"/>
          <p:cNvSpPr/>
          <p:nvPr/>
        </p:nvSpPr>
        <p:spPr>
          <a:xfrm>
            <a:off x="8001000" y="2331720"/>
            <a:ext cx="3657600" cy="1417320"/>
          </a:xfrm>
          <a:prstGeom prst="roundRect">
            <a:avLst>
              <a:gd name="adj" fmla="val 5161"/>
            </a:avLst>
          </a:prstGeom>
          <a:solidFill>
            <a:srgbClr val="EAEFF8"/>
          </a:solidFill>
          <a:ln/>
        </p:spPr>
      </p:sp>
      <p:sp>
        <p:nvSpPr>
          <p:cNvPr id="10" name="Text 7"/>
          <p:cNvSpPr txBox="1"/>
          <p:nvPr/>
        </p:nvSpPr>
        <p:spPr>
          <a:xfrm>
            <a:off x="8202168" y="2496312"/>
            <a:ext cx="3255264" cy="310896"/>
          </a:xfrm>
          <a:prstGeom prst="rect">
            <a:avLst/>
          </a:prstGeom>
          <a:noFill/>
          <a:ln/>
        </p:spPr>
        <p:txBody>
          <a:bodyPr wrap="square" rtlCol="0" anchor="ctr"/>
          <a:lstStyle/>
          <a:p>
            <a:pPr marL="0" indent="0">
              <a:buNone/>
            </a:pPr>
            <a:r>
              <a:rPr lang="en-US" sz="1400" b="1" dirty="0">
                <a:solidFill>
                  <a:srgbClr val="14213D"/>
                </a:solidFill>
                <a:latin typeface="Calibri" pitchFamily="34" charset="0"/>
                <a:ea typeface="Calibri" pitchFamily="34" charset="-122"/>
                <a:cs typeface="Calibri" pitchFamily="34" charset="-120"/>
              </a:rPr>
              <a:t>BFS</a:t>
            </a:r>
            <a:endParaRPr lang="en-US" sz="1400" dirty="0"/>
          </a:p>
        </p:txBody>
      </p:sp>
      <p:sp>
        <p:nvSpPr>
          <p:cNvPr id="11" name="Text 8"/>
          <p:cNvSpPr txBox="1"/>
          <p:nvPr/>
        </p:nvSpPr>
        <p:spPr>
          <a:xfrm>
            <a:off x="8202168" y="2825496"/>
            <a:ext cx="3255264" cy="886968"/>
          </a:xfrm>
          <a:prstGeom prst="rect">
            <a:avLst/>
          </a:prstGeom>
          <a:noFill/>
          <a:ln/>
        </p:spPr>
        <p:txBody>
          <a:bodyPr wrap="square" rtlCol="0" anchor="t"/>
          <a:lstStyle/>
          <a:p>
            <a:pPr marL="0" indent="0">
              <a:lnSpc>
                <a:spcPct val="112000"/>
              </a:lnSpc>
              <a:buNone/>
            </a:pPr>
            <a:r>
              <a:rPr lang="en-US" sz="1400" dirty="0">
                <a:solidFill>
                  <a:srgbClr val="1B2333"/>
                </a:solidFill>
                <a:latin typeface="Calibri" pitchFamily="34" charset="0"/>
                <a:ea typeface="Calibri" pitchFamily="34" charset="-122"/>
                <a:cs typeface="Calibri" pitchFamily="34" charset="-120"/>
              </a:rPr>
              <a:t>Must hold an entire level in the frontier at once. Grows exponentially with depth — the dominant practical limitation of BFS.</a:t>
            </a:r>
            <a:endParaRPr lang="en-US" sz="1400" dirty="0"/>
          </a:p>
        </p:txBody>
      </p:sp>
      <p:sp>
        <p:nvSpPr>
          <p:cNvPr id="12" name="Shape 9"/>
          <p:cNvSpPr/>
          <p:nvPr/>
        </p:nvSpPr>
        <p:spPr>
          <a:xfrm>
            <a:off x="8001000" y="3886200"/>
            <a:ext cx="3657600" cy="1417320"/>
          </a:xfrm>
          <a:prstGeom prst="roundRect">
            <a:avLst>
              <a:gd name="adj" fmla="val 5161"/>
            </a:avLst>
          </a:prstGeom>
          <a:solidFill>
            <a:srgbClr val="EAEFF8"/>
          </a:solidFill>
          <a:ln/>
        </p:spPr>
      </p:sp>
      <p:sp>
        <p:nvSpPr>
          <p:cNvPr id="13" name="Text 10"/>
          <p:cNvSpPr txBox="1"/>
          <p:nvPr/>
        </p:nvSpPr>
        <p:spPr>
          <a:xfrm>
            <a:off x="8202168" y="4050792"/>
            <a:ext cx="3255264" cy="310896"/>
          </a:xfrm>
          <a:prstGeom prst="rect">
            <a:avLst/>
          </a:prstGeom>
          <a:noFill/>
          <a:ln/>
        </p:spPr>
        <p:txBody>
          <a:bodyPr wrap="square" rtlCol="0" anchor="ctr"/>
          <a:lstStyle/>
          <a:p>
            <a:pPr marL="0" indent="0">
              <a:buNone/>
            </a:pPr>
            <a:r>
              <a:rPr lang="en-US" sz="1400" b="1" dirty="0">
                <a:solidFill>
                  <a:srgbClr val="14213D"/>
                </a:solidFill>
                <a:latin typeface="Calibri" pitchFamily="34" charset="0"/>
                <a:ea typeface="Calibri" pitchFamily="34" charset="-122"/>
                <a:cs typeface="Calibri" pitchFamily="34" charset="-120"/>
              </a:rPr>
              <a:t>DFS</a:t>
            </a:r>
            <a:endParaRPr lang="en-US" sz="1400" dirty="0"/>
          </a:p>
        </p:txBody>
      </p:sp>
      <p:sp>
        <p:nvSpPr>
          <p:cNvPr id="14" name="Text 11"/>
          <p:cNvSpPr txBox="1"/>
          <p:nvPr/>
        </p:nvSpPr>
        <p:spPr>
          <a:xfrm>
            <a:off x="8202168" y="4379976"/>
            <a:ext cx="3255264" cy="886968"/>
          </a:xfrm>
          <a:prstGeom prst="rect">
            <a:avLst/>
          </a:prstGeom>
          <a:noFill/>
          <a:ln/>
        </p:spPr>
        <p:txBody>
          <a:bodyPr wrap="square" rtlCol="0" anchor="t"/>
          <a:lstStyle/>
          <a:p>
            <a:pPr marL="0" indent="0">
              <a:lnSpc>
                <a:spcPct val="112000"/>
              </a:lnSpc>
              <a:buNone/>
            </a:pPr>
            <a:r>
              <a:rPr lang="en-US" sz="1400" dirty="0">
                <a:solidFill>
                  <a:srgbClr val="1B2333"/>
                </a:solidFill>
                <a:latin typeface="Calibri" pitchFamily="34" charset="0"/>
                <a:ea typeface="Calibri" pitchFamily="34" charset="-122"/>
                <a:cs typeface="Calibri" pitchFamily="34" charset="-120"/>
              </a:rPr>
              <a:t>Holds only the current path plus unexplored siblings. Grows linearly with depth — DFS's key practical advantage.</a:t>
            </a:r>
            <a:endParaRPr lang="en-US" sz="1400" dirty="0"/>
          </a:p>
        </p:txBody>
      </p:sp>
      <p:sp>
        <p:nvSpPr>
          <p:cNvPr id="15" name="Shape 12"/>
          <p:cNvSpPr/>
          <p:nvPr/>
        </p:nvSpPr>
        <p:spPr>
          <a:xfrm>
            <a:off x="8001000" y="5440680"/>
            <a:ext cx="3657600" cy="1280160"/>
          </a:xfrm>
          <a:prstGeom prst="roundRect">
            <a:avLst>
              <a:gd name="adj" fmla="val 5714"/>
            </a:avLst>
          </a:prstGeom>
          <a:solidFill>
            <a:srgbClr val="EAEFF8"/>
          </a:solidFill>
          <a:ln/>
        </p:spPr>
      </p:sp>
      <p:sp>
        <p:nvSpPr>
          <p:cNvPr id="16" name="Text 13"/>
          <p:cNvSpPr txBox="1"/>
          <p:nvPr/>
        </p:nvSpPr>
        <p:spPr>
          <a:xfrm>
            <a:off x="8202168" y="5605272"/>
            <a:ext cx="3255264" cy="310896"/>
          </a:xfrm>
          <a:prstGeom prst="rect">
            <a:avLst/>
          </a:prstGeom>
          <a:noFill/>
          <a:ln/>
        </p:spPr>
        <p:txBody>
          <a:bodyPr wrap="square" rtlCol="0" anchor="ctr"/>
          <a:lstStyle/>
          <a:p>
            <a:pPr marL="0" indent="0">
              <a:buNone/>
            </a:pPr>
            <a:r>
              <a:rPr lang="en-US" sz="1400" b="1" dirty="0">
                <a:solidFill>
                  <a:srgbClr val="14213D"/>
                </a:solidFill>
                <a:latin typeface="Calibri" pitchFamily="34" charset="0"/>
                <a:ea typeface="Calibri" pitchFamily="34" charset="-122"/>
                <a:cs typeface="Calibri" pitchFamily="34" charset="-120"/>
              </a:rPr>
              <a:t>UCS</a:t>
            </a:r>
            <a:endParaRPr lang="en-US" sz="1400" dirty="0"/>
          </a:p>
        </p:txBody>
      </p:sp>
      <p:sp>
        <p:nvSpPr>
          <p:cNvPr id="17" name="Text 14"/>
          <p:cNvSpPr txBox="1"/>
          <p:nvPr/>
        </p:nvSpPr>
        <p:spPr>
          <a:xfrm>
            <a:off x="8202168" y="5934456"/>
            <a:ext cx="3255264" cy="749808"/>
          </a:xfrm>
          <a:prstGeom prst="rect">
            <a:avLst/>
          </a:prstGeom>
          <a:noFill/>
          <a:ln/>
        </p:spPr>
        <p:txBody>
          <a:bodyPr wrap="square" rtlCol="0" anchor="t"/>
          <a:lstStyle/>
          <a:p>
            <a:pPr marL="0" indent="0">
              <a:lnSpc>
                <a:spcPct val="112000"/>
              </a:lnSpc>
              <a:buNone/>
            </a:pPr>
            <a:r>
              <a:rPr lang="en-US" sz="1400" dirty="0">
                <a:solidFill>
                  <a:srgbClr val="1B2333"/>
                </a:solidFill>
                <a:latin typeface="Calibri" pitchFamily="34" charset="0"/>
                <a:ea typeface="Calibri" pitchFamily="34" charset="-122"/>
                <a:cs typeface="Calibri" pitchFamily="34" charset="-120"/>
              </a:rPr>
              <a:t>Can hold many competing partial paths whenever costs are close together — frontier size depends on the cost structure of the problem, not depth alone.</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92608"/>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COMPARISON AND ANALYSIS</a:t>
            </a:r>
            <a:endParaRPr lang="en-US" sz="1200" dirty="0"/>
          </a:p>
        </p:txBody>
      </p:sp>
      <p:sp>
        <p:nvSpPr>
          <p:cNvPr id="3" name="Text 1"/>
          <p:cNvSpPr txBox="1"/>
          <p:nvPr/>
        </p:nvSpPr>
        <p:spPr>
          <a:xfrm>
            <a:off x="502920" y="621792"/>
            <a:ext cx="11155680" cy="658368"/>
          </a:xfrm>
          <a:prstGeom prst="rect">
            <a:avLst/>
          </a:prstGeom>
          <a:noFill/>
          <a:ln/>
        </p:spPr>
        <p:txBody>
          <a:bodyPr wrap="square" rtlCol="0" anchor="ctr"/>
          <a:lstStyle/>
          <a:p>
            <a:pPr marL="0" indent="0">
              <a:buNone/>
            </a:pPr>
            <a:r>
              <a:rPr lang="en-US" sz="2900" b="1" dirty="0">
                <a:solidFill>
                  <a:srgbClr val="14213D"/>
                </a:solidFill>
                <a:latin typeface="Cambria" pitchFamily="34" charset="0"/>
                <a:ea typeface="Cambria" pitchFamily="34" charset="-122"/>
                <a:cs typeface="Cambria" pitchFamily="34" charset="-120"/>
              </a:rPr>
              <a:t>Same Problem, Three Algorithms</a:t>
            </a:r>
            <a:endParaRPr lang="en-US" sz="2900" dirty="0"/>
          </a:p>
        </p:txBody>
      </p:sp>
      <p:sp>
        <p:nvSpPr>
          <p:cNvPr id="4" name="Text 2"/>
          <p:cNvSpPr txBox="1"/>
          <p:nvPr/>
        </p:nvSpPr>
        <p:spPr>
          <a:xfrm>
            <a:off x="502920" y="6473952"/>
            <a:ext cx="7315200" cy="274320"/>
          </a:xfrm>
          <a:prstGeom prst="rect">
            <a:avLst/>
          </a:prstGeom>
          <a:noFill/>
          <a:ln/>
        </p:spPr>
        <p:txBody>
          <a:bodyPr wrap="square" rtlCol="0" anchor="ctr"/>
          <a:lstStyle/>
          <a:p>
            <a:pPr marL="0" indent="0">
              <a:buNone/>
            </a:pPr>
            <a:r>
              <a:rPr lang="en-US" sz="950" b="1" dirty="0">
                <a:solidFill>
                  <a:srgbClr val="6B7280"/>
                </a:solidFill>
                <a:latin typeface="Calibri" pitchFamily="34" charset="0"/>
                <a:ea typeface="Calibri" pitchFamily="34" charset="-122"/>
                <a:cs typeface="Calibri" pitchFamily="34" charset="-120"/>
              </a:rPr>
              <a:t>Artificial Intelligence</a:t>
            </a:r>
            <a:r>
              <a:rPr lang="en-US" sz="950" dirty="0">
                <a:solidFill>
                  <a:srgbClr val="6B7280"/>
                </a:solidFill>
                <a:latin typeface="Calibri" pitchFamily="34" charset="0"/>
                <a:ea typeface="Calibri" pitchFamily="34" charset="-122"/>
                <a:cs typeface="Calibri" pitchFamily="34" charset="-120"/>
              </a:rPr>
              <a:t>   ·   BS Computer Science   ·   Lecture 3</a:t>
            </a:r>
            <a:endParaRPr lang="en-US" sz="950" dirty="0"/>
          </a:p>
        </p:txBody>
      </p:sp>
      <p:sp>
        <p:nvSpPr>
          <p:cNvPr id="5" name="Text 3"/>
          <p:cNvSpPr txBox="1"/>
          <p:nvPr/>
        </p:nvSpPr>
        <p:spPr>
          <a:xfrm>
            <a:off x="8762695" y="6473952"/>
            <a:ext cx="292608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Dr. Ghulam Ali   ·   38</a:t>
            </a:r>
            <a:endParaRPr lang="en-US" sz="950" dirty="0"/>
          </a:p>
        </p:txBody>
      </p:sp>
      <p:sp>
        <p:nvSpPr>
          <p:cNvPr id="6" name="Shape 4"/>
          <p:cNvSpPr/>
          <p:nvPr/>
        </p:nvSpPr>
        <p:spPr>
          <a:xfrm>
            <a:off x="502920" y="1371600"/>
            <a:ext cx="3474720" cy="3931920"/>
          </a:xfrm>
          <a:prstGeom prst="roundRect">
            <a:avLst>
              <a:gd name="adj" fmla="val 1842"/>
            </a:avLst>
          </a:prstGeom>
          <a:solidFill>
            <a:srgbClr val="EAEFF8"/>
          </a:solidFill>
          <a:ln/>
        </p:spPr>
      </p:sp>
      <p:sp>
        <p:nvSpPr>
          <p:cNvPr id="7" name="Text 5"/>
          <p:cNvSpPr txBox="1"/>
          <p:nvPr/>
        </p:nvSpPr>
        <p:spPr>
          <a:xfrm>
            <a:off x="502920" y="1444752"/>
            <a:ext cx="3474720" cy="365760"/>
          </a:xfrm>
          <a:prstGeom prst="rect">
            <a:avLst/>
          </a:prstGeom>
          <a:noFill/>
          <a:ln/>
        </p:spPr>
        <p:txBody>
          <a:bodyPr wrap="square" rtlCol="0" anchor="ctr"/>
          <a:lstStyle/>
          <a:p>
            <a:pPr marL="0" indent="0" algn="ctr">
              <a:buNone/>
            </a:pPr>
            <a:r>
              <a:rPr lang="en-US" sz="1700" b="1" dirty="0">
                <a:solidFill>
                  <a:srgbClr val="14213D"/>
                </a:solidFill>
                <a:latin typeface="Cambria" pitchFamily="34" charset="0"/>
                <a:ea typeface="Cambria" pitchFamily="34" charset="-122"/>
                <a:cs typeface="Cambria" pitchFamily="34" charset="-120"/>
              </a:rPr>
              <a:t>BFS</a:t>
            </a:r>
            <a:endParaRPr lang="en-US" sz="1700" dirty="0"/>
          </a:p>
        </p:txBody>
      </p:sp>
      <p:sp>
        <p:nvSpPr>
          <p:cNvPr id="8" name="Shape 6"/>
          <p:cNvSpPr/>
          <p:nvPr/>
        </p:nvSpPr>
        <p:spPr>
          <a:xfrm flipH="1">
            <a:off x="1780511" y="2124551"/>
            <a:ext cx="451365" cy="472859"/>
          </a:xfrm>
          <a:prstGeom prst="line">
            <a:avLst/>
          </a:prstGeom>
          <a:noFill/>
          <a:ln w="34925">
            <a:solidFill>
              <a:srgbClr val="C9A227"/>
            </a:solidFill>
            <a:prstDash val="solid"/>
          </a:ln>
        </p:spPr>
      </p:sp>
      <p:sp>
        <p:nvSpPr>
          <p:cNvPr id="9" name="Shape 7"/>
          <p:cNvSpPr/>
          <p:nvPr/>
        </p:nvSpPr>
        <p:spPr>
          <a:xfrm>
            <a:off x="2471797" y="2124551"/>
            <a:ext cx="451365" cy="472859"/>
          </a:xfrm>
          <a:prstGeom prst="line">
            <a:avLst/>
          </a:prstGeom>
          <a:noFill/>
          <a:ln w="15875">
            <a:solidFill>
              <a:srgbClr val="435273"/>
            </a:solidFill>
            <a:prstDash val="solid"/>
          </a:ln>
        </p:spPr>
      </p:sp>
      <p:sp>
        <p:nvSpPr>
          <p:cNvPr id="10" name="Shape 8"/>
          <p:cNvSpPr/>
          <p:nvPr/>
        </p:nvSpPr>
        <p:spPr>
          <a:xfrm flipH="1">
            <a:off x="1531393" y="2893167"/>
            <a:ext cx="93724" cy="449873"/>
          </a:xfrm>
          <a:prstGeom prst="line">
            <a:avLst/>
          </a:prstGeom>
          <a:noFill/>
          <a:ln w="34925">
            <a:solidFill>
              <a:srgbClr val="C9A227"/>
            </a:solidFill>
            <a:prstDash val="solid"/>
          </a:ln>
        </p:spPr>
      </p:sp>
      <p:sp>
        <p:nvSpPr>
          <p:cNvPr id="11" name="Shape 9"/>
          <p:cNvSpPr/>
          <p:nvPr/>
        </p:nvSpPr>
        <p:spPr>
          <a:xfrm>
            <a:off x="1748091" y="2873153"/>
            <a:ext cx="285777" cy="489903"/>
          </a:xfrm>
          <a:prstGeom prst="line">
            <a:avLst/>
          </a:prstGeom>
          <a:noFill/>
          <a:ln w="15875">
            <a:solidFill>
              <a:srgbClr val="435273"/>
            </a:solidFill>
            <a:prstDash val="solid"/>
          </a:ln>
        </p:spPr>
      </p:sp>
      <p:sp>
        <p:nvSpPr>
          <p:cNvPr id="12" name="Shape 10"/>
          <p:cNvSpPr/>
          <p:nvPr/>
        </p:nvSpPr>
        <p:spPr>
          <a:xfrm>
            <a:off x="3067693" y="2895073"/>
            <a:ext cx="49615" cy="347307"/>
          </a:xfrm>
          <a:prstGeom prst="line">
            <a:avLst/>
          </a:prstGeom>
          <a:noFill/>
          <a:ln w="15875">
            <a:solidFill>
              <a:srgbClr val="435273"/>
            </a:solidFill>
            <a:prstDash val="solid"/>
          </a:ln>
        </p:spPr>
      </p:sp>
      <p:sp>
        <p:nvSpPr>
          <p:cNvPr id="13" name="Shape 11"/>
          <p:cNvSpPr/>
          <p:nvPr/>
        </p:nvSpPr>
        <p:spPr>
          <a:xfrm>
            <a:off x="1626086" y="3628238"/>
            <a:ext cx="595623" cy="526897"/>
          </a:xfrm>
          <a:prstGeom prst="line">
            <a:avLst/>
          </a:prstGeom>
          <a:noFill/>
          <a:ln w="34925">
            <a:solidFill>
              <a:srgbClr val="C9A227"/>
            </a:solidFill>
            <a:prstDash val="solid"/>
          </a:ln>
        </p:spPr>
      </p:sp>
      <p:sp>
        <p:nvSpPr>
          <p:cNvPr id="14" name="Shape 12"/>
          <p:cNvSpPr/>
          <p:nvPr/>
        </p:nvSpPr>
        <p:spPr>
          <a:xfrm>
            <a:off x="2171993" y="3679333"/>
            <a:ext cx="129258" cy="424706"/>
          </a:xfrm>
          <a:prstGeom prst="line">
            <a:avLst/>
          </a:prstGeom>
          <a:noFill/>
          <a:ln w="15875">
            <a:solidFill>
              <a:srgbClr val="435273"/>
            </a:solidFill>
            <a:prstDash val="solid"/>
          </a:ln>
        </p:spPr>
      </p:sp>
      <p:sp>
        <p:nvSpPr>
          <p:cNvPr id="15" name="Shape 13"/>
          <p:cNvSpPr/>
          <p:nvPr/>
        </p:nvSpPr>
        <p:spPr>
          <a:xfrm flipH="1">
            <a:off x="2469678" y="3542031"/>
            <a:ext cx="554358" cy="600555"/>
          </a:xfrm>
          <a:prstGeom prst="line">
            <a:avLst/>
          </a:prstGeom>
          <a:noFill/>
          <a:ln w="15875">
            <a:solidFill>
              <a:srgbClr val="435273"/>
            </a:solidFill>
            <a:prstDash val="solid"/>
          </a:ln>
        </p:spPr>
      </p:sp>
      <p:sp>
        <p:nvSpPr>
          <p:cNvPr id="16" name="Shape 14"/>
          <p:cNvSpPr/>
          <p:nvPr/>
        </p:nvSpPr>
        <p:spPr>
          <a:xfrm>
            <a:off x="2187245" y="1834286"/>
            <a:ext cx="329184" cy="329184"/>
          </a:xfrm>
          <a:prstGeom prst="ellipse">
            <a:avLst/>
          </a:prstGeom>
          <a:solidFill>
            <a:srgbClr val="FFFFFF"/>
          </a:solidFill>
          <a:ln w="19050">
            <a:solidFill>
              <a:srgbClr val="435273"/>
            </a:solidFill>
            <a:prstDash val="solid"/>
          </a:ln>
        </p:spPr>
      </p:sp>
      <p:sp>
        <p:nvSpPr>
          <p:cNvPr id="17" name="Text 15"/>
          <p:cNvSpPr txBox="1"/>
          <p:nvPr/>
        </p:nvSpPr>
        <p:spPr>
          <a:xfrm>
            <a:off x="2187245" y="1834286"/>
            <a:ext cx="329184" cy="329184"/>
          </a:xfrm>
          <a:prstGeom prst="rect">
            <a:avLst/>
          </a:prstGeom>
          <a:noFill/>
          <a:ln/>
        </p:spPr>
        <p:txBody>
          <a:bodyPr wrap="square" rtlCol="0" anchor="ctr"/>
          <a:lstStyle/>
          <a:p>
            <a:pPr marL="0" indent="0" algn="ctr">
              <a:buNone/>
            </a:pPr>
            <a:r>
              <a:rPr lang="en-US" sz="950" b="1" dirty="0">
                <a:solidFill>
                  <a:srgbClr val="14213D"/>
                </a:solidFill>
                <a:latin typeface="Calibri" pitchFamily="34" charset="0"/>
                <a:ea typeface="Calibri" pitchFamily="34" charset="-122"/>
                <a:cs typeface="Calibri" pitchFamily="34" charset="-120"/>
              </a:rPr>
              <a:t>A</a:t>
            </a:r>
            <a:endParaRPr lang="en-US" sz="950" dirty="0"/>
          </a:p>
        </p:txBody>
      </p:sp>
      <p:sp>
        <p:nvSpPr>
          <p:cNvPr id="18" name="Shape 16"/>
          <p:cNvSpPr/>
          <p:nvPr/>
        </p:nvSpPr>
        <p:spPr>
          <a:xfrm>
            <a:off x="2479853" y="1697126"/>
            <a:ext cx="256032" cy="256032"/>
          </a:xfrm>
          <a:prstGeom prst="ellipse">
            <a:avLst/>
          </a:prstGeom>
          <a:solidFill>
            <a:srgbClr val="14213D"/>
          </a:solidFill>
          <a:ln/>
        </p:spPr>
      </p:sp>
      <p:sp>
        <p:nvSpPr>
          <p:cNvPr id="19" name="Text 17"/>
          <p:cNvSpPr txBox="1"/>
          <p:nvPr/>
        </p:nvSpPr>
        <p:spPr>
          <a:xfrm>
            <a:off x="2479853" y="1697126"/>
            <a:ext cx="256032" cy="2560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0" name="Shape 18"/>
          <p:cNvSpPr/>
          <p:nvPr/>
        </p:nvSpPr>
        <p:spPr>
          <a:xfrm>
            <a:off x="1495958" y="2558491"/>
            <a:ext cx="329184" cy="329184"/>
          </a:xfrm>
          <a:prstGeom prst="ellipse">
            <a:avLst/>
          </a:prstGeom>
          <a:solidFill>
            <a:srgbClr val="FFFFFF"/>
          </a:solidFill>
          <a:ln w="19050">
            <a:solidFill>
              <a:srgbClr val="435273"/>
            </a:solidFill>
            <a:prstDash val="solid"/>
          </a:ln>
        </p:spPr>
      </p:sp>
      <p:sp>
        <p:nvSpPr>
          <p:cNvPr id="21" name="Text 19"/>
          <p:cNvSpPr txBox="1"/>
          <p:nvPr/>
        </p:nvSpPr>
        <p:spPr>
          <a:xfrm>
            <a:off x="1495958" y="2558491"/>
            <a:ext cx="329184" cy="329184"/>
          </a:xfrm>
          <a:prstGeom prst="rect">
            <a:avLst/>
          </a:prstGeom>
          <a:noFill/>
          <a:ln/>
        </p:spPr>
        <p:txBody>
          <a:bodyPr wrap="square" rtlCol="0" anchor="ctr"/>
          <a:lstStyle/>
          <a:p>
            <a:pPr marL="0" indent="0" algn="ctr">
              <a:buNone/>
            </a:pPr>
            <a:r>
              <a:rPr lang="en-US" sz="950" b="1" dirty="0">
                <a:solidFill>
                  <a:srgbClr val="14213D"/>
                </a:solidFill>
                <a:latin typeface="Calibri" pitchFamily="34" charset="0"/>
                <a:ea typeface="Calibri" pitchFamily="34" charset="-122"/>
                <a:cs typeface="Calibri" pitchFamily="34" charset="-120"/>
              </a:rPr>
              <a:t>B</a:t>
            </a:r>
            <a:endParaRPr lang="en-US" sz="950" dirty="0"/>
          </a:p>
        </p:txBody>
      </p:sp>
      <p:sp>
        <p:nvSpPr>
          <p:cNvPr id="22" name="Shape 20"/>
          <p:cNvSpPr/>
          <p:nvPr/>
        </p:nvSpPr>
        <p:spPr>
          <a:xfrm>
            <a:off x="1788566" y="2421331"/>
            <a:ext cx="256032" cy="256032"/>
          </a:xfrm>
          <a:prstGeom prst="ellipse">
            <a:avLst/>
          </a:prstGeom>
          <a:solidFill>
            <a:srgbClr val="14213D"/>
          </a:solidFill>
          <a:ln/>
        </p:spPr>
      </p:sp>
      <p:sp>
        <p:nvSpPr>
          <p:cNvPr id="23" name="Text 21"/>
          <p:cNvSpPr txBox="1"/>
          <p:nvPr/>
        </p:nvSpPr>
        <p:spPr>
          <a:xfrm>
            <a:off x="1788566" y="2421331"/>
            <a:ext cx="256032" cy="2560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24" name="Shape 22"/>
          <p:cNvSpPr/>
          <p:nvPr/>
        </p:nvSpPr>
        <p:spPr>
          <a:xfrm>
            <a:off x="2878531" y="2558491"/>
            <a:ext cx="329184" cy="329184"/>
          </a:xfrm>
          <a:prstGeom prst="ellipse">
            <a:avLst/>
          </a:prstGeom>
          <a:solidFill>
            <a:srgbClr val="FFFFFF"/>
          </a:solidFill>
          <a:ln w="19050">
            <a:solidFill>
              <a:srgbClr val="435273"/>
            </a:solidFill>
            <a:prstDash val="solid"/>
          </a:ln>
        </p:spPr>
      </p:sp>
      <p:sp>
        <p:nvSpPr>
          <p:cNvPr id="25" name="Text 23"/>
          <p:cNvSpPr txBox="1"/>
          <p:nvPr/>
        </p:nvSpPr>
        <p:spPr>
          <a:xfrm>
            <a:off x="2878531" y="2558491"/>
            <a:ext cx="329184" cy="329184"/>
          </a:xfrm>
          <a:prstGeom prst="rect">
            <a:avLst/>
          </a:prstGeom>
          <a:noFill/>
          <a:ln/>
        </p:spPr>
        <p:txBody>
          <a:bodyPr wrap="square" rtlCol="0" anchor="ctr"/>
          <a:lstStyle/>
          <a:p>
            <a:pPr marL="0" indent="0" algn="ctr">
              <a:buNone/>
            </a:pPr>
            <a:r>
              <a:rPr lang="en-US" sz="950" b="1" dirty="0">
                <a:solidFill>
                  <a:srgbClr val="14213D"/>
                </a:solidFill>
                <a:latin typeface="Calibri" pitchFamily="34" charset="0"/>
                <a:ea typeface="Calibri" pitchFamily="34" charset="-122"/>
                <a:cs typeface="Calibri" pitchFamily="34" charset="-120"/>
              </a:rPr>
              <a:t>C</a:t>
            </a:r>
            <a:endParaRPr lang="en-US" sz="950" dirty="0"/>
          </a:p>
        </p:txBody>
      </p:sp>
      <p:sp>
        <p:nvSpPr>
          <p:cNvPr id="26" name="Shape 24"/>
          <p:cNvSpPr/>
          <p:nvPr/>
        </p:nvSpPr>
        <p:spPr>
          <a:xfrm>
            <a:off x="3171139" y="2421331"/>
            <a:ext cx="256032" cy="256032"/>
          </a:xfrm>
          <a:prstGeom prst="ellipse">
            <a:avLst/>
          </a:prstGeom>
          <a:solidFill>
            <a:srgbClr val="14213D"/>
          </a:solidFill>
          <a:ln/>
        </p:spPr>
      </p:sp>
      <p:sp>
        <p:nvSpPr>
          <p:cNvPr id="27" name="Text 25"/>
          <p:cNvSpPr txBox="1"/>
          <p:nvPr/>
        </p:nvSpPr>
        <p:spPr>
          <a:xfrm>
            <a:off x="3171139" y="2421331"/>
            <a:ext cx="256032" cy="2560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8" name="Shape 26"/>
          <p:cNvSpPr/>
          <p:nvPr/>
        </p:nvSpPr>
        <p:spPr>
          <a:xfrm>
            <a:off x="1331366" y="3348533"/>
            <a:ext cx="329184" cy="329184"/>
          </a:xfrm>
          <a:prstGeom prst="ellipse">
            <a:avLst/>
          </a:prstGeom>
          <a:solidFill>
            <a:srgbClr val="FFFFFF"/>
          </a:solidFill>
          <a:ln w="19050">
            <a:solidFill>
              <a:srgbClr val="435273"/>
            </a:solidFill>
            <a:prstDash val="solid"/>
          </a:ln>
        </p:spPr>
      </p:sp>
      <p:sp>
        <p:nvSpPr>
          <p:cNvPr id="29" name="Text 27"/>
          <p:cNvSpPr txBox="1"/>
          <p:nvPr/>
        </p:nvSpPr>
        <p:spPr>
          <a:xfrm>
            <a:off x="1331366" y="3348533"/>
            <a:ext cx="329184" cy="329184"/>
          </a:xfrm>
          <a:prstGeom prst="rect">
            <a:avLst/>
          </a:prstGeom>
          <a:noFill/>
          <a:ln/>
        </p:spPr>
        <p:txBody>
          <a:bodyPr wrap="square" rtlCol="0" anchor="ctr"/>
          <a:lstStyle/>
          <a:p>
            <a:pPr marL="0" indent="0" algn="ctr">
              <a:buNone/>
            </a:pPr>
            <a:r>
              <a:rPr lang="en-US" sz="950" b="1" dirty="0">
                <a:solidFill>
                  <a:srgbClr val="14213D"/>
                </a:solidFill>
                <a:latin typeface="Calibri" pitchFamily="34" charset="0"/>
                <a:ea typeface="Calibri" pitchFamily="34" charset="-122"/>
                <a:cs typeface="Calibri" pitchFamily="34" charset="-120"/>
              </a:rPr>
              <a:t>D</a:t>
            </a:r>
            <a:endParaRPr lang="en-US" sz="950" dirty="0"/>
          </a:p>
        </p:txBody>
      </p:sp>
      <p:sp>
        <p:nvSpPr>
          <p:cNvPr id="30" name="Shape 28"/>
          <p:cNvSpPr/>
          <p:nvPr/>
        </p:nvSpPr>
        <p:spPr>
          <a:xfrm>
            <a:off x="1623974" y="3211373"/>
            <a:ext cx="256032" cy="256032"/>
          </a:xfrm>
          <a:prstGeom prst="ellipse">
            <a:avLst/>
          </a:prstGeom>
          <a:solidFill>
            <a:srgbClr val="14213D"/>
          </a:solidFill>
          <a:ln/>
        </p:spPr>
      </p:sp>
      <p:sp>
        <p:nvSpPr>
          <p:cNvPr id="31" name="Text 29"/>
          <p:cNvSpPr txBox="1"/>
          <p:nvPr/>
        </p:nvSpPr>
        <p:spPr>
          <a:xfrm>
            <a:off x="1623974" y="3211373"/>
            <a:ext cx="256032" cy="2560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32" name="Shape 30"/>
          <p:cNvSpPr/>
          <p:nvPr/>
        </p:nvSpPr>
        <p:spPr>
          <a:xfrm>
            <a:off x="1956816" y="3348533"/>
            <a:ext cx="329184" cy="329184"/>
          </a:xfrm>
          <a:prstGeom prst="ellipse">
            <a:avLst/>
          </a:prstGeom>
          <a:solidFill>
            <a:srgbClr val="FFFFFF"/>
          </a:solidFill>
          <a:ln w="19050">
            <a:solidFill>
              <a:srgbClr val="435273"/>
            </a:solidFill>
            <a:prstDash val="solid"/>
          </a:ln>
        </p:spPr>
      </p:sp>
      <p:sp>
        <p:nvSpPr>
          <p:cNvPr id="33" name="Text 31"/>
          <p:cNvSpPr txBox="1"/>
          <p:nvPr/>
        </p:nvSpPr>
        <p:spPr>
          <a:xfrm>
            <a:off x="1956816" y="3348533"/>
            <a:ext cx="329184" cy="329184"/>
          </a:xfrm>
          <a:prstGeom prst="rect">
            <a:avLst/>
          </a:prstGeom>
          <a:noFill/>
          <a:ln/>
        </p:spPr>
        <p:txBody>
          <a:bodyPr wrap="square" rtlCol="0" anchor="ctr"/>
          <a:lstStyle/>
          <a:p>
            <a:pPr marL="0" indent="0" algn="ctr">
              <a:buNone/>
            </a:pPr>
            <a:r>
              <a:rPr lang="en-US" sz="950" b="1" dirty="0">
                <a:solidFill>
                  <a:srgbClr val="14213D"/>
                </a:solidFill>
                <a:latin typeface="Calibri" pitchFamily="34" charset="0"/>
                <a:ea typeface="Calibri" pitchFamily="34" charset="-122"/>
                <a:cs typeface="Calibri" pitchFamily="34" charset="-120"/>
              </a:rPr>
              <a:t>E</a:t>
            </a:r>
            <a:endParaRPr lang="en-US" sz="950" dirty="0"/>
          </a:p>
        </p:txBody>
      </p:sp>
      <p:sp>
        <p:nvSpPr>
          <p:cNvPr id="34" name="Shape 32"/>
          <p:cNvSpPr/>
          <p:nvPr/>
        </p:nvSpPr>
        <p:spPr>
          <a:xfrm>
            <a:off x="2249424" y="3211373"/>
            <a:ext cx="256032" cy="256032"/>
          </a:xfrm>
          <a:prstGeom prst="ellipse">
            <a:avLst/>
          </a:prstGeom>
          <a:solidFill>
            <a:srgbClr val="14213D"/>
          </a:solidFill>
          <a:ln/>
        </p:spPr>
      </p:sp>
      <p:sp>
        <p:nvSpPr>
          <p:cNvPr id="35" name="Text 33"/>
          <p:cNvSpPr txBox="1"/>
          <p:nvPr/>
        </p:nvSpPr>
        <p:spPr>
          <a:xfrm>
            <a:off x="2249424" y="3211373"/>
            <a:ext cx="256032" cy="2560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36" name="Shape 34"/>
          <p:cNvSpPr/>
          <p:nvPr/>
        </p:nvSpPr>
        <p:spPr>
          <a:xfrm>
            <a:off x="2977286" y="3249778"/>
            <a:ext cx="329184" cy="329184"/>
          </a:xfrm>
          <a:prstGeom prst="ellipse">
            <a:avLst/>
          </a:prstGeom>
          <a:solidFill>
            <a:srgbClr val="FFFFFF"/>
          </a:solidFill>
          <a:ln w="19050">
            <a:solidFill>
              <a:srgbClr val="435273"/>
            </a:solidFill>
            <a:prstDash val="solid"/>
          </a:ln>
        </p:spPr>
      </p:sp>
      <p:sp>
        <p:nvSpPr>
          <p:cNvPr id="37" name="Text 35"/>
          <p:cNvSpPr txBox="1"/>
          <p:nvPr/>
        </p:nvSpPr>
        <p:spPr>
          <a:xfrm>
            <a:off x="2977286" y="3249778"/>
            <a:ext cx="329184" cy="329184"/>
          </a:xfrm>
          <a:prstGeom prst="rect">
            <a:avLst/>
          </a:prstGeom>
          <a:noFill/>
          <a:ln/>
        </p:spPr>
        <p:txBody>
          <a:bodyPr wrap="square" rtlCol="0" anchor="ctr"/>
          <a:lstStyle/>
          <a:p>
            <a:pPr marL="0" indent="0" algn="ctr">
              <a:buNone/>
            </a:pPr>
            <a:r>
              <a:rPr lang="en-US" sz="950" b="1" dirty="0">
                <a:solidFill>
                  <a:srgbClr val="14213D"/>
                </a:solidFill>
                <a:latin typeface="Calibri" pitchFamily="34" charset="0"/>
                <a:ea typeface="Calibri" pitchFamily="34" charset="-122"/>
                <a:cs typeface="Calibri" pitchFamily="34" charset="-120"/>
              </a:rPr>
              <a:t>F</a:t>
            </a:r>
            <a:endParaRPr lang="en-US" sz="950" dirty="0"/>
          </a:p>
        </p:txBody>
      </p:sp>
      <p:sp>
        <p:nvSpPr>
          <p:cNvPr id="38" name="Shape 36"/>
          <p:cNvSpPr/>
          <p:nvPr/>
        </p:nvSpPr>
        <p:spPr>
          <a:xfrm>
            <a:off x="3269894" y="3112618"/>
            <a:ext cx="256032" cy="256032"/>
          </a:xfrm>
          <a:prstGeom prst="ellipse">
            <a:avLst/>
          </a:prstGeom>
          <a:solidFill>
            <a:srgbClr val="14213D"/>
          </a:solidFill>
          <a:ln/>
        </p:spPr>
      </p:sp>
      <p:sp>
        <p:nvSpPr>
          <p:cNvPr id="39" name="Text 37"/>
          <p:cNvSpPr txBox="1"/>
          <p:nvPr/>
        </p:nvSpPr>
        <p:spPr>
          <a:xfrm>
            <a:off x="3269894" y="3112618"/>
            <a:ext cx="256032" cy="2560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40" name="Shape 38"/>
          <p:cNvSpPr/>
          <p:nvPr/>
        </p:nvSpPr>
        <p:spPr>
          <a:xfrm>
            <a:off x="2187245" y="4105656"/>
            <a:ext cx="329184" cy="329184"/>
          </a:xfrm>
          <a:prstGeom prst="ellipse">
            <a:avLst/>
          </a:prstGeom>
          <a:solidFill>
            <a:srgbClr val="C9A227"/>
          </a:solidFill>
          <a:ln w="19050">
            <a:solidFill>
              <a:srgbClr val="435273"/>
            </a:solidFill>
            <a:prstDash val="solid"/>
          </a:ln>
        </p:spPr>
      </p:sp>
      <p:sp>
        <p:nvSpPr>
          <p:cNvPr id="41" name="Text 39"/>
          <p:cNvSpPr txBox="1"/>
          <p:nvPr/>
        </p:nvSpPr>
        <p:spPr>
          <a:xfrm>
            <a:off x="2187245" y="4105656"/>
            <a:ext cx="329184" cy="329184"/>
          </a:xfrm>
          <a:prstGeom prst="rect">
            <a:avLst/>
          </a:prstGeom>
          <a:noFill/>
          <a:ln/>
        </p:spPr>
        <p:txBody>
          <a:bodyPr wrap="square" rtlCol="0" anchor="ctr"/>
          <a:lstStyle/>
          <a:p>
            <a:pPr marL="0" indent="0" algn="ctr">
              <a:buNone/>
            </a:pPr>
            <a:r>
              <a:rPr lang="en-US" sz="950" b="1" dirty="0">
                <a:solidFill>
                  <a:srgbClr val="14213D"/>
                </a:solidFill>
                <a:latin typeface="Calibri" pitchFamily="34" charset="0"/>
                <a:ea typeface="Calibri" pitchFamily="34" charset="-122"/>
                <a:cs typeface="Calibri" pitchFamily="34" charset="-120"/>
              </a:rPr>
              <a:t>G</a:t>
            </a:r>
            <a:endParaRPr lang="en-US" sz="950" dirty="0"/>
          </a:p>
        </p:txBody>
      </p:sp>
      <p:sp>
        <p:nvSpPr>
          <p:cNvPr id="42" name="Shape 40"/>
          <p:cNvSpPr/>
          <p:nvPr/>
        </p:nvSpPr>
        <p:spPr>
          <a:xfrm>
            <a:off x="2479853" y="3968496"/>
            <a:ext cx="256032" cy="256032"/>
          </a:xfrm>
          <a:prstGeom prst="ellipse">
            <a:avLst/>
          </a:prstGeom>
          <a:solidFill>
            <a:srgbClr val="14213D"/>
          </a:solidFill>
          <a:ln/>
        </p:spPr>
      </p:sp>
      <p:sp>
        <p:nvSpPr>
          <p:cNvPr id="43" name="Text 41"/>
          <p:cNvSpPr txBox="1"/>
          <p:nvPr/>
        </p:nvSpPr>
        <p:spPr>
          <a:xfrm>
            <a:off x="2479853" y="3968496"/>
            <a:ext cx="256032" cy="2560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7</a:t>
            </a:r>
            <a:endParaRPr lang="en-US" sz="900" dirty="0"/>
          </a:p>
        </p:txBody>
      </p:sp>
      <p:sp>
        <p:nvSpPr>
          <p:cNvPr id="44" name="Text 42"/>
          <p:cNvSpPr txBox="1"/>
          <p:nvPr/>
        </p:nvSpPr>
        <p:spPr>
          <a:xfrm>
            <a:off x="502920" y="4864608"/>
            <a:ext cx="3474720" cy="384048"/>
          </a:xfrm>
          <a:prstGeom prst="rect">
            <a:avLst/>
          </a:prstGeom>
          <a:noFill/>
          <a:ln/>
        </p:spPr>
        <p:txBody>
          <a:bodyPr wrap="square" rtlCol="0" anchor="ctr"/>
          <a:lstStyle/>
          <a:p>
            <a:pPr marL="0" indent="0" algn="ctr">
              <a:lnSpc>
                <a:spcPct val="110000"/>
              </a:lnSpc>
              <a:buNone/>
            </a:pPr>
            <a:r>
              <a:rPr lang="en-US" sz="950" b="1" dirty="0">
                <a:solidFill>
                  <a:srgbClr val="435273"/>
                </a:solidFill>
                <a:latin typeface="Calibri" pitchFamily="34" charset="0"/>
                <a:ea typeface="Calibri" pitchFamily="34" charset="-122"/>
                <a:cs typeface="Calibri" pitchFamily="34" charset="-120"/>
              </a:rPr>
              <a:t>7 expansions  ·  path A-B-D-G  ·  cost 7</a:t>
            </a:r>
            <a:endParaRPr lang="en-US" sz="950" dirty="0"/>
          </a:p>
        </p:txBody>
      </p:sp>
      <p:sp>
        <p:nvSpPr>
          <p:cNvPr id="45" name="Shape 43"/>
          <p:cNvSpPr/>
          <p:nvPr/>
        </p:nvSpPr>
        <p:spPr>
          <a:xfrm>
            <a:off x="4206240" y="1371600"/>
            <a:ext cx="3474720" cy="3931920"/>
          </a:xfrm>
          <a:prstGeom prst="roundRect">
            <a:avLst>
              <a:gd name="adj" fmla="val 1842"/>
            </a:avLst>
          </a:prstGeom>
          <a:solidFill>
            <a:srgbClr val="F2ECDA"/>
          </a:solidFill>
          <a:ln/>
        </p:spPr>
      </p:sp>
      <p:sp>
        <p:nvSpPr>
          <p:cNvPr id="46" name="Text 44"/>
          <p:cNvSpPr txBox="1"/>
          <p:nvPr/>
        </p:nvSpPr>
        <p:spPr>
          <a:xfrm>
            <a:off x="4206240" y="1444752"/>
            <a:ext cx="3474720" cy="365760"/>
          </a:xfrm>
          <a:prstGeom prst="rect">
            <a:avLst/>
          </a:prstGeom>
          <a:noFill/>
          <a:ln/>
        </p:spPr>
        <p:txBody>
          <a:bodyPr wrap="square" rtlCol="0" anchor="ctr"/>
          <a:lstStyle/>
          <a:p>
            <a:pPr marL="0" indent="0" algn="ctr">
              <a:buNone/>
            </a:pPr>
            <a:r>
              <a:rPr lang="en-US" sz="1700" b="1" dirty="0">
                <a:solidFill>
                  <a:srgbClr val="14213D"/>
                </a:solidFill>
                <a:latin typeface="Cambria" pitchFamily="34" charset="0"/>
                <a:ea typeface="Cambria" pitchFamily="34" charset="-122"/>
                <a:cs typeface="Cambria" pitchFamily="34" charset="-120"/>
              </a:rPr>
              <a:t>DFS</a:t>
            </a:r>
            <a:endParaRPr lang="en-US" sz="1700" dirty="0"/>
          </a:p>
        </p:txBody>
      </p:sp>
      <p:sp>
        <p:nvSpPr>
          <p:cNvPr id="47" name="Shape 45"/>
          <p:cNvSpPr/>
          <p:nvPr/>
        </p:nvSpPr>
        <p:spPr>
          <a:xfrm flipH="1">
            <a:off x="5483831" y="2124551"/>
            <a:ext cx="451365" cy="472859"/>
          </a:xfrm>
          <a:prstGeom prst="line">
            <a:avLst/>
          </a:prstGeom>
          <a:noFill/>
          <a:ln w="34925">
            <a:solidFill>
              <a:srgbClr val="C9A227"/>
            </a:solidFill>
            <a:prstDash val="solid"/>
          </a:ln>
        </p:spPr>
      </p:sp>
      <p:sp>
        <p:nvSpPr>
          <p:cNvPr id="48" name="Shape 46"/>
          <p:cNvSpPr/>
          <p:nvPr/>
        </p:nvSpPr>
        <p:spPr>
          <a:xfrm>
            <a:off x="6175117" y="2124551"/>
            <a:ext cx="451365" cy="472859"/>
          </a:xfrm>
          <a:prstGeom prst="line">
            <a:avLst/>
          </a:prstGeom>
          <a:noFill/>
          <a:ln w="15875">
            <a:solidFill>
              <a:srgbClr val="C7CEDE"/>
            </a:solidFill>
            <a:prstDash val="solid"/>
          </a:ln>
        </p:spPr>
      </p:sp>
      <p:sp>
        <p:nvSpPr>
          <p:cNvPr id="49" name="Shape 47"/>
          <p:cNvSpPr/>
          <p:nvPr/>
        </p:nvSpPr>
        <p:spPr>
          <a:xfrm flipH="1">
            <a:off x="5234713" y="2893167"/>
            <a:ext cx="93724" cy="449873"/>
          </a:xfrm>
          <a:prstGeom prst="line">
            <a:avLst/>
          </a:prstGeom>
          <a:noFill/>
          <a:ln w="34925">
            <a:solidFill>
              <a:srgbClr val="C9A227"/>
            </a:solidFill>
            <a:prstDash val="solid"/>
          </a:ln>
        </p:spPr>
      </p:sp>
      <p:sp>
        <p:nvSpPr>
          <p:cNvPr id="50" name="Shape 48"/>
          <p:cNvSpPr/>
          <p:nvPr/>
        </p:nvSpPr>
        <p:spPr>
          <a:xfrm>
            <a:off x="5451411" y="2873153"/>
            <a:ext cx="285777" cy="489903"/>
          </a:xfrm>
          <a:prstGeom prst="line">
            <a:avLst/>
          </a:prstGeom>
          <a:noFill/>
          <a:ln w="15875">
            <a:solidFill>
              <a:srgbClr val="C7CEDE"/>
            </a:solidFill>
            <a:prstDash val="solid"/>
          </a:ln>
        </p:spPr>
      </p:sp>
      <p:sp>
        <p:nvSpPr>
          <p:cNvPr id="51" name="Shape 49"/>
          <p:cNvSpPr/>
          <p:nvPr/>
        </p:nvSpPr>
        <p:spPr>
          <a:xfrm>
            <a:off x="6771013" y="2895073"/>
            <a:ext cx="49615" cy="347307"/>
          </a:xfrm>
          <a:prstGeom prst="line">
            <a:avLst/>
          </a:prstGeom>
          <a:noFill/>
          <a:ln w="15875">
            <a:solidFill>
              <a:srgbClr val="C7CEDE"/>
            </a:solidFill>
            <a:prstDash val="solid"/>
          </a:ln>
        </p:spPr>
      </p:sp>
      <p:sp>
        <p:nvSpPr>
          <p:cNvPr id="52" name="Shape 50"/>
          <p:cNvSpPr/>
          <p:nvPr/>
        </p:nvSpPr>
        <p:spPr>
          <a:xfrm>
            <a:off x="5329406" y="3628238"/>
            <a:ext cx="595623" cy="526897"/>
          </a:xfrm>
          <a:prstGeom prst="line">
            <a:avLst/>
          </a:prstGeom>
          <a:noFill/>
          <a:ln w="34925">
            <a:solidFill>
              <a:srgbClr val="C9A227"/>
            </a:solidFill>
            <a:prstDash val="solid"/>
          </a:ln>
        </p:spPr>
      </p:sp>
      <p:sp>
        <p:nvSpPr>
          <p:cNvPr id="53" name="Shape 51"/>
          <p:cNvSpPr/>
          <p:nvPr/>
        </p:nvSpPr>
        <p:spPr>
          <a:xfrm>
            <a:off x="5875313" y="3679333"/>
            <a:ext cx="129258" cy="424706"/>
          </a:xfrm>
          <a:prstGeom prst="line">
            <a:avLst/>
          </a:prstGeom>
          <a:noFill/>
          <a:ln w="15875">
            <a:solidFill>
              <a:srgbClr val="C7CEDE"/>
            </a:solidFill>
            <a:prstDash val="solid"/>
          </a:ln>
        </p:spPr>
      </p:sp>
      <p:sp>
        <p:nvSpPr>
          <p:cNvPr id="54" name="Shape 52"/>
          <p:cNvSpPr/>
          <p:nvPr/>
        </p:nvSpPr>
        <p:spPr>
          <a:xfrm flipH="1">
            <a:off x="6172998" y="3542031"/>
            <a:ext cx="554358" cy="600555"/>
          </a:xfrm>
          <a:prstGeom prst="line">
            <a:avLst/>
          </a:prstGeom>
          <a:noFill/>
          <a:ln w="15875">
            <a:solidFill>
              <a:srgbClr val="C7CEDE"/>
            </a:solidFill>
            <a:prstDash val="solid"/>
          </a:ln>
        </p:spPr>
      </p:sp>
      <p:sp>
        <p:nvSpPr>
          <p:cNvPr id="55" name="Shape 53"/>
          <p:cNvSpPr/>
          <p:nvPr/>
        </p:nvSpPr>
        <p:spPr>
          <a:xfrm>
            <a:off x="5890565" y="1834286"/>
            <a:ext cx="329184" cy="329184"/>
          </a:xfrm>
          <a:prstGeom prst="ellipse">
            <a:avLst/>
          </a:prstGeom>
          <a:solidFill>
            <a:srgbClr val="FFFFFF"/>
          </a:solidFill>
          <a:ln w="19050">
            <a:solidFill>
              <a:srgbClr val="435273"/>
            </a:solidFill>
            <a:prstDash val="solid"/>
          </a:ln>
        </p:spPr>
      </p:sp>
      <p:sp>
        <p:nvSpPr>
          <p:cNvPr id="56" name="Text 54"/>
          <p:cNvSpPr txBox="1"/>
          <p:nvPr/>
        </p:nvSpPr>
        <p:spPr>
          <a:xfrm>
            <a:off x="5890565" y="1834286"/>
            <a:ext cx="329184" cy="329184"/>
          </a:xfrm>
          <a:prstGeom prst="rect">
            <a:avLst/>
          </a:prstGeom>
          <a:noFill/>
          <a:ln/>
        </p:spPr>
        <p:txBody>
          <a:bodyPr wrap="square" rtlCol="0" anchor="ctr"/>
          <a:lstStyle/>
          <a:p>
            <a:pPr marL="0" indent="0" algn="ctr">
              <a:buNone/>
            </a:pPr>
            <a:r>
              <a:rPr lang="en-US" sz="950" b="1" dirty="0">
                <a:solidFill>
                  <a:srgbClr val="14213D"/>
                </a:solidFill>
                <a:latin typeface="Calibri" pitchFamily="34" charset="0"/>
                <a:ea typeface="Calibri" pitchFamily="34" charset="-122"/>
                <a:cs typeface="Calibri" pitchFamily="34" charset="-120"/>
              </a:rPr>
              <a:t>A</a:t>
            </a:r>
            <a:endParaRPr lang="en-US" sz="950" dirty="0"/>
          </a:p>
        </p:txBody>
      </p:sp>
      <p:sp>
        <p:nvSpPr>
          <p:cNvPr id="57" name="Shape 55"/>
          <p:cNvSpPr/>
          <p:nvPr/>
        </p:nvSpPr>
        <p:spPr>
          <a:xfrm>
            <a:off x="6183173" y="1697126"/>
            <a:ext cx="256032" cy="256032"/>
          </a:xfrm>
          <a:prstGeom prst="ellipse">
            <a:avLst/>
          </a:prstGeom>
          <a:solidFill>
            <a:srgbClr val="14213D"/>
          </a:solidFill>
          <a:ln/>
        </p:spPr>
      </p:sp>
      <p:sp>
        <p:nvSpPr>
          <p:cNvPr id="58" name="Text 56"/>
          <p:cNvSpPr txBox="1"/>
          <p:nvPr/>
        </p:nvSpPr>
        <p:spPr>
          <a:xfrm>
            <a:off x="6183173" y="1697126"/>
            <a:ext cx="256032" cy="2560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59" name="Shape 57"/>
          <p:cNvSpPr/>
          <p:nvPr/>
        </p:nvSpPr>
        <p:spPr>
          <a:xfrm>
            <a:off x="5199278" y="2558491"/>
            <a:ext cx="329184" cy="329184"/>
          </a:xfrm>
          <a:prstGeom prst="ellipse">
            <a:avLst/>
          </a:prstGeom>
          <a:solidFill>
            <a:srgbClr val="FFFFFF"/>
          </a:solidFill>
          <a:ln w="19050">
            <a:solidFill>
              <a:srgbClr val="435273"/>
            </a:solidFill>
            <a:prstDash val="solid"/>
          </a:ln>
        </p:spPr>
      </p:sp>
      <p:sp>
        <p:nvSpPr>
          <p:cNvPr id="60" name="Text 58"/>
          <p:cNvSpPr txBox="1"/>
          <p:nvPr/>
        </p:nvSpPr>
        <p:spPr>
          <a:xfrm>
            <a:off x="5199278" y="2558491"/>
            <a:ext cx="329184" cy="329184"/>
          </a:xfrm>
          <a:prstGeom prst="rect">
            <a:avLst/>
          </a:prstGeom>
          <a:noFill/>
          <a:ln/>
        </p:spPr>
        <p:txBody>
          <a:bodyPr wrap="square" rtlCol="0" anchor="ctr"/>
          <a:lstStyle/>
          <a:p>
            <a:pPr marL="0" indent="0" algn="ctr">
              <a:buNone/>
            </a:pPr>
            <a:r>
              <a:rPr lang="en-US" sz="950" b="1" dirty="0">
                <a:solidFill>
                  <a:srgbClr val="14213D"/>
                </a:solidFill>
                <a:latin typeface="Calibri" pitchFamily="34" charset="0"/>
                <a:ea typeface="Calibri" pitchFamily="34" charset="-122"/>
                <a:cs typeface="Calibri" pitchFamily="34" charset="-120"/>
              </a:rPr>
              <a:t>B</a:t>
            </a:r>
            <a:endParaRPr lang="en-US" sz="950" dirty="0"/>
          </a:p>
        </p:txBody>
      </p:sp>
      <p:sp>
        <p:nvSpPr>
          <p:cNvPr id="61" name="Shape 59"/>
          <p:cNvSpPr/>
          <p:nvPr/>
        </p:nvSpPr>
        <p:spPr>
          <a:xfrm>
            <a:off x="5491886" y="2421331"/>
            <a:ext cx="256032" cy="256032"/>
          </a:xfrm>
          <a:prstGeom prst="ellipse">
            <a:avLst/>
          </a:prstGeom>
          <a:solidFill>
            <a:srgbClr val="14213D"/>
          </a:solidFill>
          <a:ln/>
        </p:spPr>
      </p:sp>
      <p:sp>
        <p:nvSpPr>
          <p:cNvPr id="62" name="Text 60"/>
          <p:cNvSpPr txBox="1"/>
          <p:nvPr/>
        </p:nvSpPr>
        <p:spPr>
          <a:xfrm>
            <a:off x="5491886" y="2421331"/>
            <a:ext cx="256032" cy="2560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63" name="Shape 61"/>
          <p:cNvSpPr/>
          <p:nvPr/>
        </p:nvSpPr>
        <p:spPr>
          <a:xfrm>
            <a:off x="6581851" y="2558491"/>
            <a:ext cx="329184" cy="329184"/>
          </a:xfrm>
          <a:prstGeom prst="ellipse">
            <a:avLst/>
          </a:prstGeom>
          <a:solidFill>
            <a:srgbClr val="EDF1F8"/>
          </a:solidFill>
          <a:ln w="19050">
            <a:solidFill>
              <a:srgbClr val="435273"/>
            </a:solidFill>
            <a:prstDash val="solid"/>
          </a:ln>
        </p:spPr>
      </p:sp>
      <p:sp>
        <p:nvSpPr>
          <p:cNvPr id="64" name="Text 62"/>
          <p:cNvSpPr txBox="1"/>
          <p:nvPr/>
        </p:nvSpPr>
        <p:spPr>
          <a:xfrm>
            <a:off x="6581851" y="2558491"/>
            <a:ext cx="329184" cy="329184"/>
          </a:xfrm>
          <a:prstGeom prst="rect">
            <a:avLst/>
          </a:prstGeom>
          <a:noFill/>
          <a:ln/>
        </p:spPr>
        <p:txBody>
          <a:bodyPr wrap="square" rtlCol="0" anchor="ctr"/>
          <a:lstStyle/>
          <a:p>
            <a:pPr marL="0" indent="0" algn="ctr">
              <a:buNone/>
            </a:pPr>
            <a:r>
              <a:rPr lang="en-US" sz="950" b="1" dirty="0">
                <a:solidFill>
                  <a:srgbClr val="14213D"/>
                </a:solidFill>
                <a:latin typeface="Calibri" pitchFamily="34" charset="0"/>
                <a:ea typeface="Calibri" pitchFamily="34" charset="-122"/>
                <a:cs typeface="Calibri" pitchFamily="34" charset="-120"/>
              </a:rPr>
              <a:t>C</a:t>
            </a:r>
            <a:endParaRPr lang="en-US" sz="950" dirty="0"/>
          </a:p>
        </p:txBody>
      </p:sp>
      <p:sp>
        <p:nvSpPr>
          <p:cNvPr id="65" name="Shape 63"/>
          <p:cNvSpPr/>
          <p:nvPr/>
        </p:nvSpPr>
        <p:spPr>
          <a:xfrm>
            <a:off x="5034686" y="3348533"/>
            <a:ext cx="329184" cy="329184"/>
          </a:xfrm>
          <a:prstGeom prst="ellipse">
            <a:avLst/>
          </a:prstGeom>
          <a:solidFill>
            <a:srgbClr val="FFFFFF"/>
          </a:solidFill>
          <a:ln w="19050">
            <a:solidFill>
              <a:srgbClr val="435273"/>
            </a:solidFill>
            <a:prstDash val="solid"/>
          </a:ln>
        </p:spPr>
      </p:sp>
      <p:sp>
        <p:nvSpPr>
          <p:cNvPr id="66" name="Text 64"/>
          <p:cNvSpPr txBox="1"/>
          <p:nvPr/>
        </p:nvSpPr>
        <p:spPr>
          <a:xfrm>
            <a:off x="5034686" y="3348533"/>
            <a:ext cx="329184" cy="329184"/>
          </a:xfrm>
          <a:prstGeom prst="rect">
            <a:avLst/>
          </a:prstGeom>
          <a:noFill/>
          <a:ln/>
        </p:spPr>
        <p:txBody>
          <a:bodyPr wrap="square" rtlCol="0" anchor="ctr"/>
          <a:lstStyle/>
          <a:p>
            <a:pPr marL="0" indent="0" algn="ctr">
              <a:buNone/>
            </a:pPr>
            <a:r>
              <a:rPr lang="en-US" sz="950" b="1" dirty="0">
                <a:solidFill>
                  <a:srgbClr val="14213D"/>
                </a:solidFill>
                <a:latin typeface="Calibri" pitchFamily="34" charset="0"/>
                <a:ea typeface="Calibri" pitchFamily="34" charset="-122"/>
                <a:cs typeface="Calibri" pitchFamily="34" charset="-120"/>
              </a:rPr>
              <a:t>D</a:t>
            </a:r>
            <a:endParaRPr lang="en-US" sz="950" dirty="0"/>
          </a:p>
        </p:txBody>
      </p:sp>
      <p:sp>
        <p:nvSpPr>
          <p:cNvPr id="67" name="Shape 65"/>
          <p:cNvSpPr/>
          <p:nvPr/>
        </p:nvSpPr>
        <p:spPr>
          <a:xfrm>
            <a:off x="5327294" y="3211373"/>
            <a:ext cx="256032" cy="256032"/>
          </a:xfrm>
          <a:prstGeom prst="ellipse">
            <a:avLst/>
          </a:prstGeom>
          <a:solidFill>
            <a:srgbClr val="14213D"/>
          </a:solidFill>
          <a:ln/>
        </p:spPr>
      </p:sp>
      <p:sp>
        <p:nvSpPr>
          <p:cNvPr id="68" name="Text 66"/>
          <p:cNvSpPr txBox="1"/>
          <p:nvPr/>
        </p:nvSpPr>
        <p:spPr>
          <a:xfrm>
            <a:off x="5327294" y="3211373"/>
            <a:ext cx="256032" cy="2560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69" name="Shape 67"/>
          <p:cNvSpPr/>
          <p:nvPr/>
        </p:nvSpPr>
        <p:spPr>
          <a:xfrm>
            <a:off x="5660136" y="3348533"/>
            <a:ext cx="329184" cy="329184"/>
          </a:xfrm>
          <a:prstGeom prst="ellipse">
            <a:avLst/>
          </a:prstGeom>
          <a:solidFill>
            <a:srgbClr val="EDF1F8"/>
          </a:solidFill>
          <a:ln w="19050">
            <a:solidFill>
              <a:srgbClr val="435273"/>
            </a:solidFill>
            <a:prstDash val="solid"/>
          </a:ln>
        </p:spPr>
      </p:sp>
      <p:sp>
        <p:nvSpPr>
          <p:cNvPr id="70" name="Text 68"/>
          <p:cNvSpPr txBox="1"/>
          <p:nvPr/>
        </p:nvSpPr>
        <p:spPr>
          <a:xfrm>
            <a:off x="5660136" y="3348533"/>
            <a:ext cx="329184" cy="329184"/>
          </a:xfrm>
          <a:prstGeom prst="rect">
            <a:avLst/>
          </a:prstGeom>
          <a:noFill/>
          <a:ln/>
        </p:spPr>
        <p:txBody>
          <a:bodyPr wrap="square" rtlCol="0" anchor="ctr"/>
          <a:lstStyle/>
          <a:p>
            <a:pPr marL="0" indent="0" algn="ctr">
              <a:buNone/>
            </a:pPr>
            <a:r>
              <a:rPr lang="en-US" sz="950" b="1" dirty="0">
                <a:solidFill>
                  <a:srgbClr val="14213D"/>
                </a:solidFill>
                <a:latin typeface="Calibri" pitchFamily="34" charset="0"/>
                <a:ea typeface="Calibri" pitchFamily="34" charset="-122"/>
                <a:cs typeface="Calibri" pitchFamily="34" charset="-120"/>
              </a:rPr>
              <a:t>E</a:t>
            </a:r>
            <a:endParaRPr lang="en-US" sz="950" dirty="0"/>
          </a:p>
        </p:txBody>
      </p:sp>
      <p:sp>
        <p:nvSpPr>
          <p:cNvPr id="71" name="Shape 69"/>
          <p:cNvSpPr/>
          <p:nvPr/>
        </p:nvSpPr>
        <p:spPr>
          <a:xfrm>
            <a:off x="6680606" y="3249778"/>
            <a:ext cx="329184" cy="329184"/>
          </a:xfrm>
          <a:prstGeom prst="ellipse">
            <a:avLst/>
          </a:prstGeom>
          <a:solidFill>
            <a:srgbClr val="EDF1F8"/>
          </a:solidFill>
          <a:ln w="19050">
            <a:solidFill>
              <a:srgbClr val="435273"/>
            </a:solidFill>
            <a:prstDash val="solid"/>
          </a:ln>
        </p:spPr>
      </p:sp>
      <p:sp>
        <p:nvSpPr>
          <p:cNvPr id="72" name="Text 70"/>
          <p:cNvSpPr txBox="1"/>
          <p:nvPr/>
        </p:nvSpPr>
        <p:spPr>
          <a:xfrm>
            <a:off x="6680606" y="3249778"/>
            <a:ext cx="329184" cy="329184"/>
          </a:xfrm>
          <a:prstGeom prst="rect">
            <a:avLst/>
          </a:prstGeom>
          <a:noFill/>
          <a:ln/>
        </p:spPr>
        <p:txBody>
          <a:bodyPr wrap="square" rtlCol="0" anchor="ctr"/>
          <a:lstStyle/>
          <a:p>
            <a:pPr marL="0" indent="0" algn="ctr">
              <a:buNone/>
            </a:pPr>
            <a:r>
              <a:rPr lang="en-US" sz="950" b="1" dirty="0">
                <a:solidFill>
                  <a:srgbClr val="14213D"/>
                </a:solidFill>
                <a:latin typeface="Calibri" pitchFamily="34" charset="0"/>
                <a:ea typeface="Calibri" pitchFamily="34" charset="-122"/>
                <a:cs typeface="Calibri" pitchFamily="34" charset="-120"/>
              </a:rPr>
              <a:t>F</a:t>
            </a:r>
            <a:endParaRPr lang="en-US" sz="950" dirty="0"/>
          </a:p>
        </p:txBody>
      </p:sp>
      <p:sp>
        <p:nvSpPr>
          <p:cNvPr id="73" name="Shape 71"/>
          <p:cNvSpPr/>
          <p:nvPr/>
        </p:nvSpPr>
        <p:spPr>
          <a:xfrm>
            <a:off x="5890565" y="4105656"/>
            <a:ext cx="329184" cy="329184"/>
          </a:xfrm>
          <a:prstGeom prst="ellipse">
            <a:avLst/>
          </a:prstGeom>
          <a:solidFill>
            <a:srgbClr val="C9A227"/>
          </a:solidFill>
          <a:ln w="19050">
            <a:solidFill>
              <a:srgbClr val="435273"/>
            </a:solidFill>
            <a:prstDash val="solid"/>
          </a:ln>
        </p:spPr>
      </p:sp>
      <p:sp>
        <p:nvSpPr>
          <p:cNvPr id="74" name="Text 72"/>
          <p:cNvSpPr txBox="1"/>
          <p:nvPr/>
        </p:nvSpPr>
        <p:spPr>
          <a:xfrm>
            <a:off x="5890565" y="4105656"/>
            <a:ext cx="329184" cy="329184"/>
          </a:xfrm>
          <a:prstGeom prst="rect">
            <a:avLst/>
          </a:prstGeom>
          <a:noFill/>
          <a:ln/>
        </p:spPr>
        <p:txBody>
          <a:bodyPr wrap="square" rtlCol="0" anchor="ctr"/>
          <a:lstStyle/>
          <a:p>
            <a:pPr marL="0" indent="0" algn="ctr">
              <a:buNone/>
            </a:pPr>
            <a:r>
              <a:rPr lang="en-US" sz="950" b="1" dirty="0">
                <a:solidFill>
                  <a:srgbClr val="14213D"/>
                </a:solidFill>
                <a:latin typeface="Calibri" pitchFamily="34" charset="0"/>
                <a:ea typeface="Calibri" pitchFamily="34" charset="-122"/>
                <a:cs typeface="Calibri" pitchFamily="34" charset="-120"/>
              </a:rPr>
              <a:t>G</a:t>
            </a:r>
            <a:endParaRPr lang="en-US" sz="950" dirty="0"/>
          </a:p>
        </p:txBody>
      </p:sp>
      <p:sp>
        <p:nvSpPr>
          <p:cNvPr id="75" name="Shape 73"/>
          <p:cNvSpPr/>
          <p:nvPr/>
        </p:nvSpPr>
        <p:spPr>
          <a:xfrm>
            <a:off x="6183173" y="3968496"/>
            <a:ext cx="256032" cy="256032"/>
          </a:xfrm>
          <a:prstGeom prst="ellipse">
            <a:avLst/>
          </a:prstGeom>
          <a:solidFill>
            <a:srgbClr val="14213D"/>
          </a:solidFill>
          <a:ln/>
        </p:spPr>
      </p:sp>
      <p:sp>
        <p:nvSpPr>
          <p:cNvPr id="76" name="Text 74"/>
          <p:cNvSpPr txBox="1"/>
          <p:nvPr/>
        </p:nvSpPr>
        <p:spPr>
          <a:xfrm>
            <a:off x="6183173" y="3968496"/>
            <a:ext cx="256032" cy="2560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77" name="Text 75"/>
          <p:cNvSpPr txBox="1"/>
          <p:nvPr/>
        </p:nvSpPr>
        <p:spPr>
          <a:xfrm>
            <a:off x="4206240" y="4864608"/>
            <a:ext cx="3474720" cy="384048"/>
          </a:xfrm>
          <a:prstGeom prst="rect">
            <a:avLst/>
          </a:prstGeom>
          <a:noFill/>
          <a:ln/>
        </p:spPr>
        <p:txBody>
          <a:bodyPr wrap="square" rtlCol="0" anchor="ctr"/>
          <a:lstStyle/>
          <a:p>
            <a:pPr marL="0" indent="0" algn="ctr">
              <a:lnSpc>
                <a:spcPct val="110000"/>
              </a:lnSpc>
              <a:buNone/>
            </a:pPr>
            <a:r>
              <a:rPr lang="en-US" sz="950" b="1" dirty="0">
                <a:solidFill>
                  <a:srgbClr val="435273"/>
                </a:solidFill>
                <a:latin typeface="Calibri" pitchFamily="34" charset="0"/>
                <a:ea typeface="Calibri" pitchFamily="34" charset="-122"/>
                <a:cs typeface="Calibri" pitchFamily="34" charset="-120"/>
              </a:rPr>
              <a:t>4 expansions  ·  path A-B-D-G  ·  cost 7</a:t>
            </a:r>
            <a:endParaRPr lang="en-US" sz="950" dirty="0"/>
          </a:p>
        </p:txBody>
      </p:sp>
      <p:sp>
        <p:nvSpPr>
          <p:cNvPr id="78" name="Shape 76"/>
          <p:cNvSpPr/>
          <p:nvPr/>
        </p:nvSpPr>
        <p:spPr>
          <a:xfrm>
            <a:off x="7909560" y="1371600"/>
            <a:ext cx="3474720" cy="3931920"/>
          </a:xfrm>
          <a:prstGeom prst="roundRect">
            <a:avLst>
              <a:gd name="adj" fmla="val 1842"/>
            </a:avLst>
          </a:prstGeom>
          <a:solidFill>
            <a:srgbClr val="EAEFF8"/>
          </a:solidFill>
          <a:ln/>
        </p:spPr>
      </p:sp>
      <p:sp>
        <p:nvSpPr>
          <p:cNvPr id="79" name="Text 77"/>
          <p:cNvSpPr txBox="1"/>
          <p:nvPr/>
        </p:nvSpPr>
        <p:spPr>
          <a:xfrm>
            <a:off x="7909560" y="1444752"/>
            <a:ext cx="3474720" cy="365760"/>
          </a:xfrm>
          <a:prstGeom prst="rect">
            <a:avLst/>
          </a:prstGeom>
          <a:noFill/>
          <a:ln/>
        </p:spPr>
        <p:txBody>
          <a:bodyPr wrap="square" rtlCol="0" anchor="ctr"/>
          <a:lstStyle/>
          <a:p>
            <a:pPr marL="0" indent="0" algn="ctr">
              <a:buNone/>
            </a:pPr>
            <a:r>
              <a:rPr lang="en-US" sz="1700" b="1" dirty="0">
                <a:solidFill>
                  <a:srgbClr val="14213D"/>
                </a:solidFill>
                <a:latin typeface="Cambria" pitchFamily="34" charset="0"/>
                <a:ea typeface="Cambria" pitchFamily="34" charset="-122"/>
                <a:cs typeface="Cambria" pitchFamily="34" charset="-120"/>
              </a:rPr>
              <a:t>UCS</a:t>
            </a:r>
            <a:endParaRPr lang="en-US" sz="1700" dirty="0"/>
          </a:p>
        </p:txBody>
      </p:sp>
      <p:sp>
        <p:nvSpPr>
          <p:cNvPr id="80" name="Shape 78"/>
          <p:cNvSpPr/>
          <p:nvPr/>
        </p:nvSpPr>
        <p:spPr>
          <a:xfrm flipH="1">
            <a:off x="9187151" y="2124551"/>
            <a:ext cx="451365" cy="472859"/>
          </a:xfrm>
          <a:prstGeom prst="line">
            <a:avLst/>
          </a:prstGeom>
          <a:noFill/>
          <a:ln w="34925">
            <a:solidFill>
              <a:srgbClr val="C9A227"/>
            </a:solidFill>
            <a:prstDash val="solid"/>
          </a:ln>
        </p:spPr>
      </p:sp>
      <p:sp>
        <p:nvSpPr>
          <p:cNvPr id="81" name="Shape 79"/>
          <p:cNvSpPr/>
          <p:nvPr/>
        </p:nvSpPr>
        <p:spPr>
          <a:xfrm>
            <a:off x="9878437" y="2124551"/>
            <a:ext cx="451365" cy="472859"/>
          </a:xfrm>
          <a:prstGeom prst="line">
            <a:avLst/>
          </a:prstGeom>
          <a:noFill/>
          <a:ln w="15875">
            <a:solidFill>
              <a:srgbClr val="435273"/>
            </a:solidFill>
            <a:prstDash val="solid"/>
          </a:ln>
        </p:spPr>
      </p:sp>
      <p:sp>
        <p:nvSpPr>
          <p:cNvPr id="82" name="Shape 80"/>
          <p:cNvSpPr/>
          <p:nvPr/>
        </p:nvSpPr>
        <p:spPr>
          <a:xfrm flipH="1">
            <a:off x="8938033" y="2893167"/>
            <a:ext cx="93724" cy="449873"/>
          </a:xfrm>
          <a:prstGeom prst="line">
            <a:avLst/>
          </a:prstGeom>
          <a:noFill/>
          <a:ln w="34925">
            <a:solidFill>
              <a:srgbClr val="C9A227"/>
            </a:solidFill>
            <a:prstDash val="solid"/>
          </a:ln>
        </p:spPr>
      </p:sp>
      <p:sp>
        <p:nvSpPr>
          <p:cNvPr id="83" name="Shape 81"/>
          <p:cNvSpPr/>
          <p:nvPr/>
        </p:nvSpPr>
        <p:spPr>
          <a:xfrm>
            <a:off x="9154731" y="2873153"/>
            <a:ext cx="285777" cy="489903"/>
          </a:xfrm>
          <a:prstGeom prst="line">
            <a:avLst/>
          </a:prstGeom>
          <a:noFill/>
          <a:ln w="15875">
            <a:solidFill>
              <a:srgbClr val="435273"/>
            </a:solidFill>
            <a:prstDash val="solid"/>
          </a:ln>
        </p:spPr>
      </p:sp>
      <p:sp>
        <p:nvSpPr>
          <p:cNvPr id="84" name="Shape 82"/>
          <p:cNvSpPr/>
          <p:nvPr/>
        </p:nvSpPr>
        <p:spPr>
          <a:xfrm>
            <a:off x="10474333" y="2895073"/>
            <a:ext cx="49615" cy="347307"/>
          </a:xfrm>
          <a:prstGeom prst="line">
            <a:avLst/>
          </a:prstGeom>
          <a:noFill/>
          <a:ln w="15875">
            <a:solidFill>
              <a:srgbClr val="435273"/>
            </a:solidFill>
            <a:prstDash val="solid"/>
          </a:ln>
        </p:spPr>
      </p:sp>
      <p:sp>
        <p:nvSpPr>
          <p:cNvPr id="85" name="Shape 83"/>
          <p:cNvSpPr/>
          <p:nvPr/>
        </p:nvSpPr>
        <p:spPr>
          <a:xfrm>
            <a:off x="9032726" y="3628238"/>
            <a:ext cx="595623" cy="526897"/>
          </a:xfrm>
          <a:prstGeom prst="line">
            <a:avLst/>
          </a:prstGeom>
          <a:noFill/>
          <a:ln w="34925">
            <a:solidFill>
              <a:srgbClr val="C9A227"/>
            </a:solidFill>
            <a:prstDash val="solid"/>
          </a:ln>
        </p:spPr>
      </p:sp>
      <p:sp>
        <p:nvSpPr>
          <p:cNvPr id="86" name="Shape 84"/>
          <p:cNvSpPr/>
          <p:nvPr/>
        </p:nvSpPr>
        <p:spPr>
          <a:xfrm>
            <a:off x="9578633" y="3679333"/>
            <a:ext cx="129258" cy="424706"/>
          </a:xfrm>
          <a:prstGeom prst="line">
            <a:avLst/>
          </a:prstGeom>
          <a:noFill/>
          <a:ln w="15875">
            <a:solidFill>
              <a:srgbClr val="435273"/>
            </a:solidFill>
            <a:prstDash val="solid"/>
          </a:ln>
        </p:spPr>
      </p:sp>
      <p:sp>
        <p:nvSpPr>
          <p:cNvPr id="87" name="Shape 85"/>
          <p:cNvSpPr/>
          <p:nvPr/>
        </p:nvSpPr>
        <p:spPr>
          <a:xfrm flipH="1">
            <a:off x="9876318" y="3542031"/>
            <a:ext cx="554358" cy="600555"/>
          </a:xfrm>
          <a:prstGeom prst="line">
            <a:avLst/>
          </a:prstGeom>
          <a:noFill/>
          <a:ln w="15875">
            <a:solidFill>
              <a:srgbClr val="435273"/>
            </a:solidFill>
            <a:prstDash val="solid"/>
          </a:ln>
        </p:spPr>
      </p:sp>
      <p:sp>
        <p:nvSpPr>
          <p:cNvPr id="88" name="Shape 86"/>
          <p:cNvSpPr/>
          <p:nvPr/>
        </p:nvSpPr>
        <p:spPr>
          <a:xfrm>
            <a:off x="9593885" y="1834286"/>
            <a:ext cx="329184" cy="329184"/>
          </a:xfrm>
          <a:prstGeom prst="ellipse">
            <a:avLst/>
          </a:prstGeom>
          <a:solidFill>
            <a:srgbClr val="FFFFFF"/>
          </a:solidFill>
          <a:ln w="19050">
            <a:solidFill>
              <a:srgbClr val="435273"/>
            </a:solidFill>
            <a:prstDash val="solid"/>
          </a:ln>
        </p:spPr>
      </p:sp>
      <p:sp>
        <p:nvSpPr>
          <p:cNvPr id="89" name="Text 87"/>
          <p:cNvSpPr txBox="1"/>
          <p:nvPr/>
        </p:nvSpPr>
        <p:spPr>
          <a:xfrm>
            <a:off x="9593885" y="1834286"/>
            <a:ext cx="329184" cy="329184"/>
          </a:xfrm>
          <a:prstGeom prst="rect">
            <a:avLst/>
          </a:prstGeom>
          <a:noFill/>
          <a:ln/>
        </p:spPr>
        <p:txBody>
          <a:bodyPr wrap="square" rtlCol="0" anchor="ctr"/>
          <a:lstStyle/>
          <a:p>
            <a:pPr marL="0" indent="0" algn="ctr">
              <a:buNone/>
            </a:pPr>
            <a:r>
              <a:rPr lang="en-US" sz="950" b="1" dirty="0">
                <a:solidFill>
                  <a:srgbClr val="14213D"/>
                </a:solidFill>
                <a:latin typeface="Calibri" pitchFamily="34" charset="0"/>
                <a:ea typeface="Calibri" pitchFamily="34" charset="-122"/>
                <a:cs typeface="Calibri" pitchFamily="34" charset="-120"/>
              </a:rPr>
              <a:t>A</a:t>
            </a:r>
            <a:endParaRPr lang="en-US" sz="950" dirty="0"/>
          </a:p>
        </p:txBody>
      </p:sp>
      <p:sp>
        <p:nvSpPr>
          <p:cNvPr id="90" name="Shape 88"/>
          <p:cNvSpPr/>
          <p:nvPr/>
        </p:nvSpPr>
        <p:spPr>
          <a:xfrm>
            <a:off x="9886493" y="1697126"/>
            <a:ext cx="256032" cy="256032"/>
          </a:xfrm>
          <a:prstGeom prst="ellipse">
            <a:avLst/>
          </a:prstGeom>
          <a:solidFill>
            <a:srgbClr val="14213D"/>
          </a:solidFill>
          <a:ln/>
        </p:spPr>
      </p:sp>
      <p:sp>
        <p:nvSpPr>
          <p:cNvPr id="91" name="Text 89"/>
          <p:cNvSpPr txBox="1"/>
          <p:nvPr/>
        </p:nvSpPr>
        <p:spPr>
          <a:xfrm>
            <a:off x="9886493" y="1697126"/>
            <a:ext cx="256032" cy="2560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92" name="Shape 90"/>
          <p:cNvSpPr/>
          <p:nvPr/>
        </p:nvSpPr>
        <p:spPr>
          <a:xfrm>
            <a:off x="8902598" y="2558491"/>
            <a:ext cx="329184" cy="329184"/>
          </a:xfrm>
          <a:prstGeom prst="ellipse">
            <a:avLst/>
          </a:prstGeom>
          <a:solidFill>
            <a:srgbClr val="FFFFFF"/>
          </a:solidFill>
          <a:ln w="19050">
            <a:solidFill>
              <a:srgbClr val="435273"/>
            </a:solidFill>
            <a:prstDash val="solid"/>
          </a:ln>
        </p:spPr>
      </p:sp>
      <p:sp>
        <p:nvSpPr>
          <p:cNvPr id="93" name="Text 91"/>
          <p:cNvSpPr txBox="1"/>
          <p:nvPr/>
        </p:nvSpPr>
        <p:spPr>
          <a:xfrm>
            <a:off x="8902598" y="2558491"/>
            <a:ext cx="329184" cy="329184"/>
          </a:xfrm>
          <a:prstGeom prst="rect">
            <a:avLst/>
          </a:prstGeom>
          <a:noFill/>
          <a:ln/>
        </p:spPr>
        <p:txBody>
          <a:bodyPr wrap="square" rtlCol="0" anchor="ctr"/>
          <a:lstStyle/>
          <a:p>
            <a:pPr marL="0" indent="0" algn="ctr">
              <a:buNone/>
            </a:pPr>
            <a:r>
              <a:rPr lang="en-US" sz="950" b="1" dirty="0">
                <a:solidFill>
                  <a:srgbClr val="14213D"/>
                </a:solidFill>
                <a:latin typeface="Calibri" pitchFamily="34" charset="0"/>
                <a:ea typeface="Calibri" pitchFamily="34" charset="-122"/>
                <a:cs typeface="Calibri" pitchFamily="34" charset="-120"/>
              </a:rPr>
              <a:t>B</a:t>
            </a:r>
            <a:endParaRPr lang="en-US" sz="950" dirty="0"/>
          </a:p>
        </p:txBody>
      </p:sp>
      <p:sp>
        <p:nvSpPr>
          <p:cNvPr id="94" name="Shape 92"/>
          <p:cNvSpPr/>
          <p:nvPr/>
        </p:nvSpPr>
        <p:spPr>
          <a:xfrm>
            <a:off x="9195206" y="2421331"/>
            <a:ext cx="256032" cy="256032"/>
          </a:xfrm>
          <a:prstGeom prst="ellipse">
            <a:avLst/>
          </a:prstGeom>
          <a:solidFill>
            <a:srgbClr val="14213D"/>
          </a:solidFill>
          <a:ln/>
        </p:spPr>
      </p:sp>
      <p:sp>
        <p:nvSpPr>
          <p:cNvPr id="95" name="Text 93"/>
          <p:cNvSpPr txBox="1"/>
          <p:nvPr/>
        </p:nvSpPr>
        <p:spPr>
          <a:xfrm>
            <a:off x="9195206" y="2421331"/>
            <a:ext cx="256032" cy="2560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96" name="Shape 94"/>
          <p:cNvSpPr/>
          <p:nvPr/>
        </p:nvSpPr>
        <p:spPr>
          <a:xfrm>
            <a:off x="10285171" y="2558491"/>
            <a:ext cx="329184" cy="329184"/>
          </a:xfrm>
          <a:prstGeom prst="ellipse">
            <a:avLst/>
          </a:prstGeom>
          <a:solidFill>
            <a:srgbClr val="FFFFFF"/>
          </a:solidFill>
          <a:ln w="19050">
            <a:solidFill>
              <a:srgbClr val="435273"/>
            </a:solidFill>
            <a:prstDash val="solid"/>
          </a:ln>
        </p:spPr>
      </p:sp>
      <p:sp>
        <p:nvSpPr>
          <p:cNvPr id="97" name="Text 95"/>
          <p:cNvSpPr txBox="1"/>
          <p:nvPr/>
        </p:nvSpPr>
        <p:spPr>
          <a:xfrm>
            <a:off x="10285171" y="2558491"/>
            <a:ext cx="329184" cy="329184"/>
          </a:xfrm>
          <a:prstGeom prst="rect">
            <a:avLst/>
          </a:prstGeom>
          <a:noFill/>
          <a:ln/>
        </p:spPr>
        <p:txBody>
          <a:bodyPr wrap="square" rtlCol="0" anchor="ctr"/>
          <a:lstStyle/>
          <a:p>
            <a:pPr marL="0" indent="0" algn="ctr">
              <a:buNone/>
            </a:pPr>
            <a:r>
              <a:rPr lang="en-US" sz="950" b="1" dirty="0">
                <a:solidFill>
                  <a:srgbClr val="14213D"/>
                </a:solidFill>
                <a:latin typeface="Calibri" pitchFamily="34" charset="0"/>
                <a:ea typeface="Calibri" pitchFamily="34" charset="-122"/>
                <a:cs typeface="Calibri" pitchFamily="34" charset="-120"/>
              </a:rPr>
              <a:t>C</a:t>
            </a:r>
            <a:endParaRPr lang="en-US" sz="950" dirty="0"/>
          </a:p>
        </p:txBody>
      </p:sp>
      <p:sp>
        <p:nvSpPr>
          <p:cNvPr id="98" name="Shape 96"/>
          <p:cNvSpPr/>
          <p:nvPr/>
        </p:nvSpPr>
        <p:spPr>
          <a:xfrm>
            <a:off x="10577779" y="2421331"/>
            <a:ext cx="256032" cy="256032"/>
          </a:xfrm>
          <a:prstGeom prst="ellipse">
            <a:avLst/>
          </a:prstGeom>
          <a:solidFill>
            <a:srgbClr val="14213D"/>
          </a:solidFill>
          <a:ln/>
        </p:spPr>
      </p:sp>
      <p:sp>
        <p:nvSpPr>
          <p:cNvPr id="99" name="Text 97"/>
          <p:cNvSpPr txBox="1"/>
          <p:nvPr/>
        </p:nvSpPr>
        <p:spPr>
          <a:xfrm>
            <a:off x="10577779" y="2421331"/>
            <a:ext cx="256032" cy="2560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100" name="Shape 98"/>
          <p:cNvSpPr/>
          <p:nvPr/>
        </p:nvSpPr>
        <p:spPr>
          <a:xfrm>
            <a:off x="8738006" y="3348533"/>
            <a:ext cx="329184" cy="329184"/>
          </a:xfrm>
          <a:prstGeom prst="ellipse">
            <a:avLst/>
          </a:prstGeom>
          <a:solidFill>
            <a:srgbClr val="FFFFFF"/>
          </a:solidFill>
          <a:ln w="19050">
            <a:solidFill>
              <a:srgbClr val="435273"/>
            </a:solidFill>
            <a:prstDash val="solid"/>
          </a:ln>
        </p:spPr>
      </p:sp>
      <p:sp>
        <p:nvSpPr>
          <p:cNvPr id="101" name="Text 99"/>
          <p:cNvSpPr txBox="1"/>
          <p:nvPr/>
        </p:nvSpPr>
        <p:spPr>
          <a:xfrm>
            <a:off x="8738006" y="3348533"/>
            <a:ext cx="329184" cy="329184"/>
          </a:xfrm>
          <a:prstGeom prst="rect">
            <a:avLst/>
          </a:prstGeom>
          <a:noFill/>
          <a:ln/>
        </p:spPr>
        <p:txBody>
          <a:bodyPr wrap="square" rtlCol="0" anchor="ctr"/>
          <a:lstStyle/>
          <a:p>
            <a:pPr marL="0" indent="0" algn="ctr">
              <a:buNone/>
            </a:pPr>
            <a:r>
              <a:rPr lang="en-US" sz="950" b="1" dirty="0">
                <a:solidFill>
                  <a:srgbClr val="14213D"/>
                </a:solidFill>
                <a:latin typeface="Calibri" pitchFamily="34" charset="0"/>
                <a:ea typeface="Calibri" pitchFamily="34" charset="-122"/>
                <a:cs typeface="Calibri" pitchFamily="34" charset="-120"/>
              </a:rPr>
              <a:t>D</a:t>
            </a:r>
            <a:endParaRPr lang="en-US" sz="950" dirty="0"/>
          </a:p>
        </p:txBody>
      </p:sp>
      <p:sp>
        <p:nvSpPr>
          <p:cNvPr id="102" name="Shape 100"/>
          <p:cNvSpPr/>
          <p:nvPr/>
        </p:nvSpPr>
        <p:spPr>
          <a:xfrm>
            <a:off x="9030614" y="3211373"/>
            <a:ext cx="256032" cy="256032"/>
          </a:xfrm>
          <a:prstGeom prst="ellipse">
            <a:avLst/>
          </a:prstGeom>
          <a:solidFill>
            <a:srgbClr val="14213D"/>
          </a:solidFill>
          <a:ln/>
        </p:spPr>
      </p:sp>
      <p:sp>
        <p:nvSpPr>
          <p:cNvPr id="103" name="Text 101"/>
          <p:cNvSpPr txBox="1"/>
          <p:nvPr/>
        </p:nvSpPr>
        <p:spPr>
          <a:xfrm>
            <a:off x="9030614" y="3211373"/>
            <a:ext cx="256032" cy="2560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04" name="Shape 102"/>
          <p:cNvSpPr/>
          <p:nvPr/>
        </p:nvSpPr>
        <p:spPr>
          <a:xfrm>
            <a:off x="9363456" y="3348533"/>
            <a:ext cx="329184" cy="329184"/>
          </a:xfrm>
          <a:prstGeom prst="ellipse">
            <a:avLst/>
          </a:prstGeom>
          <a:solidFill>
            <a:srgbClr val="FFFFFF"/>
          </a:solidFill>
          <a:ln w="19050">
            <a:solidFill>
              <a:srgbClr val="435273"/>
            </a:solidFill>
            <a:prstDash val="solid"/>
          </a:ln>
        </p:spPr>
      </p:sp>
      <p:sp>
        <p:nvSpPr>
          <p:cNvPr id="105" name="Text 103"/>
          <p:cNvSpPr txBox="1"/>
          <p:nvPr/>
        </p:nvSpPr>
        <p:spPr>
          <a:xfrm>
            <a:off x="9363456" y="3348533"/>
            <a:ext cx="329184" cy="329184"/>
          </a:xfrm>
          <a:prstGeom prst="rect">
            <a:avLst/>
          </a:prstGeom>
          <a:noFill/>
          <a:ln/>
        </p:spPr>
        <p:txBody>
          <a:bodyPr wrap="square" rtlCol="0" anchor="ctr"/>
          <a:lstStyle/>
          <a:p>
            <a:pPr marL="0" indent="0" algn="ctr">
              <a:buNone/>
            </a:pPr>
            <a:r>
              <a:rPr lang="en-US" sz="950" b="1" dirty="0">
                <a:solidFill>
                  <a:srgbClr val="14213D"/>
                </a:solidFill>
                <a:latin typeface="Calibri" pitchFamily="34" charset="0"/>
                <a:ea typeface="Calibri" pitchFamily="34" charset="-122"/>
                <a:cs typeface="Calibri" pitchFamily="34" charset="-120"/>
              </a:rPr>
              <a:t>E</a:t>
            </a:r>
            <a:endParaRPr lang="en-US" sz="950" dirty="0"/>
          </a:p>
        </p:txBody>
      </p:sp>
      <p:sp>
        <p:nvSpPr>
          <p:cNvPr id="106" name="Shape 104"/>
          <p:cNvSpPr/>
          <p:nvPr/>
        </p:nvSpPr>
        <p:spPr>
          <a:xfrm>
            <a:off x="9656064" y="3211373"/>
            <a:ext cx="256032" cy="256032"/>
          </a:xfrm>
          <a:prstGeom prst="ellipse">
            <a:avLst/>
          </a:prstGeom>
          <a:solidFill>
            <a:srgbClr val="14213D"/>
          </a:solidFill>
          <a:ln/>
        </p:spPr>
      </p:sp>
      <p:sp>
        <p:nvSpPr>
          <p:cNvPr id="107" name="Text 105"/>
          <p:cNvSpPr txBox="1"/>
          <p:nvPr/>
        </p:nvSpPr>
        <p:spPr>
          <a:xfrm>
            <a:off x="9656064" y="3211373"/>
            <a:ext cx="256032" cy="2560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108" name="Shape 106"/>
          <p:cNvSpPr/>
          <p:nvPr/>
        </p:nvSpPr>
        <p:spPr>
          <a:xfrm>
            <a:off x="10383926" y="3249778"/>
            <a:ext cx="329184" cy="329184"/>
          </a:xfrm>
          <a:prstGeom prst="ellipse">
            <a:avLst/>
          </a:prstGeom>
          <a:solidFill>
            <a:srgbClr val="FFFFFF"/>
          </a:solidFill>
          <a:ln w="19050">
            <a:solidFill>
              <a:srgbClr val="435273"/>
            </a:solidFill>
            <a:prstDash val="solid"/>
          </a:ln>
        </p:spPr>
      </p:sp>
      <p:sp>
        <p:nvSpPr>
          <p:cNvPr id="109" name="Text 107"/>
          <p:cNvSpPr txBox="1"/>
          <p:nvPr/>
        </p:nvSpPr>
        <p:spPr>
          <a:xfrm>
            <a:off x="10383926" y="3249778"/>
            <a:ext cx="329184" cy="329184"/>
          </a:xfrm>
          <a:prstGeom prst="rect">
            <a:avLst/>
          </a:prstGeom>
          <a:noFill/>
          <a:ln/>
        </p:spPr>
        <p:txBody>
          <a:bodyPr wrap="square" rtlCol="0" anchor="ctr"/>
          <a:lstStyle/>
          <a:p>
            <a:pPr marL="0" indent="0" algn="ctr">
              <a:buNone/>
            </a:pPr>
            <a:r>
              <a:rPr lang="en-US" sz="950" b="1" dirty="0">
                <a:solidFill>
                  <a:srgbClr val="14213D"/>
                </a:solidFill>
                <a:latin typeface="Calibri" pitchFamily="34" charset="0"/>
                <a:ea typeface="Calibri" pitchFamily="34" charset="-122"/>
                <a:cs typeface="Calibri" pitchFamily="34" charset="-120"/>
              </a:rPr>
              <a:t>F</a:t>
            </a:r>
            <a:endParaRPr lang="en-US" sz="950" dirty="0"/>
          </a:p>
        </p:txBody>
      </p:sp>
      <p:sp>
        <p:nvSpPr>
          <p:cNvPr id="110" name="Shape 108"/>
          <p:cNvSpPr/>
          <p:nvPr/>
        </p:nvSpPr>
        <p:spPr>
          <a:xfrm>
            <a:off x="10676534" y="3112618"/>
            <a:ext cx="256032" cy="256032"/>
          </a:xfrm>
          <a:prstGeom prst="ellipse">
            <a:avLst/>
          </a:prstGeom>
          <a:solidFill>
            <a:srgbClr val="14213D"/>
          </a:solidFill>
          <a:ln/>
        </p:spPr>
      </p:sp>
      <p:sp>
        <p:nvSpPr>
          <p:cNvPr id="111" name="Text 109"/>
          <p:cNvSpPr txBox="1"/>
          <p:nvPr/>
        </p:nvSpPr>
        <p:spPr>
          <a:xfrm>
            <a:off x="10676534" y="3112618"/>
            <a:ext cx="256032" cy="2560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112" name="Shape 110"/>
          <p:cNvSpPr/>
          <p:nvPr/>
        </p:nvSpPr>
        <p:spPr>
          <a:xfrm>
            <a:off x="9593885" y="4105656"/>
            <a:ext cx="329184" cy="329184"/>
          </a:xfrm>
          <a:prstGeom prst="ellipse">
            <a:avLst/>
          </a:prstGeom>
          <a:solidFill>
            <a:srgbClr val="C9A227"/>
          </a:solidFill>
          <a:ln w="19050">
            <a:solidFill>
              <a:srgbClr val="435273"/>
            </a:solidFill>
            <a:prstDash val="solid"/>
          </a:ln>
        </p:spPr>
      </p:sp>
      <p:sp>
        <p:nvSpPr>
          <p:cNvPr id="113" name="Text 111"/>
          <p:cNvSpPr txBox="1"/>
          <p:nvPr/>
        </p:nvSpPr>
        <p:spPr>
          <a:xfrm>
            <a:off x="9593885" y="4105656"/>
            <a:ext cx="329184" cy="329184"/>
          </a:xfrm>
          <a:prstGeom prst="rect">
            <a:avLst/>
          </a:prstGeom>
          <a:noFill/>
          <a:ln/>
        </p:spPr>
        <p:txBody>
          <a:bodyPr wrap="square" rtlCol="0" anchor="ctr"/>
          <a:lstStyle/>
          <a:p>
            <a:pPr marL="0" indent="0" algn="ctr">
              <a:buNone/>
            </a:pPr>
            <a:r>
              <a:rPr lang="en-US" sz="950" b="1" dirty="0">
                <a:solidFill>
                  <a:srgbClr val="14213D"/>
                </a:solidFill>
                <a:latin typeface="Calibri" pitchFamily="34" charset="0"/>
                <a:ea typeface="Calibri" pitchFamily="34" charset="-122"/>
                <a:cs typeface="Calibri" pitchFamily="34" charset="-120"/>
              </a:rPr>
              <a:t>G</a:t>
            </a:r>
            <a:endParaRPr lang="en-US" sz="950" dirty="0"/>
          </a:p>
        </p:txBody>
      </p:sp>
      <p:sp>
        <p:nvSpPr>
          <p:cNvPr id="114" name="Shape 112"/>
          <p:cNvSpPr/>
          <p:nvPr/>
        </p:nvSpPr>
        <p:spPr>
          <a:xfrm>
            <a:off x="9886493" y="3968496"/>
            <a:ext cx="256032" cy="256032"/>
          </a:xfrm>
          <a:prstGeom prst="ellipse">
            <a:avLst/>
          </a:prstGeom>
          <a:solidFill>
            <a:srgbClr val="14213D"/>
          </a:solidFill>
          <a:ln/>
        </p:spPr>
      </p:sp>
      <p:sp>
        <p:nvSpPr>
          <p:cNvPr id="115" name="Text 113"/>
          <p:cNvSpPr txBox="1"/>
          <p:nvPr/>
        </p:nvSpPr>
        <p:spPr>
          <a:xfrm>
            <a:off x="9886493" y="3968496"/>
            <a:ext cx="256032" cy="2560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7</a:t>
            </a:r>
            <a:endParaRPr lang="en-US" sz="900" dirty="0"/>
          </a:p>
        </p:txBody>
      </p:sp>
      <p:sp>
        <p:nvSpPr>
          <p:cNvPr id="116" name="Text 114"/>
          <p:cNvSpPr txBox="1"/>
          <p:nvPr/>
        </p:nvSpPr>
        <p:spPr>
          <a:xfrm>
            <a:off x="7909560" y="4864608"/>
            <a:ext cx="3474720" cy="384048"/>
          </a:xfrm>
          <a:prstGeom prst="rect">
            <a:avLst/>
          </a:prstGeom>
          <a:noFill/>
          <a:ln/>
        </p:spPr>
        <p:txBody>
          <a:bodyPr wrap="square" rtlCol="0" anchor="ctr"/>
          <a:lstStyle/>
          <a:p>
            <a:pPr marL="0" indent="0" algn="ctr">
              <a:lnSpc>
                <a:spcPct val="110000"/>
              </a:lnSpc>
              <a:buNone/>
            </a:pPr>
            <a:r>
              <a:rPr lang="en-US" sz="950" b="1" dirty="0">
                <a:solidFill>
                  <a:srgbClr val="435273"/>
                </a:solidFill>
                <a:latin typeface="Calibri" pitchFamily="34" charset="0"/>
                <a:ea typeface="Calibri" pitchFamily="34" charset="-122"/>
                <a:cs typeface="Calibri" pitchFamily="34" charset="-120"/>
              </a:rPr>
              <a:t>7 expansions  ·  path A-B-D-G  ·  cost 7</a:t>
            </a:r>
            <a:endParaRPr lang="en-US" sz="950" dirty="0"/>
          </a:p>
        </p:txBody>
      </p:sp>
      <p:sp>
        <p:nvSpPr>
          <p:cNvPr id="117" name="Shape 115"/>
          <p:cNvSpPr/>
          <p:nvPr/>
        </p:nvSpPr>
        <p:spPr>
          <a:xfrm>
            <a:off x="502920" y="5440680"/>
            <a:ext cx="11185855" cy="868680"/>
          </a:xfrm>
          <a:prstGeom prst="roundRect">
            <a:avLst>
              <a:gd name="adj" fmla="val 8421"/>
            </a:avLst>
          </a:prstGeom>
          <a:solidFill>
            <a:srgbClr val="EAEFF8"/>
          </a:solidFill>
          <a:ln/>
        </p:spPr>
      </p:sp>
      <p:sp>
        <p:nvSpPr>
          <p:cNvPr id="118" name="Shape 116"/>
          <p:cNvSpPr/>
          <p:nvPr/>
        </p:nvSpPr>
        <p:spPr>
          <a:xfrm>
            <a:off x="704088" y="5641848"/>
            <a:ext cx="347472" cy="347472"/>
          </a:xfrm>
          <a:prstGeom prst="ellipse">
            <a:avLst/>
          </a:prstGeom>
          <a:solidFill>
            <a:srgbClr val="C9A227"/>
          </a:solidFill>
          <a:ln/>
        </p:spPr>
      </p:sp>
      <p:sp>
        <p:nvSpPr>
          <p:cNvPr id="119" name="Text 117"/>
          <p:cNvSpPr txBox="1"/>
          <p:nvPr/>
        </p:nvSpPr>
        <p:spPr>
          <a:xfrm>
            <a:off x="704088" y="5641848"/>
            <a:ext cx="347472" cy="347472"/>
          </a:xfrm>
          <a:prstGeom prst="rect">
            <a:avLst/>
          </a:prstGeom>
          <a:noFill/>
          <a:ln/>
        </p:spPr>
        <p:txBody>
          <a:bodyPr wrap="none" rtlCol="0" anchor="ctr"/>
          <a:lstStyle/>
          <a:p>
            <a:pPr marL="0" indent="0" algn="ctr">
              <a:buNone/>
            </a:pPr>
            <a:r>
              <a:rPr lang="en-US" sz="1500" b="1" dirty="0">
                <a:solidFill>
                  <a:srgbClr val="0A1226"/>
                </a:solidFill>
                <a:latin typeface="Calibri" pitchFamily="34" charset="0"/>
                <a:ea typeface="Calibri" pitchFamily="34" charset="-122"/>
                <a:cs typeface="Calibri" pitchFamily="34" charset="-120"/>
              </a:rPr>
              <a:t>!</a:t>
            </a:r>
            <a:endParaRPr lang="en-US" sz="1500" dirty="0"/>
          </a:p>
        </p:txBody>
      </p:sp>
      <p:sp>
        <p:nvSpPr>
          <p:cNvPr id="120" name="Text 118"/>
          <p:cNvSpPr txBox="1"/>
          <p:nvPr/>
        </p:nvSpPr>
        <p:spPr>
          <a:xfrm>
            <a:off x="1207008" y="5605272"/>
            <a:ext cx="10280599" cy="310896"/>
          </a:xfrm>
          <a:prstGeom prst="rect">
            <a:avLst/>
          </a:prstGeom>
          <a:noFill/>
          <a:ln/>
        </p:spPr>
        <p:txBody>
          <a:bodyPr wrap="square" rtlCol="0" anchor="ctr"/>
          <a:lstStyle/>
          <a:p>
            <a:pPr marL="0" indent="0">
              <a:buNone/>
            </a:pPr>
            <a:r>
              <a:rPr lang="en-US" sz="1250" b="1" dirty="0">
                <a:solidFill>
                  <a:srgbClr val="14213D"/>
                </a:solidFill>
                <a:latin typeface="Calibri" pitchFamily="34" charset="0"/>
                <a:ea typeface="Calibri" pitchFamily="34" charset="-122"/>
                <a:cs typeface="Calibri" pitchFamily="34" charset="-120"/>
              </a:rPr>
              <a:t>All three agree here — but for very different reasons, and that won't always happen</a:t>
            </a:r>
            <a:endParaRPr lang="en-US" sz="1250" dirty="0"/>
          </a:p>
        </p:txBody>
      </p:sp>
      <p:sp>
        <p:nvSpPr>
          <p:cNvPr id="121" name="Text 119"/>
          <p:cNvSpPr txBox="1"/>
          <p:nvPr/>
        </p:nvSpPr>
        <p:spPr>
          <a:xfrm>
            <a:off x="1207008" y="5934456"/>
            <a:ext cx="10280599" cy="338328"/>
          </a:xfrm>
          <a:prstGeom prst="rect">
            <a:avLst/>
          </a:prstGeom>
          <a:noFill/>
          <a:ln/>
        </p:spPr>
        <p:txBody>
          <a:bodyPr wrap="square" rtlCol="0" anchor="t"/>
          <a:lstStyle/>
          <a:p>
            <a:pPr marL="0" indent="0">
              <a:lnSpc>
                <a:spcPct val="112000"/>
              </a:lnSpc>
              <a:buNone/>
            </a:pPr>
            <a:r>
              <a:rPr lang="en-US" sz="1400" dirty="0">
                <a:solidFill>
                  <a:srgbClr val="1B2333"/>
                </a:solidFill>
                <a:latin typeface="Calibri" pitchFamily="34" charset="0"/>
                <a:ea typeface="Calibri" pitchFamily="34" charset="-122"/>
                <a:cs typeface="Calibri" pitchFamily="34" charset="-120"/>
              </a:rPr>
              <a:t>In this graph, every root-to-goal path happens to use 3 edges, so BFS's fewest-edges criterion accidentally matches UCS's lowest-cost criterion. DFS reached the same answer only because of left-to-right ordering luck (see Slide 28) — none of this is a general guarantee.</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92608"/>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CLASSROOM CHALLENGE</a:t>
            </a:r>
            <a:endParaRPr lang="en-US" sz="1200" dirty="0"/>
          </a:p>
        </p:txBody>
      </p:sp>
      <p:sp>
        <p:nvSpPr>
          <p:cNvPr id="3" name="Text 1"/>
          <p:cNvSpPr txBox="1"/>
          <p:nvPr/>
        </p:nvSpPr>
        <p:spPr>
          <a:xfrm>
            <a:off x="502920" y="621792"/>
            <a:ext cx="11155680" cy="658368"/>
          </a:xfrm>
          <a:prstGeom prst="rect">
            <a:avLst/>
          </a:prstGeom>
          <a:noFill/>
          <a:ln/>
        </p:spPr>
        <p:txBody>
          <a:bodyPr wrap="square" rtlCol="0" anchor="ctr"/>
          <a:lstStyle/>
          <a:p>
            <a:pPr marL="0" indent="0">
              <a:buNone/>
            </a:pPr>
            <a:r>
              <a:rPr lang="en-US" sz="2900" b="1" dirty="0">
                <a:solidFill>
                  <a:srgbClr val="14213D"/>
                </a:solidFill>
                <a:latin typeface="Cambria" pitchFamily="34" charset="0"/>
                <a:ea typeface="Cambria" pitchFamily="34" charset="-122"/>
                <a:cs typeface="Cambria" pitchFamily="34" charset="-120"/>
              </a:rPr>
              <a:t>Trace It Yourself — 3 to 5 Minutes</a:t>
            </a:r>
            <a:endParaRPr lang="en-US" sz="2900" dirty="0"/>
          </a:p>
        </p:txBody>
      </p:sp>
      <p:sp>
        <p:nvSpPr>
          <p:cNvPr id="4" name="Text 2"/>
          <p:cNvSpPr txBox="1"/>
          <p:nvPr/>
        </p:nvSpPr>
        <p:spPr>
          <a:xfrm>
            <a:off x="502920" y="6473952"/>
            <a:ext cx="7315200" cy="274320"/>
          </a:xfrm>
          <a:prstGeom prst="rect">
            <a:avLst/>
          </a:prstGeom>
          <a:noFill/>
          <a:ln/>
        </p:spPr>
        <p:txBody>
          <a:bodyPr wrap="square" rtlCol="0" anchor="ctr"/>
          <a:lstStyle/>
          <a:p>
            <a:pPr marL="0" indent="0">
              <a:buNone/>
            </a:pPr>
            <a:r>
              <a:rPr lang="en-US" sz="950" b="1" dirty="0">
                <a:solidFill>
                  <a:srgbClr val="6B7280"/>
                </a:solidFill>
                <a:latin typeface="Calibri" pitchFamily="34" charset="0"/>
                <a:ea typeface="Calibri" pitchFamily="34" charset="-122"/>
                <a:cs typeface="Calibri" pitchFamily="34" charset="-120"/>
              </a:rPr>
              <a:t>Artificial Intelligence</a:t>
            </a:r>
            <a:r>
              <a:rPr lang="en-US" sz="950" dirty="0">
                <a:solidFill>
                  <a:srgbClr val="6B7280"/>
                </a:solidFill>
                <a:latin typeface="Calibri" pitchFamily="34" charset="0"/>
                <a:ea typeface="Calibri" pitchFamily="34" charset="-122"/>
                <a:cs typeface="Calibri" pitchFamily="34" charset="-120"/>
              </a:rPr>
              <a:t>   ·   BS Computer Science   ·   Lecture 3</a:t>
            </a:r>
            <a:endParaRPr lang="en-US" sz="950" dirty="0"/>
          </a:p>
        </p:txBody>
      </p:sp>
      <p:sp>
        <p:nvSpPr>
          <p:cNvPr id="5" name="Text 3"/>
          <p:cNvSpPr txBox="1"/>
          <p:nvPr/>
        </p:nvSpPr>
        <p:spPr>
          <a:xfrm>
            <a:off x="8762695" y="6473952"/>
            <a:ext cx="292608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Dr. Ghulam Ali   ·   39</a:t>
            </a:r>
            <a:endParaRPr lang="en-US" sz="950" dirty="0"/>
          </a:p>
        </p:txBody>
      </p:sp>
      <p:sp>
        <p:nvSpPr>
          <p:cNvPr id="6" name="Shape 4"/>
          <p:cNvSpPr/>
          <p:nvPr/>
        </p:nvSpPr>
        <p:spPr>
          <a:xfrm flipV="1">
            <a:off x="886630" y="2086228"/>
            <a:ext cx="1381420" cy="673863"/>
          </a:xfrm>
          <a:prstGeom prst="line">
            <a:avLst/>
          </a:prstGeom>
          <a:noFill/>
          <a:ln w="25400">
            <a:solidFill>
              <a:srgbClr val="435273"/>
            </a:solidFill>
            <a:prstDash val="solid"/>
          </a:ln>
        </p:spPr>
      </p:sp>
      <p:sp>
        <p:nvSpPr>
          <p:cNvPr id="7" name="Shape 5"/>
          <p:cNvSpPr/>
          <p:nvPr/>
        </p:nvSpPr>
        <p:spPr>
          <a:xfrm>
            <a:off x="1421892" y="2286000"/>
            <a:ext cx="310896" cy="237744"/>
          </a:xfrm>
          <a:prstGeom prst="rect">
            <a:avLst/>
          </a:prstGeom>
          <a:solidFill>
            <a:srgbClr val="F7F9FC"/>
          </a:solidFill>
          <a:ln/>
        </p:spPr>
      </p:sp>
      <p:sp>
        <p:nvSpPr>
          <p:cNvPr id="8" name="Text 6"/>
          <p:cNvSpPr txBox="1"/>
          <p:nvPr/>
        </p:nvSpPr>
        <p:spPr>
          <a:xfrm>
            <a:off x="1421892" y="2286000"/>
            <a:ext cx="310896" cy="237744"/>
          </a:xfrm>
          <a:prstGeom prst="rect">
            <a:avLst/>
          </a:prstGeom>
          <a:noFill/>
          <a:ln/>
        </p:spPr>
        <p:txBody>
          <a:bodyPr wrap="square" rtlCol="0" anchor="ctr"/>
          <a:lstStyle/>
          <a:p>
            <a:pPr marL="0" indent="0" algn="ctr">
              <a:buNone/>
            </a:pPr>
            <a:r>
              <a:rPr lang="en-US" sz="1150" b="1" dirty="0">
                <a:solidFill>
                  <a:srgbClr val="14213D"/>
                </a:solidFill>
                <a:latin typeface="Calibri" pitchFamily="34" charset="0"/>
                <a:ea typeface="Calibri" pitchFamily="34" charset="-122"/>
                <a:cs typeface="Calibri" pitchFamily="34" charset="-120"/>
              </a:rPr>
              <a:t>4</a:t>
            </a:r>
            <a:endParaRPr lang="en-US" sz="1150" dirty="0"/>
          </a:p>
        </p:txBody>
      </p:sp>
      <p:sp>
        <p:nvSpPr>
          <p:cNvPr id="9" name="Shape 7"/>
          <p:cNvSpPr/>
          <p:nvPr/>
        </p:nvSpPr>
        <p:spPr>
          <a:xfrm>
            <a:off x="886630" y="3000628"/>
            <a:ext cx="1381420" cy="673863"/>
          </a:xfrm>
          <a:prstGeom prst="line">
            <a:avLst/>
          </a:prstGeom>
          <a:noFill/>
          <a:ln w="25400">
            <a:solidFill>
              <a:srgbClr val="435273"/>
            </a:solidFill>
            <a:prstDash val="solid"/>
          </a:ln>
        </p:spPr>
      </p:sp>
      <p:sp>
        <p:nvSpPr>
          <p:cNvPr id="10" name="Shape 8"/>
          <p:cNvSpPr/>
          <p:nvPr/>
        </p:nvSpPr>
        <p:spPr>
          <a:xfrm>
            <a:off x="1421892" y="3200400"/>
            <a:ext cx="310896" cy="237744"/>
          </a:xfrm>
          <a:prstGeom prst="rect">
            <a:avLst/>
          </a:prstGeom>
          <a:solidFill>
            <a:srgbClr val="F7F9FC"/>
          </a:solidFill>
          <a:ln/>
        </p:spPr>
      </p:sp>
      <p:sp>
        <p:nvSpPr>
          <p:cNvPr id="11" name="Text 9"/>
          <p:cNvSpPr txBox="1"/>
          <p:nvPr/>
        </p:nvSpPr>
        <p:spPr>
          <a:xfrm>
            <a:off x="1421892" y="3200400"/>
            <a:ext cx="310896" cy="237744"/>
          </a:xfrm>
          <a:prstGeom prst="rect">
            <a:avLst/>
          </a:prstGeom>
          <a:noFill/>
          <a:ln/>
        </p:spPr>
        <p:txBody>
          <a:bodyPr wrap="square" rtlCol="0" anchor="ctr"/>
          <a:lstStyle/>
          <a:p>
            <a:pPr marL="0" indent="0" algn="ctr">
              <a:buNone/>
            </a:pPr>
            <a:r>
              <a:rPr lang="en-US" sz="1150" b="1" dirty="0">
                <a:solidFill>
                  <a:srgbClr val="14213D"/>
                </a:solidFill>
                <a:latin typeface="Calibri" pitchFamily="34" charset="0"/>
                <a:ea typeface="Calibri" pitchFamily="34" charset="-122"/>
                <a:cs typeface="Calibri" pitchFamily="34" charset="-120"/>
              </a:rPr>
              <a:t>1</a:t>
            </a:r>
            <a:endParaRPr lang="en-US" sz="1150" dirty="0"/>
          </a:p>
        </p:txBody>
      </p:sp>
      <p:sp>
        <p:nvSpPr>
          <p:cNvPr id="12" name="Shape 10"/>
          <p:cNvSpPr/>
          <p:nvPr/>
        </p:nvSpPr>
        <p:spPr>
          <a:xfrm>
            <a:off x="2779888" y="2035773"/>
            <a:ext cx="2075464" cy="546175"/>
          </a:xfrm>
          <a:prstGeom prst="line">
            <a:avLst/>
          </a:prstGeom>
          <a:noFill/>
          <a:ln w="25400">
            <a:solidFill>
              <a:srgbClr val="435273"/>
            </a:solidFill>
            <a:prstDash val="solid"/>
          </a:ln>
        </p:spPr>
      </p:sp>
      <p:sp>
        <p:nvSpPr>
          <p:cNvPr id="13" name="Shape 11"/>
          <p:cNvSpPr/>
          <p:nvPr/>
        </p:nvSpPr>
        <p:spPr>
          <a:xfrm>
            <a:off x="3662172" y="2171700"/>
            <a:ext cx="310896" cy="237744"/>
          </a:xfrm>
          <a:prstGeom prst="rect">
            <a:avLst/>
          </a:prstGeom>
          <a:solidFill>
            <a:srgbClr val="F7F9FC"/>
          </a:solidFill>
          <a:ln/>
        </p:spPr>
      </p:sp>
      <p:sp>
        <p:nvSpPr>
          <p:cNvPr id="14" name="Text 12"/>
          <p:cNvSpPr txBox="1"/>
          <p:nvPr/>
        </p:nvSpPr>
        <p:spPr>
          <a:xfrm>
            <a:off x="3662172" y="2171700"/>
            <a:ext cx="310896" cy="237744"/>
          </a:xfrm>
          <a:prstGeom prst="rect">
            <a:avLst/>
          </a:prstGeom>
          <a:noFill/>
          <a:ln/>
        </p:spPr>
        <p:txBody>
          <a:bodyPr wrap="square" rtlCol="0" anchor="ctr"/>
          <a:lstStyle/>
          <a:p>
            <a:pPr marL="0" indent="0" algn="ctr">
              <a:buNone/>
            </a:pPr>
            <a:r>
              <a:rPr lang="en-US" sz="1150" b="1" dirty="0">
                <a:solidFill>
                  <a:srgbClr val="14213D"/>
                </a:solidFill>
                <a:latin typeface="Calibri" pitchFamily="34" charset="0"/>
                <a:ea typeface="Calibri" pitchFamily="34" charset="-122"/>
                <a:cs typeface="Calibri" pitchFamily="34" charset="-120"/>
              </a:rPr>
              <a:t>1</a:t>
            </a:r>
            <a:endParaRPr lang="en-US" sz="1150" dirty="0"/>
          </a:p>
        </p:txBody>
      </p:sp>
      <p:sp>
        <p:nvSpPr>
          <p:cNvPr id="15" name="Shape 13"/>
          <p:cNvSpPr/>
          <p:nvPr/>
        </p:nvSpPr>
        <p:spPr>
          <a:xfrm>
            <a:off x="2788920" y="3794760"/>
            <a:ext cx="1554480" cy="9144"/>
          </a:xfrm>
          <a:prstGeom prst="line">
            <a:avLst/>
          </a:prstGeom>
          <a:noFill/>
          <a:ln w="25400">
            <a:solidFill>
              <a:srgbClr val="435273"/>
            </a:solidFill>
            <a:prstDash val="solid"/>
          </a:ln>
        </p:spPr>
      </p:sp>
      <p:sp>
        <p:nvSpPr>
          <p:cNvPr id="16" name="Shape 14"/>
          <p:cNvSpPr/>
          <p:nvPr/>
        </p:nvSpPr>
        <p:spPr>
          <a:xfrm>
            <a:off x="3410712" y="3657600"/>
            <a:ext cx="310896" cy="237744"/>
          </a:xfrm>
          <a:prstGeom prst="rect">
            <a:avLst/>
          </a:prstGeom>
          <a:solidFill>
            <a:srgbClr val="F7F9FC"/>
          </a:solidFill>
          <a:ln/>
        </p:spPr>
      </p:sp>
      <p:sp>
        <p:nvSpPr>
          <p:cNvPr id="17" name="Text 15"/>
          <p:cNvSpPr txBox="1"/>
          <p:nvPr/>
        </p:nvSpPr>
        <p:spPr>
          <a:xfrm>
            <a:off x="3410712" y="3657600"/>
            <a:ext cx="310896" cy="237744"/>
          </a:xfrm>
          <a:prstGeom prst="rect">
            <a:avLst/>
          </a:prstGeom>
          <a:noFill/>
          <a:ln/>
        </p:spPr>
        <p:txBody>
          <a:bodyPr wrap="square" rtlCol="0" anchor="ctr"/>
          <a:lstStyle/>
          <a:p>
            <a:pPr marL="0" indent="0" algn="ctr">
              <a:buNone/>
            </a:pPr>
            <a:r>
              <a:rPr lang="en-US" sz="1150" b="1" dirty="0">
                <a:solidFill>
                  <a:srgbClr val="14213D"/>
                </a:solidFill>
                <a:latin typeface="Calibri" pitchFamily="34" charset="0"/>
                <a:ea typeface="Calibri" pitchFamily="34" charset="-122"/>
                <a:cs typeface="Calibri" pitchFamily="34" charset="-120"/>
              </a:rPr>
              <a:t>1</a:t>
            </a:r>
            <a:endParaRPr lang="en-US" sz="1150" dirty="0"/>
          </a:p>
        </p:txBody>
      </p:sp>
      <p:sp>
        <p:nvSpPr>
          <p:cNvPr id="18" name="Shape 16"/>
          <p:cNvSpPr/>
          <p:nvPr/>
        </p:nvSpPr>
        <p:spPr>
          <a:xfrm flipV="1">
            <a:off x="4728199" y="2902849"/>
            <a:ext cx="281961" cy="640822"/>
          </a:xfrm>
          <a:prstGeom prst="line">
            <a:avLst/>
          </a:prstGeom>
          <a:noFill/>
          <a:ln w="25400">
            <a:solidFill>
              <a:srgbClr val="435273"/>
            </a:solidFill>
            <a:prstDash val="solid"/>
          </a:ln>
        </p:spPr>
      </p:sp>
      <p:sp>
        <p:nvSpPr>
          <p:cNvPr id="19" name="Shape 17"/>
          <p:cNvSpPr/>
          <p:nvPr/>
        </p:nvSpPr>
        <p:spPr>
          <a:xfrm>
            <a:off x="4713732" y="3086100"/>
            <a:ext cx="310896" cy="237744"/>
          </a:xfrm>
          <a:prstGeom prst="rect">
            <a:avLst/>
          </a:prstGeom>
          <a:solidFill>
            <a:srgbClr val="F7F9FC"/>
          </a:solidFill>
          <a:ln/>
        </p:spPr>
      </p:sp>
      <p:sp>
        <p:nvSpPr>
          <p:cNvPr id="20" name="Text 18"/>
          <p:cNvSpPr txBox="1"/>
          <p:nvPr/>
        </p:nvSpPr>
        <p:spPr>
          <a:xfrm>
            <a:off x="4713732" y="3086100"/>
            <a:ext cx="310896" cy="237744"/>
          </a:xfrm>
          <a:prstGeom prst="rect">
            <a:avLst/>
          </a:prstGeom>
          <a:noFill/>
          <a:ln/>
        </p:spPr>
        <p:txBody>
          <a:bodyPr wrap="square" rtlCol="0" anchor="ctr"/>
          <a:lstStyle/>
          <a:p>
            <a:pPr marL="0" indent="0" algn="ctr">
              <a:buNone/>
            </a:pPr>
            <a:r>
              <a:rPr lang="en-US" sz="1150" b="1" dirty="0">
                <a:solidFill>
                  <a:srgbClr val="14213D"/>
                </a:solidFill>
                <a:latin typeface="Calibri" pitchFamily="34" charset="0"/>
                <a:ea typeface="Calibri" pitchFamily="34" charset="-122"/>
                <a:cs typeface="Calibri" pitchFamily="34" charset="-120"/>
              </a:rPr>
              <a:t>1</a:t>
            </a:r>
            <a:endParaRPr lang="en-US" sz="1150" dirty="0"/>
          </a:p>
        </p:txBody>
      </p:sp>
      <p:sp>
        <p:nvSpPr>
          <p:cNvPr id="21" name="Shape 19"/>
          <p:cNvSpPr/>
          <p:nvPr/>
        </p:nvSpPr>
        <p:spPr>
          <a:xfrm>
            <a:off x="384048" y="2624328"/>
            <a:ext cx="512064" cy="512064"/>
          </a:xfrm>
          <a:prstGeom prst="ellipse">
            <a:avLst/>
          </a:prstGeom>
          <a:solidFill>
            <a:srgbClr val="14213D"/>
          </a:solidFill>
          <a:ln w="31750">
            <a:solidFill>
              <a:srgbClr val="C9A227"/>
            </a:solidFill>
            <a:prstDash val="solid"/>
          </a:ln>
        </p:spPr>
      </p:sp>
      <p:sp>
        <p:nvSpPr>
          <p:cNvPr id="22" name="Text 20"/>
          <p:cNvSpPr txBox="1"/>
          <p:nvPr/>
        </p:nvSpPr>
        <p:spPr>
          <a:xfrm>
            <a:off x="384048" y="2624328"/>
            <a:ext cx="512064" cy="512064"/>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a:t>
            </a:r>
            <a:endParaRPr lang="en-US" sz="1300" dirty="0"/>
          </a:p>
        </p:txBody>
      </p:sp>
      <p:sp>
        <p:nvSpPr>
          <p:cNvPr id="23" name="Shape 21"/>
          <p:cNvSpPr/>
          <p:nvPr/>
        </p:nvSpPr>
        <p:spPr>
          <a:xfrm>
            <a:off x="2258568" y="1709928"/>
            <a:ext cx="512064" cy="512064"/>
          </a:xfrm>
          <a:prstGeom prst="ellipse">
            <a:avLst/>
          </a:prstGeom>
          <a:solidFill>
            <a:srgbClr val="FFFFFF"/>
          </a:solidFill>
          <a:ln w="19050">
            <a:solidFill>
              <a:srgbClr val="435273"/>
            </a:solidFill>
            <a:prstDash val="solid"/>
          </a:ln>
        </p:spPr>
      </p:sp>
      <p:sp>
        <p:nvSpPr>
          <p:cNvPr id="24" name="Text 22"/>
          <p:cNvSpPr txBox="1"/>
          <p:nvPr/>
        </p:nvSpPr>
        <p:spPr>
          <a:xfrm>
            <a:off x="2258568" y="1709928"/>
            <a:ext cx="512064" cy="512064"/>
          </a:xfrm>
          <a:prstGeom prst="rect">
            <a:avLst/>
          </a:prstGeom>
          <a:noFill/>
          <a:ln/>
        </p:spPr>
        <p:txBody>
          <a:bodyPr wrap="square" rtlCol="0" anchor="ctr"/>
          <a:lstStyle/>
          <a:p>
            <a:pPr marL="0" indent="0" algn="ctr">
              <a:buNone/>
            </a:pPr>
            <a:r>
              <a:rPr lang="en-US" sz="1300" b="1" dirty="0">
                <a:solidFill>
                  <a:srgbClr val="14213D"/>
                </a:solidFill>
                <a:latin typeface="Calibri" pitchFamily="34" charset="0"/>
                <a:ea typeface="Calibri" pitchFamily="34" charset="-122"/>
                <a:cs typeface="Calibri" pitchFamily="34" charset="-120"/>
              </a:rPr>
              <a:t>A</a:t>
            </a:r>
            <a:endParaRPr lang="en-US" sz="1300" dirty="0"/>
          </a:p>
        </p:txBody>
      </p:sp>
      <p:sp>
        <p:nvSpPr>
          <p:cNvPr id="25" name="Shape 23"/>
          <p:cNvSpPr/>
          <p:nvPr/>
        </p:nvSpPr>
        <p:spPr>
          <a:xfrm>
            <a:off x="2258568" y="3538728"/>
            <a:ext cx="512064" cy="512064"/>
          </a:xfrm>
          <a:prstGeom prst="ellipse">
            <a:avLst/>
          </a:prstGeom>
          <a:solidFill>
            <a:srgbClr val="FFFFFF"/>
          </a:solidFill>
          <a:ln w="19050">
            <a:solidFill>
              <a:srgbClr val="435273"/>
            </a:solidFill>
            <a:prstDash val="solid"/>
          </a:ln>
        </p:spPr>
      </p:sp>
      <p:sp>
        <p:nvSpPr>
          <p:cNvPr id="26" name="Text 24"/>
          <p:cNvSpPr txBox="1"/>
          <p:nvPr/>
        </p:nvSpPr>
        <p:spPr>
          <a:xfrm>
            <a:off x="2258568" y="3538728"/>
            <a:ext cx="512064" cy="512064"/>
          </a:xfrm>
          <a:prstGeom prst="rect">
            <a:avLst/>
          </a:prstGeom>
          <a:noFill/>
          <a:ln/>
        </p:spPr>
        <p:txBody>
          <a:bodyPr wrap="square" rtlCol="0" anchor="ctr"/>
          <a:lstStyle/>
          <a:p>
            <a:pPr marL="0" indent="0" algn="ctr">
              <a:buNone/>
            </a:pPr>
            <a:r>
              <a:rPr lang="en-US" sz="1300" b="1" dirty="0">
                <a:solidFill>
                  <a:srgbClr val="14213D"/>
                </a:solidFill>
                <a:latin typeface="Calibri" pitchFamily="34" charset="0"/>
                <a:ea typeface="Calibri" pitchFamily="34" charset="-122"/>
                <a:cs typeface="Calibri" pitchFamily="34" charset="-120"/>
              </a:rPr>
              <a:t>B</a:t>
            </a:r>
            <a:endParaRPr lang="en-US" sz="1300" dirty="0"/>
          </a:p>
        </p:txBody>
      </p:sp>
      <p:sp>
        <p:nvSpPr>
          <p:cNvPr id="27" name="Shape 25"/>
          <p:cNvSpPr/>
          <p:nvPr/>
        </p:nvSpPr>
        <p:spPr>
          <a:xfrm>
            <a:off x="4361688" y="3538728"/>
            <a:ext cx="512064" cy="512064"/>
          </a:xfrm>
          <a:prstGeom prst="ellipse">
            <a:avLst/>
          </a:prstGeom>
          <a:solidFill>
            <a:srgbClr val="FFFFFF"/>
          </a:solidFill>
          <a:ln w="19050">
            <a:solidFill>
              <a:srgbClr val="435273"/>
            </a:solidFill>
            <a:prstDash val="solid"/>
          </a:ln>
        </p:spPr>
      </p:sp>
      <p:sp>
        <p:nvSpPr>
          <p:cNvPr id="28" name="Text 26"/>
          <p:cNvSpPr txBox="1"/>
          <p:nvPr/>
        </p:nvSpPr>
        <p:spPr>
          <a:xfrm>
            <a:off x="4361688" y="3538728"/>
            <a:ext cx="512064" cy="512064"/>
          </a:xfrm>
          <a:prstGeom prst="rect">
            <a:avLst/>
          </a:prstGeom>
          <a:noFill/>
          <a:ln/>
        </p:spPr>
        <p:txBody>
          <a:bodyPr wrap="square" rtlCol="0" anchor="ctr"/>
          <a:lstStyle/>
          <a:p>
            <a:pPr marL="0" indent="0" algn="ctr">
              <a:buNone/>
            </a:pPr>
            <a:r>
              <a:rPr lang="en-US" sz="1300" b="1" dirty="0">
                <a:solidFill>
                  <a:srgbClr val="14213D"/>
                </a:solidFill>
                <a:latin typeface="Calibri" pitchFamily="34" charset="0"/>
                <a:ea typeface="Calibri" pitchFamily="34" charset="-122"/>
                <a:cs typeface="Calibri" pitchFamily="34" charset="-120"/>
              </a:rPr>
              <a:t>C</a:t>
            </a:r>
            <a:endParaRPr lang="en-US" sz="1300" dirty="0"/>
          </a:p>
        </p:txBody>
      </p:sp>
      <p:sp>
        <p:nvSpPr>
          <p:cNvPr id="29" name="Shape 27"/>
          <p:cNvSpPr/>
          <p:nvPr/>
        </p:nvSpPr>
        <p:spPr>
          <a:xfrm>
            <a:off x="4864608" y="2395728"/>
            <a:ext cx="512064" cy="512064"/>
          </a:xfrm>
          <a:prstGeom prst="ellipse">
            <a:avLst/>
          </a:prstGeom>
          <a:solidFill>
            <a:srgbClr val="C9A227"/>
          </a:solidFill>
          <a:ln w="25400">
            <a:solidFill>
              <a:srgbClr val="14213D"/>
            </a:solidFill>
            <a:prstDash val="solid"/>
          </a:ln>
        </p:spPr>
      </p:sp>
      <p:sp>
        <p:nvSpPr>
          <p:cNvPr id="30" name="Text 28"/>
          <p:cNvSpPr txBox="1"/>
          <p:nvPr/>
        </p:nvSpPr>
        <p:spPr>
          <a:xfrm>
            <a:off x="4864608" y="2395728"/>
            <a:ext cx="512064" cy="512064"/>
          </a:xfrm>
          <a:prstGeom prst="rect">
            <a:avLst/>
          </a:prstGeom>
          <a:noFill/>
          <a:ln/>
        </p:spPr>
        <p:txBody>
          <a:bodyPr wrap="square" rtlCol="0" anchor="ctr"/>
          <a:lstStyle/>
          <a:p>
            <a:pPr marL="0" indent="0" algn="ctr">
              <a:buNone/>
            </a:pPr>
            <a:r>
              <a:rPr lang="en-US" sz="1300" b="1" dirty="0">
                <a:solidFill>
                  <a:srgbClr val="0A1226"/>
                </a:solidFill>
                <a:latin typeface="Calibri" pitchFamily="34" charset="0"/>
                <a:ea typeface="Calibri" pitchFamily="34" charset="-122"/>
                <a:cs typeface="Calibri" pitchFamily="34" charset="-120"/>
              </a:rPr>
              <a:t>G</a:t>
            </a:r>
            <a:endParaRPr lang="en-US" sz="1300" dirty="0"/>
          </a:p>
        </p:txBody>
      </p:sp>
      <p:sp>
        <p:nvSpPr>
          <p:cNvPr id="31" name="Text 29"/>
          <p:cNvSpPr txBox="1"/>
          <p:nvPr/>
        </p:nvSpPr>
        <p:spPr>
          <a:xfrm>
            <a:off x="274320" y="4434840"/>
            <a:ext cx="5394960" cy="365760"/>
          </a:xfrm>
          <a:prstGeom prst="rect">
            <a:avLst/>
          </a:prstGeom>
          <a:noFill/>
          <a:ln/>
        </p:spPr>
        <p:txBody>
          <a:bodyPr wrap="square" rtlCol="0" anchor="ctr"/>
          <a:lstStyle/>
          <a:p>
            <a:pPr marL="0" indent="0">
              <a:buNone/>
            </a:pPr>
            <a:r>
              <a:rPr lang="en-US" sz="1600" i="1" dirty="0">
                <a:solidFill>
                  <a:srgbClr val="435273"/>
                </a:solidFill>
                <a:latin typeface="Calibri" pitchFamily="34" charset="0"/>
                <a:ea typeface="Calibri" pitchFamily="34" charset="-122"/>
                <a:cs typeface="Calibri" pitchFamily="34" charset="-120"/>
              </a:rPr>
              <a:t>All edges are directed away from S. Weights are shown on each edge.</a:t>
            </a:r>
            <a:endParaRPr lang="en-US" sz="1600" dirty="0"/>
          </a:p>
        </p:txBody>
      </p:sp>
      <p:sp>
        <p:nvSpPr>
          <p:cNvPr id="32" name="Text 30"/>
          <p:cNvSpPr txBox="1"/>
          <p:nvPr/>
        </p:nvSpPr>
        <p:spPr>
          <a:xfrm>
            <a:off x="6172200" y="1371600"/>
            <a:ext cx="5577840" cy="5486400"/>
          </a:xfrm>
          <a:prstGeom prst="rect">
            <a:avLst/>
          </a:prstGeom>
          <a:noFill/>
          <a:ln/>
        </p:spPr>
        <p:txBody>
          <a:bodyPr wrap="square" rtlCol="0" anchor="t"/>
          <a:lstStyle/>
          <a:p>
            <a:pPr marL="342900" indent="-342900">
              <a:lnSpc>
                <a:spcPct val="115000"/>
              </a:lnSpc>
              <a:spcAft>
                <a:spcPts val="700"/>
              </a:spcAft>
              <a:buSzPct val="100000"/>
              <a:buChar char="•"/>
            </a:pPr>
            <a:r>
              <a:rPr lang="en-US" sz="1600" dirty="0">
                <a:solidFill>
                  <a:srgbClr val="1B2333"/>
                </a:solidFill>
                <a:latin typeface="Calibri" pitchFamily="34" charset="0"/>
                <a:ea typeface="Calibri" pitchFamily="34" charset="-122"/>
                <a:cs typeface="Calibri" pitchFamily="34" charset="-120"/>
              </a:rPr>
              <a:t>What is the initial state? What is the goal?</a:t>
            </a:r>
            <a:endParaRPr lang="en-US" sz="1600" dirty="0"/>
          </a:p>
          <a:p>
            <a:pPr marL="342900" indent="-342900">
              <a:lnSpc>
                <a:spcPct val="115000"/>
              </a:lnSpc>
              <a:spcAft>
                <a:spcPts val="700"/>
              </a:spcAft>
              <a:buSzPct val="100000"/>
              <a:buChar char="•"/>
            </a:pPr>
            <a:r>
              <a:rPr lang="en-US" sz="1600" dirty="0">
                <a:solidFill>
                  <a:srgbClr val="1B2333"/>
                </a:solidFill>
                <a:latin typeface="Calibri" pitchFamily="34" charset="0"/>
                <a:ea typeface="Calibri" pitchFamily="34" charset="-122"/>
                <a:cs typeface="Calibri" pitchFamily="34" charset="-120"/>
              </a:rPr>
              <a:t>What actions are legal in state S?</a:t>
            </a:r>
            <a:endParaRPr lang="en-US" sz="1600" dirty="0"/>
          </a:p>
          <a:p>
            <a:pPr marL="342900" indent="-342900">
              <a:lnSpc>
                <a:spcPct val="115000"/>
              </a:lnSpc>
              <a:spcAft>
                <a:spcPts val="700"/>
              </a:spcAft>
              <a:buSzPct val="100000"/>
              <a:buChar char="•"/>
            </a:pPr>
            <a:r>
              <a:rPr lang="en-US" sz="1600" dirty="0">
                <a:solidFill>
                  <a:srgbClr val="1B2333"/>
                </a:solidFill>
                <a:latin typeface="Calibri" pitchFamily="34" charset="0"/>
                <a:ea typeface="Calibri" pitchFamily="34" charset="-122"/>
                <a:cs typeface="Calibri" pitchFamily="34" charset="-120"/>
              </a:rPr>
              <a:t>What is BFS's order of expansion?</a:t>
            </a:r>
            <a:endParaRPr lang="en-US" sz="1600" dirty="0"/>
          </a:p>
          <a:p>
            <a:pPr marL="342900" indent="-342900">
              <a:lnSpc>
                <a:spcPct val="115000"/>
              </a:lnSpc>
              <a:spcAft>
                <a:spcPts val="700"/>
              </a:spcAft>
              <a:buSzPct val="100000"/>
              <a:buChar char="•"/>
            </a:pPr>
            <a:r>
              <a:rPr lang="en-US" sz="1600" dirty="0">
                <a:solidFill>
                  <a:srgbClr val="1B2333"/>
                </a:solidFill>
                <a:latin typeface="Calibri" pitchFamily="34" charset="0"/>
                <a:ea typeface="Calibri" pitchFamily="34" charset="-122"/>
                <a:cs typeface="Calibri" pitchFamily="34" charset="-120"/>
              </a:rPr>
              <a:t>What is DFS's order of expansion (leftmost branch first)?</a:t>
            </a:r>
            <a:endParaRPr lang="en-US" sz="1600" dirty="0"/>
          </a:p>
          <a:p>
            <a:pPr marL="342900" indent="-342900">
              <a:lnSpc>
                <a:spcPct val="115000"/>
              </a:lnSpc>
              <a:spcAft>
                <a:spcPts val="700"/>
              </a:spcAft>
              <a:buSzPct val="100000"/>
              <a:buChar char="•"/>
            </a:pPr>
            <a:r>
              <a:rPr lang="en-US" sz="1600" dirty="0">
                <a:solidFill>
                  <a:srgbClr val="1B2333"/>
                </a:solidFill>
                <a:latin typeface="Calibri" pitchFamily="34" charset="0"/>
                <a:ea typeface="Calibri" pitchFamily="34" charset="-122"/>
                <a:cs typeface="Calibri" pitchFamily="34" charset="-120"/>
              </a:rPr>
              <a:t>What is UCS's order of expansion?</a:t>
            </a:r>
            <a:endParaRPr lang="en-US" sz="1600" dirty="0"/>
          </a:p>
          <a:p>
            <a:pPr marL="342900" indent="-342900">
              <a:lnSpc>
                <a:spcPct val="115000"/>
              </a:lnSpc>
              <a:spcAft>
                <a:spcPts val="700"/>
              </a:spcAft>
              <a:buSzPct val="100000"/>
              <a:buChar char="•"/>
            </a:pPr>
            <a:r>
              <a:rPr lang="en-US" sz="1600" dirty="0">
                <a:solidFill>
                  <a:srgbClr val="1B2333"/>
                </a:solidFill>
                <a:latin typeface="Calibri" pitchFamily="34" charset="0"/>
                <a:ea typeface="Calibri" pitchFamily="34" charset="-122"/>
                <a:cs typeface="Calibri" pitchFamily="34" charset="-120"/>
              </a:rPr>
              <a:t>Which path has the fewest edges (is 'shortest')?</a:t>
            </a:r>
            <a:endParaRPr lang="en-US" sz="1600" dirty="0"/>
          </a:p>
          <a:p>
            <a:pPr marL="342900" indent="-342900">
              <a:lnSpc>
                <a:spcPct val="115000"/>
              </a:lnSpc>
              <a:spcAft>
                <a:spcPts val="700"/>
              </a:spcAft>
              <a:buSzPct val="100000"/>
              <a:buChar char="•"/>
            </a:pPr>
            <a:r>
              <a:rPr lang="en-US" sz="1600" dirty="0">
                <a:solidFill>
                  <a:srgbClr val="1B2333"/>
                </a:solidFill>
                <a:latin typeface="Calibri" pitchFamily="34" charset="0"/>
                <a:ea typeface="Calibri" pitchFamily="34" charset="-122"/>
                <a:cs typeface="Calibri" pitchFamily="34" charset="-120"/>
              </a:rPr>
              <a:t>Which path has the lowest total cost (is 'cheapest')?</a:t>
            </a:r>
            <a:endParaRPr lang="en-US" sz="1600" dirty="0"/>
          </a:p>
          <a:p>
            <a:pPr marL="342900" indent="-342900">
              <a:lnSpc>
                <a:spcPct val="115000"/>
              </a:lnSpc>
              <a:spcAft>
                <a:spcPts val="700"/>
              </a:spcAft>
              <a:buSzPct val="100000"/>
              <a:buChar char="•"/>
            </a:pPr>
            <a:r>
              <a:rPr lang="en-US" sz="1600" dirty="0">
                <a:solidFill>
                  <a:srgbClr val="1B2333"/>
                </a:solidFill>
                <a:latin typeface="Calibri" pitchFamily="34" charset="0"/>
                <a:ea typeface="Calibri" pitchFamily="34" charset="-122"/>
                <a:cs typeface="Calibri" pitchFamily="34" charset="-120"/>
              </a:rPr>
              <a:t>Are the shortest and cheapest paths the same path here?</a:t>
            </a:r>
            <a:endParaRPr lang="en-US" sz="1600" dirty="0"/>
          </a:p>
          <a:p>
            <a:pPr marL="342900" indent="-342900">
              <a:lnSpc>
                <a:spcPct val="115000"/>
              </a:lnSpc>
              <a:spcAft>
                <a:spcPts val="700"/>
              </a:spcAft>
              <a:buSzPct val="100000"/>
              <a:buChar char="•"/>
            </a:pPr>
            <a:r>
              <a:rPr lang="en-US" sz="1600" dirty="0">
                <a:solidFill>
                  <a:srgbClr val="1B2333"/>
                </a:solidFill>
                <a:latin typeface="Calibri" pitchFamily="34" charset="0"/>
                <a:ea typeface="Calibri" pitchFamily="34" charset="-122"/>
                <a:cs typeface="Calibri" pitchFamily="34" charset="-120"/>
              </a:rPr>
              <a:t>Which algorithm(s) are guaranteed to find the cheapest path?</a:t>
            </a:r>
            <a:endParaRPr lang="en-US" sz="1600" dirty="0"/>
          </a:p>
          <a:p>
            <a:pPr marL="342900" indent="-342900">
              <a:lnSpc>
                <a:spcPct val="115000"/>
              </a:lnSpc>
              <a:spcAft>
                <a:spcPts val="700"/>
              </a:spcAft>
              <a:buSzPct val="100000"/>
              <a:buChar char="•"/>
            </a:pPr>
            <a:r>
              <a:rPr lang="en-US" sz="1600" dirty="0">
                <a:solidFill>
                  <a:srgbClr val="1B2333"/>
                </a:solidFill>
                <a:latin typeface="Calibri" pitchFamily="34" charset="0"/>
                <a:ea typeface="Calibri" pitchFamily="34" charset="-122"/>
                <a:cs typeface="Calibri" pitchFamily="34" charset="-120"/>
              </a:rPr>
              <a:t>Which algorithm is likely to need the most memory here, and why?</a:t>
            </a:r>
            <a:endParaRPr lang="en-US" sz="1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6"/>
        </a:solidFill>
        <a:effectLst/>
      </p:bgPr>
    </p:bg>
    <p:spTree>
      <p:nvGrpSpPr>
        <p:cNvPr id="1" name=""/>
        <p:cNvGrpSpPr/>
        <p:nvPr/>
      </p:nvGrpSpPr>
      <p:grpSpPr>
        <a:xfrm>
          <a:off x="0" y="0"/>
          <a:ext cx="0" cy="0"/>
          <a:chOff x="0" y="0"/>
          <a:chExt cx="0" cy="0"/>
        </a:xfrm>
      </p:grpSpPr>
      <p:sp>
        <p:nvSpPr>
          <p:cNvPr id="2" name="Text 0"/>
          <p:cNvSpPr txBox="1"/>
          <p:nvPr/>
        </p:nvSpPr>
        <p:spPr>
          <a:xfrm>
            <a:off x="502920" y="365760"/>
            <a:ext cx="5486400" cy="292608"/>
          </a:xfrm>
          <a:prstGeom prst="rect">
            <a:avLst/>
          </a:prstGeom>
          <a:noFill/>
          <a:ln/>
        </p:spPr>
        <p:txBody>
          <a:bodyPr wrap="square" rtlCol="0" anchor="ctr"/>
          <a:lstStyle/>
          <a:p>
            <a:pPr marL="0" indent="0">
              <a:buNone/>
            </a:pPr>
            <a:r>
              <a:rPr lang="en-US" sz="1400" b="1" kern="0" spc="200" dirty="0">
                <a:solidFill>
                  <a:srgbClr val="C9A227"/>
                </a:solidFill>
                <a:latin typeface="Calibri" pitchFamily="34" charset="0"/>
                <a:ea typeface="Calibri" pitchFamily="34" charset="-122"/>
                <a:cs typeface="Calibri" pitchFamily="34" charset="-120"/>
              </a:rPr>
              <a:t>SUMMARY  ·  LECTURE 3</a:t>
            </a:r>
            <a:endParaRPr lang="en-US" sz="1400" dirty="0"/>
          </a:p>
        </p:txBody>
      </p:sp>
      <p:sp>
        <p:nvSpPr>
          <p:cNvPr id="3" name="Text 1"/>
          <p:cNvSpPr txBox="1"/>
          <p:nvPr/>
        </p:nvSpPr>
        <p:spPr>
          <a:xfrm>
            <a:off x="502920" y="658368"/>
            <a:ext cx="11155680" cy="594360"/>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From Formulation to Search — What We Covered</a:t>
            </a:r>
            <a:endParaRPr lang="en-US" sz="1400" dirty="0"/>
          </a:p>
        </p:txBody>
      </p:sp>
      <p:sp>
        <p:nvSpPr>
          <p:cNvPr id="4" name="Shape 2"/>
          <p:cNvSpPr/>
          <p:nvPr/>
        </p:nvSpPr>
        <p:spPr>
          <a:xfrm>
            <a:off x="502920" y="1325880"/>
            <a:ext cx="4754880" cy="384048"/>
          </a:xfrm>
          <a:prstGeom prst="roundRect">
            <a:avLst>
              <a:gd name="adj" fmla="val 16667"/>
            </a:avLst>
          </a:prstGeom>
          <a:solidFill>
            <a:srgbClr val="1C2A52"/>
          </a:solidFill>
          <a:ln/>
        </p:spPr>
      </p:sp>
      <p:sp>
        <p:nvSpPr>
          <p:cNvPr id="5" name="Text 3"/>
          <p:cNvSpPr txBox="1"/>
          <p:nvPr/>
        </p:nvSpPr>
        <p:spPr>
          <a:xfrm>
            <a:off x="502920" y="1325880"/>
            <a:ext cx="4754880" cy="38404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PROBLEM</a:t>
            </a:r>
            <a:endParaRPr lang="en-US" sz="1400" dirty="0"/>
          </a:p>
        </p:txBody>
      </p:sp>
      <p:sp>
        <p:nvSpPr>
          <p:cNvPr id="6" name="Shape 4"/>
          <p:cNvSpPr/>
          <p:nvPr/>
        </p:nvSpPr>
        <p:spPr>
          <a:xfrm>
            <a:off x="2761488" y="1714500"/>
            <a:ext cx="237744" cy="64008"/>
          </a:xfrm>
          <a:prstGeom prst="downArrow">
            <a:avLst/>
          </a:prstGeom>
          <a:solidFill>
            <a:srgbClr val="C9A227"/>
          </a:solidFill>
          <a:ln/>
        </p:spPr>
      </p:sp>
      <p:sp>
        <p:nvSpPr>
          <p:cNvPr id="7" name="Shape 5"/>
          <p:cNvSpPr/>
          <p:nvPr/>
        </p:nvSpPr>
        <p:spPr>
          <a:xfrm>
            <a:off x="502920" y="1783080"/>
            <a:ext cx="4754880" cy="384048"/>
          </a:xfrm>
          <a:prstGeom prst="roundRect">
            <a:avLst>
              <a:gd name="adj" fmla="val 16667"/>
            </a:avLst>
          </a:prstGeom>
          <a:solidFill>
            <a:srgbClr val="263258"/>
          </a:solidFill>
          <a:ln/>
        </p:spPr>
      </p:sp>
      <p:sp>
        <p:nvSpPr>
          <p:cNvPr id="8" name="Text 6"/>
          <p:cNvSpPr txBox="1"/>
          <p:nvPr/>
        </p:nvSpPr>
        <p:spPr>
          <a:xfrm>
            <a:off x="502920" y="1783080"/>
            <a:ext cx="4754880" cy="38404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FORMULATION</a:t>
            </a:r>
            <a:endParaRPr lang="en-US" sz="1400" dirty="0"/>
          </a:p>
        </p:txBody>
      </p:sp>
      <p:sp>
        <p:nvSpPr>
          <p:cNvPr id="9" name="Shape 7"/>
          <p:cNvSpPr/>
          <p:nvPr/>
        </p:nvSpPr>
        <p:spPr>
          <a:xfrm>
            <a:off x="2761488" y="2171700"/>
            <a:ext cx="237744" cy="64008"/>
          </a:xfrm>
          <a:prstGeom prst="downArrow">
            <a:avLst/>
          </a:prstGeom>
          <a:solidFill>
            <a:srgbClr val="C9A227"/>
          </a:solidFill>
          <a:ln/>
        </p:spPr>
      </p:sp>
      <p:sp>
        <p:nvSpPr>
          <p:cNvPr id="10" name="Shape 8"/>
          <p:cNvSpPr/>
          <p:nvPr/>
        </p:nvSpPr>
        <p:spPr>
          <a:xfrm>
            <a:off x="502920" y="2240280"/>
            <a:ext cx="4754880" cy="384048"/>
          </a:xfrm>
          <a:prstGeom prst="roundRect">
            <a:avLst>
              <a:gd name="adj" fmla="val 16667"/>
            </a:avLst>
          </a:prstGeom>
          <a:solidFill>
            <a:srgbClr val="1C2A52"/>
          </a:solidFill>
          <a:ln/>
        </p:spPr>
      </p:sp>
      <p:sp>
        <p:nvSpPr>
          <p:cNvPr id="11" name="Text 9"/>
          <p:cNvSpPr txBox="1"/>
          <p:nvPr/>
        </p:nvSpPr>
        <p:spPr>
          <a:xfrm>
            <a:off x="502920" y="2240280"/>
            <a:ext cx="4754880" cy="38404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STATE SPACE</a:t>
            </a:r>
            <a:endParaRPr lang="en-US" sz="1400" dirty="0"/>
          </a:p>
        </p:txBody>
      </p:sp>
      <p:sp>
        <p:nvSpPr>
          <p:cNvPr id="12" name="Shape 10"/>
          <p:cNvSpPr/>
          <p:nvPr/>
        </p:nvSpPr>
        <p:spPr>
          <a:xfrm>
            <a:off x="2761488" y="2628900"/>
            <a:ext cx="237744" cy="64008"/>
          </a:xfrm>
          <a:prstGeom prst="downArrow">
            <a:avLst/>
          </a:prstGeom>
          <a:solidFill>
            <a:srgbClr val="C9A227"/>
          </a:solidFill>
          <a:ln/>
        </p:spPr>
      </p:sp>
      <p:sp>
        <p:nvSpPr>
          <p:cNvPr id="13" name="Shape 11"/>
          <p:cNvSpPr/>
          <p:nvPr/>
        </p:nvSpPr>
        <p:spPr>
          <a:xfrm>
            <a:off x="502920" y="2697480"/>
            <a:ext cx="4754880" cy="384048"/>
          </a:xfrm>
          <a:prstGeom prst="roundRect">
            <a:avLst>
              <a:gd name="adj" fmla="val 16667"/>
            </a:avLst>
          </a:prstGeom>
          <a:solidFill>
            <a:srgbClr val="263258"/>
          </a:solidFill>
          <a:ln/>
        </p:spPr>
      </p:sp>
      <p:sp>
        <p:nvSpPr>
          <p:cNvPr id="14" name="Text 12"/>
          <p:cNvSpPr txBox="1"/>
          <p:nvPr/>
        </p:nvSpPr>
        <p:spPr>
          <a:xfrm>
            <a:off x="502920" y="2697480"/>
            <a:ext cx="4754880" cy="38404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SEARCH</a:t>
            </a:r>
            <a:endParaRPr lang="en-US" sz="1400" dirty="0"/>
          </a:p>
        </p:txBody>
      </p:sp>
      <p:sp>
        <p:nvSpPr>
          <p:cNvPr id="15" name="Shape 13"/>
          <p:cNvSpPr/>
          <p:nvPr/>
        </p:nvSpPr>
        <p:spPr>
          <a:xfrm>
            <a:off x="2761488" y="3086100"/>
            <a:ext cx="237744" cy="64008"/>
          </a:xfrm>
          <a:prstGeom prst="downArrow">
            <a:avLst/>
          </a:prstGeom>
          <a:solidFill>
            <a:srgbClr val="C9A227"/>
          </a:solidFill>
          <a:ln/>
        </p:spPr>
      </p:sp>
      <p:sp>
        <p:nvSpPr>
          <p:cNvPr id="16" name="Shape 14"/>
          <p:cNvSpPr/>
          <p:nvPr/>
        </p:nvSpPr>
        <p:spPr>
          <a:xfrm>
            <a:off x="502920" y="3154680"/>
            <a:ext cx="4754880" cy="384048"/>
          </a:xfrm>
          <a:prstGeom prst="roundRect">
            <a:avLst>
              <a:gd name="adj" fmla="val 16667"/>
            </a:avLst>
          </a:prstGeom>
          <a:solidFill>
            <a:srgbClr val="1C2A52"/>
          </a:solidFill>
          <a:ln/>
        </p:spPr>
      </p:sp>
      <p:sp>
        <p:nvSpPr>
          <p:cNvPr id="17" name="Text 15"/>
          <p:cNvSpPr txBox="1"/>
          <p:nvPr/>
        </p:nvSpPr>
        <p:spPr>
          <a:xfrm>
            <a:off x="502920" y="3154680"/>
            <a:ext cx="4754880" cy="38404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BFS / DFS / UCS</a:t>
            </a:r>
            <a:endParaRPr lang="en-US" sz="1400" dirty="0"/>
          </a:p>
        </p:txBody>
      </p:sp>
      <p:sp>
        <p:nvSpPr>
          <p:cNvPr id="18" name="Shape 16"/>
          <p:cNvSpPr/>
          <p:nvPr/>
        </p:nvSpPr>
        <p:spPr>
          <a:xfrm>
            <a:off x="2761488" y="3543300"/>
            <a:ext cx="237744" cy="64008"/>
          </a:xfrm>
          <a:prstGeom prst="downArrow">
            <a:avLst/>
          </a:prstGeom>
          <a:solidFill>
            <a:srgbClr val="C9A227"/>
          </a:solidFill>
          <a:ln/>
        </p:spPr>
      </p:sp>
      <p:sp>
        <p:nvSpPr>
          <p:cNvPr id="19" name="Shape 17"/>
          <p:cNvSpPr/>
          <p:nvPr/>
        </p:nvSpPr>
        <p:spPr>
          <a:xfrm>
            <a:off x="502920" y="3611880"/>
            <a:ext cx="4754880" cy="384048"/>
          </a:xfrm>
          <a:prstGeom prst="roundRect">
            <a:avLst>
              <a:gd name="adj" fmla="val 16667"/>
            </a:avLst>
          </a:prstGeom>
          <a:solidFill>
            <a:srgbClr val="263258"/>
          </a:solidFill>
          <a:ln/>
        </p:spPr>
      </p:sp>
      <p:sp>
        <p:nvSpPr>
          <p:cNvPr id="20" name="Text 18"/>
          <p:cNvSpPr txBox="1"/>
          <p:nvPr/>
        </p:nvSpPr>
        <p:spPr>
          <a:xfrm>
            <a:off x="502920" y="3611880"/>
            <a:ext cx="4754880" cy="38404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EVALUATION</a:t>
            </a:r>
            <a:endParaRPr lang="en-US" sz="1400" dirty="0"/>
          </a:p>
        </p:txBody>
      </p:sp>
      <p:sp>
        <p:nvSpPr>
          <p:cNvPr id="21" name="Shape 19"/>
          <p:cNvSpPr/>
          <p:nvPr/>
        </p:nvSpPr>
        <p:spPr>
          <a:xfrm>
            <a:off x="2761488" y="4000500"/>
            <a:ext cx="237744" cy="64008"/>
          </a:xfrm>
          <a:prstGeom prst="downArrow">
            <a:avLst/>
          </a:prstGeom>
          <a:solidFill>
            <a:srgbClr val="C9A227"/>
          </a:solidFill>
          <a:ln/>
        </p:spPr>
      </p:sp>
      <p:sp>
        <p:nvSpPr>
          <p:cNvPr id="22" name="Shape 20"/>
          <p:cNvSpPr/>
          <p:nvPr/>
        </p:nvSpPr>
        <p:spPr>
          <a:xfrm>
            <a:off x="502920" y="4069080"/>
            <a:ext cx="4754880" cy="384048"/>
          </a:xfrm>
          <a:prstGeom prst="roundRect">
            <a:avLst>
              <a:gd name="adj" fmla="val 16667"/>
            </a:avLst>
          </a:prstGeom>
          <a:solidFill>
            <a:srgbClr val="1C2A52"/>
          </a:solidFill>
          <a:ln/>
        </p:spPr>
      </p:sp>
      <p:sp>
        <p:nvSpPr>
          <p:cNvPr id="23" name="Text 21"/>
          <p:cNvSpPr txBox="1"/>
          <p:nvPr/>
        </p:nvSpPr>
        <p:spPr>
          <a:xfrm>
            <a:off x="502920" y="4069080"/>
            <a:ext cx="4754880" cy="38404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COMPLETENESS</a:t>
            </a:r>
            <a:endParaRPr lang="en-US" sz="1400" dirty="0"/>
          </a:p>
        </p:txBody>
      </p:sp>
      <p:sp>
        <p:nvSpPr>
          <p:cNvPr id="24" name="Shape 22"/>
          <p:cNvSpPr/>
          <p:nvPr/>
        </p:nvSpPr>
        <p:spPr>
          <a:xfrm>
            <a:off x="2761488" y="4457700"/>
            <a:ext cx="237744" cy="64008"/>
          </a:xfrm>
          <a:prstGeom prst="downArrow">
            <a:avLst/>
          </a:prstGeom>
          <a:solidFill>
            <a:srgbClr val="C9A227"/>
          </a:solidFill>
          <a:ln/>
        </p:spPr>
      </p:sp>
      <p:sp>
        <p:nvSpPr>
          <p:cNvPr id="25" name="Shape 23"/>
          <p:cNvSpPr/>
          <p:nvPr/>
        </p:nvSpPr>
        <p:spPr>
          <a:xfrm>
            <a:off x="502920" y="4526280"/>
            <a:ext cx="4754880" cy="384048"/>
          </a:xfrm>
          <a:prstGeom prst="roundRect">
            <a:avLst>
              <a:gd name="adj" fmla="val 16667"/>
            </a:avLst>
          </a:prstGeom>
          <a:solidFill>
            <a:srgbClr val="263258"/>
          </a:solidFill>
          <a:ln/>
        </p:spPr>
      </p:sp>
      <p:sp>
        <p:nvSpPr>
          <p:cNvPr id="26" name="Text 24"/>
          <p:cNvSpPr txBox="1"/>
          <p:nvPr/>
        </p:nvSpPr>
        <p:spPr>
          <a:xfrm>
            <a:off x="502920" y="4526280"/>
            <a:ext cx="4754880" cy="38404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OPTIMALITY</a:t>
            </a:r>
            <a:endParaRPr lang="en-US" sz="1400" dirty="0"/>
          </a:p>
        </p:txBody>
      </p:sp>
      <p:sp>
        <p:nvSpPr>
          <p:cNvPr id="27" name="Shape 25"/>
          <p:cNvSpPr/>
          <p:nvPr/>
        </p:nvSpPr>
        <p:spPr>
          <a:xfrm>
            <a:off x="2761488" y="4914900"/>
            <a:ext cx="237744" cy="64008"/>
          </a:xfrm>
          <a:prstGeom prst="downArrow">
            <a:avLst/>
          </a:prstGeom>
          <a:solidFill>
            <a:srgbClr val="C9A227"/>
          </a:solidFill>
          <a:ln/>
        </p:spPr>
      </p:sp>
      <p:sp>
        <p:nvSpPr>
          <p:cNvPr id="28" name="Shape 26"/>
          <p:cNvSpPr/>
          <p:nvPr/>
        </p:nvSpPr>
        <p:spPr>
          <a:xfrm>
            <a:off x="502920" y="4983480"/>
            <a:ext cx="4754880" cy="384048"/>
          </a:xfrm>
          <a:prstGeom prst="roundRect">
            <a:avLst>
              <a:gd name="adj" fmla="val 16667"/>
            </a:avLst>
          </a:prstGeom>
          <a:solidFill>
            <a:srgbClr val="1C2A52"/>
          </a:solidFill>
          <a:ln/>
        </p:spPr>
      </p:sp>
      <p:sp>
        <p:nvSpPr>
          <p:cNvPr id="29" name="Text 27"/>
          <p:cNvSpPr txBox="1"/>
          <p:nvPr/>
        </p:nvSpPr>
        <p:spPr>
          <a:xfrm>
            <a:off x="502920" y="4983480"/>
            <a:ext cx="4754880" cy="38404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TIME &amp; MEMORY</a:t>
            </a:r>
            <a:endParaRPr lang="en-US" sz="1400" dirty="0"/>
          </a:p>
        </p:txBody>
      </p:sp>
      <p:sp>
        <p:nvSpPr>
          <p:cNvPr id="30" name="Text 28"/>
          <p:cNvSpPr txBox="1"/>
          <p:nvPr/>
        </p:nvSpPr>
        <p:spPr>
          <a:xfrm>
            <a:off x="5623560" y="1417320"/>
            <a:ext cx="6080760" cy="2834640"/>
          </a:xfrm>
          <a:prstGeom prst="rect">
            <a:avLst/>
          </a:prstGeom>
          <a:noFill/>
          <a:ln/>
        </p:spPr>
        <p:txBody>
          <a:bodyPr wrap="square" rtlCol="0" anchor="t"/>
          <a:lstStyle/>
          <a:p>
            <a:pPr marL="0" indent="0">
              <a:lnSpc>
                <a:spcPct val="128000"/>
              </a:lnSpc>
              <a:spcAft>
                <a:spcPts val="800"/>
              </a:spcAft>
              <a:buNone/>
            </a:pPr>
            <a:r>
              <a:rPr lang="en-US" sz="1400" b="1" dirty="0">
                <a:solidFill>
                  <a:srgbClr val="FFFFFF"/>
                </a:solidFill>
                <a:latin typeface="Calibri" pitchFamily="34" charset="0"/>
                <a:ea typeface="Calibri" pitchFamily="34" charset="-122"/>
                <a:cs typeface="Calibri" pitchFamily="34" charset="-120"/>
              </a:rPr>
              <a:t>Every algorithm we studied today shares one skeleton:</a:t>
            </a:r>
            <a:endParaRPr lang="en-US" sz="1400" dirty="0"/>
          </a:p>
          <a:p>
            <a:pPr marL="0" indent="0">
              <a:lnSpc>
                <a:spcPct val="128000"/>
              </a:lnSpc>
              <a:spcAft>
                <a:spcPts val="1400"/>
              </a:spcAft>
              <a:buNone/>
            </a:pPr>
            <a:r>
              <a:rPr lang="en-US" sz="1400" dirty="0">
                <a:solidFill>
                  <a:srgbClr val="D7DEEA"/>
                </a:solidFill>
                <a:latin typeface="Calibri" pitchFamily="34" charset="0"/>
                <a:ea typeface="Calibri" pitchFamily="34" charset="-122"/>
                <a:cs typeface="Calibri" pitchFamily="34" charset="-120"/>
              </a:rPr>
              <a:t>generate successors, add them to a frontier, and repeatedly remove and expand one node — differing only in which node the frontier hands back.</a:t>
            </a:r>
            <a:endParaRPr lang="en-US" sz="1400" dirty="0"/>
          </a:p>
          <a:p>
            <a:pPr marL="0" indent="0">
              <a:lnSpc>
                <a:spcPct val="128000"/>
              </a:lnSpc>
              <a:buNone/>
            </a:pPr>
            <a:r>
              <a:rPr lang="en-US" sz="1400" b="1" dirty="0">
                <a:solidFill>
                  <a:srgbClr val="C9A227"/>
                </a:solidFill>
                <a:latin typeface="Calibri" pitchFamily="34" charset="0"/>
                <a:ea typeface="Calibri" pitchFamily="34" charset="-122"/>
                <a:cs typeface="Calibri" pitchFamily="34" charset="-120"/>
              </a:rPr>
              <a:t>BFS </a:t>
            </a:r>
            <a:r>
              <a:rPr lang="en-US" sz="1400" dirty="0">
                <a:solidFill>
                  <a:srgbClr val="D7DEEA"/>
                </a:solidFill>
                <a:latin typeface="Calibri" pitchFamily="34" charset="0"/>
                <a:ea typeface="Calibri" pitchFamily="34" charset="-122"/>
                <a:cs typeface="Calibri" pitchFamily="34" charset="-120"/>
              </a:rPr>
              <a:t>picks the shallowest node (FIFO).</a:t>
            </a:r>
            <a:endParaRPr lang="en-US" sz="1400" dirty="0"/>
          </a:p>
          <a:p>
            <a:pPr marL="0" indent="0">
              <a:lnSpc>
                <a:spcPct val="128000"/>
              </a:lnSpc>
              <a:buNone/>
            </a:pPr>
            <a:r>
              <a:rPr lang="en-US" sz="1400" b="1" dirty="0">
                <a:solidFill>
                  <a:srgbClr val="C9A227"/>
                </a:solidFill>
                <a:latin typeface="Calibri" pitchFamily="34" charset="0"/>
                <a:ea typeface="Calibri" pitchFamily="34" charset="-122"/>
                <a:cs typeface="Calibri" pitchFamily="34" charset="-120"/>
              </a:rPr>
              <a:t>DFS </a:t>
            </a:r>
            <a:r>
              <a:rPr lang="en-US" sz="1400" dirty="0">
                <a:solidFill>
                  <a:srgbClr val="D7DEEA"/>
                </a:solidFill>
                <a:latin typeface="Calibri" pitchFamily="34" charset="0"/>
                <a:ea typeface="Calibri" pitchFamily="34" charset="-122"/>
                <a:cs typeface="Calibri" pitchFamily="34" charset="-120"/>
              </a:rPr>
              <a:t>picks the deepest node (LIFO).</a:t>
            </a:r>
            <a:endParaRPr lang="en-US" sz="1400" dirty="0"/>
          </a:p>
          <a:p>
            <a:pPr marL="0" indent="0">
              <a:lnSpc>
                <a:spcPct val="128000"/>
              </a:lnSpc>
              <a:buNone/>
            </a:pPr>
            <a:r>
              <a:rPr lang="en-US" sz="1400" b="1" dirty="0">
                <a:solidFill>
                  <a:srgbClr val="C9A227"/>
                </a:solidFill>
                <a:latin typeface="Calibri" pitchFamily="34" charset="0"/>
                <a:ea typeface="Calibri" pitchFamily="34" charset="-122"/>
                <a:cs typeface="Calibri" pitchFamily="34" charset="-120"/>
              </a:rPr>
              <a:t>UCS </a:t>
            </a:r>
            <a:r>
              <a:rPr lang="en-US" sz="1400" dirty="0">
                <a:solidFill>
                  <a:srgbClr val="D7DEEA"/>
                </a:solidFill>
                <a:latin typeface="Calibri" pitchFamily="34" charset="0"/>
                <a:ea typeface="Calibri" pitchFamily="34" charset="-122"/>
                <a:cs typeface="Calibri" pitchFamily="34" charset="-120"/>
              </a:rPr>
              <a:t>picks the cheapest node (priority queue) — and is the only one of the three that is optimal without a uniform-cost assumption.</a:t>
            </a:r>
            <a:endParaRPr lang="en-US" sz="1400" dirty="0"/>
          </a:p>
        </p:txBody>
      </p:sp>
      <p:sp>
        <p:nvSpPr>
          <p:cNvPr id="31" name="Shape 29"/>
          <p:cNvSpPr/>
          <p:nvPr/>
        </p:nvSpPr>
        <p:spPr>
          <a:xfrm>
            <a:off x="5623560" y="4434840"/>
            <a:ext cx="6080760" cy="1417320"/>
          </a:xfrm>
          <a:prstGeom prst="roundRect">
            <a:avLst>
              <a:gd name="adj" fmla="val 5161"/>
            </a:avLst>
          </a:prstGeom>
          <a:solidFill>
            <a:srgbClr val="121B38"/>
          </a:solidFill>
          <a:ln w="12700">
            <a:solidFill>
              <a:srgbClr val="263258"/>
            </a:solidFill>
            <a:prstDash val="solid"/>
          </a:ln>
        </p:spPr>
      </p:sp>
      <p:sp>
        <p:nvSpPr>
          <p:cNvPr id="32" name="Text 30"/>
          <p:cNvSpPr txBox="1"/>
          <p:nvPr/>
        </p:nvSpPr>
        <p:spPr>
          <a:xfrm>
            <a:off x="5852160" y="4572000"/>
            <a:ext cx="5623560" cy="1143000"/>
          </a:xfrm>
          <a:prstGeom prst="rect">
            <a:avLst/>
          </a:prstGeom>
          <a:noFill/>
          <a:ln/>
        </p:spPr>
        <p:txBody>
          <a:bodyPr wrap="square" rtlCol="0" anchor="ctr"/>
          <a:lstStyle/>
          <a:p>
            <a:pPr marL="0" indent="0">
              <a:lnSpc>
                <a:spcPct val="125000"/>
              </a:lnSpc>
              <a:buNone/>
            </a:pPr>
            <a:r>
              <a:rPr lang="en-US" sz="1400" b="1" i="1" dirty="0">
                <a:solidFill>
                  <a:srgbClr val="E7D9A8"/>
                </a:solidFill>
                <a:latin typeface="Cambria" pitchFamily="34" charset="0"/>
                <a:ea typeface="Cambria" pitchFamily="34" charset="-122"/>
                <a:cs typeface="Cambria" pitchFamily="34" charset="-120"/>
              </a:rPr>
              <a:t>"If the search space becomes extremely large, how can AI use additional knowledge about the problem to search more intelligently?"</a:t>
            </a:r>
            <a:endParaRPr lang="en-US" sz="1400" dirty="0"/>
          </a:p>
        </p:txBody>
      </p:sp>
      <p:sp>
        <p:nvSpPr>
          <p:cNvPr id="33" name="Text 31"/>
          <p:cNvSpPr txBox="1"/>
          <p:nvPr/>
        </p:nvSpPr>
        <p:spPr>
          <a:xfrm>
            <a:off x="502920" y="6080760"/>
            <a:ext cx="1115568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NEXT LECTURE  →  From Uninformed Search to Informed Search</a:t>
            </a:r>
            <a:endParaRPr lang="en-US" sz="1400" dirty="0"/>
          </a:p>
        </p:txBody>
      </p:sp>
      <p:sp>
        <p:nvSpPr>
          <p:cNvPr id="34" name="Text 32"/>
          <p:cNvSpPr txBox="1"/>
          <p:nvPr/>
        </p:nvSpPr>
        <p:spPr>
          <a:xfrm>
            <a:off x="502920" y="6473952"/>
            <a:ext cx="9144000" cy="274320"/>
          </a:xfrm>
          <a:prstGeom prst="rect">
            <a:avLst/>
          </a:prstGeom>
          <a:noFill/>
          <a:ln/>
        </p:spPr>
        <p:txBody>
          <a:bodyPr wrap="square" rtlCol="0" anchor="ctr"/>
          <a:lstStyle/>
          <a:p>
            <a:pPr marL="0" indent="0">
              <a:buNone/>
            </a:pPr>
            <a:r>
              <a:rPr lang="en-US" sz="1400" dirty="0">
                <a:solidFill>
                  <a:srgbClr val="8A93A8"/>
                </a:solidFill>
                <a:latin typeface="Calibri" pitchFamily="34" charset="0"/>
                <a:ea typeface="Calibri" pitchFamily="34" charset="-122"/>
                <a:cs typeface="Calibri" pitchFamily="34" charset="-120"/>
              </a:rPr>
              <a:t>Artificial Intelligence   ·   BS Computer Science   ·   Lecture 3   ·   Dr. Ghulam Ali</a:t>
            </a:r>
            <a:endParaRPr lang="en-US" sz="1400" dirty="0"/>
          </a:p>
        </p:txBody>
      </p:sp>
      <p:sp>
        <p:nvSpPr>
          <p:cNvPr id="35" name="Text 33"/>
          <p:cNvSpPr txBox="1"/>
          <p:nvPr/>
        </p:nvSpPr>
        <p:spPr>
          <a:xfrm>
            <a:off x="10774375" y="6473952"/>
            <a:ext cx="914400" cy="274320"/>
          </a:xfrm>
          <a:prstGeom prst="rect">
            <a:avLst/>
          </a:prstGeom>
          <a:noFill/>
          <a:ln/>
        </p:spPr>
        <p:txBody>
          <a:bodyPr wrap="square" rtlCol="0" anchor="ctr"/>
          <a:lstStyle/>
          <a:p>
            <a:pPr marL="0" indent="0" algn="r">
              <a:buNone/>
            </a:pPr>
            <a:r>
              <a:rPr lang="en-US" sz="1400" dirty="0">
                <a:solidFill>
                  <a:srgbClr val="8A93A8"/>
                </a:solidFill>
                <a:latin typeface="Calibri" pitchFamily="34" charset="0"/>
                <a:ea typeface="Calibri" pitchFamily="34" charset="-122"/>
                <a:cs typeface="Calibri" pitchFamily="34" charset="-120"/>
              </a:rPr>
              <a:t>40</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9DD0A6C-BFC1-0349-FD3B-040784682CD2}"/>
              </a:ext>
            </a:extLst>
          </p:cNvPr>
          <p:cNvSpPr txBox="1"/>
          <p:nvPr/>
        </p:nvSpPr>
        <p:spPr>
          <a:xfrm>
            <a:off x="3048000" y="2090172"/>
            <a:ext cx="6096000" cy="2677656"/>
          </a:xfrm>
          <a:prstGeom prst="rect">
            <a:avLst/>
          </a:prstGeom>
          <a:noFill/>
        </p:spPr>
        <p:txBody>
          <a:bodyPr wrap="square">
            <a:spAutoFit/>
          </a:bodyPr>
          <a:lstStyle/>
          <a:p>
            <a:r>
              <a:rPr lang="en-PK" sz="1800" b="1" kern="0" dirty="0">
                <a:effectLst/>
                <a:latin typeface="Times New Roman" panose="02020603050405020304" pitchFamily="18" charset="0"/>
                <a:ea typeface="Times New Roman" panose="02020603050405020304" pitchFamily="18" charset="0"/>
                <a:cs typeface="Arial" panose="020B0604020202020204" pitchFamily="34" charset="0"/>
              </a:rPr>
              <a:t>Question:</a:t>
            </a:r>
            <a:br>
              <a:rPr lang="en-PK" sz="1800" kern="0" dirty="0">
                <a:effectLst/>
                <a:latin typeface="Times New Roman" panose="02020603050405020304" pitchFamily="18" charset="0"/>
                <a:ea typeface="Times New Roman" panose="02020603050405020304" pitchFamily="18" charset="0"/>
                <a:cs typeface="Arial" panose="020B0604020202020204" pitchFamily="34" charset="0"/>
              </a:rPr>
            </a:br>
            <a:r>
              <a:rPr lang="en-PK" sz="1800" kern="0" dirty="0">
                <a:effectLst/>
                <a:latin typeface="Times New Roman" panose="02020603050405020304" pitchFamily="18" charset="0"/>
                <a:ea typeface="Times New Roman" panose="02020603050405020304" pitchFamily="18" charset="0"/>
                <a:cs typeface="Arial" panose="020B0604020202020204" pitchFamily="34" charset="0"/>
              </a:rPr>
              <a:t>Write a simple reflex agent for a </a:t>
            </a:r>
            <a:r>
              <a:rPr lang="en-PK" sz="1800" b="1" kern="0" dirty="0">
                <a:effectLst/>
                <a:latin typeface="Times New Roman" panose="02020603050405020304" pitchFamily="18" charset="0"/>
                <a:ea typeface="Times New Roman" panose="02020603050405020304" pitchFamily="18" charset="0"/>
                <a:cs typeface="Arial" panose="020B0604020202020204" pitchFamily="34" charset="0"/>
              </a:rPr>
              <a:t>vacuum-cleaner environment</a:t>
            </a:r>
            <a:r>
              <a:rPr lang="en-PK" sz="1800" kern="0" dirty="0">
                <a:effectLst/>
                <a:latin typeface="Times New Roman" panose="02020603050405020304" pitchFamily="18" charset="0"/>
                <a:ea typeface="Times New Roman" panose="02020603050405020304" pitchFamily="18" charset="0"/>
                <a:cs typeface="Arial" panose="020B0604020202020204" pitchFamily="34" charset="0"/>
              </a:rPr>
              <a:t> using </a:t>
            </a:r>
            <a:r>
              <a:rPr lang="en-PK" sz="1800" b="1" kern="0" dirty="0">
                <a:effectLst/>
                <a:latin typeface="Times New Roman" panose="02020603050405020304" pitchFamily="18" charset="0"/>
                <a:ea typeface="Times New Roman" panose="02020603050405020304" pitchFamily="18" charset="0"/>
                <a:cs typeface="Arial" panose="020B0604020202020204" pitchFamily="34" charset="0"/>
              </a:rPr>
              <a:t>IF–THEN rules</a:t>
            </a:r>
            <a:r>
              <a:rPr lang="en-PK" sz="1800" kern="0" dirty="0">
                <a:effectLst/>
                <a:latin typeface="Times New Roman" panose="02020603050405020304" pitchFamily="18" charset="0"/>
                <a:ea typeface="Times New Roman" panose="02020603050405020304" pitchFamily="18" charset="0"/>
                <a:cs typeface="Arial" panose="020B0604020202020204" pitchFamily="34" charset="0"/>
              </a:rPr>
              <a:t>.</a:t>
            </a:r>
            <a:endParaRPr lang="en-PK" sz="1800" kern="100" dirty="0">
              <a:effectLst/>
              <a:latin typeface="Calibri" panose="020F0502020204030204" pitchFamily="34" charset="0"/>
              <a:ea typeface="Calibri" panose="020F0502020204030204" pitchFamily="34" charset="0"/>
              <a:cs typeface="Arial" panose="020B0604020202020204" pitchFamily="34" charset="0"/>
            </a:endParaRPr>
          </a:p>
          <a:p>
            <a:r>
              <a:rPr lang="en-PK" sz="1800" kern="0" dirty="0">
                <a:effectLst/>
                <a:latin typeface="Times New Roman" panose="02020603050405020304" pitchFamily="18" charset="0"/>
                <a:ea typeface="Times New Roman" panose="02020603050405020304" pitchFamily="18" charset="0"/>
                <a:cs typeface="Arial" panose="020B0604020202020204" pitchFamily="34" charset="0"/>
              </a:rPr>
              <a:t>The agent can sense:</a:t>
            </a:r>
            <a:endParaRPr lang="en-PK" sz="18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buSzPts val="1000"/>
              <a:buFont typeface="Symbol" pitchFamily="2" charset="2"/>
              <a:buChar char=""/>
              <a:tabLst>
                <a:tab pos="457200" algn="l"/>
              </a:tabLst>
            </a:pPr>
            <a:r>
              <a:rPr lang="en-PK" sz="1800" kern="0" dirty="0">
                <a:effectLst/>
                <a:latin typeface="Times New Roman" panose="02020603050405020304" pitchFamily="18" charset="0"/>
                <a:ea typeface="Times New Roman" panose="02020603050405020304" pitchFamily="18" charset="0"/>
                <a:cs typeface="Arial" panose="020B0604020202020204" pitchFamily="34" charset="0"/>
              </a:rPr>
              <a:t>Its current location: </a:t>
            </a:r>
            <a:r>
              <a:rPr lang="en-PK" sz="1800" b="1" kern="0" dirty="0">
                <a:effectLst/>
                <a:latin typeface="Times New Roman" panose="02020603050405020304" pitchFamily="18" charset="0"/>
                <a:ea typeface="Times New Roman" panose="02020603050405020304" pitchFamily="18" charset="0"/>
                <a:cs typeface="Arial" panose="020B0604020202020204" pitchFamily="34" charset="0"/>
              </a:rPr>
              <a:t>A or B</a:t>
            </a:r>
            <a:r>
              <a:rPr lang="en-PK" sz="1800" kern="0" dirty="0">
                <a:effectLst/>
                <a:latin typeface="Times New Roman" panose="02020603050405020304" pitchFamily="18" charset="0"/>
                <a:ea typeface="Times New Roman" panose="02020603050405020304" pitchFamily="18" charset="0"/>
                <a:cs typeface="Arial" panose="020B0604020202020204" pitchFamily="34" charset="0"/>
              </a:rPr>
              <a:t> </a:t>
            </a:r>
            <a:endParaRPr lang="en-PK" sz="18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buSzPts val="1000"/>
              <a:buFont typeface="Symbol" pitchFamily="2" charset="2"/>
              <a:buChar char=""/>
              <a:tabLst>
                <a:tab pos="457200" algn="l"/>
              </a:tabLst>
            </a:pPr>
            <a:r>
              <a:rPr lang="en-PK" sz="1800" kern="0" dirty="0">
                <a:effectLst/>
                <a:latin typeface="Times New Roman" panose="02020603050405020304" pitchFamily="18" charset="0"/>
                <a:ea typeface="Times New Roman" panose="02020603050405020304" pitchFamily="18" charset="0"/>
                <a:cs typeface="Arial" panose="020B0604020202020204" pitchFamily="34" charset="0"/>
              </a:rPr>
              <a:t>Whether the current location is </a:t>
            </a:r>
            <a:r>
              <a:rPr lang="en-PK" sz="1800" b="1" kern="0" dirty="0">
                <a:effectLst/>
                <a:latin typeface="Times New Roman" panose="02020603050405020304" pitchFamily="18" charset="0"/>
                <a:ea typeface="Times New Roman" panose="02020603050405020304" pitchFamily="18" charset="0"/>
                <a:cs typeface="Arial" panose="020B0604020202020204" pitchFamily="34" charset="0"/>
              </a:rPr>
              <a:t>Dirty or Clean</a:t>
            </a:r>
            <a:r>
              <a:rPr lang="en-PK" sz="1800" kern="0" dirty="0">
                <a:effectLst/>
                <a:latin typeface="Times New Roman" panose="02020603050405020304" pitchFamily="18" charset="0"/>
                <a:ea typeface="Times New Roman" panose="02020603050405020304" pitchFamily="18" charset="0"/>
                <a:cs typeface="Arial" panose="020B0604020202020204" pitchFamily="34" charset="0"/>
              </a:rPr>
              <a:t> </a:t>
            </a:r>
            <a:endParaRPr lang="en-PK" sz="1800" kern="100" dirty="0">
              <a:effectLst/>
              <a:latin typeface="Calibri" panose="020F0502020204030204" pitchFamily="34" charset="0"/>
              <a:ea typeface="Calibri" panose="020F0502020204030204" pitchFamily="34" charset="0"/>
              <a:cs typeface="Arial" panose="020B0604020202020204" pitchFamily="34" charset="0"/>
            </a:endParaRPr>
          </a:p>
          <a:p>
            <a:r>
              <a:rPr lang="en-PK" sz="1800" kern="0" dirty="0">
                <a:effectLst/>
                <a:latin typeface="Times New Roman" panose="02020603050405020304" pitchFamily="18" charset="0"/>
                <a:ea typeface="Times New Roman" panose="02020603050405020304" pitchFamily="18" charset="0"/>
                <a:cs typeface="Arial" panose="020B0604020202020204" pitchFamily="34" charset="0"/>
              </a:rPr>
              <a:t>Write </a:t>
            </a:r>
            <a:r>
              <a:rPr lang="en-PK" sz="1800" b="1" kern="0" dirty="0">
                <a:effectLst/>
                <a:latin typeface="Times New Roman" panose="02020603050405020304" pitchFamily="18" charset="0"/>
                <a:ea typeface="Times New Roman" panose="02020603050405020304" pitchFamily="18" charset="0"/>
                <a:cs typeface="Arial" panose="020B0604020202020204" pitchFamily="34" charset="0"/>
              </a:rPr>
              <a:t>four rules</a:t>
            </a:r>
            <a:r>
              <a:rPr lang="en-PK" sz="1800" kern="0" dirty="0">
                <a:effectLst/>
                <a:latin typeface="Times New Roman" panose="02020603050405020304" pitchFamily="18" charset="0"/>
                <a:ea typeface="Times New Roman" panose="02020603050405020304" pitchFamily="18" charset="0"/>
                <a:cs typeface="Arial" panose="020B0604020202020204" pitchFamily="34" charset="0"/>
              </a:rPr>
              <a:t> that specify what the agent should do.</a:t>
            </a:r>
            <a:endParaRPr lang="en-PK" sz="1800" kern="100" dirty="0">
              <a:effectLst/>
              <a:latin typeface="Calibri" panose="020F0502020204030204" pitchFamily="34" charset="0"/>
              <a:ea typeface="Calibri" panose="020F0502020204030204" pitchFamily="34" charset="0"/>
              <a:cs typeface="Arial" panose="020B0604020202020204" pitchFamily="34" charset="0"/>
            </a:endParaRPr>
          </a:p>
          <a:p>
            <a:r>
              <a:rPr lang="en-PK" sz="1800" b="1" kern="0" dirty="0">
                <a:effectLst/>
                <a:latin typeface="Times New Roman" panose="02020603050405020304" pitchFamily="18" charset="0"/>
                <a:ea typeface="Times New Roman" panose="02020603050405020304" pitchFamily="18" charset="0"/>
                <a:cs typeface="Arial" panose="020B0604020202020204" pitchFamily="34" charset="0"/>
              </a:rPr>
              <a:t>Example format:</a:t>
            </a:r>
            <a:endParaRPr lang="en-PK" sz="1800" kern="100" dirty="0">
              <a:effectLst/>
              <a:latin typeface="Calibri" panose="020F0502020204030204" pitchFamily="34" charset="0"/>
              <a:ea typeface="Calibri" panose="020F0502020204030204" pitchFamily="34" charset="0"/>
              <a:cs typeface="Arial" panose="020B0604020202020204" pitchFamily="34"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PK" sz="1200" kern="0" dirty="0">
                <a:effectLst/>
                <a:latin typeface="Courier New" panose="02070309020205020404" pitchFamily="49" charset="0"/>
                <a:ea typeface="Times New Roman" panose="02020603050405020304" pitchFamily="18" charset="0"/>
                <a:cs typeface="Arial" panose="020B0604020202020204" pitchFamily="34" charset="0"/>
              </a:rPr>
              <a:t>IF location = A AND status = Dirty</a:t>
            </a:r>
            <a:endParaRPr lang="en-PK" sz="1800" kern="100" dirty="0">
              <a:effectLst/>
              <a:latin typeface="Calibri" panose="020F0502020204030204" pitchFamily="34" charset="0"/>
              <a:ea typeface="Calibri" panose="020F0502020204030204" pitchFamily="34" charset="0"/>
              <a:cs typeface="Arial" panose="020B0604020202020204" pitchFamily="34"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PK" sz="1200" kern="0" dirty="0">
                <a:effectLst/>
                <a:latin typeface="Courier New" panose="02070309020205020404" pitchFamily="49" charset="0"/>
                <a:ea typeface="Times New Roman" panose="02020603050405020304" pitchFamily="18" charset="0"/>
                <a:cs typeface="Arial" panose="020B0604020202020204" pitchFamily="34" charset="0"/>
              </a:rPr>
              <a:t>THEN action = Suck</a:t>
            </a:r>
            <a:endParaRPr lang="en-PK" sz="1800" kern="1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9738981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TotalTime>
  <Words>16185</Words>
  <Application>Microsoft Macintosh PowerPoint</Application>
  <PresentationFormat>Widescreen</PresentationFormat>
  <Paragraphs>1005</Paragraphs>
  <Slides>41</Slides>
  <Notes>40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41</vt:i4>
      </vt:variant>
    </vt:vector>
  </HeadingPairs>
  <TitlesOfParts>
    <vt:vector size="49" baseType="lpstr">
      <vt:lpstr>Arial</vt:lpstr>
      <vt:lpstr>Calibri</vt:lpstr>
      <vt:lpstr>Cambria</vt:lpstr>
      <vt:lpstr>Cambria Math</vt:lpstr>
      <vt:lpstr>Courier New</vt:lpstr>
      <vt:lpstr>Symbol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BS Computer Science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Formulation and Uninformed Search</dc:title>
  <dc:subject>PptxGenJS Presentation</dc:subject>
  <dc:creator>Dr. Ghulam Ali</dc:creator>
  <cp:lastModifiedBy>Ali Huzaifah</cp:lastModifiedBy>
  <cp:revision>9</cp:revision>
  <dcterms:created xsi:type="dcterms:W3CDTF">2026-09-09T18:32:04Z</dcterms:created>
  <dcterms:modified xsi:type="dcterms:W3CDTF">2026-09-30T05:01:17Z</dcterms:modified>
</cp:coreProperties>
</file>