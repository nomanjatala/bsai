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4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278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back. State the lecture's position in the course arc: Lecture 3 built the vocabulary of search (states, actions, transition model, path cost) and studied blind strategies. Lecture 4 asks a pointed question: those blind strategies never look at WHERE the goal is — could we do better if the algorithm were allowed to use problem-specific knowledge? Emphasize this is a conceptual pivot, not just 'another algorithm' — it is the beginning of every practical AI search system used in industry (routing, robotics, games). Mention duration and that today has heavy worked examples — students should keep pen and paper ready to trace through the A* example with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hinge of the whole lecture — spend real time here. Ask the class: 'BFS and UCS both eventually find the goal — so why would we ever need anything else?' Draw out the answer: efficiency. On a large state space (road network with millions of intersections, a puzzle with billions of states), exploring blindly is computationally infeasible even though it is theoretically correct. Uninformed search treats every unexplored node as equally promising; informed search does not. Conceptual distinction to state explicitly: 'uninformed' does not mean 'bad' — it means the algorithm has no access to problem-specific estimates of remaining distance. Transition line into next slide: 'Today we formalize exactly what that extra knowledge looks like, and build one of the most important algorithms in all of AI on top of it — 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objectives briskly — this slide sets expectations, not depth. Flag explicitly what we will NOT cover in detail today, to manage scope: IDA*, RBFS, SMA*, Beam Search, minimax/alpha-beta, constraint satisfaction algorithms, genetic algorithms and simulated annealing. These may be mentioned only in passing as 'future extensions' of the ideas we build today — none of them will be tested on today's material. Also flag that machine learning, neural networks, and reinforcement learning are entirely out of scope — heuristic search here is a classical, symbolic AI technique, conceptually different from learning-based methods covered later in the course.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word 'estimate' — informed search does not know the true remaining cost (if it did, search would be trivial); it only has an ESTIMATE. That imperfection is precisely why later slides on admissibility and consistency matter — an estimate can be good or bad, and the algorithm's guarantees depend on which. Classroom question to pose here: 'If you were driving to campus using only distance-so-far as your guide, with no idea which direction campus was in, how would that feel? Now imagine you also have a compass pointing roughly toward campus — that compass is your heuristic.' This analogy will be reused implicitly all lecture. Conceptual distinction to name explicitly: uninformed vs informed is about the INFORMATION available to the evaluation function, not about which specific algorithm is used. Also mention, verbally, the remaining real-world instances that didn't fit the tile grid: autonomous drone navigation and delivery-fleet logistics are covered by the same 'GPS routing' and 'logistics planning' tiles shown.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clearly that the 185 km / 215 km figures are illustrative approximations chosen to teach the concept, not a surveyed measurement — the pedagogical point is the relationship h(n) ≤ h*(n), not the exact kilometre count. This is the same technique AIMA's Romania map example uses with straight-line distances to Bucharest. Ask a classroom question here: 'Can you think of a situation where straight-line distance would be a BAD heuristic?' (Answer: a large lake, mountain range, or river directly between two cities with no direct crossing — straight-line distance would drastically underestimate the real driving distance, making the heuristic weak, though it would still be admissible.) This foreshadows the 'weak vs strong heuristic' discussion in Section 5. Also cover verbally why straight-line distance works as a heuristic at all: it is cheap to compute from coordinates alone with no search required, it can never exceed the true road distance since roads never shortcut through open country, and it correlates with true cost — these three properties (cheap, non-overestimating, informative) are exactly what a good heuristic needs.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notation anchor students will refer back to for the rest of the lecture — go slowly. The g(n) vs h(n) distinction is conceptual distinction #1 for today: g(n) is BACKWARD-looking (what we already paid), h(n) is FORWARD-looking (what we still expect to pay). Also flag the h(n) vs h*(n) distinction explicitly: h*(n) is a purely theoretical quantity used to define and prove properties like admissibility — no algorithm ever computes h*(n) directly (if it could, it wouldn't need to search at all). Common student confusion: they think h*(n) is 'the better heuristic' — clarify it is not a heuristic at all, it is the ground truth used to judge heuristics.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heuristic is a rule of thumb. The heuristic function h(n) maps a state to a number: our estimate of the remaining cost to reach the goal. h(goal)=0 and h(n) is never negative.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actual cost (real, g(n) and h*(n)), estimated cost (any prediction) and heuristic cost (the specific number h(n) our function returns). Then list the four algorithms that rely on a heuristic.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questions: (1) Is it ever too optimistic by overestimating? (2) Is it coherent from one node to the next? (3) Is it cheap enough to compute? Not every heuristic must be admissible; it matters when optimality is required, e.g. 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g(n) is already paid, h(n) is a guess about the future, f(n) adds them. Both heuristics shown are admissible, but the informative one lets A* select node B immediately.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Overestimation breaks the optimality guarantee of A*. A more informed heuristic dominates: it is at least as large everywhere yet still below 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puzzle, then both heuristics. Misplaced tiles only counts; Manhattan distance measures how far each tile must travel. Worked numbers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tile by tile. h1 = 4, h2 = 5, and the true optimal cost is 5. Manhattan distance dominates misplaced tiles while both stay admissible.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queens are involved in at least one attack; orange lines connect attacking pairs. A goal state has h = 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only lines that are still open for a player (no opponent mark). Weights 100/10/1 reflect how close each line is to winning. The state is bad for X because O has two in column 3 and X is to move.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finding: straight-line distance is admissible. Grid: choose the distance that matches the allowed moves. Chess: a weighted evaluation function, like tic-tac-toe, estimates who is ahead.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table, then the four desirable properties. Admissibility matters when optimality is required.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revisiting: heuristic, h(n), the three parameters, example functions, and the search-effort savings.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set-up slide, not yet the algorithm trace — the point is to show students HOW h*(n) values are derived (by brute-force enumeration of paths), so the later admissibility check (h ≤ h*) is not a black box. Walk through at least one h* computation live on the board, e.g. h*(B): paths from B to G are B-D-G (4+3=7) and B-E-G (6+5=11); the cheaper is 7, so h*(B)=7. Classroom question: 'Why don't we just always use h*(n) itself as our heuristic, since it's clearly admissible (h=h* satisfies h≤h*)?' Answer: computing h*(n) requires already knowing the optimal path — which is precisely what search is trying to find. Using h* as h would mean the problem is already solved; heuristics must be cheap to compute WITHOUT search.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conceptual skeleton for the entire rest of the lecture — students should leave this slide knowing that everything from here forward is 'the same algorithm, different priority rule.' This directly sets up and helps correct misconception #7 later: UCS is NOT some unrelated algorithm from Lecture 3 living in a separate universe — it is A* with h(n)=0 everywhere. Do not over-explain that connection yet (it is formally revisited in Section 8, slide 32) — just plant the seed here. Classroom question: 'If f(n)=g(n) is UCS and f(n)=h(n) is Greedy, what algorithm do you think f(n)=g(n)+h(n) gives us, and why might combining them be smarter than either alone?' Let students guess before the next section names it: 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algorithm plainly: this is the first NAMED informed algorithm of the lecture. Stress the word 'Greedy' is a formal algorithmic term here, not a casual insult — greedy algorithms make the locally best choice at each step without reconsidering it. Pose the classroom question live and collect 2-3 student proposals (common answers: alphabetical order, insertion order (FIFO among ties), prefer larger g(n) so far). Reveal that different tie-breaking rules can change WHICH optimal-looking-but-suboptimal path greedy falls into, though it does not change greedy's fundamental lack of an optimality guarantee. We will fix our own tie-break rule (prefer smaller h, else insertion order) for consistency in today's worked examples.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pseudocode line by line, but do not dwell too long — the real teaching moment is the worked trace on the next slides. Make the structural point explicit: this is line-for-line the same skeleton as UCS from Lecture 3 and as A* which we meet shortly; ONLY the priority key changes. This is worth writing on the board as three lines with blanks: 'frontier ordered by ___' and having students fill in g(n), h(n), g(n)+h(n) respectively before moving on. Also mention: a repeated-state check (the explored set) is what keeps this efficient on graphs with cycles.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this table live, node by node, asking students to predict the next expansion before you reveal it. Key moment: at Step 2, remind students that B was also on the frontier with h₁(B)=6 — Greedy strictly prefers A (h=3) without ever looking at the fact that reaching A cost 4 and the edge onward to D costs a further 7. This is exactly the misconception to correct here: 'Greedy chooses the node that is cheapest overall' is WRONG — correct statement: 'Greedy chooses the node that LOOKS closest to the goal, regardless of how expensive it was to get there.' Flag this now for direct contrast against A*'s trace in Section 4, which will find the cost-12 path on the SAME graph.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misconception here explicitly: some students assume 'Greedy is always fast and A* is always slow because A* does more work' — push back gently: A* does not always expand more nodes than Greedy; it expands more than or equal to the minimum needed for optimality, while Greedy's node count is unpredictable — it can be very low OR very high depending entirely on how well the heuristic happens to align with the true costs on that specific problem. State the completeness caveat precisely: Greedy Best-First IS complete on a finite state space when a repeated-state (explored-set) check is used, as in our pseudocode; the classic incompleteness failure mode arises mainly on infinite or very large implicit search spaces without such a check. Bridge line to next slide: 'So can we keep Greedy's speed but recover the optimality guarantee? That question has a clean answer, and it's the single most important algorithm in this course.'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deliberate rhetorical pause before naming A*. Let the question at the bottom hang for a moment — ask the class directly 'What would you call an algorithm that adds g(n) and h(n) together?' before advancing. Conceptual distinction to reinforce: Greedy vs UCS vs A* is not three unrelated algorithms to memorize separately; it is one idea (best-first search) explored at three different points along a single spectrum from 'ignore h' to 'ignore g' to 'use both.' This framing will make the A* definition on the next slide feel inevitable rather than arbitrary.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historical grounding, then move quickly — the payoff of this lecture is the mechanics, not the history. Emphasize the phrase 'never discard the cost already paid': this is the single sentence that separates A* from Greedy. Real-world application callout: mention that when players in modern video games watch an NPC or unit navigate around obstacles intelligently, that pathfinding is very often A* or a close variant running many times per second. Transition line: 'Let's write down exactly what expression A* uses, and then prove to ourselves why combining g and h is not just intuitive but mathematically well-motivated.'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formula slide students will photograph — write it on the board too, slowly. Correct misconception #1 directly and explicitly here (it recurs constantly in student work): 'A* always chooses the node with the smallest h(n)' is FALSE. A* chooses the node with the smallest f(n) = g(n)+h(n). A node can have a very small h(n) (looks close to the goal) yet a large g(n) (was very expensive to reach), giving it a large f(n) that A* correctly deprioritizes. Ask a classroom question: 'Node X has g=20, h=1. Node Y has g=2, h=15. Which does A* expand first?' Recompute together on the board: f(X)=21, f(Y)=17, so A* expands Y first. Use this as a live gotcha to make the point concrete.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real time on the classroom question before revealing the printed answer — this single question, worked out by students themselves, cements the g/h/f relationship better than any amount of additional lecture. This also plants the formal bridge that UCS is literally the special case of A* with h ≡ 0, which will be stated explicitly again in Section 8. Conceptual distinction to name here: the difference between a heuristic that is merely admissible (never overestimates) versus one that is perfectly accurate (h=h*) — perfect heuristics are a useful thought experiment but essentially never available for hard problems, since computing h*(n) requires already having solved the search problem.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moment on the update rule 'if unseen or g_new &lt; g(child)' — this is the mechanism that lets A* correct itself when a cheaper path to an already-seen node is discovered, something Greedy's pseudocode never does. This relates directly to why an admissible-but-inconsistent heuristic can force A* to reopen nodes pulled from the explored set (a wrinkle we will only mention briefly in Section 7, not implement here — out of scope for this lecture's pseudocode, which assumes we do not need to reopen explored nodes because we will only use it with a consistent heuristic in our worked example). Emphasize the goal-test-on-pop point strongly — it is a frequent source of subtle bugs when students implement A* in assignments.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framing slide before the trace begins — make sure students register that we deliberately changed ONE heuristic value between the Greedy example and this one, and why. Foreshadow Section 5 and Section 7 explicitly: this same h₁-vs-h₂ pair will return as our worked example for heuristic dominance (Section 5) and for the admissible-vs-consistent distinction (Section 7). Reassure students that A* with h₁ (the weaker heuristic) would STILL find the optimal path here — admissibility alone guarantees A* eventually finds the optimum — but might expand more nodes doing so; we are using h₂ for this particular trace simply because it also lets us demonstrate consistency cleanly.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this on the board in real time alongside the slide — draw the frontier as a literal sorted list after each step. Critical instructor point at Step 2 and Step 3: both times, node A (f=11, from Step 1) is sitting in the frontier the whole time but loses the f=11 tie to a node with smaller h(n) — this is exactly the tie-breaking rule from slide 9's classroom question, now put to concrete use. Ask: 'Why didn't we expand A at Step 2, even though it's been waiting since Step 1?' Answer: it is tied on f(n) with B and D respectively, and our tie-break rule (smaller h wins) consistently favors the other node; A's turn will come at Step 4, shown next slide. State plainly, since it is no longer spelled out on the slide: the tie-break rule in use throughout is 'among equal f(n), prefer the smaller h(n).'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single most important punchline of the entire lecture — do not rush it. Make students verbally confirm the arithmetic: 5+4+3=12, matching the h* computation from slide 7 exactly (h*(S) was defined as 12). Restate the safe-termination argument slowly: it depends on CONSISTENCY, not merely admissibility — flag that Section 7 will make this precise, and that an admissible-but-inconsistent heuristic (like h₁) can still find the optimum eventually but may require reopening nodes pulled from explored, which is a more advanced implementation detail we are only mentioning, not implementing, today (explicitly out of scope, akin to IDA*/RBFS variants).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consolidate the trace into a single visual artifact students can study later. Ask a classroom question: 'C and E were both generated but never expanded — does that mean the algorithm wasted work generating them?' Answer: no — generating a node (computing its g, h, f and placing it on the frontier) is inexpensive compared to expanding it (exploring its children); A*'s efficiency comes from minimizing EXPANSIONS of unpromising nodes, not from avoiding ever looking at them. This distinguishes 'generated' from 'expanded,' a distinction worth making explicit since students often conflate the two when reasoning about search complexity.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 section-closer that puts all three results side by side for direct visual comparison — give students a moment to just look at it before talking. Reinforce that UCS and A* found the SAME path here (S-B-D-G, cost 12); that is not a coincidence of this particular example but a guaranteed property whenever the heuristic is admissible — what differs between UCS and A* is not correctness but EFFICIENCY (A* typically reaches this conclusion after exploring far fewer nodes on larger problems, though on our tiny 7-node example the difference is not dramatic). Transition to next section: 'We've seen a weak heuristic mislead Greedy and a stronger one guide A* perfectly — let's now formalize exactly what makes one heuristic ‘better’ than another.'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this abstractly-stated trade-off with a concrete instance: computing Euclidean distance is a few arithmetic operations; computing a heuristic derived from a relaxed version of a large planning problem (a 'pattern database' heuristic, mentioned only by name, not detail) might take far longer per node despite being much more accurate. This slide sets up both the h₁/h₂ comparison on the next slide and the Manhattan/Euclidean comparison two slides later. Classroom question: 'Would you ever prefer a WEAKER heuristic on purpose?' Let students reason towards the computation-cost trade-off themselves before you state it explicitly.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visual payoff of the running example — students have now seen h₁ and h₂ in a graph diagram, a numeric trace, and now this direct bar-chart comparison. Reinforce the definition of 'weak' and 'strong' precisely: both terms are always relative to a shared upper bound (h*) and only meaningful when comparing heuristics that are both admissible. A heuristic that occasionally overestimates is not 'strong' — it is simply inadmissible, a different and more serious problem covered on the admissibility slides.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corrects misconception #5: 'a more informative (dominant) heuristic always strictly reduces the number of expansions' is an overstatement students often walk away with from a quick treatment of this topic — the precise guarantee is 'never more, possibly equal, generally fewer on larger or more branching problems.' Use the honest-reading box to model good scientific reasoning: we are not hiding the fact that our tiny example doesn't show a raw count improvement, we are explaining exactly why the small size of the example limits what it can demonstrate, while the ORDER of expansion still clearly favors h₂. This is a good moment to remind students that toy examples in lectures are chosen for clarity of mechanism, not for showcasing every real-world benefit at scale.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classic and important example — sketch the (0,0) to (3,4) grid on the board with the Euclidean straight line versus the Manhattan staircase path visibly overlaid. This example generalizes beautifully to the sliding-tile puzzles (8-puzzle, 15-puzzle) mentioned as a real-world application earlier: Manhattan distance summed over all misplaced tiles is the standard heuristic taught in every AI course for that exact reason — tile moves are grid-restricted, so Manhattan distance is tight. Flag the final point about the action model as a genuinely subtle, university-level insight: heuristic design is not a fixed recipe, it must respect what moves the problem actually allows.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misconception #2 head-on, in these words: 'admissible' does NOT mean 'accurate' or 'good.' It is a one-sided, minimal requirement — h(n)=0 for every node is trivially admissible (0 never overestimates anything), and we already know that particular admissible heuristic is exactly UCS. Emphasize the asymmetry: overestimating is dangerous (can cause A* to miss the optimal path), underestimating is only ever a matter of efficiency, never correctness (for tree search). Classroom question: 'Is h(n) = h*(n) - 1000 (for every node with h*(n) ≥ 1000) admissible? Would it be a GOOD heuristic?' Answer: yes it is technically admissible (never overestimates by construction) but computationally it is nearly worthless / degenerates search efficiency close to UCS-like behavior for those nodes, and is not realistic since h*(n) is generally unknown anyway.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 line visually: the green shaded region is the entire admissible range for h(A), from 0 up to and including h*(A)=9; both our candidate heuristics land safely inside it, at very different points. Ask a classroom question: 'Where on this number line would a heuristic sit if it were both admissible AND perfectly informative?' (Answer: exactly at the boundary, h(A)=9=h*(A) — as close to the red zone as possible without crossing it. This is the theoretical ideal that real heuristics only approximate.) Reiterate that crossing into the red zone even slightly — say h(A)=9.01 — breaks the admissibility guarantee and can cause A* (tree search) to return a suboptimal answer, even though intuitively 9.01 seems like an almost-perfect estimate.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non-decreasing-f claim on the board from the inequality directly, since it is a short one-line algebra step and is exactly the kind of derivation a university-level treatment should include: f(n') = g(n') + h(n') = g(n) + c(n,n') + h(n') ≥ g(n) + h(n) = f(n), using consistency in the middle step. Point out this derivation is precisely why we introduced g(n), h(n), f(n) notation so carefully in Section 2 — it now pays off in a real proof. Do not let students conflate 'monotonicity' as a totally different concept from 'consistency' — explicitly state these are two names for the exact same property, both appear interchangeably in AI textbooks and exam questions.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corrects misconception #3 directly: 'admissible and consistent are the same requirement' is false, and the direction of implication matters (consistent ⇒ admissible, not the other way). Give students the one-line proof sketch for why consistency implies admissibility: chain the triangle inequality along the entire path from n to the goal, edge by edge; the telescoping sum gives h(n) ≤ (sum of edge costs along the path) + h(goal) = cost of that path, and since this holds for the OPTIMAL path in particular, h(n) ≤ h*(n). This is a satisfying short proof worth putting on the board. On the reopening point: mention explicitly that implementing reopening logic is an important but more advanced detail we are flagging conceptually, not implementing today — consistent with our scope control for this lecture. Also state plainly, since the slide leaves it implicit: with a consistent heuristic this reopening never happens, because the first time a node is popped its g-value is already optimal.</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actually check one or two of the other edges live as a quick group exercise — e.g., edge B-D under h₁: h₁(B)=6 ≤ c(B,D)+h₁(D) = 4+2 = 6 — holds with EQUALITY, which is still consistent (the inequality is non-strict). This is worth pointing out: consistency allows equality, it only forbids h(n) exceeding c(n,n')+h(n'). Use this slide to reassure students that a single local violation does not necessarily wreck an entire A* run in every case — but stress this was a lucky feature of this specific small example, not a general guarantee; in general graphs, inconsistency CAN force reopening and extra work, which is precisely why consistency is the property algorithm designers actively aim for when hand-crafting a heuristic. This is also why A* still reached the optimal answer with h₁ earlier without needing to reopen any node in that particular run.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formalizes the tree-vs-graph-search conceptual distinction promised back in Section 4, and closes the loop on misconception #7 (UCS vs A*) with an actual short proof rather than just an assertion: h≡0 satisfies the consistency inequality trivially (0 ≤ c(n,n′)+0 always holds for non-negative costs), so all of A*'s consistency-based guarantees apply automatically to UCS. Ask a classroom question: 'Does Greedy Best-First Search fit anywhere in this admissible/consistent framework?' Answer: no — Greedy's optimality is not governed by these properties at all, because its evaluation function f(n)=h(n) does not incorporate g(n); admissibility and consistency are properties that specifically interact with the g+h STRUCTURE of A*'s evaluation function, which Greedy lacks entirely. This is worth stating explicitly since students sometimes assume admissibility 'fixes' Greedy too — it does not.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table students will use most when reviewing for exams — spend real time here, and read the caveats aloud rather than letting students assume the Yes/No columns are unconditional absolutes. Highlight specifically: BFS is optimal only under the equal-step-cost assumption (a frequent exam trick question is to ask about BFS optimality on a WEIGHTED graph, where the answer is no); DFS's completeness depends entirely on whether the space is finite or cycle-checking is used; Greedy's completeness is conditional on a repeated-state check, spelled out in the footnote. Emphasize the A* row last as the section's takeaway: it is the only algorithm in the table that is simultaneously guaranteed optimal AND actively goal-directed, which is exactly why it dominates practical use in the applications listed earlier (GPS routing, robotics, games, logistics).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conceptual distinction #7 (systematic vs local search) stated formally — make the memory argument concrete: systematic search on a state space with branching factor b and depth d can need frontier memory on the order of b^d; local search needs to remember exactly one state, a constant amount of memory, regardless of d. That is the entire appeal of local search, and also the source of its weaknesses covered in the next few slides. Classroom question: 'Why would path cost be irrelevant for something like arranging furniture in a room to maximize space, or assigning exam time slots to avoid conflicts?' Answer: we only care about the quality of the FINAL arrangement, not which sequence of moves produced it. Mention real-world uses verbally: circuit layout, task/resource scheduling, VLSI design, and any large-scale optimization problem where path-based search would be infeasible.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explicitly that this pseudocode has NO frontier, no explored set, and no way to undo a move — contrast this visually and verbally against the A* pseudocode from slide 17, which had all three. Point out the sign-flip framing: our whole lecture has used h(n) where SMALLER is better (closer to goal); Hill Climbing is conventionally taught with VALUE where LARGER is better, since it is often framed on optimization problems (maximize board quality, maximize schedule efficiency) rather than minimize distance-to-goal — the underlying idea is identical, just mirrored. Also state plainly, since the slide compresses it: the algorithm halts the moment no neighbor improves on the current state, since it never looks further ahead than one step. Set up the next three slides: 'This greedy, one-step-lookahead design is exactly why Hill Climbing runs into some very characteristic failure modes.'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corrects misconception #6 directly and forcefully: 'Hill Climbing is an informed method, so surely it eventually finds the best solution' is false — informed does not imply globally aware. The algorithm's entire field of view is its immediate neighbors; it is structurally incapable of distinguishing a local maximum from the global one without additional machinery. Classroom question: 'From the trapped position shown, what would the algorithm have to do to escape, and why can't steepest-ascent Hill Climbing do that on its own?' Answer: it would need to accept a temporarily WORSE move to get over the dip — something the pseudocode on the previous slide explicitly forbids, since it only ever accepts strictly improving moves. Mention, only as a name-drop for a future lecture and not to be elaborated on: random-restart hill climbing and simulated annealing are two classic fixes for exactly this failure mode.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conceptual distinction #13: local maximum vs. plateau vs. ridge are three DIFFERENT structural failure modes, often incorrectly treated as synonyms by students. A local maximum is a point failure (nowhere better nearby in any direction); a plateau is a flat failure (no direction is distinguishable at all); a ridge is a directional-mismatch failure (there IS a clear uphill direction in principle, but it does not line up with the algorithm's discrete move options, so each individual step looks unpromising even though a short sequence of them would make progress). Classroom question: 'For a ridge, would allowing diagonal moves (if the problem structure permits them) help, and why?' Answer: often yes — more move directions available per step increases the chance that one of them aligns closely with the true ridge direction.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and firm about scope control on this slide: random-restart Hill Climbing and simulated annealing are named ONLY so students recognize the terms later — do not derive or trace either one; they belong to a future lecture. If a student asks for detail, it is appropriate to say 'great question, we will cover that when we get to stochastic local search methods.' Use the closing comparison table to summarize the systematic-vs-local distinction one final time before moving to the lecture's closing integration section. Classroom question: 'Given everything today, when would you choose local search over A* even though local search offers weaker guarantees?' Answer: when the state space is too large or continuous for a frontier-based method to be feasible at all, or when only the final configuration matters and path cost is irrelevant.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flowchart as a decision students could genuinely apply to a homework or capstone project: start at the top ('is a good heuristic available?'), and follow branches down. This slide is also the natural place to circle back to every real-world application named on slide 4 and connect each one concretely to a specific algorithm from today, closing the loop the lecture opened with. Classroom question (good discussion starter, not a quick-answer one): 'A ride-sharing app needs to compute a driver's route in under 50 milliseconds on a road network with millions of intersections — which of today's ideas would you reach for first, and what would you need to know about the heuristic before trusting it in production?' Let a few students answer before moving to the closing slide.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final challenge question aloud slowly and resist the urge to answer it yourself today — it is intentionally left open as a bridge into Lecture 5. The expected reasoning (for your own reference, not necessarily to reveal): yes, optimality is still guaranteed EVENTUALLY because admissibility alone is enough for correctness, but the implementation must allow REOPENING a node that is already in the explored set if a cheaper path to it is discovered later (updating its g-value and re-inserting it into the frontier) — without that provision, a naive graph-search A* that never revisits explored nodes could return a suboptimal answer when the heuristic is admissible but not consistent. Close the lecture by briefly previewing that Lecture 5 will build on today's admissible/consistent framework. Thank the class and open the floor for any remaining questions.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rtlCol="0"/>
          <a:lstStyle>
            <a:lvl1pPr marL="0" indent="0">
              <a:buNone/>
              <a:defRPr lang="en-US" sz="3200" b="1" dirty="0">
                <a:solidFill>
                  <a:schemeClr val="tx2"/>
                </a:solidFill>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a:defRPr sz="1600">
                <a:solidFill>
                  <a:schemeClr val="tx2"/>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130801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ARK">
    <p:bg>
      <p:bgPr>
        <a:solidFill>
          <a:srgbClr val="0B4F5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rtlCol="0"/>
          <a:lstStyle>
            <a:lvl1pPr marL="0" indent="0">
              <a:buNone/>
              <a:defRPr lang="en-US" sz="3400" b="1" dirty="0">
                <a:solidFill>
                  <a:schemeClr val="bg1"/>
                </a:solidFill>
              </a:defRPr>
            </a:lvl1pPr>
          </a:lstStyle>
          <a:p>
            <a:pPr marL="0" indent="0">
              <a:buNone/>
            </a:pPr>
            <a:endParaRPr lang="en-US" sz="3400" dirty="0"/>
          </a:p>
        </p:txBody>
      </p:sp>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a:defRPr sz="1600">
                <a:solidFill>
                  <a:schemeClr val="bg1"/>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4087321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685800"/>
            <a:ext cx="10058400" cy="411480"/>
          </a:xfrm>
          <a:prstGeom prst="rect">
            <a:avLst/>
          </a:prstGeom>
          <a:noFill/>
          <a:ln/>
        </p:spPr>
        <p:txBody>
          <a:bodyPr wrap="square" rtlCol="0" anchor="ctr"/>
          <a:lstStyle/>
          <a:p>
            <a:pPr marL="0" indent="0">
              <a:buNone/>
            </a:pPr>
            <a:r>
              <a:rPr lang="en-US" sz="2350" b="1" kern="0" spc="300" dirty="0">
                <a:solidFill>
                  <a:srgbClr val="B08D57"/>
                </a:solidFill>
                <a:latin typeface="Calibri" pitchFamily="34" charset="0"/>
                <a:ea typeface="Calibri" pitchFamily="34" charset="-122"/>
                <a:cs typeface="Calibri" pitchFamily="34" charset="-120"/>
              </a:rPr>
              <a:t>ARTIFICIAL INTELLIGENCE</a:t>
            </a:r>
            <a:endParaRPr lang="en-US" sz="2350" dirty="0"/>
          </a:p>
        </p:txBody>
      </p:sp>
      <p:sp>
        <p:nvSpPr>
          <p:cNvPr id="3" name="Text 1"/>
          <p:cNvSpPr/>
          <p:nvPr/>
        </p:nvSpPr>
        <p:spPr>
          <a:xfrm>
            <a:off x="548640" y="1143000"/>
            <a:ext cx="11064240" cy="2148840"/>
          </a:xfrm>
          <a:prstGeom prst="rect">
            <a:avLst/>
          </a:prstGeom>
          <a:noFill/>
          <a:ln/>
        </p:spPr>
        <p:txBody>
          <a:bodyPr wrap="square" rtlCol="0" anchor="ctr"/>
          <a:lstStyle/>
          <a:p>
            <a:pPr marL="0" indent="0">
              <a:lnSpc>
                <a:spcPts val="7700"/>
              </a:lnSpc>
              <a:buNone/>
            </a:pPr>
            <a:r>
              <a:rPr lang="en-US" sz="7050" b="1" dirty="0">
                <a:solidFill>
                  <a:srgbClr val="FFFFFF"/>
                </a:solidFill>
                <a:latin typeface="Cambria" pitchFamily="34" charset="0"/>
                <a:ea typeface="Cambria" pitchFamily="34" charset="-122"/>
                <a:cs typeface="Cambria" pitchFamily="34" charset="-120"/>
              </a:rPr>
              <a:t>Informed Search, Heuristics</a:t>
            </a:r>
            <a:endParaRPr lang="en-US" sz="7050" dirty="0"/>
          </a:p>
          <a:p>
            <a:pPr marL="0" indent="0">
              <a:lnSpc>
                <a:spcPts val="7700"/>
              </a:lnSpc>
              <a:buNone/>
            </a:pPr>
            <a:r>
              <a:rPr lang="en-US" sz="7050" b="1" dirty="0">
                <a:solidFill>
                  <a:srgbClr val="FFFFFF"/>
                </a:solidFill>
                <a:latin typeface="Cambria" pitchFamily="34" charset="0"/>
                <a:ea typeface="Cambria" pitchFamily="34" charset="-122"/>
                <a:cs typeface="Cambria" pitchFamily="34" charset="-120"/>
              </a:rPr>
              <a:t>and A* Search</a:t>
            </a:r>
            <a:endParaRPr lang="en-US" sz="7050" dirty="0"/>
          </a:p>
        </p:txBody>
      </p:sp>
      <p:sp>
        <p:nvSpPr>
          <p:cNvPr id="4" name="Text 2"/>
          <p:cNvSpPr/>
          <p:nvPr/>
        </p:nvSpPr>
        <p:spPr>
          <a:xfrm>
            <a:off x="548640" y="3520440"/>
            <a:ext cx="11064240" cy="457200"/>
          </a:xfrm>
          <a:prstGeom prst="rect">
            <a:avLst/>
          </a:prstGeom>
          <a:noFill/>
          <a:ln/>
        </p:spPr>
        <p:txBody>
          <a:bodyPr wrap="square" rtlCol="0" anchor="ctr"/>
          <a:lstStyle/>
          <a:p>
            <a:pPr marL="0" indent="0">
              <a:buNone/>
            </a:pPr>
            <a:r>
              <a:rPr lang="en-US" sz="2850" i="1" dirty="0">
                <a:solidFill>
                  <a:srgbClr val="C9D3E3"/>
                </a:solidFill>
                <a:latin typeface="Cambria" pitchFamily="34" charset="0"/>
                <a:ea typeface="Cambria" pitchFamily="34" charset="-122"/>
                <a:cs typeface="Cambria" pitchFamily="34" charset="-120"/>
              </a:rPr>
              <a:t>Using Problem Knowledge to Search More Intelligently</a:t>
            </a:r>
            <a:endParaRPr lang="en-US" sz="2850" dirty="0"/>
          </a:p>
        </p:txBody>
      </p:sp>
      <p:sp>
        <p:nvSpPr>
          <p:cNvPr id="5" name="Shape 3"/>
          <p:cNvSpPr/>
          <p:nvPr/>
        </p:nvSpPr>
        <p:spPr>
          <a:xfrm>
            <a:off x="548640" y="4114800"/>
            <a:ext cx="2194560" cy="0"/>
          </a:xfrm>
          <a:prstGeom prst="line">
            <a:avLst/>
          </a:prstGeom>
          <a:noFill/>
          <a:ln w="25400">
            <a:solidFill>
              <a:srgbClr val="B08D57"/>
            </a:solidFill>
            <a:prstDash val="solid"/>
          </a:ln>
        </p:spPr>
      </p:sp>
      <p:sp>
        <p:nvSpPr>
          <p:cNvPr id="6" name="Text 4"/>
          <p:cNvSpPr/>
          <p:nvPr/>
        </p:nvSpPr>
        <p:spPr>
          <a:xfrm>
            <a:off x="548640" y="4343400"/>
            <a:ext cx="10058400" cy="1691640"/>
          </a:xfrm>
          <a:prstGeom prst="rect">
            <a:avLst/>
          </a:prstGeom>
          <a:noFill/>
          <a:ln/>
        </p:spPr>
        <p:txBody>
          <a:bodyPr wrap="square" rtlCol="0" anchor="ctr"/>
          <a:lstStyle/>
          <a:p>
            <a:pPr marL="0" indent="0">
              <a:lnSpc>
                <a:spcPts val="3400"/>
              </a:lnSpc>
              <a:buNone/>
            </a:pPr>
            <a:r>
              <a:rPr lang="en-US" sz="2200" b="1" dirty="0">
                <a:solidFill>
                  <a:srgbClr val="FFFFFF"/>
                </a:solidFill>
                <a:latin typeface="Calibri" pitchFamily="34" charset="0"/>
                <a:ea typeface="Calibri" pitchFamily="34" charset="-122"/>
                <a:cs typeface="Calibri" pitchFamily="34" charset="-120"/>
              </a:rPr>
              <a:t>Lecture 4</a:t>
            </a:r>
            <a:endParaRPr lang="en-US" sz="2200" dirty="0"/>
          </a:p>
          <a:p>
            <a:pPr marL="0" indent="0">
              <a:lnSpc>
                <a:spcPts val="3400"/>
              </a:lnSpc>
              <a:buNone/>
            </a:pPr>
            <a:r>
              <a:rPr lang="en-US" sz="2200" dirty="0">
                <a:solidFill>
                  <a:srgbClr val="C9D3E3"/>
                </a:solidFill>
                <a:latin typeface="Calibri" pitchFamily="34" charset="0"/>
                <a:ea typeface="Calibri" pitchFamily="34" charset="-122"/>
                <a:cs typeface="Calibri" pitchFamily="34" charset="-120"/>
              </a:rPr>
              <a:t>BS Computer Science — Artificial Intelligence</a:t>
            </a:r>
            <a:endParaRPr lang="en-US" sz="2200" dirty="0"/>
          </a:p>
          <a:p>
            <a:pPr marL="0" indent="0">
              <a:lnSpc>
                <a:spcPts val="3400"/>
              </a:lnSpc>
              <a:buNone/>
            </a:pPr>
            <a:r>
              <a:rPr lang="en-US" sz="2200" b="1" dirty="0">
                <a:solidFill>
                  <a:srgbClr val="FFFFFF"/>
                </a:solidFill>
                <a:latin typeface="Calibri" pitchFamily="34" charset="0"/>
                <a:ea typeface="Calibri" pitchFamily="34" charset="-122"/>
                <a:cs typeface="Calibri" pitchFamily="34" charset="-120"/>
              </a:rPr>
              <a:t>Dr. Ghulam Ali</a:t>
            </a:r>
            <a:endParaRPr lang="en-US" sz="2200" dirty="0"/>
          </a:p>
          <a:p>
            <a:pPr marL="0" indent="0">
              <a:lnSpc>
                <a:spcPts val="3400"/>
              </a:lnSpc>
              <a:buNone/>
            </a:pPr>
            <a:r>
              <a:rPr lang="en-US" sz="2200" dirty="0">
                <a:solidFill>
                  <a:srgbClr val="C9D3E3"/>
                </a:solidFill>
                <a:latin typeface="Calibri" pitchFamily="34" charset="0"/>
                <a:ea typeface="Calibri" pitchFamily="34" charset="-122"/>
                <a:cs typeface="Calibri" pitchFamily="34" charset="-120"/>
              </a:rPr>
              <a:t>Duration: approximately 1.5 – 2 hours</a:t>
            </a:r>
            <a:endParaRPr lang="en-US" sz="2200" dirty="0"/>
          </a:p>
        </p:txBody>
      </p:sp>
      <p:sp>
        <p:nvSpPr>
          <p:cNvPr id="7"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Introduction</a:t>
            </a:r>
            <a:endParaRPr lang="en-US" sz="1600" dirty="0"/>
          </a:p>
        </p:txBody>
      </p:sp>
      <p:sp>
        <p:nvSpPr>
          <p:cNvPr id="8"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1 / 40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BRIDGING LECTURE 3 → LECTURE 4</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From Blind Search to Informed Search</a:t>
            </a:r>
            <a:endParaRPr lang="en-US" sz="5050" dirty="0"/>
          </a:p>
        </p:txBody>
      </p:sp>
      <p:sp>
        <p:nvSpPr>
          <p:cNvPr id="4" name="Shape 2"/>
          <p:cNvSpPr/>
          <p:nvPr/>
        </p:nvSpPr>
        <p:spPr>
          <a:xfrm>
            <a:off x="548640" y="2697480"/>
            <a:ext cx="11094415" cy="1737360"/>
          </a:xfrm>
          <a:prstGeom prst="roundRect">
            <a:avLst>
              <a:gd name="adj" fmla="val 3684"/>
            </a:avLst>
          </a:prstGeom>
          <a:solidFill>
            <a:srgbClr val="F3F5F8"/>
          </a:solidFill>
          <a:ln w="12700">
            <a:solidFill>
              <a:srgbClr val="D8DCE3"/>
            </a:solidFill>
            <a:prstDash val="solid"/>
          </a:ln>
        </p:spPr>
      </p:sp>
      <p:sp>
        <p:nvSpPr>
          <p:cNvPr id="5" name="Text 3"/>
          <p:cNvSpPr/>
          <p:nvPr/>
        </p:nvSpPr>
        <p:spPr>
          <a:xfrm>
            <a:off x="822960" y="2825496"/>
            <a:ext cx="10545775"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Lecture 3 — Uninformed Search</a:t>
            </a:r>
            <a:endParaRPr lang="en-US" sz="2600" dirty="0"/>
          </a:p>
        </p:txBody>
      </p:sp>
      <p:sp>
        <p:nvSpPr>
          <p:cNvPr id="6" name="Text 4"/>
          <p:cNvSpPr/>
          <p:nvPr/>
        </p:nvSpPr>
        <p:spPr>
          <a:xfrm>
            <a:off x="822960" y="3200400"/>
            <a:ext cx="10545775" cy="1188720"/>
          </a:xfrm>
          <a:prstGeom prst="rect">
            <a:avLst/>
          </a:prstGeom>
          <a:noFill/>
          <a:ln/>
        </p:spPr>
        <p:txBody>
          <a:bodyPr wrap="square" lIns="0" tIns="0" rIns="0" bIns="0" rtlCol="0" anchor="t"/>
          <a:lstStyle/>
          <a:p>
            <a:pPr marL="203200" indent="-203200">
              <a:spcAft>
                <a:spcPts val="700"/>
              </a:spcAft>
              <a:buSzPct val="100000"/>
              <a:buChar char="▪"/>
            </a:pPr>
            <a:r>
              <a:rPr lang="en-US" sz="2200" dirty="0">
                <a:solidFill>
                  <a:srgbClr val="1A1F2B"/>
                </a:solidFill>
                <a:latin typeface="Calibri" pitchFamily="34" charset="0"/>
                <a:ea typeface="Calibri" pitchFamily="34" charset="-122"/>
                <a:cs typeface="Calibri" pitchFamily="34" charset="-120"/>
              </a:rPr>
              <a:t>States, actions, transition model, path cost</a:t>
            </a:r>
            <a:endParaRPr lang="en-US" sz="2200" dirty="0"/>
          </a:p>
          <a:p>
            <a:pPr marL="203200" indent="-203200">
              <a:spcAft>
                <a:spcPts val="700"/>
              </a:spcAft>
              <a:buSzPct val="100000"/>
              <a:buChar char="▪"/>
            </a:pPr>
            <a:r>
              <a:rPr lang="en-US" sz="2200" dirty="0">
                <a:solidFill>
                  <a:srgbClr val="1A1F2B"/>
                </a:solidFill>
                <a:latin typeface="Calibri" pitchFamily="34" charset="0"/>
                <a:ea typeface="Calibri" pitchFamily="34" charset="-122"/>
                <a:cs typeface="Calibri" pitchFamily="34" charset="-120"/>
              </a:rPr>
              <a:t>BFS / DFS / UCS use only the problem's structure</a:t>
            </a:r>
            <a:endParaRPr lang="en-US" sz="2200" dirty="0"/>
          </a:p>
          <a:p>
            <a:pPr marL="203200" indent="-203200">
              <a:spcAft>
                <a:spcPts val="700"/>
              </a:spcAft>
              <a:buSzPct val="100000"/>
              <a:buChar char="▪"/>
            </a:pPr>
            <a:r>
              <a:rPr lang="en-US" sz="2200" dirty="0">
                <a:solidFill>
                  <a:srgbClr val="1A1F2B"/>
                </a:solidFill>
                <a:latin typeface="Calibri" pitchFamily="34" charset="0"/>
                <a:ea typeface="Calibri" pitchFamily="34" charset="-122"/>
                <a:cs typeface="Calibri" pitchFamily="34" charset="-120"/>
              </a:rPr>
              <a:t>None of them know where the goal actually is</a:t>
            </a:r>
            <a:endParaRPr lang="en-US" sz="2200" dirty="0"/>
          </a:p>
        </p:txBody>
      </p:sp>
      <p:sp>
        <p:nvSpPr>
          <p:cNvPr id="7" name="Shape 5"/>
          <p:cNvSpPr/>
          <p:nvPr/>
        </p:nvSpPr>
        <p:spPr>
          <a:xfrm>
            <a:off x="548640" y="4572000"/>
            <a:ext cx="11094415" cy="1737360"/>
          </a:xfrm>
          <a:prstGeom prst="roundRect">
            <a:avLst>
              <a:gd name="adj" fmla="val 3684"/>
            </a:avLst>
          </a:prstGeom>
          <a:solidFill>
            <a:srgbClr val="0B1E3D"/>
          </a:solidFill>
          <a:ln/>
        </p:spPr>
      </p:sp>
      <p:sp>
        <p:nvSpPr>
          <p:cNvPr id="8" name="Text 6"/>
          <p:cNvSpPr/>
          <p:nvPr/>
        </p:nvSpPr>
        <p:spPr>
          <a:xfrm>
            <a:off x="822960" y="470001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Lecture 4 — Informed Search</a:t>
            </a:r>
            <a:endParaRPr lang="en-US" sz="2600" dirty="0"/>
          </a:p>
        </p:txBody>
      </p:sp>
      <p:sp>
        <p:nvSpPr>
          <p:cNvPr id="9" name="Text 7"/>
          <p:cNvSpPr/>
          <p:nvPr/>
        </p:nvSpPr>
        <p:spPr>
          <a:xfrm>
            <a:off x="822960" y="5074920"/>
            <a:ext cx="10545775" cy="1188720"/>
          </a:xfrm>
          <a:prstGeom prst="rect">
            <a:avLst/>
          </a:prstGeom>
          <a:noFill/>
          <a:ln/>
        </p:spPr>
        <p:txBody>
          <a:bodyPr wrap="square" lIns="0" tIns="0" rIns="0" bIns="0" rtlCol="0" anchor="t"/>
          <a:lstStyle/>
          <a:p>
            <a:pPr marL="203200" indent="-203200">
              <a:spcAft>
                <a:spcPts val="700"/>
              </a:spcAft>
              <a:buSzPct val="100000"/>
              <a:buChar char="▪"/>
            </a:pPr>
            <a:r>
              <a:rPr lang="en-US" sz="2200" dirty="0">
                <a:solidFill>
                  <a:srgbClr val="E7EBF3"/>
                </a:solidFill>
                <a:latin typeface="Calibri" pitchFamily="34" charset="0"/>
                <a:ea typeface="Calibri" pitchFamily="34" charset="-122"/>
                <a:cs typeface="Calibri" pitchFamily="34" charset="-120"/>
              </a:rPr>
              <a:t>Adds a heuristic h(n): an estimate of distance to the goal</a:t>
            </a:r>
            <a:endParaRPr lang="en-US" sz="2200" dirty="0"/>
          </a:p>
          <a:p>
            <a:pPr marL="203200" indent="-203200">
              <a:spcAft>
                <a:spcPts val="700"/>
              </a:spcAft>
              <a:buSzPct val="100000"/>
              <a:buChar char="▪"/>
            </a:pPr>
            <a:r>
              <a:rPr lang="en-US" sz="2200" dirty="0">
                <a:solidFill>
                  <a:srgbClr val="E7EBF3"/>
                </a:solidFill>
                <a:latin typeface="Calibri" pitchFamily="34" charset="0"/>
                <a:ea typeface="Calibri" pitchFamily="34" charset="-122"/>
                <a:cs typeface="Calibri" pitchFamily="34" charset="-120"/>
              </a:rPr>
              <a:t>That estimate reshapes the ORDER of node expansion</a:t>
            </a:r>
            <a:endParaRPr lang="en-US" sz="2200" dirty="0"/>
          </a:p>
          <a:p>
            <a:pPr marL="203200" indent="-203200">
              <a:spcAft>
                <a:spcPts val="700"/>
              </a:spcAft>
              <a:buSzPct val="100000"/>
              <a:buChar char="▪"/>
            </a:pPr>
            <a:r>
              <a:rPr lang="en-US" sz="2200" dirty="0">
                <a:solidFill>
                  <a:srgbClr val="E7EBF3"/>
                </a:solidFill>
                <a:latin typeface="Calibri" pitchFamily="34" charset="0"/>
                <a:ea typeface="Calibri" pitchFamily="34" charset="-122"/>
                <a:cs typeface="Calibri" pitchFamily="34" charset="-120"/>
              </a:rPr>
              <a:t>Result: far fewer nodes explored, when h is good</a:t>
            </a:r>
            <a:endParaRPr lang="en-US" sz="2200" dirty="0"/>
          </a:p>
        </p:txBody>
      </p:sp>
      <p:sp>
        <p:nvSpPr>
          <p:cNvPr id="10" name="Text 8"/>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1. Transition</a:t>
            </a:r>
            <a:endParaRPr lang="en-US" sz="1600" dirty="0"/>
          </a:p>
        </p:txBody>
      </p:sp>
      <p:sp>
        <p:nvSpPr>
          <p:cNvPr id="11" name="Text 9"/>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 / 40</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ROADMAP</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Learning Objectives for Today</a:t>
            </a:r>
            <a:endParaRPr lang="en-US" sz="5050" dirty="0"/>
          </a:p>
        </p:txBody>
      </p:sp>
      <p:sp>
        <p:nvSpPr>
          <p:cNvPr id="4" name="Shape 2"/>
          <p:cNvSpPr/>
          <p:nvPr/>
        </p:nvSpPr>
        <p:spPr>
          <a:xfrm>
            <a:off x="548640" y="2697480"/>
            <a:ext cx="457200" cy="457200"/>
          </a:xfrm>
          <a:prstGeom prst="roundRect">
            <a:avLst>
              <a:gd name="adj" fmla="val 50000"/>
            </a:avLst>
          </a:prstGeom>
          <a:solidFill>
            <a:srgbClr val="0B1E3D"/>
          </a:solidFill>
          <a:ln/>
        </p:spPr>
      </p:sp>
      <p:sp>
        <p:nvSpPr>
          <p:cNvPr id="5" name="Text 3"/>
          <p:cNvSpPr/>
          <p:nvPr/>
        </p:nvSpPr>
        <p:spPr>
          <a:xfrm>
            <a:off x="548640" y="2697480"/>
            <a:ext cx="457200" cy="457200"/>
          </a:xfrm>
          <a:prstGeom prst="rect">
            <a:avLst/>
          </a:prstGeom>
          <a:noFill/>
          <a:ln/>
        </p:spPr>
        <p:txBody>
          <a:bodyPr wrap="square" rtlCol="0" anchor="ctr"/>
          <a:lstStyle/>
          <a:p>
            <a:pPr marL="0" indent="0" algn="ctr">
              <a:buNone/>
            </a:pPr>
            <a:r>
              <a:rPr lang="en-US" sz="2550" b="1" dirty="0">
                <a:solidFill>
                  <a:srgbClr val="B08D57"/>
                </a:solidFill>
                <a:latin typeface="Calibri" pitchFamily="34" charset="0"/>
                <a:ea typeface="Calibri" pitchFamily="34" charset="-122"/>
                <a:cs typeface="Calibri" pitchFamily="34" charset="-120"/>
              </a:rPr>
              <a:t>1</a:t>
            </a:r>
            <a:endParaRPr lang="en-US" sz="2550" dirty="0"/>
          </a:p>
        </p:txBody>
      </p:sp>
      <p:sp>
        <p:nvSpPr>
          <p:cNvPr id="6" name="Text 4"/>
          <p:cNvSpPr/>
          <p:nvPr/>
        </p:nvSpPr>
        <p:spPr>
          <a:xfrm>
            <a:off x="1170432" y="2679192"/>
            <a:ext cx="10104120" cy="566928"/>
          </a:xfrm>
          <a:prstGeom prst="rect">
            <a:avLst/>
          </a:prstGeom>
          <a:noFill/>
          <a:ln/>
        </p:spPr>
        <p:txBody>
          <a:bodyPr wrap="square" rtlCol="0" anchor="ctr"/>
          <a:lstStyle/>
          <a:p>
            <a:pPr marL="0" indent="0">
              <a:lnSpc>
                <a:spcPts val="2700"/>
              </a:lnSpc>
              <a:buNone/>
            </a:pPr>
            <a:r>
              <a:rPr lang="en-US" sz="2350" b="1" dirty="0">
                <a:solidFill>
                  <a:srgbClr val="0B1E3D"/>
                </a:solidFill>
                <a:latin typeface="Cambria" pitchFamily="34" charset="0"/>
                <a:ea typeface="Cambria" pitchFamily="34" charset="-122"/>
                <a:cs typeface="Cambria" pitchFamily="34" charset="-120"/>
              </a:rPr>
              <a:t>Define  </a:t>
            </a:r>
            <a:r>
              <a:rPr lang="en-US" sz="2150" dirty="0">
                <a:solidFill>
                  <a:srgbClr val="1A1F2B"/>
                </a:solidFill>
                <a:latin typeface="Calibri" pitchFamily="34" charset="0"/>
                <a:ea typeface="Calibri" pitchFamily="34" charset="-122"/>
                <a:cs typeface="Calibri" pitchFamily="34" charset="-120"/>
              </a:rPr>
              <a:t>informed search and h(n); contrast with uninformed search.</a:t>
            </a:r>
            <a:endParaRPr lang="en-US" sz="2350" dirty="0"/>
          </a:p>
        </p:txBody>
      </p:sp>
      <p:sp>
        <p:nvSpPr>
          <p:cNvPr id="7" name="Shape 5"/>
          <p:cNvSpPr/>
          <p:nvPr/>
        </p:nvSpPr>
        <p:spPr>
          <a:xfrm>
            <a:off x="548640" y="3328416"/>
            <a:ext cx="457200" cy="457200"/>
          </a:xfrm>
          <a:prstGeom prst="roundRect">
            <a:avLst>
              <a:gd name="adj" fmla="val 50000"/>
            </a:avLst>
          </a:prstGeom>
          <a:solidFill>
            <a:srgbClr val="0B1E3D"/>
          </a:solidFill>
          <a:ln/>
        </p:spPr>
      </p:sp>
      <p:sp>
        <p:nvSpPr>
          <p:cNvPr id="8" name="Text 6"/>
          <p:cNvSpPr/>
          <p:nvPr/>
        </p:nvSpPr>
        <p:spPr>
          <a:xfrm>
            <a:off x="548640" y="3328416"/>
            <a:ext cx="457200" cy="457200"/>
          </a:xfrm>
          <a:prstGeom prst="rect">
            <a:avLst/>
          </a:prstGeom>
          <a:noFill/>
          <a:ln/>
        </p:spPr>
        <p:txBody>
          <a:bodyPr wrap="square" rtlCol="0" anchor="ctr"/>
          <a:lstStyle/>
          <a:p>
            <a:pPr marL="0" indent="0" algn="ctr">
              <a:buNone/>
            </a:pPr>
            <a:r>
              <a:rPr lang="en-US" sz="2550" b="1" dirty="0">
                <a:solidFill>
                  <a:srgbClr val="B08D57"/>
                </a:solidFill>
                <a:latin typeface="Calibri" pitchFamily="34" charset="0"/>
                <a:ea typeface="Calibri" pitchFamily="34" charset="-122"/>
                <a:cs typeface="Calibri" pitchFamily="34" charset="-120"/>
              </a:rPr>
              <a:t>2</a:t>
            </a:r>
            <a:endParaRPr lang="en-US" sz="2550" dirty="0"/>
          </a:p>
        </p:txBody>
      </p:sp>
      <p:sp>
        <p:nvSpPr>
          <p:cNvPr id="9" name="Text 7"/>
          <p:cNvSpPr/>
          <p:nvPr/>
        </p:nvSpPr>
        <p:spPr>
          <a:xfrm>
            <a:off x="1170432" y="3310128"/>
            <a:ext cx="10104120" cy="566928"/>
          </a:xfrm>
          <a:prstGeom prst="rect">
            <a:avLst/>
          </a:prstGeom>
          <a:noFill/>
          <a:ln/>
        </p:spPr>
        <p:txBody>
          <a:bodyPr wrap="square" rtlCol="0" anchor="ctr"/>
          <a:lstStyle/>
          <a:p>
            <a:pPr marL="0" indent="0">
              <a:lnSpc>
                <a:spcPts val="2700"/>
              </a:lnSpc>
              <a:buNone/>
            </a:pPr>
            <a:r>
              <a:rPr lang="en-US" sz="2350" b="1" dirty="0">
                <a:solidFill>
                  <a:srgbClr val="0B1E3D"/>
                </a:solidFill>
                <a:latin typeface="Cambria" pitchFamily="34" charset="0"/>
                <a:ea typeface="Cambria" pitchFamily="34" charset="-122"/>
                <a:cs typeface="Cambria" pitchFamily="34" charset="-120"/>
              </a:rPr>
              <a:t>Formalize  </a:t>
            </a:r>
            <a:r>
              <a:rPr lang="en-US" sz="2150" dirty="0">
                <a:solidFill>
                  <a:srgbClr val="1A1F2B"/>
                </a:solidFill>
                <a:latin typeface="Calibri" pitchFamily="34" charset="0"/>
                <a:ea typeface="Calibri" pitchFamily="34" charset="-122"/>
                <a:cs typeface="Calibri" pitchFamily="34" charset="-120"/>
              </a:rPr>
              <a:t>f(n) and its three cases: UCS, Greedy, A*.</a:t>
            </a:r>
            <a:endParaRPr lang="en-US" sz="2350" dirty="0"/>
          </a:p>
        </p:txBody>
      </p:sp>
      <p:sp>
        <p:nvSpPr>
          <p:cNvPr id="10" name="Shape 8"/>
          <p:cNvSpPr/>
          <p:nvPr/>
        </p:nvSpPr>
        <p:spPr>
          <a:xfrm>
            <a:off x="548640" y="3959352"/>
            <a:ext cx="457200" cy="457200"/>
          </a:xfrm>
          <a:prstGeom prst="roundRect">
            <a:avLst>
              <a:gd name="adj" fmla="val 50000"/>
            </a:avLst>
          </a:prstGeom>
          <a:solidFill>
            <a:srgbClr val="0B1E3D"/>
          </a:solidFill>
          <a:ln/>
        </p:spPr>
      </p:sp>
      <p:sp>
        <p:nvSpPr>
          <p:cNvPr id="11" name="Text 9"/>
          <p:cNvSpPr/>
          <p:nvPr/>
        </p:nvSpPr>
        <p:spPr>
          <a:xfrm>
            <a:off x="548640" y="3959352"/>
            <a:ext cx="457200" cy="457200"/>
          </a:xfrm>
          <a:prstGeom prst="rect">
            <a:avLst/>
          </a:prstGeom>
          <a:noFill/>
          <a:ln/>
        </p:spPr>
        <p:txBody>
          <a:bodyPr wrap="square" rtlCol="0" anchor="ctr"/>
          <a:lstStyle/>
          <a:p>
            <a:pPr marL="0" indent="0" algn="ctr">
              <a:buNone/>
            </a:pPr>
            <a:r>
              <a:rPr lang="en-US" sz="2550" b="1" dirty="0">
                <a:solidFill>
                  <a:srgbClr val="B08D57"/>
                </a:solidFill>
                <a:latin typeface="Calibri" pitchFamily="34" charset="0"/>
                <a:ea typeface="Calibri" pitchFamily="34" charset="-122"/>
                <a:cs typeface="Calibri" pitchFamily="34" charset="-120"/>
              </a:rPr>
              <a:t>3</a:t>
            </a:r>
            <a:endParaRPr lang="en-US" sz="2550" dirty="0"/>
          </a:p>
        </p:txBody>
      </p:sp>
      <p:sp>
        <p:nvSpPr>
          <p:cNvPr id="12" name="Text 10"/>
          <p:cNvSpPr/>
          <p:nvPr/>
        </p:nvSpPr>
        <p:spPr>
          <a:xfrm>
            <a:off x="1170432" y="3941064"/>
            <a:ext cx="10104120" cy="566928"/>
          </a:xfrm>
          <a:prstGeom prst="rect">
            <a:avLst/>
          </a:prstGeom>
          <a:noFill/>
          <a:ln/>
        </p:spPr>
        <p:txBody>
          <a:bodyPr wrap="square" rtlCol="0" anchor="ctr"/>
          <a:lstStyle/>
          <a:p>
            <a:pPr marL="0" indent="0">
              <a:lnSpc>
                <a:spcPts val="2700"/>
              </a:lnSpc>
              <a:buNone/>
            </a:pPr>
            <a:r>
              <a:rPr lang="en-US" sz="2350" b="1" dirty="0">
                <a:solidFill>
                  <a:srgbClr val="0B1E3D"/>
                </a:solidFill>
                <a:latin typeface="Cambria" pitchFamily="34" charset="0"/>
                <a:ea typeface="Cambria" pitchFamily="34" charset="-122"/>
                <a:cs typeface="Cambria" pitchFamily="34" charset="-120"/>
              </a:rPr>
              <a:t>Trace  </a:t>
            </a:r>
            <a:r>
              <a:rPr lang="en-US" sz="2150" dirty="0">
                <a:solidFill>
                  <a:srgbClr val="1A1F2B"/>
                </a:solidFill>
                <a:latin typeface="Calibri" pitchFamily="34" charset="0"/>
                <a:ea typeface="Calibri" pitchFamily="34" charset="-122"/>
                <a:cs typeface="Calibri" pitchFamily="34" charset="-120"/>
              </a:rPr>
              <a:t>Greedy and A* by hand, with a full expansion table.</a:t>
            </a:r>
            <a:endParaRPr lang="en-US" sz="2350" dirty="0"/>
          </a:p>
        </p:txBody>
      </p:sp>
      <p:sp>
        <p:nvSpPr>
          <p:cNvPr id="13" name="Shape 11"/>
          <p:cNvSpPr/>
          <p:nvPr/>
        </p:nvSpPr>
        <p:spPr>
          <a:xfrm>
            <a:off x="548640" y="4590288"/>
            <a:ext cx="457200" cy="457200"/>
          </a:xfrm>
          <a:prstGeom prst="roundRect">
            <a:avLst>
              <a:gd name="adj" fmla="val 50000"/>
            </a:avLst>
          </a:prstGeom>
          <a:solidFill>
            <a:srgbClr val="0B1E3D"/>
          </a:solidFill>
          <a:ln/>
        </p:spPr>
      </p:sp>
      <p:sp>
        <p:nvSpPr>
          <p:cNvPr id="14" name="Text 12"/>
          <p:cNvSpPr/>
          <p:nvPr/>
        </p:nvSpPr>
        <p:spPr>
          <a:xfrm>
            <a:off x="548640" y="4590288"/>
            <a:ext cx="457200" cy="457200"/>
          </a:xfrm>
          <a:prstGeom prst="rect">
            <a:avLst/>
          </a:prstGeom>
          <a:noFill/>
          <a:ln/>
        </p:spPr>
        <p:txBody>
          <a:bodyPr wrap="square" rtlCol="0" anchor="ctr"/>
          <a:lstStyle/>
          <a:p>
            <a:pPr marL="0" indent="0" algn="ctr">
              <a:buNone/>
            </a:pPr>
            <a:r>
              <a:rPr lang="en-US" sz="2550" b="1" dirty="0">
                <a:solidFill>
                  <a:srgbClr val="B08D57"/>
                </a:solidFill>
                <a:latin typeface="Calibri" pitchFamily="34" charset="0"/>
                <a:ea typeface="Calibri" pitchFamily="34" charset="-122"/>
                <a:cs typeface="Calibri" pitchFamily="34" charset="-120"/>
              </a:rPr>
              <a:t>4</a:t>
            </a:r>
            <a:endParaRPr lang="en-US" sz="2550" dirty="0"/>
          </a:p>
        </p:txBody>
      </p:sp>
      <p:sp>
        <p:nvSpPr>
          <p:cNvPr id="15" name="Text 13"/>
          <p:cNvSpPr/>
          <p:nvPr/>
        </p:nvSpPr>
        <p:spPr>
          <a:xfrm>
            <a:off x="1170432" y="4572000"/>
            <a:ext cx="10104120" cy="566928"/>
          </a:xfrm>
          <a:prstGeom prst="rect">
            <a:avLst/>
          </a:prstGeom>
          <a:noFill/>
          <a:ln/>
        </p:spPr>
        <p:txBody>
          <a:bodyPr wrap="square" rtlCol="0" anchor="ctr"/>
          <a:lstStyle/>
          <a:p>
            <a:pPr marL="0" indent="0">
              <a:lnSpc>
                <a:spcPts val="2700"/>
              </a:lnSpc>
              <a:buNone/>
            </a:pPr>
            <a:r>
              <a:rPr lang="en-US" sz="2350" b="1" dirty="0">
                <a:solidFill>
                  <a:srgbClr val="0B1E3D"/>
                </a:solidFill>
                <a:latin typeface="Cambria" pitchFamily="34" charset="0"/>
                <a:ea typeface="Cambria" pitchFamily="34" charset="-122"/>
                <a:cs typeface="Cambria" pitchFamily="34" charset="-120"/>
              </a:rPr>
              <a:t>Apply  </a:t>
            </a:r>
            <a:r>
              <a:rPr lang="en-US" sz="2150" dirty="0">
                <a:solidFill>
                  <a:srgbClr val="1A1F2B"/>
                </a:solidFill>
                <a:latin typeface="Calibri" pitchFamily="34" charset="0"/>
                <a:ea typeface="Calibri" pitchFamily="34" charset="-122"/>
                <a:cs typeface="Calibri" pitchFamily="34" charset="-120"/>
              </a:rPr>
              <a:t>admissibility and consistency to A*'s optimality.</a:t>
            </a:r>
            <a:endParaRPr lang="en-US" sz="2350" dirty="0"/>
          </a:p>
        </p:txBody>
      </p:sp>
      <p:sp>
        <p:nvSpPr>
          <p:cNvPr id="16" name="Shape 14"/>
          <p:cNvSpPr/>
          <p:nvPr/>
        </p:nvSpPr>
        <p:spPr>
          <a:xfrm>
            <a:off x="548640" y="5221224"/>
            <a:ext cx="457200" cy="457200"/>
          </a:xfrm>
          <a:prstGeom prst="roundRect">
            <a:avLst>
              <a:gd name="adj" fmla="val 50000"/>
            </a:avLst>
          </a:prstGeom>
          <a:solidFill>
            <a:srgbClr val="0B1E3D"/>
          </a:solidFill>
          <a:ln/>
        </p:spPr>
      </p:sp>
      <p:sp>
        <p:nvSpPr>
          <p:cNvPr id="17" name="Text 15"/>
          <p:cNvSpPr/>
          <p:nvPr/>
        </p:nvSpPr>
        <p:spPr>
          <a:xfrm>
            <a:off x="548640" y="5221224"/>
            <a:ext cx="457200" cy="457200"/>
          </a:xfrm>
          <a:prstGeom prst="rect">
            <a:avLst/>
          </a:prstGeom>
          <a:noFill/>
          <a:ln/>
        </p:spPr>
        <p:txBody>
          <a:bodyPr wrap="square" rtlCol="0" anchor="ctr"/>
          <a:lstStyle/>
          <a:p>
            <a:pPr marL="0" indent="0" algn="ctr">
              <a:buNone/>
            </a:pPr>
            <a:r>
              <a:rPr lang="en-US" sz="2550" b="1" dirty="0">
                <a:solidFill>
                  <a:srgbClr val="B08D57"/>
                </a:solidFill>
                <a:latin typeface="Calibri" pitchFamily="34" charset="0"/>
                <a:ea typeface="Calibri" pitchFamily="34" charset="-122"/>
                <a:cs typeface="Calibri" pitchFamily="34" charset="-120"/>
              </a:rPr>
              <a:t>5</a:t>
            </a:r>
            <a:endParaRPr lang="en-US" sz="2550" dirty="0"/>
          </a:p>
        </p:txBody>
      </p:sp>
      <p:sp>
        <p:nvSpPr>
          <p:cNvPr id="18" name="Text 16"/>
          <p:cNvSpPr/>
          <p:nvPr/>
        </p:nvSpPr>
        <p:spPr>
          <a:xfrm>
            <a:off x="1170432" y="5202936"/>
            <a:ext cx="10104120" cy="566928"/>
          </a:xfrm>
          <a:prstGeom prst="rect">
            <a:avLst/>
          </a:prstGeom>
          <a:noFill/>
          <a:ln/>
        </p:spPr>
        <p:txBody>
          <a:bodyPr wrap="square" rtlCol="0" anchor="ctr"/>
          <a:lstStyle/>
          <a:p>
            <a:pPr marL="0" indent="0">
              <a:lnSpc>
                <a:spcPts val="2700"/>
              </a:lnSpc>
              <a:buNone/>
            </a:pPr>
            <a:r>
              <a:rPr lang="en-US" sz="2350" b="1" dirty="0">
                <a:solidFill>
                  <a:srgbClr val="0B1E3D"/>
                </a:solidFill>
                <a:latin typeface="Cambria" pitchFamily="34" charset="0"/>
                <a:ea typeface="Cambria" pitchFamily="34" charset="-122"/>
                <a:cs typeface="Cambria" pitchFamily="34" charset="-120"/>
              </a:rPr>
              <a:t>Compare  </a:t>
            </a:r>
            <a:r>
              <a:rPr lang="en-US" sz="2150" dirty="0">
                <a:solidFill>
                  <a:srgbClr val="1A1F2B"/>
                </a:solidFill>
                <a:latin typeface="Calibri" pitchFamily="34" charset="0"/>
                <a:ea typeface="Calibri" pitchFamily="34" charset="-122"/>
                <a:cs typeface="Calibri" pitchFamily="34" charset="-120"/>
              </a:rPr>
              <a:t>weak vs. strong heuristics and heuristic dominance.</a:t>
            </a:r>
            <a:endParaRPr lang="en-US" sz="2350" dirty="0"/>
          </a:p>
        </p:txBody>
      </p:sp>
      <p:sp>
        <p:nvSpPr>
          <p:cNvPr id="19" name="Shape 17"/>
          <p:cNvSpPr/>
          <p:nvPr/>
        </p:nvSpPr>
        <p:spPr>
          <a:xfrm>
            <a:off x="548640" y="5852160"/>
            <a:ext cx="457200" cy="457200"/>
          </a:xfrm>
          <a:prstGeom prst="roundRect">
            <a:avLst>
              <a:gd name="adj" fmla="val 50000"/>
            </a:avLst>
          </a:prstGeom>
          <a:solidFill>
            <a:srgbClr val="0B1E3D"/>
          </a:solidFill>
          <a:ln/>
        </p:spPr>
      </p:sp>
      <p:sp>
        <p:nvSpPr>
          <p:cNvPr id="20" name="Text 18"/>
          <p:cNvSpPr/>
          <p:nvPr/>
        </p:nvSpPr>
        <p:spPr>
          <a:xfrm>
            <a:off x="548640" y="5852160"/>
            <a:ext cx="457200" cy="457200"/>
          </a:xfrm>
          <a:prstGeom prst="rect">
            <a:avLst/>
          </a:prstGeom>
          <a:noFill/>
          <a:ln/>
        </p:spPr>
        <p:txBody>
          <a:bodyPr wrap="square" rtlCol="0" anchor="ctr"/>
          <a:lstStyle/>
          <a:p>
            <a:pPr marL="0" indent="0" algn="ctr">
              <a:buNone/>
            </a:pPr>
            <a:r>
              <a:rPr lang="en-US" sz="2550" b="1" dirty="0">
                <a:solidFill>
                  <a:srgbClr val="B08D57"/>
                </a:solidFill>
                <a:latin typeface="Calibri" pitchFamily="34" charset="0"/>
                <a:ea typeface="Calibri" pitchFamily="34" charset="-122"/>
                <a:cs typeface="Calibri" pitchFamily="34" charset="-120"/>
              </a:rPr>
              <a:t>6</a:t>
            </a:r>
            <a:endParaRPr lang="en-US" sz="2550" dirty="0"/>
          </a:p>
        </p:txBody>
      </p:sp>
      <p:sp>
        <p:nvSpPr>
          <p:cNvPr id="21" name="Text 19"/>
          <p:cNvSpPr/>
          <p:nvPr/>
        </p:nvSpPr>
        <p:spPr>
          <a:xfrm>
            <a:off x="1170432" y="5833872"/>
            <a:ext cx="10104120" cy="566928"/>
          </a:xfrm>
          <a:prstGeom prst="rect">
            <a:avLst/>
          </a:prstGeom>
          <a:noFill/>
          <a:ln/>
        </p:spPr>
        <p:txBody>
          <a:bodyPr wrap="square" rtlCol="0" anchor="ctr"/>
          <a:lstStyle/>
          <a:p>
            <a:pPr marL="0" indent="0">
              <a:lnSpc>
                <a:spcPts val="2700"/>
              </a:lnSpc>
              <a:buNone/>
            </a:pPr>
            <a:r>
              <a:rPr lang="en-US" sz="2350" b="1" dirty="0">
                <a:solidFill>
                  <a:srgbClr val="0B1E3D"/>
                </a:solidFill>
                <a:latin typeface="Cambria" pitchFamily="34" charset="0"/>
                <a:ea typeface="Cambria" pitchFamily="34" charset="-122"/>
                <a:cs typeface="Cambria" pitchFamily="34" charset="-120"/>
              </a:rPr>
              <a:t>Introduce  </a:t>
            </a:r>
            <a:r>
              <a:rPr lang="en-US" sz="2150" dirty="0">
                <a:solidFill>
                  <a:srgbClr val="1A1F2B"/>
                </a:solidFill>
                <a:latin typeface="Calibri" pitchFamily="34" charset="0"/>
                <a:ea typeface="Calibri" pitchFamily="34" charset="-122"/>
                <a:cs typeface="Calibri" pitchFamily="34" charset="-120"/>
              </a:rPr>
              <a:t>Hill Climbing and its local maxima / plateaus / ridges.</a:t>
            </a:r>
            <a:endParaRPr lang="en-US" sz="2350" dirty="0"/>
          </a:p>
        </p:txBody>
      </p:sp>
      <p:sp>
        <p:nvSpPr>
          <p:cNvPr id="22" name="Text 20"/>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1. Transition</a:t>
            </a:r>
            <a:endParaRPr lang="en-US" sz="1600" dirty="0"/>
          </a:p>
        </p:txBody>
      </p:sp>
      <p:sp>
        <p:nvSpPr>
          <p:cNvPr id="23" name="Text 21"/>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3 / 40</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2. INFORMED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What Is Informed Search?</a:t>
            </a:r>
            <a:endParaRPr lang="en-US" sz="5050" dirty="0"/>
          </a:p>
        </p:txBody>
      </p:sp>
      <p:sp>
        <p:nvSpPr>
          <p:cNvPr id="4" name="Text 2"/>
          <p:cNvSpPr/>
          <p:nvPr/>
        </p:nvSpPr>
        <p:spPr>
          <a:xfrm>
            <a:off x="548640" y="2331720"/>
            <a:ext cx="11094415" cy="2606040"/>
          </a:xfrm>
          <a:prstGeom prst="rect">
            <a:avLst/>
          </a:prstGeom>
          <a:noFill/>
          <a:ln/>
        </p:spPr>
        <p:txBody>
          <a:bodyPr wrap="square" lIns="0" tIns="0" rIns="0" bIns="0" rtlCol="0" anchor="t"/>
          <a:lstStyle/>
          <a:p>
            <a:pPr marL="203200" indent="-203200">
              <a:spcAft>
                <a:spcPts val="700"/>
              </a:spcAft>
              <a:buSzPct val="100000"/>
              <a:buChar char="▪"/>
            </a:pPr>
            <a:r>
              <a:rPr lang="en-US" sz="2350" b="1" dirty="0">
                <a:solidFill>
                  <a:srgbClr val="0B1E3D"/>
                </a:solidFill>
                <a:latin typeface="Calibri" pitchFamily="34" charset="0"/>
                <a:ea typeface="Calibri" pitchFamily="34" charset="-122"/>
                <a:cs typeface="Calibri" pitchFamily="34" charset="-120"/>
              </a:rPr>
              <a:t>Concept</a:t>
            </a:r>
            <a:endParaRPr lang="en-US" sz="2350" dirty="0"/>
          </a:p>
          <a:p>
            <a:pPr marL="203200" indent="-203200">
              <a:spcAft>
                <a:spcPts val="700"/>
              </a:spcAft>
              <a:buSzPct val="100000"/>
              <a:buChar char="▪"/>
            </a:pPr>
            <a:r>
              <a:rPr lang="en-US" sz="2100" dirty="0">
                <a:solidFill>
                  <a:srgbClr val="1A1F2B"/>
                </a:solidFill>
                <a:latin typeface="Calibri" pitchFamily="34" charset="0"/>
                <a:ea typeface="Calibri" pitchFamily="34" charset="-122"/>
                <a:cs typeface="Calibri" pitchFamily="34" charset="-120"/>
              </a:rPr>
              <a:t>Uses problem-specific knowledge to choose which node to expand.</a:t>
            </a:r>
            <a:endParaRPr lang="en-US" sz="2350" dirty="0"/>
          </a:p>
          <a:p>
            <a:pPr marL="203200" indent="-203200">
              <a:spcAft>
                <a:spcPts val="700"/>
              </a:spcAft>
              <a:buSzPct val="100000"/>
              <a:buChar char="▪"/>
            </a:pPr>
            <a:r>
              <a:rPr lang="en-US" sz="2350" b="1" dirty="0">
                <a:solidFill>
                  <a:srgbClr val="0B1E3D"/>
                </a:solidFill>
                <a:latin typeface="Calibri" pitchFamily="34" charset="0"/>
                <a:ea typeface="Calibri" pitchFamily="34" charset="-122"/>
                <a:cs typeface="Calibri" pitchFamily="34" charset="-120"/>
              </a:rPr>
              <a:t>Formal definition</a:t>
            </a:r>
            <a:endParaRPr lang="en-US" sz="2350" dirty="0"/>
          </a:p>
          <a:p>
            <a:pPr marL="203200" indent="-203200">
              <a:spcAft>
                <a:spcPts val="700"/>
              </a:spcAft>
              <a:buSzPct val="100000"/>
              <a:buChar char="▪"/>
            </a:pPr>
            <a:r>
              <a:rPr lang="en-US" sz="2100" dirty="0">
                <a:solidFill>
                  <a:srgbClr val="1A1F2B"/>
                </a:solidFill>
                <a:latin typeface="Calibri" pitchFamily="34" charset="0"/>
                <a:ea typeface="Calibri" pitchFamily="34" charset="-122"/>
                <a:cs typeface="Calibri" pitchFamily="34" charset="-120"/>
              </a:rPr>
              <a:t>f(n) incorporates an estimate of cost from n to the nearest goal.</a:t>
            </a:r>
            <a:endParaRPr lang="en-US" sz="2350" dirty="0"/>
          </a:p>
          <a:p>
            <a:pPr marL="203200" indent="-203200">
              <a:spcAft>
                <a:spcPts val="700"/>
              </a:spcAft>
              <a:buSzPct val="100000"/>
              <a:buChar char="▪"/>
            </a:pPr>
            <a:r>
              <a:rPr lang="en-US" sz="2350" b="1" dirty="0">
                <a:solidFill>
                  <a:srgbClr val="0B1E3D"/>
                </a:solidFill>
                <a:latin typeface="Calibri" pitchFamily="34" charset="0"/>
                <a:ea typeface="Calibri" pitchFamily="34" charset="-122"/>
                <a:cs typeface="Calibri" pitchFamily="34" charset="-120"/>
              </a:rPr>
              <a:t>Consequence</a:t>
            </a:r>
            <a:endParaRPr lang="en-US" sz="2350" dirty="0"/>
          </a:p>
          <a:p>
            <a:pPr marL="203200" indent="-203200">
              <a:spcAft>
                <a:spcPts val="700"/>
              </a:spcAft>
              <a:buSzPct val="100000"/>
              <a:buChar char="▪"/>
            </a:pPr>
            <a:r>
              <a:rPr lang="en-US" sz="2100" dirty="0">
                <a:solidFill>
                  <a:srgbClr val="1A1F2B"/>
                </a:solidFill>
                <a:latin typeface="Calibri" pitchFamily="34" charset="0"/>
                <a:ea typeface="Calibri" pitchFamily="34" charset="-122"/>
                <a:cs typeface="Calibri" pitchFamily="34" charset="-120"/>
              </a:rPr>
              <a:t>Typically expands far fewer nodes than an uninformed strategy.</a:t>
            </a:r>
            <a:endParaRPr lang="en-US" sz="2350" dirty="0"/>
          </a:p>
        </p:txBody>
      </p:sp>
      <p:sp>
        <p:nvSpPr>
          <p:cNvPr id="5" name="Shape 3"/>
          <p:cNvSpPr/>
          <p:nvPr/>
        </p:nvSpPr>
        <p:spPr>
          <a:xfrm>
            <a:off x="548640" y="5074920"/>
            <a:ext cx="11094415" cy="1051560"/>
          </a:xfrm>
          <a:prstGeom prst="roundRect">
            <a:avLst>
              <a:gd name="adj" fmla="val 6087"/>
            </a:avLst>
          </a:prstGeom>
          <a:solidFill>
            <a:srgbClr val="0B1E3D"/>
          </a:solidFill>
          <a:ln/>
        </p:spPr>
      </p:sp>
      <p:sp>
        <p:nvSpPr>
          <p:cNvPr id="6" name="Text 4"/>
          <p:cNvSpPr/>
          <p:nvPr/>
        </p:nvSpPr>
        <p:spPr>
          <a:xfrm>
            <a:off x="822960" y="520293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Real-world instances</a:t>
            </a:r>
            <a:endParaRPr lang="en-US" sz="2600" dirty="0"/>
          </a:p>
        </p:txBody>
      </p:sp>
      <p:sp>
        <p:nvSpPr>
          <p:cNvPr id="7" name="Text 5"/>
          <p:cNvSpPr/>
          <p:nvPr/>
        </p:nvSpPr>
        <p:spPr>
          <a:xfrm>
            <a:off x="822960" y="5715000"/>
            <a:ext cx="10545775" cy="320040"/>
          </a:xfrm>
          <a:prstGeom prst="rect">
            <a:avLst/>
          </a:prstGeom>
          <a:noFill/>
          <a:ln/>
        </p:spPr>
        <p:txBody>
          <a:bodyPr wrap="square" rtlCol="0" anchor="t"/>
          <a:lstStyle/>
          <a:p>
            <a:pPr marL="0" indent="0">
              <a:buNone/>
            </a:pPr>
            <a:r>
              <a:rPr lang="en-US" sz="1750" dirty="0">
                <a:solidFill>
                  <a:srgbClr val="E7EBF3"/>
                </a:solidFill>
                <a:latin typeface="Calibri" pitchFamily="34" charset="0"/>
                <a:ea typeface="Calibri" pitchFamily="34" charset="-122"/>
                <a:cs typeface="Calibri" pitchFamily="34" charset="-120"/>
              </a:rPr>
              <a:t>GPS · Robotics · Game AI · Warehousing · Logistics · Routing · Puzzles · Scheduling</a:t>
            </a:r>
            <a:endParaRPr lang="en-US" sz="1750" dirty="0"/>
          </a:p>
        </p:txBody>
      </p:sp>
      <p:sp>
        <p:nvSpPr>
          <p:cNvPr id="8" name="Text 6"/>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2. Informed Search</a:t>
            </a:r>
            <a:endParaRPr lang="en-US" sz="1600" dirty="0"/>
          </a:p>
        </p:txBody>
      </p:sp>
      <p:sp>
        <p:nvSpPr>
          <p:cNvPr id="9" name="Text 7"/>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4 / 40</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2. INFORMED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The Heuristic Function h(n)</a:t>
            </a:r>
            <a:endParaRPr lang="en-US" sz="5050" dirty="0"/>
          </a:p>
        </p:txBody>
      </p:sp>
      <p:sp>
        <p:nvSpPr>
          <p:cNvPr id="4" name="Text 2"/>
          <p:cNvSpPr/>
          <p:nvPr/>
        </p:nvSpPr>
        <p:spPr>
          <a:xfrm>
            <a:off x="548640" y="2697480"/>
            <a:ext cx="11094415" cy="868680"/>
          </a:xfrm>
          <a:prstGeom prst="rect">
            <a:avLst/>
          </a:prstGeom>
          <a:noFill/>
          <a:ln/>
        </p:spPr>
        <p:txBody>
          <a:bodyPr wrap="square" lIns="0" tIns="0" rIns="0" bIns="0" rtlCol="0" anchor="t"/>
          <a:lstStyle/>
          <a:p>
            <a:pPr marL="203200" indent="-203200">
              <a:spcAft>
                <a:spcPts val="700"/>
              </a:spcAft>
              <a:buSzPct val="100000"/>
              <a:buChar char="▪"/>
            </a:pPr>
            <a:r>
              <a:rPr lang="en-US" sz="2250" b="1" dirty="0">
                <a:solidFill>
                  <a:srgbClr val="0B1E3D"/>
                </a:solidFill>
                <a:latin typeface="Calibri" pitchFamily="34" charset="0"/>
                <a:ea typeface="Calibri" pitchFamily="34" charset="-122"/>
                <a:cs typeface="Calibri" pitchFamily="34" charset="-120"/>
              </a:rPr>
              <a:t>Formal definition</a:t>
            </a:r>
            <a:endParaRPr lang="en-US" sz="2250" dirty="0"/>
          </a:p>
          <a:p>
            <a:pPr marL="203200" indent="-203200">
              <a:spcAft>
                <a:spcPts val="700"/>
              </a:spcAft>
              <a:buSzPct val="100000"/>
              <a:buChar char="▪"/>
            </a:pPr>
            <a:r>
              <a:rPr lang="en-US" sz="2250" dirty="0">
                <a:solidFill>
                  <a:srgbClr val="1A1F2B"/>
                </a:solidFill>
                <a:latin typeface="Calibri" pitchFamily="34" charset="0"/>
                <a:ea typeface="Calibri" pitchFamily="34" charset="-122"/>
                <a:cs typeface="Calibri" pitchFamily="34" charset="-120"/>
              </a:rPr>
              <a:t>h(n) estimates the cheapest cost from n to a goal. h(goal) = 0.</a:t>
            </a:r>
            <a:endParaRPr lang="en-US" sz="2250" dirty="0"/>
          </a:p>
        </p:txBody>
      </p:sp>
      <p:sp>
        <p:nvSpPr>
          <p:cNvPr id="5" name="Shape 3"/>
          <p:cNvSpPr/>
          <p:nvPr/>
        </p:nvSpPr>
        <p:spPr>
          <a:xfrm>
            <a:off x="548640" y="3657600"/>
            <a:ext cx="11094415" cy="2606040"/>
          </a:xfrm>
          <a:prstGeom prst="roundRect">
            <a:avLst>
              <a:gd name="adj" fmla="val 2456"/>
            </a:avLst>
          </a:prstGeom>
          <a:solidFill>
            <a:srgbClr val="F3F5F8"/>
          </a:solidFill>
          <a:ln w="12700">
            <a:solidFill>
              <a:srgbClr val="D8DCE3"/>
            </a:solidFill>
            <a:prstDash val="solid"/>
          </a:ln>
        </p:spPr>
      </p:sp>
      <p:sp>
        <p:nvSpPr>
          <p:cNvPr id="6" name="Text 4"/>
          <p:cNvSpPr/>
          <p:nvPr/>
        </p:nvSpPr>
        <p:spPr>
          <a:xfrm>
            <a:off x="822960" y="3785616"/>
            <a:ext cx="10545775"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Worked example — Arifwala to Lahore</a:t>
            </a:r>
            <a:endParaRPr lang="en-US" sz="2600" dirty="0"/>
          </a:p>
        </p:txBody>
      </p:sp>
      <p:sp>
        <p:nvSpPr>
          <p:cNvPr id="7" name="Text 5"/>
          <p:cNvSpPr/>
          <p:nvPr/>
        </p:nvSpPr>
        <p:spPr>
          <a:xfrm>
            <a:off x="822960" y="4160520"/>
            <a:ext cx="10545775" cy="1965960"/>
          </a:xfrm>
          <a:prstGeom prst="rect">
            <a:avLst/>
          </a:prstGeom>
          <a:noFill/>
          <a:ln/>
        </p:spPr>
        <p:txBody>
          <a:bodyPr wrap="square" rtlCol="0" anchor="ctr"/>
          <a:lstStyle/>
          <a:p>
            <a:pPr marL="0" indent="0">
              <a:lnSpc>
                <a:spcPts val="3200"/>
              </a:lnSpc>
              <a:buNone/>
            </a:pPr>
            <a:r>
              <a:rPr lang="en-US" sz="2100" b="1" dirty="0">
                <a:solidFill>
                  <a:srgbClr val="0B1E3D"/>
                </a:solidFill>
                <a:latin typeface="Calibri" pitchFamily="34" charset="0"/>
                <a:ea typeface="Calibri" pitchFamily="34" charset="-122"/>
                <a:cs typeface="Calibri" pitchFamily="34" charset="-120"/>
              </a:rPr>
              <a:t>Straight-line distance </a:t>
            </a:r>
            <a:r>
              <a:rPr lang="en-US" sz="2100" dirty="0">
                <a:solidFill>
                  <a:srgbClr val="1A1F2B"/>
                </a:solidFill>
                <a:latin typeface="Calibri" pitchFamily="34" charset="0"/>
                <a:ea typeface="Calibri" pitchFamily="34" charset="-122"/>
                <a:cs typeface="Calibri" pitchFamily="34" charset="-120"/>
              </a:rPr>
              <a:t>Arifwala → Lahore ≈ </a:t>
            </a:r>
            <a:r>
              <a:rPr lang="en-US" sz="2100" b="1" dirty="0">
                <a:solidFill>
                  <a:srgbClr val="B08D57"/>
                </a:solidFill>
                <a:latin typeface="Calibri" pitchFamily="34" charset="0"/>
                <a:ea typeface="Calibri" pitchFamily="34" charset="-122"/>
                <a:cs typeface="Calibri" pitchFamily="34" charset="-120"/>
              </a:rPr>
              <a:t>185 km</a:t>
            </a:r>
            <a:r>
              <a:rPr lang="en-US" sz="2100" dirty="0">
                <a:solidFill>
                  <a:srgbClr val="1A1F2B"/>
                </a:solidFill>
                <a:latin typeface="Calibri" pitchFamily="34" charset="0"/>
                <a:ea typeface="Calibri" pitchFamily="34" charset="-122"/>
                <a:cs typeface="Calibri" pitchFamily="34" charset="-120"/>
              </a:rPr>
              <a:t>  (illustrative estimate).
Actual road distance ≈ </a:t>
            </a:r>
            <a:r>
              <a:rPr lang="en-US" sz="2100" b="1" dirty="0">
                <a:solidFill>
                  <a:srgbClr val="B08D57"/>
                </a:solidFill>
                <a:latin typeface="Calibri" pitchFamily="34" charset="0"/>
                <a:ea typeface="Calibri" pitchFamily="34" charset="-122"/>
                <a:cs typeface="Calibri" pitchFamily="34" charset="-120"/>
              </a:rPr>
              <a:t>215 km</a:t>
            </a:r>
            <a:r>
              <a:rPr lang="en-US" sz="2100" dirty="0">
                <a:solidFill>
                  <a:srgbClr val="1A1F2B"/>
                </a:solidFill>
                <a:latin typeface="Calibri" pitchFamily="34" charset="0"/>
                <a:ea typeface="Calibri" pitchFamily="34" charset="-122"/>
                <a:cs typeface="Calibri" pitchFamily="34" charset="-120"/>
              </a:rPr>
              <a:t>  — roads bend around terrain.
</a:t>
            </a:r>
            <a:r>
              <a:rPr lang="en-US" sz="2100" b="1" dirty="0">
                <a:solidFill>
                  <a:srgbClr val="0B1E3D"/>
                </a:solidFill>
                <a:latin typeface="Calibri" pitchFamily="34" charset="0"/>
                <a:ea typeface="Calibri" pitchFamily="34" charset="-122"/>
                <a:cs typeface="Calibri" pitchFamily="34" charset="-120"/>
              </a:rPr>
              <a:t>So:  h(n)=185 ≤ h*(n)≈215 — the estimate never overestimates.</a:t>
            </a:r>
            <a:endParaRPr lang="en-US" sz="2100" dirty="0"/>
          </a:p>
        </p:txBody>
      </p:sp>
      <p:sp>
        <p:nvSpPr>
          <p:cNvPr id="8" name="Text 6"/>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2. Informed Search</a:t>
            </a:r>
            <a:endParaRPr lang="en-US" sz="1600" dirty="0"/>
          </a:p>
        </p:txBody>
      </p:sp>
      <p:sp>
        <p:nvSpPr>
          <p:cNvPr id="9" name="Text 7"/>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5 / 40</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2. INFORMED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FFFFFF"/>
                </a:solidFill>
                <a:latin typeface="Cambria" pitchFamily="34" charset="0"/>
                <a:ea typeface="Cambria" pitchFamily="34" charset="-122"/>
                <a:cs typeface="Cambria" pitchFamily="34" charset="-120"/>
              </a:rPr>
              <a:t>Formal Notation: g, h, and f</a:t>
            </a:r>
            <a:endParaRPr lang="en-US" sz="5050" dirty="0"/>
          </a:p>
        </p:txBody>
      </p:sp>
      <p:sp>
        <p:nvSpPr>
          <p:cNvPr id="4" name="Shape 2"/>
          <p:cNvSpPr/>
          <p:nvPr/>
        </p:nvSpPr>
        <p:spPr>
          <a:xfrm>
            <a:off x="548640" y="2697480"/>
            <a:ext cx="2602154" cy="2880360"/>
          </a:xfrm>
          <a:prstGeom prst="roundRect">
            <a:avLst>
              <a:gd name="adj" fmla="val 2811"/>
            </a:avLst>
          </a:prstGeom>
          <a:solidFill>
            <a:srgbClr val="13294B"/>
          </a:solidFill>
          <a:ln/>
        </p:spPr>
      </p:sp>
      <p:sp>
        <p:nvSpPr>
          <p:cNvPr id="5" name="Text 3"/>
          <p:cNvSpPr/>
          <p:nvPr/>
        </p:nvSpPr>
        <p:spPr>
          <a:xfrm>
            <a:off x="548640" y="2862072"/>
            <a:ext cx="2602154" cy="685800"/>
          </a:xfrm>
          <a:prstGeom prst="rect">
            <a:avLst/>
          </a:prstGeom>
          <a:noFill/>
          <a:ln/>
        </p:spPr>
        <p:txBody>
          <a:bodyPr wrap="square" rtlCol="0" anchor="ctr"/>
          <a:lstStyle/>
          <a:p>
            <a:pPr marL="0" indent="0" algn="ctr">
              <a:buNone/>
            </a:pPr>
            <a:r>
              <a:rPr lang="en-US" sz="4050" b="1" dirty="0">
                <a:solidFill>
                  <a:srgbClr val="B08D57"/>
                </a:solidFill>
                <a:latin typeface="Cambria" pitchFamily="34" charset="0"/>
                <a:ea typeface="Cambria" pitchFamily="34" charset="-122"/>
                <a:cs typeface="Cambria" pitchFamily="34" charset="-120"/>
              </a:rPr>
              <a:t>g(n)</a:t>
            </a:r>
            <a:endParaRPr lang="en-US" sz="4050" dirty="0"/>
          </a:p>
        </p:txBody>
      </p:sp>
      <p:sp>
        <p:nvSpPr>
          <p:cNvPr id="6" name="Text 4"/>
          <p:cNvSpPr/>
          <p:nvPr/>
        </p:nvSpPr>
        <p:spPr>
          <a:xfrm>
            <a:off x="658368" y="3611880"/>
            <a:ext cx="2382698"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Cost so far</a:t>
            </a:r>
            <a:endParaRPr lang="en-US" sz="2000" dirty="0"/>
          </a:p>
        </p:txBody>
      </p:sp>
      <p:sp>
        <p:nvSpPr>
          <p:cNvPr id="7" name="Text 5"/>
          <p:cNvSpPr/>
          <p:nvPr/>
        </p:nvSpPr>
        <p:spPr>
          <a:xfrm>
            <a:off x="713232" y="4206240"/>
            <a:ext cx="2272970" cy="1280160"/>
          </a:xfrm>
          <a:prstGeom prst="rect">
            <a:avLst/>
          </a:prstGeom>
          <a:noFill/>
          <a:ln/>
        </p:spPr>
        <p:txBody>
          <a:bodyPr wrap="square" rtlCol="0" anchor="ctr"/>
          <a:lstStyle/>
          <a:p>
            <a:pPr marL="0" indent="0" algn="l">
              <a:lnSpc>
                <a:spcPts val="2300"/>
              </a:lnSpc>
              <a:buNone/>
            </a:pPr>
            <a:r>
              <a:rPr lang="en-US" sz="1800" dirty="0">
                <a:solidFill>
                  <a:srgbClr val="C9D3E3"/>
                </a:solidFill>
                <a:latin typeface="Calibri" pitchFamily="34" charset="0"/>
                <a:ea typeface="Calibri" pitchFamily="34" charset="-122"/>
                <a:cs typeface="Calibri" pitchFamily="34" charset="-120"/>
              </a:rPr>
              <a:t>Actual cost from start to n — already known.</a:t>
            </a:r>
            <a:endParaRPr lang="en-US" sz="1800" dirty="0"/>
          </a:p>
        </p:txBody>
      </p:sp>
      <p:sp>
        <p:nvSpPr>
          <p:cNvPr id="8" name="Shape 6"/>
          <p:cNvSpPr/>
          <p:nvPr/>
        </p:nvSpPr>
        <p:spPr>
          <a:xfrm>
            <a:off x="3379394" y="2697480"/>
            <a:ext cx="2602154" cy="2880360"/>
          </a:xfrm>
          <a:prstGeom prst="roundRect">
            <a:avLst>
              <a:gd name="adj" fmla="val 2811"/>
            </a:avLst>
          </a:prstGeom>
          <a:solidFill>
            <a:srgbClr val="13294B"/>
          </a:solidFill>
          <a:ln/>
        </p:spPr>
      </p:sp>
      <p:sp>
        <p:nvSpPr>
          <p:cNvPr id="9" name="Text 7"/>
          <p:cNvSpPr/>
          <p:nvPr/>
        </p:nvSpPr>
        <p:spPr>
          <a:xfrm>
            <a:off x="3379394" y="2862072"/>
            <a:ext cx="2602154" cy="685800"/>
          </a:xfrm>
          <a:prstGeom prst="rect">
            <a:avLst/>
          </a:prstGeom>
          <a:noFill/>
          <a:ln/>
        </p:spPr>
        <p:txBody>
          <a:bodyPr wrap="square" rtlCol="0" anchor="ctr"/>
          <a:lstStyle/>
          <a:p>
            <a:pPr marL="0" indent="0" algn="ctr">
              <a:buNone/>
            </a:pPr>
            <a:r>
              <a:rPr lang="en-US" sz="4050" b="1" dirty="0">
                <a:solidFill>
                  <a:srgbClr val="B08D57"/>
                </a:solidFill>
                <a:latin typeface="Cambria" pitchFamily="34" charset="0"/>
                <a:ea typeface="Cambria" pitchFamily="34" charset="-122"/>
                <a:cs typeface="Cambria" pitchFamily="34" charset="-120"/>
              </a:rPr>
              <a:t>h(n)</a:t>
            </a:r>
            <a:endParaRPr lang="en-US" sz="4050" dirty="0"/>
          </a:p>
        </p:txBody>
      </p:sp>
      <p:sp>
        <p:nvSpPr>
          <p:cNvPr id="10" name="Text 8"/>
          <p:cNvSpPr/>
          <p:nvPr/>
        </p:nvSpPr>
        <p:spPr>
          <a:xfrm>
            <a:off x="3489122" y="3611880"/>
            <a:ext cx="2382698"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Cost to go</a:t>
            </a:r>
            <a:endParaRPr lang="en-US" sz="2000" dirty="0"/>
          </a:p>
        </p:txBody>
      </p:sp>
      <p:sp>
        <p:nvSpPr>
          <p:cNvPr id="11" name="Text 9"/>
          <p:cNvSpPr/>
          <p:nvPr/>
        </p:nvSpPr>
        <p:spPr>
          <a:xfrm>
            <a:off x="3543986" y="4206240"/>
            <a:ext cx="2272970" cy="1280160"/>
          </a:xfrm>
          <a:prstGeom prst="rect">
            <a:avLst/>
          </a:prstGeom>
          <a:noFill/>
          <a:ln/>
        </p:spPr>
        <p:txBody>
          <a:bodyPr wrap="square" rtlCol="0" anchor="ctr"/>
          <a:lstStyle/>
          <a:p>
            <a:pPr marL="0" indent="0" algn="l">
              <a:lnSpc>
                <a:spcPts val="2300"/>
              </a:lnSpc>
              <a:buNone/>
            </a:pPr>
            <a:r>
              <a:rPr lang="en-US" sz="1800" dirty="0">
                <a:solidFill>
                  <a:srgbClr val="C9D3E3"/>
                </a:solidFill>
                <a:latin typeface="Calibri" pitchFamily="34" charset="0"/>
                <a:ea typeface="Calibri" pitchFamily="34" charset="-122"/>
                <a:cs typeface="Calibri" pitchFamily="34" charset="-120"/>
              </a:rPr>
              <a:t>ESTIMATE of cost from n to the goal.</a:t>
            </a:r>
            <a:endParaRPr lang="en-US" sz="1800" dirty="0"/>
          </a:p>
        </p:txBody>
      </p:sp>
      <p:sp>
        <p:nvSpPr>
          <p:cNvPr id="12" name="Shape 10"/>
          <p:cNvSpPr/>
          <p:nvPr/>
        </p:nvSpPr>
        <p:spPr>
          <a:xfrm>
            <a:off x="6210148" y="2697480"/>
            <a:ext cx="2602154" cy="2880360"/>
          </a:xfrm>
          <a:prstGeom prst="roundRect">
            <a:avLst>
              <a:gd name="adj" fmla="val 2811"/>
            </a:avLst>
          </a:prstGeom>
          <a:solidFill>
            <a:srgbClr val="13294B"/>
          </a:solidFill>
          <a:ln/>
        </p:spPr>
      </p:sp>
      <p:sp>
        <p:nvSpPr>
          <p:cNvPr id="13" name="Text 11"/>
          <p:cNvSpPr/>
          <p:nvPr/>
        </p:nvSpPr>
        <p:spPr>
          <a:xfrm>
            <a:off x="6210148" y="2862072"/>
            <a:ext cx="2602154" cy="685800"/>
          </a:xfrm>
          <a:prstGeom prst="rect">
            <a:avLst/>
          </a:prstGeom>
          <a:noFill/>
          <a:ln/>
        </p:spPr>
        <p:txBody>
          <a:bodyPr wrap="square" rtlCol="0" anchor="ctr"/>
          <a:lstStyle/>
          <a:p>
            <a:pPr marL="0" indent="0" algn="ctr">
              <a:buNone/>
            </a:pPr>
            <a:r>
              <a:rPr lang="en-US" sz="4050" b="1" dirty="0">
                <a:solidFill>
                  <a:srgbClr val="B08D57"/>
                </a:solidFill>
                <a:latin typeface="Cambria" pitchFamily="34" charset="0"/>
                <a:ea typeface="Cambria" pitchFamily="34" charset="-122"/>
                <a:cs typeface="Cambria" pitchFamily="34" charset="-120"/>
              </a:rPr>
              <a:t>h*(n)</a:t>
            </a:r>
            <a:endParaRPr lang="en-US" sz="4050" dirty="0"/>
          </a:p>
        </p:txBody>
      </p:sp>
      <p:sp>
        <p:nvSpPr>
          <p:cNvPr id="14" name="Text 12"/>
          <p:cNvSpPr/>
          <p:nvPr/>
        </p:nvSpPr>
        <p:spPr>
          <a:xfrm>
            <a:off x="6319876" y="3611880"/>
            <a:ext cx="2382698"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True cost to go</a:t>
            </a:r>
            <a:endParaRPr lang="en-US" sz="2000" dirty="0"/>
          </a:p>
        </p:txBody>
      </p:sp>
      <p:sp>
        <p:nvSpPr>
          <p:cNvPr id="15" name="Text 13"/>
          <p:cNvSpPr/>
          <p:nvPr/>
        </p:nvSpPr>
        <p:spPr>
          <a:xfrm>
            <a:off x="6374740" y="4206240"/>
            <a:ext cx="2272970" cy="1280160"/>
          </a:xfrm>
          <a:prstGeom prst="rect">
            <a:avLst/>
          </a:prstGeom>
          <a:noFill/>
          <a:ln/>
        </p:spPr>
        <p:txBody>
          <a:bodyPr wrap="square" rtlCol="0" anchor="ctr"/>
          <a:lstStyle/>
          <a:p>
            <a:pPr marL="0" indent="0" algn="l">
              <a:lnSpc>
                <a:spcPts val="2300"/>
              </a:lnSpc>
              <a:buNone/>
            </a:pPr>
            <a:r>
              <a:rPr lang="en-US" sz="1800" dirty="0">
                <a:solidFill>
                  <a:srgbClr val="C9D3E3"/>
                </a:solidFill>
                <a:latin typeface="Calibri" pitchFamily="34" charset="0"/>
                <a:ea typeface="Calibri" pitchFamily="34" charset="-122"/>
                <a:cs typeface="Calibri" pitchFamily="34" charset="-120"/>
              </a:rPr>
              <a:t>The TRUE cost — unknown; used only for proofs.</a:t>
            </a:r>
            <a:endParaRPr lang="en-US" sz="1800" dirty="0"/>
          </a:p>
        </p:txBody>
      </p:sp>
      <p:sp>
        <p:nvSpPr>
          <p:cNvPr id="16" name="Shape 14"/>
          <p:cNvSpPr/>
          <p:nvPr/>
        </p:nvSpPr>
        <p:spPr>
          <a:xfrm>
            <a:off x="9040901" y="2697480"/>
            <a:ext cx="2602154" cy="2880360"/>
          </a:xfrm>
          <a:prstGeom prst="roundRect">
            <a:avLst>
              <a:gd name="adj" fmla="val 2811"/>
            </a:avLst>
          </a:prstGeom>
          <a:solidFill>
            <a:srgbClr val="13294B"/>
          </a:solidFill>
          <a:ln/>
        </p:spPr>
      </p:sp>
      <p:sp>
        <p:nvSpPr>
          <p:cNvPr id="17" name="Text 15"/>
          <p:cNvSpPr/>
          <p:nvPr/>
        </p:nvSpPr>
        <p:spPr>
          <a:xfrm>
            <a:off x="9040901" y="2862072"/>
            <a:ext cx="2602154" cy="685800"/>
          </a:xfrm>
          <a:prstGeom prst="rect">
            <a:avLst/>
          </a:prstGeom>
          <a:noFill/>
          <a:ln/>
        </p:spPr>
        <p:txBody>
          <a:bodyPr wrap="square" rtlCol="0" anchor="ctr"/>
          <a:lstStyle/>
          <a:p>
            <a:pPr marL="0" indent="0" algn="ctr">
              <a:buNone/>
            </a:pPr>
            <a:r>
              <a:rPr lang="en-US" sz="4050" b="1" dirty="0">
                <a:solidFill>
                  <a:srgbClr val="B08D57"/>
                </a:solidFill>
                <a:latin typeface="Cambria" pitchFamily="34" charset="0"/>
                <a:ea typeface="Cambria" pitchFamily="34" charset="-122"/>
                <a:cs typeface="Cambria" pitchFamily="34" charset="-120"/>
              </a:rPr>
              <a:t>f(n)</a:t>
            </a:r>
            <a:endParaRPr lang="en-US" sz="4050" dirty="0"/>
          </a:p>
        </p:txBody>
      </p:sp>
      <p:sp>
        <p:nvSpPr>
          <p:cNvPr id="18" name="Text 16"/>
          <p:cNvSpPr/>
          <p:nvPr/>
        </p:nvSpPr>
        <p:spPr>
          <a:xfrm>
            <a:off x="9150629" y="3611880"/>
            <a:ext cx="2382698"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Total estimate</a:t>
            </a:r>
            <a:endParaRPr lang="en-US" sz="2000" dirty="0"/>
          </a:p>
        </p:txBody>
      </p:sp>
      <p:sp>
        <p:nvSpPr>
          <p:cNvPr id="19" name="Text 17"/>
          <p:cNvSpPr/>
          <p:nvPr/>
        </p:nvSpPr>
        <p:spPr>
          <a:xfrm>
            <a:off x="9205493" y="4206240"/>
            <a:ext cx="2272970" cy="1280160"/>
          </a:xfrm>
          <a:prstGeom prst="rect">
            <a:avLst/>
          </a:prstGeom>
          <a:noFill/>
          <a:ln/>
        </p:spPr>
        <p:txBody>
          <a:bodyPr wrap="square" rtlCol="0" anchor="ctr"/>
          <a:lstStyle/>
          <a:p>
            <a:pPr marL="0" indent="0" algn="l">
              <a:lnSpc>
                <a:spcPts val="2300"/>
              </a:lnSpc>
              <a:buNone/>
            </a:pPr>
            <a:r>
              <a:rPr lang="en-US" sz="1800" dirty="0">
                <a:solidFill>
                  <a:srgbClr val="C9D3E3"/>
                </a:solidFill>
                <a:latin typeface="Calibri" pitchFamily="34" charset="0"/>
                <a:ea typeface="Calibri" pitchFamily="34" charset="-122"/>
                <a:cs typeface="Calibri" pitchFamily="34" charset="-120"/>
              </a:rPr>
              <a:t>Combines g(n) and h(n); rule depends on algorithm.</a:t>
            </a:r>
            <a:endParaRPr lang="en-US" sz="1800" dirty="0"/>
          </a:p>
        </p:txBody>
      </p:sp>
      <p:sp>
        <p:nvSpPr>
          <p:cNvPr id="20" name="Text 18"/>
          <p:cNvSpPr/>
          <p:nvPr/>
        </p:nvSpPr>
        <p:spPr>
          <a:xfrm>
            <a:off x="548640" y="5715000"/>
            <a:ext cx="11094415" cy="594360"/>
          </a:xfrm>
          <a:prstGeom prst="rect">
            <a:avLst/>
          </a:prstGeom>
          <a:noFill/>
          <a:ln/>
        </p:spPr>
        <p:txBody>
          <a:bodyPr wrap="square" rtlCol="0" anchor="ctr"/>
          <a:lstStyle/>
          <a:p>
            <a:pPr marL="0" indent="0">
              <a:lnSpc>
                <a:spcPts val="2500"/>
              </a:lnSpc>
              <a:buNone/>
            </a:pPr>
            <a:r>
              <a:rPr lang="en-US" sz="2100" b="1" dirty="0">
                <a:solidFill>
                  <a:srgbClr val="B08D57"/>
                </a:solidFill>
                <a:latin typeface="Calibri" pitchFamily="34" charset="0"/>
                <a:ea typeface="Calibri" pitchFamily="34" charset="-122"/>
                <a:cs typeface="Calibri" pitchFamily="34" charset="-120"/>
              </a:rPr>
              <a:t>Key distinction:  </a:t>
            </a:r>
            <a:r>
              <a:rPr lang="en-US" sz="2100" dirty="0">
                <a:solidFill>
                  <a:srgbClr val="E7EBF3"/>
                </a:solidFill>
                <a:latin typeface="Calibri" pitchFamily="34" charset="0"/>
                <a:ea typeface="Calibri" pitchFamily="34" charset="-122"/>
                <a:cs typeface="Calibri" pitchFamily="34" charset="-120"/>
              </a:rPr>
              <a:t>h(n) is what the algorithm computes; h*(n) is the unknown ground truth used only in proofs.</a:t>
            </a:r>
            <a:endParaRPr lang="en-US" sz="2100" dirty="0"/>
          </a:p>
        </p:txBody>
      </p:sp>
      <p:sp>
        <p:nvSpPr>
          <p:cNvPr id="21" name="Text 19"/>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2. Informed Search</a:t>
            </a:r>
            <a:endParaRPr lang="en-US" sz="1600" dirty="0"/>
          </a:p>
        </p:txBody>
      </p:sp>
      <p:sp>
        <p:nvSpPr>
          <p:cNvPr id="22" name="Text 20"/>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6 / 40</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What is a Heuristic?</a:t>
            </a:r>
            <a:endParaRPr lang="en-US" sz="3200" dirty="0"/>
          </a:p>
        </p:txBody>
      </p:sp>
      <p:sp>
        <p:nvSpPr>
          <p:cNvPr id="3" name="Flow current state"/>
          <p:cNvSpPr/>
          <p:nvPr/>
        </p:nvSpPr>
        <p:spPr>
          <a:xfrm>
            <a:off x="548640" y="1371600"/>
            <a:ext cx="3200400" cy="1234440"/>
          </a:xfrm>
          <a:prstGeom prst="roundRect">
            <a:avLst>
              <a:gd name="adj" fmla="val 7407"/>
            </a:avLst>
          </a:prstGeom>
          <a:solidFill>
            <a:schemeClr val="bg2"/>
          </a:solidFill>
          <a:ln/>
        </p:spPr>
      </p:sp>
      <p:sp>
        <p:nvSpPr>
          <p:cNvPr id="4" name="Text 2"/>
          <p:cNvSpPr txBox="1"/>
          <p:nvPr/>
        </p:nvSpPr>
        <p:spPr>
          <a:xfrm>
            <a:off x="548640" y="1371600"/>
            <a:ext cx="3200400" cy="1234440"/>
          </a:xfrm>
          <a:prstGeom prst="rect">
            <a:avLst/>
          </a:prstGeom>
          <a:noFill/>
          <a:ln/>
        </p:spPr>
        <p:txBody>
          <a:bodyPr wrap="square" lIns="0" tIns="0" rIns="0" bIns="0" rtlCol="0" anchor="ctr"/>
          <a:lstStyle/>
          <a:p>
            <a:pPr marL="0" indent="0" algn="ctr">
              <a:buNone/>
            </a:pPr>
            <a:r>
              <a:rPr lang="en-US" sz="2400" b="1" dirty="0">
                <a:solidFill>
                  <a:schemeClr val="accent1"/>
                </a:solidFill>
              </a:rPr>
              <a:t>Current State</a:t>
            </a:r>
            <a:endParaRPr lang="en-US" sz="1800" dirty="0"/>
          </a:p>
          <a:p>
            <a:pPr marL="0" indent="0" algn="ctr">
              <a:buNone/>
            </a:pPr>
            <a:r>
              <a:rPr lang="en-US" sz="1800" dirty="0">
                <a:solidFill>
                  <a:schemeClr val="tx1"/>
                </a:solidFill>
              </a:rPr>
              <a:t>a node n in the search</a:t>
            </a:r>
            <a:endParaRPr lang="en-US" sz="1800" dirty="0"/>
          </a:p>
        </p:txBody>
      </p:sp>
      <p:sp>
        <p:nvSpPr>
          <p:cNvPr id="5" name="Flow h(n)"/>
          <p:cNvSpPr/>
          <p:nvPr/>
        </p:nvSpPr>
        <p:spPr>
          <a:xfrm>
            <a:off x="4480560" y="1371600"/>
            <a:ext cx="3200400" cy="1234440"/>
          </a:xfrm>
          <a:prstGeom prst="roundRect">
            <a:avLst>
              <a:gd name="adj" fmla="val 7407"/>
            </a:avLst>
          </a:prstGeom>
          <a:solidFill>
            <a:schemeClr val="accent2"/>
          </a:solidFill>
          <a:ln/>
        </p:spPr>
      </p:sp>
      <p:sp>
        <p:nvSpPr>
          <p:cNvPr id="6" name="Text 4"/>
          <p:cNvSpPr txBox="1"/>
          <p:nvPr/>
        </p:nvSpPr>
        <p:spPr>
          <a:xfrm>
            <a:off x="4480560" y="1371600"/>
            <a:ext cx="3200400" cy="1234440"/>
          </a:xfrm>
          <a:prstGeom prst="rect">
            <a:avLst/>
          </a:prstGeom>
          <a:noFill/>
          <a:ln/>
        </p:spPr>
        <p:txBody>
          <a:bodyPr wrap="square" lIns="0" tIns="0" rIns="0" bIns="0" rtlCol="0" anchor="ctr"/>
          <a:lstStyle/>
          <a:p>
            <a:pPr marL="0" indent="0" algn="ctr">
              <a:buNone/>
            </a:pPr>
            <a:r>
              <a:rPr lang="en-US" sz="3200" b="1" dirty="0">
                <a:solidFill>
                  <a:schemeClr val="bg1"/>
                </a:solidFill>
              </a:rPr>
              <a:t>h(n)</a:t>
            </a:r>
            <a:endParaRPr lang="en-US" sz="1800" dirty="0"/>
          </a:p>
          <a:p>
            <a:pPr marL="0" indent="0" algn="ctr">
              <a:buNone/>
            </a:pPr>
            <a:r>
              <a:rPr lang="en-US" sz="2000" dirty="0">
                <a:solidFill>
                  <a:schemeClr val="bg1"/>
                </a:solidFill>
              </a:rPr>
              <a:t>Heuristic Function</a:t>
            </a:r>
            <a:endParaRPr lang="en-US" sz="1800" dirty="0"/>
          </a:p>
        </p:txBody>
      </p:sp>
      <p:sp>
        <p:nvSpPr>
          <p:cNvPr id="7" name="Flow estimate"/>
          <p:cNvSpPr/>
          <p:nvPr/>
        </p:nvSpPr>
        <p:spPr>
          <a:xfrm>
            <a:off x="8439912" y="1371600"/>
            <a:ext cx="3200400" cy="1234440"/>
          </a:xfrm>
          <a:prstGeom prst="roundRect">
            <a:avLst>
              <a:gd name="adj" fmla="val 7407"/>
            </a:avLst>
          </a:prstGeom>
          <a:solidFill>
            <a:schemeClr val="accent2">
              <a:alpha val="15000"/>
            </a:schemeClr>
          </a:solidFill>
          <a:ln w="19050">
            <a:solidFill>
              <a:schemeClr val="accent2"/>
            </a:solidFill>
            <a:prstDash val="solid"/>
          </a:ln>
        </p:spPr>
      </p:sp>
      <p:sp>
        <p:nvSpPr>
          <p:cNvPr id="8" name="Text 6"/>
          <p:cNvSpPr txBox="1"/>
          <p:nvPr/>
        </p:nvSpPr>
        <p:spPr>
          <a:xfrm>
            <a:off x="8439912" y="1371600"/>
            <a:ext cx="3200400" cy="1234440"/>
          </a:xfrm>
          <a:prstGeom prst="rect">
            <a:avLst/>
          </a:prstGeom>
          <a:noFill/>
          <a:ln/>
        </p:spPr>
        <p:txBody>
          <a:bodyPr wrap="square" lIns="0" tIns="0" rIns="0" bIns="0" rtlCol="0" anchor="ctr"/>
          <a:lstStyle/>
          <a:p>
            <a:pPr marL="0" indent="0" algn="ctr">
              <a:buNone/>
            </a:pPr>
            <a:r>
              <a:rPr lang="en-US" sz="2400" b="1" dirty="0">
                <a:solidFill>
                  <a:schemeClr val="accent2"/>
                </a:solidFill>
              </a:rPr>
              <a:t>Estimated Cost to Goal</a:t>
            </a:r>
            <a:endParaRPr lang="en-US" sz="1800" dirty="0"/>
          </a:p>
          <a:p>
            <a:pPr marL="0" indent="0" algn="ctr">
              <a:buNone/>
            </a:pPr>
            <a:r>
              <a:rPr lang="en-US" sz="1800" dirty="0">
                <a:solidFill>
                  <a:schemeClr val="tx1"/>
                </a:solidFill>
              </a:rPr>
              <a:t>a number, h(n) ≥ 0</a:t>
            </a:r>
            <a:endParaRPr lang="en-US" sz="1800" dirty="0"/>
          </a:p>
        </p:txBody>
      </p:sp>
      <p:sp>
        <p:nvSpPr>
          <p:cNvPr id="9" name="Arrow 1"/>
          <p:cNvSpPr/>
          <p:nvPr/>
        </p:nvSpPr>
        <p:spPr>
          <a:xfrm>
            <a:off x="3794760" y="1988820"/>
            <a:ext cx="640080" cy="0"/>
          </a:xfrm>
          <a:prstGeom prst="line">
            <a:avLst/>
          </a:prstGeom>
          <a:noFill/>
          <a:ln w="44450">
            <a:solidFill>
              <a:schemeClr val="tx1"/>
            </a:solidFill>
            <a:prstDash val="solid"/>
            <a:tailEnd type="triangle"/>
          </a:ln>
        </p:spPr>
      </p:sp>
      <p:sp>
        <p:nvSpPr>
          <p:cNvPr id="10" name="Arrow 2"/>
          <p:cNvSpPr/>
          <p:nvPr/>
        </p:nvSpPr>
        <p:spPr>
          <a:xfrm>
            <a:off x="7726680" y="1988820"/>
            <a:ext cx="667512" cy="0"/>
          </a:xfrm>
          <a:prstGeom prst="line">
            <a:avLst/>
          </a:prstGeom>
          <a:noFill/>
          <a:ln w="44450">
            <a:solidFill>
              <a:schemeClr val="tx1"/>
            </a:solidFill>
            <a:prstDash val="solid"/>
            <a:tailEnd type="triangle"/>
          </a:ln>
        </p:spPr>
      </p:sp>
      <p:sp>
        <p:nvSpPr>
          <p:cNvPr id="11" name="Heuristic card"/>
          <p:cNvSpPr/>
          <p:nvPr/>
        </p:nvSpPr>
        <p:spPr>
          <a:xfrm>
            <a:off x="548640" y="2926080"/>
            <a:ext cx="5394960" cy="3291840"/>
          </a:xfrm>
          <a:prstGeom prst="roundRect">
            <a:avLst>
              <a:gd name="adj" fmla="val 2778"/>
            </a:avLst>
          </a:prstGeom>
          <a:solidFill>
            <a:schemeClr val="bg2"/>
          </a:solidFill>
          <a:ln/>
        </p:spPr>
      </p:sp>
      <p:sp>
        <p:nvSpPr>
          <p:cNvPr id="12" name="Text 10"/>
          <p:cNvSpPr txBox="1"/>
          <p:nvPr/>
        </p:nvSpPr>
        <p:spPr>
          <a:xfrm>
            <a:off x="822960" y="3108960"/>
            <a:ext cx="4846320" cy="411480"/>
          </a:xfrm>
          <a:prstGeom prst="rect">
            <a:avLst/>
          </a:prstGeom>
          <a:noFill/>
          <a:ln/>
        </p:spPr>
        <p:txBody>
          <a:bodyPr wrap="square" lIns="0" tIns="0" rIns="0" bIns="0" rtlCol="0" anchor="t"/>
          <a:lstStyle/>
          <a:p>
            <a:pPr marL="0" indent="0">
              <a:buNone/>
            </a:pPr>
            <a:r>
              <a:rPr lang="en-US" sz="2400" b="1" dirty="0">
                <a:solidFill>
                  <a:schemeClr val="accent1"/>
                </a:solidFill>
              </a:rPr>
              <a:t>Heuristic</a:t>
            </a:r>
            <a:endParaRPr lang="en-US" sz="2400" dirty="0"/>
          </a:p>
        </p:txBody>
      </p:sp>
      <p:sp>
        <p:nvSpPr>
          <p:cNvPr id="13" name="Text 11"/>
          <p:cNvSpPr txBox="1"/>
          <p:nvPr/>
        </p:nvSpPr>
        <p:spPr>
          <a:xfrm>
            <a:off x="822960" y="3611880"/>
            <a:ext cx="4846320" cy="1051560"/>
          </a:xfrm>
          <a:prstGeom prst="rect">
            <a:avLst/>
          </a:prstGeom>
          <a:noFill/>
          <a:ln/>
        </p:spPr>
        <p:txBody>
          <a:bodyPr wrap="square" lIns="0" tIns="0" rIns="0" bIns="0" rtlCol="0" anchor="t"/>
          <a:lstStyle/>
          <a:p>
            <a:pPr marL="0" indent="0">
              <a:buNone/>
            </a:pPr>
            <a:r>
              <a:rPr lang="en-US" sz="2000" dirty="0">
                <a:solidFill>
                  <a:schemeClr val="tx1"/>
                </a:solidFill>
              </a:rPr>
              <a:t>A rule of thumb that uses knowledge of the problem to judge which choice looks most promising.</a:t>
            </a:r>
            <a:endParaRPr lang="en-US" sz="2000" dirty="0"/>
          </a:p>
        </p:txBody>
      </p:sp>
      <p:sp>
        <p:nvSpPr>
          <p:cNvPr id="14" name="Text 12"/>
          <p:cNvSpPr txBox="1"/>
          <p:nvPr/>
        </p:nvSpPr>
        <p:spPr>
          <a:xfrm>
            <a:off x="822960" y="4800600"/>
            <a:ext cx="4846320" cy="128016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chemeClr val="tx1"/>
                </a:solidFill>
              </a:rPr>
              <a:t>Cheap to compute, but not always exactly right</a:t>
            </a:r>
            <a:endParaRPr lang="en-US" sz="1800" dirty="0"/>
          </a:p>
          <a:p>
            <a:pPr marL="228600" indent="-228600">
              <a:spcAft>
                <a:spcPts val="600"/>
              </a:spcAft>
              <a:buSzPct val="100000"/>
              <a:buChar char="•"/>
            </a:pPr>
            <a:r>
              <a:rPr lang="en-US" sz="1800" dirty="0">
                <a:solidFill>
                  <a:schemeClr val="tx1"/>
                </a:solidFill>
              </a:rPr>
              <a:t>Guides search toward the goal instead of exploring blindly</a:t>
            </a:r>
            <a:endParaRPr lang="en-US" sz="1800" dirty="0"/>
          </a:p>
        </p:txBody>
      </p:sp>
      <p:sp>
        <p:nvSpPr>
          <p:cNvPr id="15" name="h(n) card"/>
          <p:cNvSpPr/>
          <p:nvPr/>
        </p:nvSpPr>
        <p:spPr>
          <a:xfrm>
            <a:off x="6245352" y="2926080"/>
            <a:ext cx="5394960" cy="3291840"/>
          </a:xfrm>
          <a:prstGeom prst="roundRect">
            <a:avLst>
              <a:gd name="adj" fmla="val 2778"/>
            </a:avLst>
          </a:prstGeom>
          <a:solidFill>
            <a:schemeClr val="bg2"/>
          </a:solidFill>
          <a:ln/>
        </p:spPr>
      </p:sp>
      <p:sp>
        <p:nvSpPr>
          <p:cNvPr id="16" name="Text 14"/>
          <p:cNvSpPr txBox="1"/>
          <p:nvPr/>
        </p:nvSpPr>
        <p:spPr>
          <a:xfrm>
            <a:off x="6519672" y="3108960"/>
            <a:ext cx="4846320" cy="411480"/>
          </a:xfrm>
          <a:prstGeom prst="rect">
            <a:avLst/>
          </a:prstGeom>
          <a:noFill/>
          <a:ln/>
        </p:spPr>
        <p:txBody>
          <a:bodyPr wrap="square" lIns="0" tIns="0" rIns="0" bIns="0" rtlCol="0" anchor="t"/>
          <a:lstStyle/>
          <a:p>
            <a:pPr marL="0" indent="0">
              <a:buNone/>
            </a:pPr>
            <a:r>
              <a:rPr lang="en-US" sz="2400" b="1" dirty="0">
                <a:solidFill>
                  <a:schemeClr val="accent1"/>
                </a:solidFill>
              </a:rPr>
              <a:t>Heuristic function h(n)</a:t>
            </a:r>
            <a:endParaRPr lang="en-US" sz="2400" dirty="0"/>
          </a:p>
        </p:txBody>
      </p:sp>
      <p:sp>
        <p:nvSpPr>
          <p:cNvPr id="17" name="Text 15"/>
          <p:cNvSpPr txBox="1"/>
          <p:nvPr/>
        </p:nvSpPr>
        <p:spPr>
          <a:xfrm>
            <a:off x="6519672" y="3611880"/>
            <a:ext cx="4846320" cy="777240"/>
          </a:xfrm>
          <a:prstGeom prst="rect">
            <a:avLst/>
          </a:prstGeom>
          <a:noFill/>
          <a:ln/>
        </p:spPr>
        <p:txBody>
          <a:bodyPr wrap="square" lIns="0" tIns="0" rIns="0" bIns="0" rtlCol="0" anchor="t"/>
          <a:lstStyle/>
          <a:p>
            <a:pPr marL="0" indent="0">
              <a:buNone/>
            </a:pPr>
            <a:r>
              <a:rPr lang="en-US" sz="2400" b="1" dirty="0">
                <a:solidFill>
                  <a:schemeClr val="accent2"/>
                </a:solidFill>
              </a:rPr>
              <a:t>h(n)</a:t>
            </a:r>
            <a:r>
              <a:rPr lang="en-US" sz="2200" dirty="0">
                <a:solidFill>
                  <a:schemeClr val="tx1"/>
                </a:solidFill>
              </a:rPr>
              <a:t> = estimated cost from node n to the goal</a:t>
            </a:r>
            <a:endParaRPr lang="en-US" sz="1800" dirty="0"/>
          </a:p>
        </p:txBody>
      </p:sp>
      <p:sp>
        <p:nvSpPr>
          <p:cNvPr id="18" name="Text 16"/>
          <p:cNvSpPr txBox="1"/>
          <p:nvPr/>
        </p:nvSpPr>
        <p:spPr>
          <a:xfrm>
            <a:off x="6519672" y="4572000"/>
            <a:ext cx="4846320" cy="146304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chemeClr val="tx1"/>
                </a:solidFill>
              </a:rPr>
              <a:t>h(n) ≥ 0 for every node n, and h(goal) = 0</a:t>
            </a:r>
            <a:endParaRPr lang="en-US" sz="1800" dirty="0"/>
          </a:p>
          <a:p>
            <a:pPr marL="228600" indent="-228600">
              <a:spcAft>
                <a:spcPts val="600"/>
              </a:spcAft>
              <a:buSzPct val="100000"/>
              <a:buChar char="•"/>
            </a:pPr>
            <a:r>
              <a:rPr lang="en-US" sz="1800" dirty="0">
                <a:solidFill>
                  <a:schemeClr val="tx1"/>
                </a:solidFill>
              </a:rPr>
              <a:t>Low h(n): n looks close to the goal</a:t>
            </a:r>
            <a:endParaRPr lang="en-US" sz="1800" dirty="0"/>
          </a:p>
          <a:p>
            <a:pPr marL="228600" indent="-228600">
              <a:spcAft>
                <a:spcPts val="600"/>
              </a:spcAft>
              <a:buSzPct val="100000"/>
              <a:buChar char="•"/>
            </a:pPr>
            <a:r>
              <a:rPr lang="en-US" sz="1800" dirty="0">
                <a:solidFill>
                  <a:schemeClr val="tx1"/>
                </a:solidFill>
              </a:rPr>
              <a:t>High h(n): n looks far from the goal</a:t>
            </a:r>
            <a:endParaRPr lang="en-US" sz="1800" dirty="0"/>
          </a:p>
        </p:txBody>
      </p:sp>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Costs Compared and Algorithms That Use h(n)</a:t>
            </a:r>
            <a:endParaRPr lang="en-US" sz="3200" dirty="0"/>
          </a:p>
        </p:txBody>
      </p:sp>
      <p:sp>
        <p:nvSpPr>
          <p:cNvPr id="3" name="Actual cost card"/>
          <p:cNvSpPr/>
          <p:nvPr/>
        </p:nvSpPr>
        <p:spPr>
          <a:xfrm>
            <a:off x="548640" y="1371600"/>
            <a:ext cx="3566160" cy="2148840"/>
          </a:xfrm>
          <a:prstGeom prst="roundRect">
            <a:avLst>
              <a:gd name="adj" fmla="val 4255"/>
            </a:avLst>
          </a:prstGeom>
          <a:solidFill>
            <a:schemeClr val="bg2"/>
          </a:solidFill>
          <a:ln/>
        </p:spPr>
      </p:sp>
      <p:sp>
        <p:nvSpPr>
          <p:cNvPr id="4" name="Pill"/>
          <p:cNvSpPr txBox="1"/>
          <p:nvPr/>
        </p:nvSpPr>
        <p:spPr>
          <a:xfrm>
            <a:off x="731520" y="1508760"/>
            <a:ext cx="2011680" cy="457200"/>
          </a:xfrm>
          <a:prstGeom prst="roundRect">
            <a:avLst>
              <a:gd name="adj" fmla="val 20000"/>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Actual cost</a:t>
            </a:r>
            <a:endParaRPr lang="en-US" sz="1800" dirty="0"/>
          </a:p>
        </p:txBody>
      </p:sp>
      <p:sp>
        <p:nvSpPr>
          <p:cNvPr id="5" name="Text 3"/>
          <p:cNvSpPr txBox="1"/>
          <p:nvPr/>
        </p:nvSpPr>
        <p:spPr>
          <a:xfrm>
            <a:off x="777240" y="2103120"/>
            <a:ext cx="3108960" cy="1325880"/>
          </a:xfrm>
          <a:prstGeom prst="rect">
            <a:avLst/>
          </a:prstGeom>
          <a:noFill/>
          <a:ln/>
        </p:spPr>
        <p:txBody>
          <a:bodyPr wrap="square" lIns="0" tIns="0" rIns="0" bIns="0" rtlCol="0" anchor="t"/>
          <a:lstStyle/>
          <a:p>
            <a:pPr marL="0" indent="0">
              <a:spcAft>
                <a:spcPts val="400"/>
              </a:spcAft>
              <a:buNone/>
            </a:pPr>
            <a:r>
              <a:rPr lang="en-US" sz="1800" dirty="0">
                <a:solidFill>
                  <a:schemeClr val="tx1"/>
                </a:solidFill>
              </a:rPr>
              <a:t>True cost of a path.</a:t>
            </a:r>
            <a:endParaRPr lang="en-US" sz="1800" dirty="0"/>
          </a:p>
          <a:p>
            <a:pPr marL="0" indent="0">
              <a:spcAft>
                <a:spcPts val="400"/>
              </a:spcAft>
              <a:buNone/>
            </a:pPr>
            <a:r>
              <a:rPr lang="en-US" sz="1800" dirty="0">
                <a:solidFill>
                  <a:schemeClr val="tx1"/>
                </a:solidFill>
              </a:rPr>
              <a:t>g(n): start → n (known)</a:t>
            </a:r>
            <a:endParaRPr lang="en-US" sz="1800" dirty="0"/>
          </a:p>
          <a:p>
            <a:pPr marL="0" indent="0">
              <a:spcAft>
                <a:spcPts val="400"/>
              </a:spcAft>
              <a:buNone/>
            </a:pPr>
            <a:r>
              <a:rPr lang="en-US" sz="1800" dirty="0">
                <a:solidFill>
                  <a:schemeClr val="tx1"/>
                </a:solidFill>
              </a:rPr>
              <a:t>h*(n): n → goal, the true optimum (unknown until solved)</a:t>
            </a:r>
            <a:endParaRPr lang="en-US" sz="1800" dirty="0"/>
          </a:p>
        </p:txBody>
      </p:sp>
      <p:sp>
        <p:nvSpPr>
          <p:cNvPr id="6" name="Estimated cost card"/>
          <p:cNvSpPr/>
          <p:nvPr/>
        </p:nvSpPr>
        <p:spPr>
          <a:xfrm>
            <a:off x="4311396" y="1371600"/>
            <a:ext cx="3566160" cy="2148840"/>
          </a:xfrm>
          <a:prstGeom prst="roundRect">
            <a:avLst>
              <a:gd name="adj" fmla="val 4255"/>
            </a:avLst>
          </a:prstGeom>
          <a:solidFill>
            <a:schemeClr val="bg2"/>
          </a:solidFill>
          <a:ln/>
        </p:spPr>
      </p:sp>
      <p:sp>
        <p:nvSpPr>
          <p:cNvPr id="7" name="Pill"/>
          <p:cNvSpPr txBox="1"/>
          <p:nvPr/>
        </p:nvSpPr>
        <p:spPr>
          <a:xfrm>
            <a:off x="4494276" y="1508760"/>
            <a:ext cx="2011680" cy="457200"/>
          </a:xfrm>
          <a:prstGeom prst="roundRect">
            <a:avLst>
              <a:gd name="adj" fmla="val 20000"/>
            </a:avLst>
          </a:prstGeom>
          <a:solidFill>
            <a:schemeClr val="accent3"/>
          </a:solidFill>
          <a:ln/>
        </p:spPr>
        <p:txBody>
          <a:bodyPr wrap="square" lIns="38100" tIns="38100" rIns="38100" bIns="38100" rtlCol="0" anchor="ctr"/>
          <a:lstStyle/>
          <a:p>
            <a:pPr marL="0" indent="0" algn="ctr">
              <a:buNone/>
            </a:pPr>
            <a:r>
              <a:rPr lang="en-US" sz="1800" b="1" dirty="0">
                <a:solidFill>
                  <a:schemeClr val="bg1"/>
                </a:solidFill>
              </a:rPr>
              <a:t>Estimated cost</a:t>
            </a:r>
            <a:endParaRPr lang="en-US" sz="1800" dirty="0"/>
          </a:p>
        </p:txBody>
      </p:sp>
      <p:sp>
        <p:nvSpPr>
          <p:cNvPr id="8" name="Text 6"/>
          <p:cNvSpPr txBox="1"/>
          <p:nvPr/>
        </p:nvSpPr>
        <p:spPr>
          <a:xfrm>
            <a:off x="4539996" y="2103120"/>
            <a:ext cx="3108960" cy="1325880"/>
          </a:xfrm>
          <a:prstGeom prst="rect">
            <a:avLst/>
          </a:prstGeom>
          <a:noFill/>
          <a:ln/>
        </p:spPr>
        <p:txBody>
          <a:bodyPr wrap="square" lIns="0" tIns="0" rIns="0" bIns="0" rtlCol="0" anchor="t"/>
          <a:lstStyle/>
          <a:p>
            <a:pPr marL="0" indent="0">
              <a:spcAft>
                <a:spcPts val="400"/>
              </a:spcAft>
              <a:buNone/>
            </a:pPr>
            <a:r>
              <a:rPr lang="en-US" sz="1800" dirty="0">
                <a:solidFill>
                  <a:schemeClr val="tx1"/>
                </a:solidFill>
              </a:rPr>
              <a:t>A prediction of the remaining cost, made before it is known.</a:t>
            </a:r>
            <a:endParaRPr lang="en-US" sz="1800" dirty="0"/>
          </a:p>
          <a:p>
            <a:pPr marL="0" indent="0">
              <a:spcAft>
                <a:spcPts val="400"/>
              </a:spcAft>
              <a:buNone/>
            </a:pPr>
            <a:r>
              <a:rPr lang="en-US" sz="1800" dirty="0">
                <a:solidFill>
                  <a:schemeClr val="tx1"/>
                </a:solidFill>
              </a:rPr>
              <a:t>May be too low, too high, or exact.</a:t>
            </a:r>
            <a:endParaRPr lang="en-US" sz="1800" dirty="0"/>
          </a:p>
        </p:txBody>
      </p:sp>
      <p:sp>
        <p:nvSpPr>
          <p:cNvPr id="9" name="Heuristic cost card"/>
          <p:cNvSpPr/>
          <p:nvPr/>
        </p:nvSpPr>
        <p:spPr>
          <a:xfrm>
            <a:off x="8074152" y="1371600"/>
            <a:ext cx="3566160" cy="2148840"/>
          </a:xfrm>
          <a:prstGeom prst="roundRect">
            <a:avLst>
              <a:gd name="adj" fmla="val 4255"/>
            </a:avLst>
          </a:prstGeom>
          <a:solidFill>
            <a:schemeClr val="bg2"/>
          </a:solidFill>
          <a:ln/>
        </p:spPr>
      </p:sp>
      <p:sp>
        <p:nvSpPr>
          <p:cNvPr id="10" name="Pill"/>
          <p:cNvSpPr txBox="1"/>
          <p:nvPr/>
        </p:nvSpPr>
        <p:spPr>
          <a:xfrm>
            <a:off x="8257032" y="1508760"/>
            <a:ext cx="2011680" cy="457200"/>
          </a:xfrm>
          <a:prstGeom prst="roundRect">
            <a:avLst>
              <a:gd name="adj" fmla="val 20000"/>
            </a:avLst>
          </a:prstGeom>
          <a:solidFill>
            <a:schemeClr val="accent2"/>
          </a:solidFill>
          <a:ln/>
        </p:spPr>
        <p:txBody>
          <a:bodyPr wrap="square" lIns="38100" tIns="38100" rIns="38100" bIns="38100" rtlCol="0" anchor="ctr"/>
          <a:lstStyle/>
          <a:p>
            <a:pPr marL="0" indent="0" algn="ctr">
              <a:buNone/>
            </a:pPr>
            <a:r>
              <a:rPr lang="en-US" sz="1800" b="1" dirty="0">
                <a:solidFill>
                  <a:schemeClr val="bg1"/>
                </a:solidFill>
              </a:rPr>
              <a:t>Heuristic cost</a:t>
            </a:r>
            <a:endParaRPr lang="en-US" sz="1800" dirty="0"/>
          </a:p>
        </p:txBody>
      </p:sp>
      <p:sp>
        <p:nvSpPr>
          <p:cNvPr id="11" name="Text 9"/>
          <p:cNvSpPr txBox="1"/>
          <p:nvPr/>
        </p:nvSpPr>
        <p:spPr>
          <a:xfrm>
            <a:off x="8302752" y="2103120"/>
            <a:ext cx="3108960" cy="1325880"/>
          </a:xfrm>
          <a:prstGeom prst="rect">
            <a:avLst/>
          </a:prstGeom>
          <a:noFill/>
          <a:ln/>
        </p:spPr>
        <p:txBody>
          <a:bodyPr wrap="square" lIns="0" tIns="0" rIns="0" bIns="0" rtlCol="0" anchor="t"/>
          <a:lstStyle/>
          <a:p>
            <a:pPr marL="0" indent="0">
              <a:spcAft>
                <a:spcPts val="400"/>
              </a:spcAft>
              <a:buNone/>
            </a:pPr>
            <a:r>
              <a:rPr lang="en-US" sz="1800" dirty="0">
                <a:solidFill>
                  <a:schemeClr val="tx1"/>
                </a:solidFill>
              </a:rPr>
              <a:t>h(n): the estimate computed by our heuristic function.</a:t>
            </a:r>
            <a:endParaRPr lang="en-US" sz="1800" dirty="0"/>
          </a:p>
          <a:p>
            <a:pPr marL="0" indent="0">
              <a:spcAft>
                <a:spcPts val="400"/>
              </a:spcAft>
              <a:buNone/>
            </a:pPr>
            <a:r>
              <a:rPr lang="en-US" sz="1800" dirty="0">
                <a:solidFill>
                  <a:schemeClr val="tx1"/>
                </a:solidFill>
              </a:rPr>
              <a:t>Uses only the state n; no search needed.</a:t>
            </a:r>
            <a:endParaRPr lang="en-US" sz="1800" dirty="0"/>
          </a:p>
        </p:txBody>
      </p:sp>
      <p:sp>
        <p:nvSpPr>
          <p:cNvPr id="12" name="Why card"/>
          <p:cNvSpPr/>
          <p:nvPr/>
        </p:nvSpPr>
        <p:spPr>
          <a:xfrm>
            <a:off x="548640" y="3703320"/>
            <a:ext cx="4846320" cy="2560320"/>
          </a:xfrm>
          <a:prstGeom prst="roundRect">
            <a:avLst>
              <a:gd name="adj" fmla="val 3571"/>
            </a:avLst>
          </a:prstGeom>
          <a:solidFill>
            <a:schemeClr val="bg2"/>
          </a:solidFill>
          <a:ln/>
        </p:spPr>
      </p:sp>
      <p:sp>
        <p:nvSpPr>
          <p:cNvPr id="13" name="Text 11"/>
          <p:cNvSpPr txBox="1"/>
          <p:nvPr/>
        </p:nvSpPr>
        <p:spPr>
          <a:xfrm>
            <a:off x="822960" y="3840480"/>
            <a:ext cx="4389120" cy="365760"/>
          </a:xfrm>
          <a:prstGeom prst="rect">
            <a:avLst/>
          </a:prstGeom>
          <a:noFill/>
          <a:ln/>
        </p:spPr>
        <p:txBody>
          <a:bodyPr wrap="square" lIns="0" tIns="0" rIns="0" bIns="0" rtlCol="0" anchor="t"/>
          <a:lstStyle/>
          <a:p>
            <a:pPr marL="0" indent="0">
              <a:buNone/>
            </a:pPr>
            <a:r>
              <a:rPr lang="en-US" sz="2200" b="1" dirty="0">
                <a:solidFill>
                  <a:schemeClr val="accent1"/>
                </a:solidFill>
              </a:rPr>
              <a:t>Why heuristics help</a:t>
            </a:r>
            <a:endParaRPr lang="en-US" sz="2200" dirty="0"/>
          </a:p>
        </p:txBody>
      </p:sp>
      <p:sp>
        <p:nvSpPr>
          <p:cNvPr id="14" name="Text 12"/>
          <p:cNvSpPr txBox="1"/>
          <p:nvPr/>
        </p:nvSpPr>
        <p:spPr>
          <a:xfrm>
            <a:off x="822960" y="4343400"/>
            <a:ext cx="4389120" cy="182880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chemeClr val="tx1"/>
                </a:solidFill>
              </a:rPr>
              <a:t>Blind search expands a huge number of nodes</a:t>
            </a:r>
            <a:endParaRPr lang="en-US" sz="1800" dirty="0"/>
          </a:p>
          <a:p>
            <a:pPr marL="228600" indent="-228600">
              <a:spcAft>
                <a:spcPts val="600"/>
              </a:spcAft>
              <a:buSzPct val="100000"/>
              <a:buChar char="•"/>
            </a:pPr>
            <a:r>
              <a:rPr lang="en-US" sz="1800" dirty="0">
                <a:solidFill>
                  <a:schemeClr val="tx1"/>
                </a:solidFill>
              </a:rPr>
              <a:t>h(n) ranks nodes, so promising ones are expanded first</a:t>
            </a:r>
            <a:endParaRPr lang="en-US" sz="1800" dirty="0"/>
          </a:p>
          <a:p>
            <a:pPr marL="228600" indent="-228600">
              <a:spcAft>
                <a:spcPts val="600"/>
              </a:spcAft>
              <a:buSzPct val="100000"/>
              <a:buChar char="•"/>
            </a:pPr>
            <a:r>
              <a:rPr lang="en-US" sz="1800" dirty="0">
                <a:solidFill>
                  <a:schemeClr val="tx1"/>
                </a:solidFill>
              </a:rPr>
              <a:t>Fewer nodes expanded → less time and memory</a:t>
            </a:r>
            <a:endParaRPr lang="en-US" sz="1800" dirty="0"/>
          </a:p>
        </p:txBody>
      </p:sp>
      <p:sp>
        <p:nvSpPr>
          <p:cNvPr id="15" name="Text 13"/>
          <p:cNvSpPr txBox="1"/>
          <p:nvPr/>
        </p:nvSpPr>
        <p:spPr>
          <a:xfrm>
            <a:off x="5623560" y="3703320"/>
            <a:ext cx="5943600" cy="365760"/>
          </a:xfrm>
          <a:prstGeom prst="rect">
            <a:avLst/>
          </a:prstGeom>
          <a:noFill/>
          <a:ln/>
        </p:spPr>
        <p:txBody>
          <a:bodyPr wrap="square" lIns="0" tIns="0" rIns="0" bIns="0" rtlCol="0" anchor="t"/>
          <a:lstStyle/>
          <a:p>
            <a:pPr marL="0" indent="0">
              <a:buNone/>
            </a:pPr>
            <a:r>
              <a:rPr lang="en-US" sz="2200" b="1" dirty="0">
                <a:solidFill>
                  <a:schemeClr val="accent1"/>
                </a:solidFill>
              </a:rPr>
              <a:t>Algorithms that use heuristics</a:t>
            </a:r>
            <a:endParaRPr lang="en-US" sz="2200" dirty="0"/>
          </a:p>
        </p:txBody>
      </p:sp>
      <p:sp>
        <p:nvSpPr>
          <p:cNvPr id="16" name="Greedy Best-First card"/>
          <p:cNvSpPr/>
          <p:nvPr/>
        </p:nvSpPr>
        <p:spPr>
          <a:xfrm>
            <a:off x="5623560" y="4160520"/>
            <a:ext cx="2898648" cy="1005840"/>
          </a:xfrm>
          <a:prstGeom prst="roundRect">
            <a:avLst>
              <a:gd name="adj" fmla="val 9091"/>
            </a:avLst>
          </a:prstGeom>
          <a:solidFill>
            <a:schemeClr val="accent1">
              <a:alpha val="12000"/>
            </a:schemeClr>
          </a:solidFill>
          <a:ln/>
        </p:spPr>
      </p:sp>
      <p:sp>
        <p:nvSpPr>
          <p:cNvPr id="17" name="Text 15"/>
          <p:cNvSpPr txBox="1"/>
          <p:nvPr/>
        </p:nvSpPr>
        <p:spPr>
          <a:xfrm>
            <a:off x="5760720" y="4251960"/>
            <a:ext cx="2624328" cy="841248"/>
          </a:xfrm>
          <a:prstGeom prst="rect">
            <a:avLst/>
          </a:prstGeom>
          <a:noFill/>
          <a:ln/>
        </p:spPr>
        <p:txBody>
          <a:bodyPr wrap="square" lIns="0" tIns="0" rIns="0" bIns="0" rtlCol="0" anchor="t"/>
          <a:lstStyle/>
          <a:p>
            <a:pPr marL="0" indent="0">
              <a:buNone/>
            </a:pPr>
            <a:r>
              <a:rPr lang="en-US" sz="1800" b="1" dirty="0">
                <a:solidFill>
                  <a:schemeClr val="accent1"/>
                </a:solidFill>
              </a:rPr>
              <a:t>Greedy Best-First</a:t>
            </a:r>
            <a:endParaRPr lang="en-US" sz="1800" dirty="0"/>
          </a:p>
          <a:p>
            <a:pPr marL="0" indent="0">
              <a:buNone/>
            </a:pPr>
            <a:r>
              <a:rPr lang="en-US" sz="1600" dirty="0">
                <a:solidFill>
                  <a:schemeClr val="tx1"/>
                </a:solidFill>
              </a:rPr>
              <a:t>expands the lowest h(n)</a:t>
            </a:r>
            <a:endParaRPr lang="en-US" sz="1800" dirty="0"/>
          </a:p>
        </p:txBody>
      </p:sp>
      <p:sp>
        <p:nvSpPr>
          <p:cNvPr id="18" name="A* card"/>
          <p:cNvSpPr/>
          <p:nvPr/>
        </p:nvSpPr>
        <p:spPr>
          <a:xfrm>
            <a:off x="8741664" y="4160520"/>
            <a:ext cx="2898648" cy="1005840"/>
          </a:xfrm>
          <a:prstGeom prst="roundRect">
            <a:avLst>
              <a:gd name="adj" fmla="val 9091"/>
            </a:avLst>
          </a:prstGeom>
          <a:solidFill>
            <a:schemeClr val="accent1">
              <a:alpha val="12000"/>
            </a:schemeClr>
          </a:solidFill>
          <a:ln/>
        </p:spPr>
      </p:sp>
      <p:sp>
        <p:nvSpPr>
          <p:cNvPr id="19" name="Text 17"/>
          <p:cNvSpPr txBox="1"/>
          <p:nvPr/>
        </p:nvSpPr>
        <p:spPr>
          <a:xfrm>
            <a:off x="8878824" y="4251960"/>
            <a:ext cx="2624328" cy="841248"/>
          </a:xfrm>
          <a:prstGeom prst="rect">
            <a:avLst/>
          </a:prstGeom>
          <a:noFill/>
          <a:ln/>
        </p:spPr>
        <p:txBody>
          <a:bodyPr wrap="square" lIns="0" tIns="0" rIns="0" bIns="0" rtlCol="0" anchor="t"/>
          <a:lstStyle/>
          <a:p>
            <a:pPr marL="0" indent="0">
              <a:buNone/>
            </a:pPr>
            <a:r>
              <a:rPr lang="en-US" sz="1800" b="1" dirty="0">
                <a:solidFill>
                  <a:schemeClr val="accent1"/>
                </a:solidFill>
              </a:rPr>
              <a:t>A*</a:t>
            </a:r>
            <a:endParaRPr lang="en-US" sz="1800" dirty="0"/>
          </a:p>
          <a:p>
            <a:pPr marL="0" indent="0">
              <a:buNone/>
            </a:pPr>
            <a:r>
              <a:rPr lang="en-US" sz="1600" dirty="0">
                <a:solidFill>
                  <a:schemeClr val="tx1"/>
                </a:solidFill>
              </a:rPr>
              <a:t>expands the lowest</a:t>
            </a:r>
            <a:endParaRPr lang="en-US" sz="1800" dirty="0"/>
          </a:p>
          <a:p>
            <a:pPr marL="0" indent="0">
              <a:buNone/>
            </a:pPr>
            <a:r>
              <a:rPr lang="en-US" sz="1600" dirty="0">
                <a:solidFill>
                  <a:schemeClr val="tx1"/>
                </a:solidFill>
              </a:rPr>
              <a:t>f(n) = g(n) + h(n)</a:t>
            </a:r>
            <a:endParaRPr lang="en-US" sz="1800" dirty="0"/>
          </a:p>
        </p:txBody>
      </p:sp>
      <p:sp>
        <p:nvSpPr>
          <p:cNvPr id="20" name="Hill Climbing card"/>
          <p:cNvSpPr/>
          <p:nvPr/>
        </p:nvSpPr>
        <p:spPr>
          <a:xfrm>
            <a:off x="5623560" y="5257800"/>
            <a:ext cx="2898648" cy="1005840"/>
          </a:xfrm>
          <a:prstGeom prst="roundRect">
            <a:avLst>
              <a:gd name="adj" fmla="val 9091"/>
            </a:avLst>
          </a:prstGeom>
          <a:solidFill>
            <a:schemeClr val="accent1">
              <a:alpha val="12000"/>
            </a:schemeClr>
          </a:solidFill>
          <a:ln/>
        </p:spPr>
      </p:sp>
      <p:sp>
        <p:nvSpPr>
          <p:cNvPr id="21" name="Text 19"/>
          <p:cNvSpPr txBox="1"/>
          <p:nvPr/>
        </p:nvSpPr>
        <p:spPr>
          <a:xfrm>
            <a:off x="5760720" y="5349240"/>
            <a:ext cx="2624328" cy="841248"/>
          </a:xfrm>
          <a:prstGeom prst="rect">
            <a:avLst/>
          </a:prstGeom>
          <a:noFill/>
          <a:ln/>
        </p:spPr>
        <p:txBody>
          <a:bodyPr wrap="square" lIns="0" tIns="0" rIns="0" bIns="0" rtlCol="0" anchor="t"/>
          <a:lstStyle/>
          <a:p>
            <a:pPr marL="0" indent="0">
              <a:buNone/>
            </a:pPr>
            <a:r>
              <a:rPr lang="en-US" sz="1800" b="1" dirty="0">
                <a:solidFill>
                  <a:schemeClr val="accent1"/>
                </a:solidFill>
              </a:rPr>
              <a:t>Hill Climbing</a:t>
            </a:r>
            <a:endParaRPr lang="en-US" sz="1800" dirty="0"/>
          </a:p>
          <a:p>
            <a:pPr marL="0" indent="0">
              <a:buNone/>
            </a:pPr>
            <a:r>
              <a:rPr lang="en-US" sz="1600" dirty="0">
                <a:solidFill>
                  <a:schemeClr val="tx1"/>
                </a:solidFill>
              </a:rPr>
              <a:t>moves to the neighbour with the best h(n)</a:t>
            </a:r>
            <a:endParaRPr lang="en-US" sz="1800" dirty="0"/>
          </a:p>
        </p:txBody>
      </p:sp>
      <p:sp>
        <p:nvSpPr>
          <p:cNvPr id="22" name="Beam Search card"/>
          <p:cNvSpPr/>
          <p:nvPr/>
        </p:nvSpPr>
        <p:spPr>
          <a:xfrm>
            <a:off x="8741664" y="5257800"/>
            <a:ext cx="2898648" cy="1005840"/>
          </a:xfrm>
          <a:prstGeom prst="roundRect">
            <a:avLst>
              <a:gd name="adj" fmla="val 9091"/>
            </a:avLst>
          </a:prstGeom>
          <a:solidFill>
            <a:schemeClr val="accent1">
              <a:alpha val="12000"/>
            </a:schemeClr>
          </a:solidFill>
          <a:ln/>
        </p:spPr>
      </p:sp>
      <p:sp>
        <p:nvSpPr>
          <p:cNvPr id="23" name="Text 21"/>
          <p:cNvSpPr txBox="1"/>
          <p:nvPr/>
        </p:nvSpPr>
        <p:spPr>
          <a:xfrm>
            <a:off x="8878824" y="5349240"/>
            <a:ext cx="2624328" cy="841248"/>
          </a:xfrm>
          <a:prstGeom prst="rect">
            <a:avLst/>
          </a:prstGeom>
          <a:noFill/>
          <a:ln/>
        </p:spPr>
        <p:txBody>
          <a:bodyPr wrap="square" lIns="0" tIns="0" rIns="0" bIns="0" rtlCol="0" anchor="t"/>
          <a:lstStyle/>
          <a:p>
            <a:pPr marL="0" indent="0">
              <a:buNone/>
            </a:pPr>
            <a:r>
              <a:rPr lang="en-US" sz="1800" b="1" dirty="0">
                <a:solidFill>
                  <a:schemeClr val="accent1"/>
                </a:solidFill>
              </a:rPr>
              <a:t>Beam Search</a:t>
            </a:r>
            <a:endParaRPr lang="en-US" sz="1800" dirty="0"/>
          </a:p>
          <a:p>
            <a:pPr marL="0" indent="0">
              <a:buNone/>
            </a:pPr>
            <a:r>
              <a:rPr lang="en-US" sz="1600" dirty="0">
                <a:solidFill>
                  <a:schemeClr val="tx1"/>
                </a:solidFill>
              </a:rPr>
              <a:t>keeps only the k best nodes by h(n)</a:t>
            </a:r>
            <a:endParaRPr lang="en-US" sz="1800" dirty="0"/>
          </a:p>
        </p:txBody>
      </p:sp>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How Do We Evaluate a Heuristic?</a:t>
            </a:r>
            <a:endParaRPr lang="en-US" sz="3200" dirty="0"/>
          </a:p>
        </p:txBody>
      </p:sp>
      <p:graphicFrame>
        <p:nvGraphicFramePr>
          <p:cNvPr id="4" name="Properties table"/>
          <p:cNvGraphicFramePr>
            <a:graphicFrameLocks noGrp="1"/>
          </p:cNvGraphicFramePr>
          <p:nvPr/>
        </p:nvGraphicFramePr>
        <p:xfrm>
          <a:off x="548640" y="1325880"/>
          <a:ext cx="11091672" cy="4663440"/>
        </p:xfrm>
        <a:graphic>
          <a:graphicData uri="http://schemas.openxmlformats.org/drawingml/2006/table">
            <a:tbl>
              <a:tblPr/>
              <a:tblGrid>
                <a:gridCol w="1600200">
                  <a:extLst>
                    <a:ext uri="{9D8B030D-6E8A-4147-A177-3AD203B41FA5}">
                      <a16:colId xmlns:a16="http://schemas.microsoft.com/office/drawing/2014/main" val="20000"/>
                    </a:ext>
                  </a:extLst>
                </a:gridCol>
                <a:gridCol w="3163824">
                  <a:extLst>
                    <a:ext uri="{9D8B030D-6E8A-4147-A177-3AD203B41FA5}">
                      <a16:colId xmlns:a16="http://schemas.microsoft.com/office/drawing/2014/main" val="20001"/>
                    </a:ext>
                  </a:extLst>
                </a:gridCol>
                <a:gridCol w="3163824">
                  <a:extLst>
                    <a:ext uri="{9D8B030D-6E8A-4147-A177-3AD203B41FA5}">
                      <a16:colId xmlns:a16="http://schemas.microsoft.com/office/drawing/2014/main" val="20002"/>
                    </a:ext>
                  </a:extLst>
                </a:gridCol>
                <a:gridCol w="3163824">
                  <a:extLst>
                    <a:ext uri="{9D8B030D-6E8A-4147-A177-3AD203B41FA5}">
                      <a16:colId xmlns:a16="http://schemas.microsoft.com/office/drawing/2014/main" val="20003"/>
                    </a:ext>
                  </a:extLst>
                </a:gridCol>
              </a:tblGrid>
              <a:tr h="777240">
                <a:tc>
                  <a:txBody>
                    <a:bodyPr/>
                    <a:lstStyle/>
                    <a:p>
                      <a:pPr marL="0" indent="0">
                        <a:buNone/>
                      </a:pPr>
                      <a:r>
                        <a:rPr lang="en-US" sz="1800" b="1" dirty="0">
                          <a:solidFill>
                            <a:schemeClr val="bg1"/>
                          </a:solidFill>
                        </a:rPr>
                        <a:t>Property</a:t>
                      </a:r>
                      <a:endParaRPr lang="en-US" sz="1800" dirty="0"/>
                    </a:p>
                  </a:txBody>
                  <a:tcPr marL="101600" marR="101600" marT="50800" marB="508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800" b="1" dirty="0">
                          <a:solidFill>
                            <a:schemeClr val="bg1"/>
                          </a:solidFill>
                        </a:rPr>
                        <a:t>1 · Admissibility</a:t>
                      </a:r>
                      <a:endParaRPr lang="en-US" sz="1800" dirty="0"/>
                    </a:p>
                  </a:txBody>
                  <a:tcPr marL="101600" marR="101600" marT="50800" marB="508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800" b="1" dirty="0">
                          <a:solidFill>
                            <a:schemeClr val="bg1"/>
                          </a:solidFill>
                        </a:rPr>
                        <a:t>2 · Consistency (Monotonicity)</a:t>
                      </a:r>
                      <a:endParaRPr lang="en-US" sz="1800" dirty="0"/>
                    </a:p>
                  </a:txBody>
                  <a:tcPr marL="101600" marR="101600" marT="50800" marB="508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800" b="1" dirty="0">
                          <a:solidFill>
                            <a:schemeClr val="bg1"/>
                          </a:solidFill>
                        </a:rPr>
                        <a:t>3 · Efficiency (Computational Cost)</a:t>
                      </a:r>
                      <a:endParaRPr lang="en-US" sz="1800" dirty="0"/>
                    </a:p>
                  </a:txBody>
                  <a:tcPr marL="101600" marR="101600" marT="50800" marB="508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417320">
                <a:tc>
                  <a:txBody>
                    <a:bodyPr/>
                    <a:lstStyle/>
                    <a:p>
                      <a:pPr marL="0" indent="0">
                        <a:buNone/>
                      </a:pPr>
                      <a:r>
                        <a:rPr lang="en-US" sz="1800" b="1" dirty="0">
                          <a:solidFill>
                            <a:schemeClr val="accent1"/>
                          </a:solidFill>
                        </a:rPr>
                        <a:t>Condition</a:t>
                      </a:r>
                      <a:endParaRPr lang="en-US" sz="1800" dirty="0"/>
                    </a:p>
                  </a:txBody>
                  <a:tcPr marL="101600" marR="101600" marT="50800" marB="508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2000" b="1" dirty="0">
                          <a:solidFill>
                            <a:schemeClr val="accent2"/>
                          </a:solidFill>
                        </a:rPr>
                        <a:t>h(n) ≤ h*(n)</a:t>
                      </a:r>
                      <a:endParaRPr lang="en-US" sz="1600" dirty="0"/>
                    </a:p>
                    <a:p>
                      <a:pPr marL="0" indent="0">
                        <a:buNone/>
                      </a:pPr>
                      <a:r>
                        <a:rPr lang="en-US" sz="1600" dirty="0">
                          <a:solidFill>
                            <a:schemeClr val="tx1"/>
                          </a:solidFill>
                        </a:rPr>
                        <a:t>h never overestimates the true minimum cost from n to the goal.</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2000" b="1" dirty="0">
                          <a:solidFill>
                            <a:schemeClr val="accent2"/>
                          </a:solidFill>
                        </a:rPr>
                        <a:t>h(n) ≤ c(n,n′) + h(n′)</a:t>
                      </a:r>
                      <a:endParaRPr lang="en-US" sz="1600" dirty="0"/>
                    </a:p>
                    <a:p>
                      <a:pPr marL="0" indent="0">
                        <a:buNone/>
                      </a:pPr>
                      <a:r>
                        <a:rPr lang="en-US" sz="1600" dirty="0">
                          <a:solidFill>
                            <a:schemeClr val="tx1"/>
                          </a:solidFill>
                        </a:rPr>
                        <a:t>Triangle inequality: the estimate at n is at most one step cost plus the estimate at the next node n′.</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2000" b="1" dirty="0">
                          <a:solidFill>
                            <a:schemeClr val="accent2"/>
                          </a:solidFill>
                        </a:rPr>
                        <a:t>Cost of computing h(n)</a:t>
                      </a:r>
                      <a:endParaRPr lang="en-US" sz="1600" dirty="0"/>
                    </a:p>
                    <a:p>
                      <a:pPr marL="0" indent="0">
                        <a:buNone/>
                      </a:pPr>
                      <a:r>
                        <a:rPr lang="en-US" sz="1600" dirty="0">
                          <a:solidFill>
                            <a:schemeClr val="tx1"/>
                          </a:solidFill>
                        </a:rPr>
                        <a:t>Evaluating h(n) must be much cheaper than the search effort it saves.</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188720">
                <a:tc>
                  <a:txBody>
                    <a:bodyPr/>
                    <a:lstStyle/>
                    <a:p>
                      <a:pPr marL="0" indent="0">
                        <a:buNone/>
                      </a:pPr>
                      <a:r>
                        <a:rPr lang="en-US" sz="1800" b="1" dirty="0">
                          <a:solidFill>
                            <a:schemeClr val="accent1"/>
                          </a:solidFill>
                        </a:rPr>
                        <a:t>Simple example</a:t>
                      </a:r>
                      <a:endParaRPr lang="en-US" sz="1800" dirty="0"/>
                    </a:p>
                  </a:txBody>
                  <a:tcPr marL="101600" marR="101600" marT="50800" marB="508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Straight-line distance 5 km ≤ road distance 7 km ✓. An estimate of 9 km would overestimate ✗.</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tcPr>
                </a:tc>
                <a:tc>
                  <a:txBody>
                    <a:bodyPr/>
                    <a:lstStyle/>
                    <a:p>
                      <a:pPr marL="0" indent="0">
                        <a:buNone/>
                      </a:pPr>
                      <a:r>
                        <a:rPr lang="en-US" sz="1600" dirty="0">
                          <a:solidFill>
                            <a:schemeClr val="tx1"/>
                          </a:solidFill>
                        </a:rPr>
                        <a:t>h(n) = 5, c(n,n′) = 2, h(n′) = 4:</a:t>
                      </a:r>
                      <a:endParaRPr lang="en-US" sz="1600" dirty="0"/>
                    </a:p>
                    <a:p>
                      <a:pPr marL="0" indent="0">
                        <a:buNone/>
                      </a:pPr>
                      <a:r>
                        <a:rPr lang="en-US" sz="1600" dirty="0">
                          <a:solidFill>
                            <a:schemeClr val="tx1"/>
                          </a:solidFill>
                        </a:rPr>
                        <a:t>5 ≤ 2 + 4 = 6 ✓</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tcPr>
                </a:tc>
                <a:tc>
                  <a:txBody>
                    <a:bodyPr/>
                    <a:lstStyle/>
                    <a:p>
                      <a:pPr marL="0" indent="0">
                        <a:buNone/>
                      </a:pPr>
                      <a:r>
                        <a:rPr lang="en-US" sz="1600" dirty="0">
                          <a:solidFill>
                            <a:schemeClr val="tx1"/>
                          </a:solidFill>
                        </a:rPr>
                        <a:t>Manhattan distance: cheap and informative. Exact h*(n): perfect, but costs as much as solving the puzzle.</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tcPr>
                </a:tc>
                <a:extLst>
                  <a:ext uri="{0D108BD9-81ED-4DB2-BD59-A6C34878D82A}">
                    <a16:rowId xmlns:a16="http://schemas.microsoft.com/office/drawing/2014/main" val="10002"/>
                  </a:ext>
                </a:extLst>
              </a:tr>
              <a:tr h="1280160">
                <a:tc>
                  <a:txBody>
                    <a:bodyPr/>
                    <a:lstStyle/>
                    <a:p>
                      <a:pPr marL="0" indent="0">
                        <a:buNone/>
                      </a:pPr>
                      <a:r>
                        <a:rPr lang="en-US" sz="1800" b="1" dirty="0">
                          <a:solidFill>
                            <a:schemeClr val="accent1"/>
                          </a:solidFill>
                        </a:rPr>
                        <a:t>Why it matters</a:t>
                      </a:r>
                      <a:endParaRPr lang="en-US" sz="1800" dirty="0"/>
                    </a:p>
                  </a:txBody>
                  <a:tcPr marL="101600" marR="101600" marT="50800" marB="508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Guarantees optimal solutions with A* tree search. Not required for every heuristic (e.g. greedy search, game evaluation).</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tcPr>
                </a:tc>
                <a:tc>
                  <a:txBody>
                    <a:bodyPr/>
                    <a:lstStyle/>
                    <a:p>
                      <a:pPr marL="0" indent="0">
                        <a:buNone/>
                      </a:pPr>
                      <a:r>
                        <a:rPr lang="en-US" sz="1600" dirty="0">
                          <a:solidFill>
                            <a:schemeClr val="tx1"/>
                          </a:solidFill>
                        </a:rPr>
                        <a:t>With A* graph search, no node is re-opened and f(n) never decreases along a path. Consistent → admissible.</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tcPr>
                </a:tc>
                <a:tc>
                  <a:txBody>
                    <a:bodyPr/>
                    <a:lstStyle/>
                    <a:p>
                      <a:pPr marL="0" indent="0">
                        <a:buNone/>
                      </a:pPr>
                      <a:r>
                        <a:rPr lang="en-US" sz="1600" dirty="0">
                          <a:solidFill>
                            <a:schemeClr val="tx1"/>
                          </a:solidFill>
                        </a:rPr>
                        <a:t>Trade-off: accuracy vs. cost. Total effort ≈ nodes expanded × cost per node.</a:t>
                      </a:r>
                      <a:endParaRPr lang="en-US" sz="1600" dirty="0"/>
                    </a:p>
                  </a:txBody>
                  <a:tcPr marL="101600" marR="101600" marT="50800" marB="508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Heuristic Functions: g(n), h(n) and f(n)</a:t>
            </a:r>
            <a:endParaRPr lang="en-US" sz="3200" dirty="0"/>
          </a:p>
        </p:txBody>
      </p:sp>
      <p:sp>
        <p:nvSpPr>
          <p:cNvPr id="3" name="g(n) chip"/>
          <p:cNvSpPr/>
          <p:nvPr/>
        </p:nvSpPr>
        <p:spPr>
          <a:xfrm>
            <a:off x="548640" y="1325880"/>
            <a:ext cx="3383280" cy="1051560"/>
          </a:xfrm>
          <a:prstGeom prst="roundRect">
            <a:avLst>
              <a:gd name="adj" fmla="val 8696"/>
            </a:avLst>
          </a:prstGeom>
          <a:solidFill>
            <a:schemeClr val="accent1">
              <a:alpha val="12000"/>
            </a:schemeClr>
          </a:solidFill>
          <a:ln w="15875">
            <a:solidFill>
              <a:schemeClr val="accent1"/>
            </a:solidFill>
            <a:prstDash val="solid"/>
          </a:ln>
        </p:spPr>
      </p:sp>
      <p:sp>
        <p:nvSpPr>
          <p:cNvPr id="4" name="Text 2"/>
          <p:cNvSpPr txBox="1"/>
          <p:nvPr/>
        </p:nvSpPr>
        <p:spPr>
          <a:xfrm>
            <a:off x="548640" y="1325880"/>
            <a:ext cx="3383280" cy="1051560"/>
          </a:xfrm>
          <a:prstGeom prst="rect">
            <a:avLst/>
          </a:prstGeom>
          <a:noFill/>
          <a:ln/>
        </p:spPr>
        <p:txBody>
          <a:bodyPr wrap="square" lIns="0" tIns="0" rIns="0" bIns="0" rtlCol="0" anchor="ctr"/>
          <a:lstStyle/>
          <a:p>
            <a:pPr marL="0" indent="0" algn="ctr">
              <a:buNone/>
            </a:pPr>
            <a:r>
              <a:rPr lang="en-US" sz="2400" b="1" dirty="0">
                <a:solidFill>
                  <a:schemeClr val="accent1"/>
                </a:solidFill>
              </a:rPr>
              <a:t>g(n)</a:t>
            </a:r>
            <a:endParaRPr lang="en-US" sz="1800" dirty="0"/>
          </a:p>
          <a:p>
            <a:pPr marL="0" indent="0" algn="ctr">
              <a:buNone/>
            </a:pPr>
            <a:r>
              <a:rPr lang="en-US" sz="1700" dirty="0">
                <a:solidFill>
                  <a:schemeClr val="tx1"/>
                </a:solidFill>
              </a:rPr>
              <a:t>actual cost from start to n</a:t>
            </a:r>
            <a:endParaRPr lang="en-US" sz="1800" dirty="0"/>
          </a:p>
        </p:txBody>
      </p:sp>
      <p:sp>
        <p:nvSpPr>
          <p:cNvPr id="5" name="h(n) chip"/>
          <p:cNvSpPr/>
          <p:nvPr/>
        </p:nvSpPr>
        <p:spPr>
          <a:xfrm>
            <a:off x="4114800" y="1325880"/>
            <a:ext cx="3566160" cy="1051560"/>
          </a:xfrm>
          <a:prstGeom prst="roundRect">
            <a:avLst>
              <a:gd name="adj" fmla="val 8696"/>
            </a:avLst>
          </a:prstGeom>
          <a:solidFill>
            <a:schemeClr val="accent2">
              <a:alpha val="12000"/>
            </a:schemeClr>
          </a:solidFill>
          <a:ln w="15875">
            <a:solidFill>
              <a:schemeClr val="accent2"/>
            </a:solidFill>
            <a:prstDash val="solid"/>
          </a:ln>
        </p:spPr>
      </p:sp>
      <p:sp>
        <p:nvSpPr>
          <p:cNvPr id="6" name="Text 4"/>
          <p:cNvSpPr txBox="1"/>
          <p:nvPr/>
        </p:nvSpPr>
        <p:spPr>
          <a:xfrm>
            <a:off x="4114800" y="1325880"/>
            <a:ext cx="3566160" cy="1051560"/>
          </a:xfrm>
          <a:prstGeom prst="rect">
            <a:avLst/>
          </a:prstGeom>
          <a:noFill/>
          <a:ln/>
        </p:spPr>
        <p:txBody>
          <a:bodyPr wrap="square" lIns="0" tIns="0" rIns="0" bIns="0" rtlCol="0" anchor="ctr"/>
          <a:lstStyle/>
          <a:p>
            <a:pPr marL="0" indent="0" algn="ctr">
              <a:buNone/>
            </a:pPr>
            <a:r>
              <a:rPr lang="en-US" sz="2400" b="1" dirty="0">
                <a:solidFill>
                  <a:schemeClr val="accent2"/>
                </a:solidFill>
              </a:rPr>
              <a:t>h(n)</a:t>
            </a:r>
            <a:endParaRPr lang="en-US" sz="1800" dirty="0"/>
          </a:p>
          <a:p>
            <a:pPr marL="0" indent="0" algn="ctr">
              <a:buNone/>
            </a:pPr>
            <a:r>
              <a:rPr lang="en-US" sz="1700" dirty="0">
                <a:solidFill>
                  <a:schemeClr val="tx1"/>
                </a:solidFill>
              </a:rPr>
              <a:t>estimated cost from n to goal</a:t>
            </a:r>
            <a:endParaRPr lang="en-US" sz="1800" dirty="0"/>
          </a:p>
        </p:txBody>
      </p:sp>
      <p:sp>
        <p:nvSpPr>
          <p:cNvPr id="7" name="f(n) = g(n) + h(n) chip"/>
          <p:cNvSpPr/>
          <p:nvPr/>
        </p:nvSpPr>
        <p:spPr>
          <a:xfrm>
            <a:off x="7863840" y="1325880"/>
            <a:ext cx="3776472" cy="1051560"/>
          </a:xfrm>
          <a:prstGeom prst="roundRect">
            <a:avLst>
              <a:gd name="adj" fmla="val 8696"/>
            </a:avLst>
          </a:prstGeom>
          <a:solidFill>
            <a:schemeClr val="accent3">
              <a:alpha val="12000"/>
            </a:schemeClr>
          </a:solidFill>
          <a:ln w="15875">
            <a:solidFill>
              <a:schemeClr val="accent3"/>
            </a:solidFill>
            <a:prstDash val="solid"/>
          </a:ln>
        </p:spPr>
      </p:sp>
      <p:sp>
        <p:nvSpPr>
          <p:cNvPr id="8" name="Text 6"/>
          <p:cNvSpPr txBox="1"/>
          <p:nvPr/>
        </p:nvSpPr>
        <p:spPr>
          <a:xfrm>
            <a:off x="7863840" y="1325880"/>
            <a:ext cx="3776472" cy="1051560"/>
          </a:xfrm>
          <a:prstGeom prst="rect">
            <a:avLst/>
          </a:prstGeom>
          <a:noFill/>
          <a:ln/>
        </p:spPr>
        <p:txBody>
          <a:bodyPr wrap="square" lIns="0" tIns="0" rIns="0" bIns="0" rtlCol="0" anchor="ctr"/>
          <a:lstStyle/>
          <a:p>
            <a:pPr marL="0" indent="0" algn="ctr">
              <a:buNone/>
            </a:pPr>
            <a:r>
              <a:rPr lang="en-US" sz="2400" b="1" dirty="0">
                <a:solidFill>
                  <a:schemeClr val="accent3"/>
                </a:solidFill>
              </a:rPr>
              <a:t>f(n) = g(n) + h(n)</a:t>
            </a:r>
            <a:endParaRPr lang="en-US" sz="1800" dirty="0"/>
          </a:p>
          <a:p>
            <a:pPr marL="0" indent="0" algn="ctr">
              <a:buNone/>
            </a:pPr>
            <a:r>
              <a:rPr lang="en-US" sz="1700" dirty="0">
                <a:solidFill>
                  <a:schemeClr val="tx1"/>
                </a:solidFill>
              </a:rPr>
              <a:t>estimated total cost through n</a:t>
            </a:r>
            <a:endParaRPr lang="en-US" sz="1800" dirty="0"/>
          </a:p>
        </p:txBody>
      </p:sp>
      <p:sp>
        <p:nvSpPr>
          <p:cNvPr id="9" name="Text 7"/>
          <p:cNvSpPr txBox="1"/>
          <p:nvPr/>
        </p:nvSpPr>
        <p:spPr>
          <a:xfrm>
            <a:off x="548640" y="2487168"/>
            <a:ext cx="11091672" cy="566928"/>
          </a:xfrm>
          <a:prstGeom prst="rect">
            <a:avLst/>
          </a:prstGeom>
          <a:noFill/>
          <a:ln/>
        </p:spPr>
        <p:txBody>
          <a:bodyPr wrap="square" lIns="0" tIns="0" rIns="0" bIns="0" rtlCol="0" anchor="t"/>
          <a:lstStyle/>
          <a:p>
            <a:pPr marL="0" indent="0">
              <a:buNone/>
            </a:pPr>
            <a:r>
              <a:rPr lang="en-US" sz="1700" dirty="0">
                <a:solidFill>
                  <a:schemeClr val="tx1"/>
                </a:solidFill>
              </a:rPr>
              <a:t>A* always expands the open node with the lowest f(n). Setup: c(S,A) = 2, c(S,B) = 3; true remaining costs h*(A) = 7 and h*(B) = 3, so the optimal path S → B → goal costs 6.</a:t>
            </a:r>
            <a:endParaRPr lang="en-US" sz="1700" dirty="0"/>
          </a:p>
        </p:txBody>
      </p:sp>
      <p:sp>
        <p:nvSpPr>
          <p:cNvPr id="10" name="Uninformative: h(n) = 0"/>
          <p:cNvSpPr/>
          <p:nvPr/>
        </p:nvSpPr>
        <p:spPr>
          <a:xfrm>
            <a:off x="548640" y="3154680"/>
            <a:ext cx="5394960" cy="3108960"/>
          </a:xfrm>
          <a:prstGeom prst="roundRect">
            <a:avLst>
              <a:gd name="adj" fmla="val 2941"/>
            </a:avLst>
          </a:prstGeom>
          <a:solidFill>
            <a:schemeClr val="bg2"/>
          </a:solidFill>
          <a:ln/>
        </p:spPr>
      </p:sp>
      <p:sp>
        <p:nvSpPr>
          <p:cNvPr id="11" name="Text 9"/>
          <p:cNvSpPr txBox="1"/>
          <p:nvPr/>
        </p:nvSpPr>
        <p:spPr>
          <a:xfrm>
            <a:off x="777240" y="3246120"/>
            <a:ext cx="4937760" cy="365760"/>
          </a:xfrm>
          <a:prstGeom prst="rect">
            <a:avLst/>
          </a:prstGeom>
          <a:noFill/>
          <a:ln/>
        </p:spPr>
        <p:txBody>
          <a:bodyPr wrap="square" lIns="0" tIns="0" rIns="0" bIns="0" rtlCol="0" anchor="t"/>
          <a:lstStyle/>
          <a:p>
            <a:pPr marL="0" indent="0">
              <a:buNone/>
            </a:pPr>
            <a:r>
              <a:rPr lang="en-US" sz="2000" b="1" dirty="0">
                <a:solidFill>
                  <a:schemeClr val="accent1"/>
                </a:solidFill>
              </a:rPr>
              <a:t>Uninformative: h(n) = 0</a:t>
            </a:r>
            <a:endParaRPr lang="en-US" sz="2000" dirty="0"/>
          </a:p>
        </p:txBody>
      </p:sp>
      <p:sp>
        <p:nvSpPr>
          <p:cNvPr id="12" name="Line"/>
          <p:cNvSpPr/>
          <p:nvPr/>
        </p:nvSpPr>
        <p:spPr>
          <a:xfrm flipH="1">
            <a:off x="2218344" y="4036434"/>
            <a:ext cx="798252" cy="522492"/>
          </a:xfrm>
          <a:prstGeom prst="line">
            <a:avLst/>
          </a:prstGeom>
          <a:noFill/>
          <a:ln w="28575">
            <a:solidFill>
              <a:schemeClr val="tx1"/>
            </a:solidFill>
            <a:prstDash val="solid"/>
          </a:ln>
        </p:spPr>
      </p:sp>
      <p:sp>
        <p:nvSpPr>
          <p:cNvPr id="13" name="Line"/>
          <p:cNvSpPr/>
          <p:nvPr/>
        </p:nvSpPr>
        <p:spPr>
          <a:xfrm>
            <a:off x="3475644" y="4036434"/>
            <a:ext cx="798252" cy="522492"/>
          </a:xfrm>
          <a:prstGeom prst="line">
            <a:avLst/>
          </a:prstGeom>
          <a:noFill/>
          <a:ln w="28575">
            <a:solidFill>
              <a:schemeClr val="tx1"/>
            </a:solidFill>
            <a:prstDash val="solid"/>
          </a:ln>
        </p:spPr>
      </p:sp>
      <p:sp>
        <p:nvSpPr>
          <p:cNvPr id="14" name="Text 12"/>
          <p:cNvSpPr txBox="1"/>
          <p:nvPr/>
        </p:nvSpPr>
        <p:spPr>
          <a:xfrm>
            <a:off x="2233422" y="4160520"/>
            <a:ext cx="274320" cy="274320"/>
          </a:xfrm>
          <a:prstGeom prst="rect">
            <a:avLst/>
          </a:prstGeom>
          <a:noFill/>
          <a:ln/>
        </p:spPr>
        <p:txBody>
          <a:bodyPr wrap="square" lIns="0" tIns="0" rIns="0" bIns="0" rtlCol="0" anchor="t"/>
          <a:lstStyle/>
          <a:p>
            <a:pPr marL="0" indent="0" algn="ctr">
              <a:buNone/>
            </a:pPr>
            <a:r>
              <a:rPr lang="en-US" sz="1600" b="1" dirty="0">
                <a:solidFill>
                  <a:schemeClr val="tx1"/>
                </a:solidFill>
              </a:rPr>
              <a:t>2</a:t>
            </a:r>
            <a:endParaRPr lang="en-US" sz="1600" dirty="0"/>
          </a:p>
        </p:txBody>
      </p:sp>
      <p:sp>
        <p:nvSpPr>
          <p:cNvPr id="15" name="Text 13"/>
          <p:cNvSpPr txBox="1"/>
          <p:nvPr/>
        </p:nvSpPr>
        <p:spPr>
          <a:xfrm>
            <a:off x="3984498" y="4160520"/>
            <a:ext cx="274320" cy="274320"/>
          </a:xfrm>
          <a:prstGeom prst="rect">
            <a:avLst/>
          </a:prstGeom>
          <a:noFill/>
          <a:ln/>
        </p:spPr>
        <p:txBody>
          <a:bodyPr wrap="square" lIns="0" tIns="0" rIns="0" bIns="0" rtlCol="0" anchor="t"/>
          <a:lstStyle/>
          <a:p>
            <a:pPr marL="0" indent="0" algn="ctr">
              <a:buNone/>
            </a:pPr>
            <a:r>
              <a:rPr lang="en-US" sz="1600" b="1" dirty="0">
                <a:solidFill>
                  <a:schemeClr val="tx1"/>
                </a:solidFill>
              </a:rPr>
              <a:t>3</a:t>
            </a:r>
            <a:endParaRPr lang="en-US" sz="1600" dirty="0"/>
          </a:p>
        </p:txBody>
      </p:sp>
      <p:sp>
        <p:nvSpPr>
          <p:cNvPr id="16" name="Node S"/>
          <p:cNvSpPr txBox="1"/>
          <p:nvPr/>
        </p:nvSpPr>
        <p:spPr>
          <a:xfrm>
            <a:off x="2971800" y="3611880"/>
            <a:ext cx="548640" cy="548640"/>
          </a:xfrm>
          <a:prstGeom prst="ellipse">
            <a:avLst/>
          </a:prstGeom>
          <a:solidFill>
            <a:schemeClr val="accent1"/>
          </a:solidFill>
          <a:ln w="28575">
            <a:solidFill>
              <a:schemeClr val="accent1"/>
            </a:solidFill>
          </a:ln>
        </p:spPr>
        <p:txBody>
          <a:bodyPr wrap="square" lIns="0" tIns="0" rIns="0" bIns="0" rtlCol="0" anchor="ctr"/>
          <a:lstStyle/>
          <a:p>
            <a:pPr marL="0" indent="0" algn="ctr">
              <a:buNone/>
            </a:pPr>
            <a:r>
              <a:rPr lang="en-US" sz="2000" b="1" dirty="0">
                <a:solidFill>
                  <a:schemeClr val="bg1"/>
                </a:solidFill>
              </a:rPr>
              <a:t>S</a:t>
            </a:r>
            <a:endParaRPr lang="en-US" sz="2000" dirty="0"/>
          </a:p>
        </p:txBody>
      </p:sp>
      <p:sp>
        <p:nvSpPr>
          <p:cNvPr id="17" name="Node A"/>
          <p:cNvSpPr txBox="1"/>
          <p:nvPr/>
        </p:nvSpPr>
        <p:spPr>
          <a:xfrm>
            <a:off x="1714500" y="4434840"/>
            <a:ext cx="548640" cy="548640"/>
          </a:xfrm>
          <a:prstGeom prst="ellipse">
            <a:avLst/>
          </a:prstGeom>
          <a:solidFill>
            <a:schemeClr val="accent3"/>
          </a:solidFill>
          <a:ln w="28575">
            <a:solidFill>
              <a:schemeClr val="accent3"/>
            </a:solid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18" name="Text 16"/>
          <p:cNvSpPr txBox="1"/>
          <p:nvPr/>
        </p:nvSpPr>
        <p:spPr>
          <a:xfrm>
            <a:off x="1028700" y="5056632"/>
            <a:ext cx="1920240" cy="566928"/>
          </a:xfrm>
          <a:prstGeom prst="rect">
            <a:avLst/>
          </a:prstGeom>
          <a:noFill/>
          <a:ln/>
        </p:spPr>
        <p:txBody>
          <a:bodyPr wrap="square" lIns="0" tIns="0" rIns="0" bIns="0" rtlCol="0" anchor="t"/>
          <a:lstStyle/>
          <a:p>
            <a:pPr marL="0" indent="0" algn="ctr">
              <a:buNone/>
            </a:pPr>
            <a:r>
              <a:rPr lang="en-US" sz="1600" b="1" dirty="0">
                <a:solidFill>
                  <a:schemeClr val="accent1"/>
                </a:solidFill>
              </a:rPr>
              <a:t>g = 2</a:t>
            </a:r>
            <a:r>
              <a:rPr lang="en-US" sz="1600" dirty="0">
                <a:solidFill>
                  <a:schemeClr val="tx1"/>
                </a:solidFill>
              </a:rPr>
              <a:t>, </a:t>
            </a:r>
            <a:r>
              <a:rPr lang="en-US" sz="1600" b="1" dirty="0">
                <a:solidFill>
                  <a:schemeClr val="accent2"/>
                </a:solidFill>
              </a:rPr>
              <a:t>h = 0</a:t>
            </a:r>
            <a:endParaRPr lang="en-US" sz="1800" dirty="0"/>
          </a:p>
          <a:p>
            <a:pPr marL="0" indent="0" algn="ctr">
              <a:buNone/>
            </a:pPr>
            <a:r>
              <a:rPr lang="en-US" sz="1600" b="1" dirty="0">
                <a:solidFill>
                  <a:schemeClr val="accent3"/>
                </a:solidFill>
              </a:rPr>
              <a:t>f = 2  (lowest)</a:t>
            </a:r>
            <a:endParaRPr lang="en-US" sz="1800" dirty="0"/>
          </a:p>
        </p:txBody>
      </p:sp>
      <p:sp>
        <p:nvSpPr>
          <p:cNvPr id="19" name="Node B"/>
          <p:cNvSpPr txBox="1"/>
          <p:nvPr/>
        </p:nvSpPr>
        <p:spPr>
          <a:xfrm>
            <a:off x="4229100" y="4434840"/>
            <a:ext cx="548640" cy="548640"/>
          </a:xfrm>
          <a:prstGeom prst="ellipse">
            <a:avLst/>
          </a:prstGeom>
          <a:solidFill>
            <a:schemeClr val="bg1"/>
          </a:solidFill>
          <a:ln w="28575">
            <a:solidFill>
              <a:schemeClr val="accent3"/>
            </a:solidFill>
          </a:ln>
        </p:spPr>
        <p:txBody>
          <a:bodyPr wrap="square" lIns="0" tIns="0" rIns="0" bIns="0" rtlCol="0" anchor="ctr"/>
          <a:lstStyle/>
          <a:p>
            <a:pPr marL="0" indent="0" algn="ctr">
              <a:buNone/>
            </a:pPr>
            <a:r>
              <a:rPr lang="en-US" sz="2000" b="1" dirty="0">
                <a:solidFill>
                  <a:schemeClr val="accent3"/>
                </a:solidFill>
              </a:rPr>
              <a:t>B</a:t>
            </a:r>
            <a:endParaRPr lang="en-US" sz="2000" dirty="0"/>
          </a:p>
        </p:txBody>
      </p:sp>
      <p:sp>
        <p:nvSpPr>
          <p:cNvPr id="20" name="Text 18"/>
          <p:cNvSpPr txBox="1"/>
          <p:nvPr/>
        </p:nvSpPr>
        <p:spPr>
          <a:xfrm>
            <a:off x="3543300" y="5056632"/>
            <a:ext cx="1920240" cy="566928"/>
          </a:xfrm>
          <a:prstGeom prst="rect">
            <a:avLst/>
          </a:prstGeom>
          <a:noFill/>
          <a:ln/>
        </p:spPr>
        <p:txBody>
          <a:bodyPr wrap="square" lIns="0" tIns="0" rIns="0" bIns="0" rtlCol="0" anchor="t"/>
          <a:lstStyle/>
          <a:p>
            <a:pPr marL="0" indent="0" algn="ctr">
              <a:buNone/>
            </a:pPr>
            <a:r>
              <a:rPr lang="en-US" sz="1600" b="1" dirty="0">
                <a:solidFill>
                  <a:schemeClr val="accent1"/>
                </a:solidFill>
              </a:rPr>
              <a:t>g = 3</a:t>
            </a:r>
            <a:r>
              <a:rPr lang="en-US" sz="1600" dirty="0">
                <a:solidFill>
                  <a:schemeClr val="tx1"/>
                </a:solidFill>
              </a:rPr>
              <a:t>, </a:t>
            </a:r>
            <a:r>
              <a:rPr lang="en-US" sz="1600" b="1" dirty="0">
                <a:solidFill>
                  <a:schemeClr val="accent2"/>
                </a:solidFill>
              </a:rPr>
              <a:t>h = 0</a:t>
            </a:r>
            <a:endParaRPr lang="en-US" sz="1800" dirty="0"/>
          </a:p>
          <a:p>
            <a:pPr marL="0" indent="0" algn="ctr">
              <a:buNone/>
            </a:pPr>
            <a:r>
              <a:rPr lang="en-US" sz="1600" b="1" dirty="0">
                <a:solidFill>
                  <a:schemeClr val="accent3"/>
                </a:solidFill>
              </a:rPr>
              <a:t>f = 3</a:t>
            </a:r>
            <a:endParaRPr lang="en-US" sz="1800" dirty="0"/>
          </a:p>
        </p:txBody>
      </p:sp>
      <p:sp>
        <p:nvSpPr>
          <p:cNvPr id="21" name="Text 19"/>
          <p:cNvSpPr txBox="1"/>
          <p:nvPr/>
        </p:nvSpPr>
        <p:spPr>
          <a:xfrm>
            <a:off x="777240" y="5669280"/>
            <a:ext cx="4937760" cy="548640"/>
          </a:xfrm>
          <a:prstGeom prst="rect">
            <a:avLst/>
          </a:prstGeom>
          <a:noFill/>
          <a:ln/>
        </p:spPr>
        <p:txBody>
          <a:bodyPr wrap="square" lIns="0" tIns="0" rIns="0" bIns="0" rtlCol="0" anchor="t"/>
          <a:lstStyle/>
          <a:p>
            <a:pPr marL="0" indent="0">
              <a:buNone/>
            </a:pPr>
            <a:r>
              <a:rPr lang="en-US" sz="1600" b="1" dirty="0">
                <a:solidFill>
                  <a:schemeClr val="accent3"/>
                </a:solidFill>
              </a:rPr>
              <a:t>A* is lured into the detour: lowest f is A (2 &lt; 3).</a:t>
            </a:r>
            <a:endParaRPr lang="en-US" sz="1600" dirty="0"/>
          </a:p>
        </p:txBody>
      </p:sp>
      <p:sp>
        <p:nvSpPr>
          <p:cNvPr id="22" name="Informative: h(A) = 6, h(B) = 3"/>
          <p:cNvSpPr/>
          <p:nvPr/>
        </p:nvSpPr>
        <p:spPr>
          <a:xfrm>
            <a:off x="6245352" y="3154680"/>
            <a:ext cx="5394960" cy="3108960"/>
          </a:xfrm>
          <a:prstGeom prst="roundRect">
            <a:avLst>
              <a:gd name="adj" fmla="val 2941"/>
            </a:avLst>
          </a:prstGeom>
          <a:solidFill>
            <a:schemeClr val="bg2"/>
          </a:solidFill>
          <a:ln/>
        </p:spPr>
      </p:sp>
      <p:sp>
        <p:nvSpPr>
          <p:cNvPr id="23" name="Text 21"/>
          <p:cNvSpPr txBox="1"/>
          <p:nvPr/>
        </p:nvSpPr>
        <p:spPr>
          <a:xfrm>
            <a:off x="6473952" y="3246120"/>
            <a:ext cx="4937760" cy="365760"/>
          </a:xfrm>
          <a:prstGeom prst="rect">
            <a:avLst/>
          </a:prstGeom>
          <a:noFill/>
          <a:ln/>
        </p:spPr>
        <p:txBody>
          <a:bodyPr wrap="square" lIns="0" tIns="0" rIns="0" bIns="0" rtlCol="0" anchor="t"/>
          <a:lstStyle/>
          <a:p>
            <a:pPr marL="0" indent="0">
              <a:buNone/>
            </a:pPr>
            <a:r>
              <a:rPr lang="en-US" sz="2000" b="1" dirty="0">
                <a:solidFill>
                  <a:schemeClr val="accent1"/>
                </a:solidFill>
              </a:rPr>
              <a:t>Informative: h(A) = 6, h(B) = 3</a:t>
            </a:r>
            <a:endParaRPr lang="en-US" sz="2000" dirty="0"/>
          </a:p>
        </p:txBody>
      </p:sp>
      <p:sp>
        <p:nvSpPr>
          <p:cNvPr id="24" name="Line"/>
          <p:cNvSpPr/>
          <p:nvPr/>
        </p:nvSpPr>
        <p:spPr>
          <a:xfrm flipH="1">
            <a:off x="7915056" y="4036434"/>
            <a:ext cx="798252" cy="522492"/>
          </a:xfrm>
          <a:prstGeom prst="line">
            <a:avLst/>
          </a:prstGeom>
          <a:noFill/>
          <a:ln w="28575">
            <a:solidFill>
              <a:schemeClr val="tx1"/>
            </a:solidFill>
            <a:prstDash val="solid"/>
          </a:ln>
        </p:spPr>
      </p:sp>
      <p:sp>
        <p:nvSpPr>
          <p:cNvPr id="25" name="Line"/>
          <p:cNvSpPr/>
          <p:nvPr/>
        </p:nvSpPr>
        <p:spPr>
          <a:xfrm>
            <a:off x="9172356" y="4036434"/>
            <a:ext cx="798252" cy="522492"/>
          </a:xfrm>
          <a:prstGeom prst="line">
            <a:avLst/>
          </a:prstGeom>
          <a:noFill/>
          <a:ln w="28575">
            <a:solidFill>
              <a:schemeClr val="tx1"/>
            </a:solidFill>
            <a:prstDash val="solid"/>
          </a:ln>
        </p:spPr>
      </p:sp>
      <p:sp>
        <p:nvSpPr>
          <p:cNvPr id="26" name="Text 24"/>
          <p:cNvSpPr txBox="1"/>
          <p:nvPr/>
        </p:nvSpPr>
        <p:spPr>
          <a:xfrm>
            <a:off x="7930134" y="4160520"/>
            <a:ext cx="274320" cy="274320"/>
          </a:xfrm>
          <a:prstGeom prst="rect">
            <a:avLst/>
          </a:prstGeom>
          <a:noFill/>
          <a:ln/>
        </p:spPr>
        <p:txBody>
          <a:bodyPr wrap="square" lIns="0" tIns="0" rIns="0" bIns="0" rtlCol="0" anchor="t"/>
          <a:lstStyle/>
          <a:p>
            <a:pPr marL="0" indent="0" algn="ctr">
              <a:buNone/>
            </a:pPr>
            <a:r>
              <a:rPr lang="en-US" sz="1600" b="1" dirty="0">
                <a:solidFill>
                  <a:schemeClr val="tx1"/>
                </a:solidFill>
              </a:rPr>
              <a:t>2</a:t>
            </a:r>
            <a:endParaRPr lang="en-US" sz="1600" dirty="0"/>
          </a:p>
        </p:txBody>
      </p:sp>
      <p:sp>
        <p:nvSpPr>
          <p:cNvPr id="27" name="Text 25"/>
          <p:cNvSpPr txBox="1"/>
          <p:nvPr/>
        </p:nvSpPr>
        <p:spPr>
          <a:xfrm>
            <a:off x="9681210" y="4160520"/>
            <a:ext cx="274320" cy="274320"/>
          </a:xfrm>
          <a:prstGeom prst="rect">
            <a:avLst/>
          </a:prstGeom>
          <a:noFill/>
          <a:ln/>
        </p:spPr>
        <p:txBody>
          <a:bodyPr wrap="square" lIns="0" tIns="0" rIns="0" bIns="0" rtlCol="0" anchor="t"/>
          <a:lstStyle/>
          <a:p>
            <a:pPr marL="0" indent="0" algn="ctr">
              <a:buNone/>
            </a:pPr>
            <a:r>
              <a:rPr lang="en-US" sz="1600" b="1" dirty="0">
                <a:solidFill>
                  <a:schemeClr val="tx1"/>
                </a:solidFill>
              </a:rPr>
              <a:t>3</a:t>
            </a:r>
            <a:endParaRPr lang="en-US" sz="1600" dirty="0"/>
          </a:p>
        </p:txBody>
      </p:sp>
      <p:sp>
        <p:nvSpPr>
          <p:cNvPr id="28" name="Node S"/>
          <p:cNvSpPr txBox="1"/>
          <p:nvPr/>
        </p:nvSpPr>
        <p:spPr>
          <a:xfrm>
            <a:off x="8668512" y="3611880"/>
            <a:ext cx="548640" cy="548640"/>
          </a:xfrm>
          <a:prstGeom prst="ellipse">
            <a:avLst/>
          </a:prstGeom>
          <a:solidFill>
            <a:schemeClr val="accent1"/>
          </a:solidFill>
          <a:ln w="28575">
            <a:solidFill>
              <a:schemeClr val="accent1"/>
            </a:solidFill>
          </a:ln>
        </p:spPr>
        <p:txBody>
          <a:bodyPr wrap="square" lIns="0" tIns="0" rIns="0" bIns="0" rtlCol="0" anchor="ctr"/>
          <a:lstStyle/>
          <a:p>
            <a:pPr marL="0" indent="0" algn="ctr">
              <a:buNone/>
            </a:pPr>
            <a:r>
              <a:rPr lang="en-US" sz="2000" b="1" dirty="0">
                <a:solidFill>
                  <a:schemeClr val="bg1"/>
                </a:solidFill>
              </a:rPr>
              <a:t>S</a:t>
            </a:r>
            <a:endParaRPr lang="en-US" sz="2000" dirty="0"/>
          </a:p>
        </p:txBody>
      </p:sp>
      <p:sp>
        <p:nvSpPr>
          <p:cNvPr id="29" name="Node A"/>
          <p:cNvSpPr txBox="1"/>
          <p:nvPr/>
        </p:nvSpPr>
        <p:spPr>
          <a:xfrm>
            <a:off x="7411212" y="4434840"/>
            <a:ext cx="548640" cy="548640"/>
          </a:xfrm>
          <a:prstGeom prst="ellipse">
            <a:avLst/>
          </a:prstGeom>
          <a:solidFill>
            <a:schemeClr val="bg1"/>
          </a:solidFill>
          <a:ln w="28575">
            <a:solidFill>
              <a:schemeClr val="accent3"/>
            </a:solidFill>
          </a:ln>
        </p:spPr>
        <p:txBody>
          <a:bodyPr wrap="square" lIns="0" tIns="0" rIns="0" bIns="0" rtlCol="0" anchor="ctr"/>
          <a:lstStyle/>
          <a:p>
            <a:pPr marL="0" indent="0" algn="ctr">
              <a:buNone/>
            </a:pPr>
            <a:r>
              <a:rPr lang="en-US" sz="2000" b="1" dirty="0">
                <a:solidFill>
                  <a:schemeClr val="accent3"/>
                </a:solidFill>
              </a:rPr>
              <a:t>A</a:t>
            </a:r>
            <a:endParaRPr lang="en-US" sz="2000" dirty="0"/>
          </a:p>
        </p:txBody>
      </p:sp>
      <p:sp>
        <p:nvSpPr>
          <p:cNvPr id="30" name="Text 28"/>
          <p:cNvSpPr txBox="1"/>
          <p:nvPr/>
        </p:nvSpPr>
        <p:spPr>
          <a:xfrm>
            <a:off x="6725412" y="5056632"/>
            <a:ext cx="1920240" cy="566928"/>
          </a:xfrm>
          <a:prstGeom prst="rect">
            <a:avLst/>
          </a:prstGeom>
          <a:noFill/>
          <a:ln/>
        </p:spPr>
        <p:txBody>
          <a:bodyPr wrap="square" lIns="0" tIns="0" rIns="0" bIns="0" rtlCol="0" anchor="t"/>
          <a:lstStyle/>
          <a:p>
            <a:pPr marL="0" indent="0" algn="ctr">
              <a:buNone/>
            </a:pPr>
            <a:r>
              <a:rPr lang="en-US" sz="1600" b="1" dirty="0">
                <a:solidFill>
                  <a:schemeClr val="accent1"/>
                </a:solidFill>
              </a:rPr>
              <a:t>g = 2</a:t>
            </a:r>
            <a:r>
              <a:rPr lang="en-US" sz="1600" dirty="0">
                <a:solidFill>
                  <a:schemeClr val="tx1"/>
                </a:solidFill>
              </a:rPr>
              <a:t>, </a:t>
            </a:r>
            <a:r>
              <a:rPr lang="en-US" sz="1600" b="1" dirty="0">
                <a:solidFill>
                  <a:schemeClr val="accent2"/>
                </a:solidFill>
              </a:rPr>
              <a:t>h = 6</a:t>
            </a:r>
            <a:endParaRPr lang="en-US" sz="1800" dirty="0"/>
          </a:p>
          <a:p>
            <a:pPr marL="0" indent="0" algn="ctr">
              <a:buNone/>
            </a:pPr>
            <a:r>
              <a:rPr lang="en-US" sz="1600" b="1" dirty="0">
                <a:solidFill>
                  <a:schemeClr val="accent3"/>
                </a:solidFill>
              </a:rPr>
              <a:t>f = 8</a:t>
            </a:r>
            <a:endParaRPr lang="en-US" sz="1800" dirty="0"/>
          </a:p>
        </p:txBody>
      </p:sp>
      <p:sp>
        <p:nvSpPr>
          <p:cNvPr id="31" name="Node B"/>
          <p:cNvSpPr txBox="1"/>
          <p:nvPr/>
        </p:nvSpPr>
        <p:spPr>
          <a:xfrm>
            <a:off x="9925812" y="4434840"/>
            <a:ext cx="548640" cy="548640"/>
          </a:xfrm>
          <a:prstGeom prst="ellipse">
            <a:avLst/>
          </a:prstGeom>
          <a:solidFill>
            <a:schemeClr val="accent3"/>
          </a:solidFill>
          <a:ln w="28575">
            <a:solidFill>
              <a:schemeClr val="accent3"/>
            </a:solidFill>
          </a:ln>
        </p:spPr>
        <p:txBody>
          <a:bodyPr wrap="square" lIns="0" tIns="0" rIns="0" bIns="0" rtlCol="0" anchor="ctr"/>
          <a:lstStyle/>
          <a:p>
            <a:pPr marL="0" indent="0" algn="ctr">
              <a:buNone/>
            </a:pPr>
            <a:r>
              <a:rPr lang="en-US" sz="2000" b="1" dirty="0">
                <a:solidFill>
                  <a:schemeClr val="bg1"/>
                </a:solidFill>
              </a:rPr>
              <a:t>B</a:t>
            </a:r>
            <a:endParaRPr lang="en-US" sz="2000" dirty="0"/>
          </a:p>
        </p:txBody>
      </p:sp>
      <p:sp>
        <p:nvSpPr>
          <p:cNvPr id="32" name="Text 30"/>
          <p:cNvSpPr txBox="1"/>
          <p:nvPr/>
        </p:nvSpPr>
        <p:spPr>
          <a:xfrm>
            <a:off x="9240012" y="5056632"/>
            <a:ext cx="1920240" cy="566928"/>
          </a:xfrm>
          <a:prstGeom prst="rect">
            <a:avLst/>
          </a:prstGeom>
          <a:noFill/>
          <a:ln/>
        </p:spPr>
        <p:txBody>
          <a:bodyPr wrap="square" lIns="0" tIns="0" rIns="0" bIns="0" rtlCol="0" anchor="t"/>
          <a:lstStyle/>
          <a:p>
            <a:pPr marL="0" indent="0" algn="ctr">
              <a:buNone/>
            </a:pPr>
            <a:r>
              <a:rPr lang="en-US" sz="1600" b="1" dirty="0">
                <a:solidFill>
                  <a:schemeClr val="accent1"/>
                </a:solidFill>
              </a:rPr>
              <a:t>g = 3</a:t>
            </a:r>
            <a:r>
              <a:rPr lang="en-US" sz="1600" dirty="0">
                <a:solidFill>
                  <a:schemeClr val="tx1"/>
                </a:solidFill>
              </a:rPr>
              <a:t>, </a:t>
            </a:r>
            <a:r>
              <a:rPr lang="en-US" sz="1600" b="1" dirty="0">
                <a:solidFill>
                  <a:schemeClr val="accent2"/>
                </a:solidFill>
              </a:rPr>
              <a:t>h = 3</a:t>
            </a:r>
            <a:endParaRPr lang="en-US" sz="1800" dirty="0"/>
          </a:p>
          <a:p>
            <a:pPr marL="0" indent="0" algn="ctr">
              <a:buNone/>
            </a:pPr>
            <a:r>
              <a:rPr lang="en-US" sz="1600" b="1" dirty="0">
                <a:solidFill>
                  <a:schemeClr val="accent3"/>
                </a:solidFill>
              </a:rPr>
              <a:t>f = 6  (lowest)</a:t>
            </a:r>
            <a:endParaRPr lang="en-US" sz="1800" dirty="0"/>
          </a:p>
        </p:txBody>
      </p:sp>
      <p:sp>
        <p:nvSpPr>
          <p:cNvPr id="33" name="Text 31"/>
          <p:cNvSpPr txBox="1"/>
          <p:nvPr/>
        </p:nvSpPr>
        <p:spPr>
          <a:xfrm>
            <a:off x="6473952" y="5669280"/>
            <a:ext cx="4937760" cy="548640"/>
          </a:xfrm>
          <a:prstGeom prst="rect">
            <a:avLst/>
          </a:prstGeom>
          <a:noFill/>
          <a:ln/>
        </p:spPr>
        <p:txBody>
          <a:bodyPr wrap="square" lIns="0" tIns="0" rIns="0" bIns="0" rtlCol="0" anchor="t"/>
          <a:lstStyle/>
          <a:p>
            <a:pPr marL="0" indent="0">
              <a:buNone/>
            </a:pPr>
            <a:r>
              <a:rPr lang="en-US" sz="1600" b="1" dirty="0">
                <a:solidFill>
                  <a:schemeClr val="accent3"/>
                </a:solidFill>
              </a:rPr>
              <a:t>A* heads straight to the optimal path: lowest f is B (6 &lt; 8).</a:t>
            </a:r>
            <a:endParaRPr lang="en-US" sz="1600" dirty="0"/>
          </a:p>
        </p:txBody>
      </p:sp>
      <p:sp>
        <p:nvSpPr>
          <p:cNvPr id="34"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Good, Poor, Overestimating and Informed Heuristics</a:t>
            </a:r>
            <a:endParaRPr lang="en-US" sz="3200" dirty="0"/>
          </a:p>
        </p:txBody>
      </p:sp>
      <p:sp>
        <p:nvSpPr>
          <p:cNvPr id="3" name="Good heuristic"/>
          <p:cNvSpPr/>
          <p:nvPr/>
        </p:nvSpPr>
        <p:spPr>
          <a:xfrm>
            <a:off x="548640" y="1371600"/>
            <a:ext cx="6126480" cy="1097280"/>
          </a:xfrm>
          <a:prstGeom prst="roundRect">
            <a:avLst>
              <a:gd name="adj" fmla="val 8333"/>
            </a:avLst>
          </a:prstGeom>
          <a:solidFill>
            <a:schemeClr val="bg2"/>
          </a:solidFill>
          <a:ln/>
        </p:spPr>
      </p:sp>
      <p:sp>
        <p:nvSpPr>
          <p:cNvPr id="4" name="Pill"/>
          <p:cNvSpPr txBox="1"/>
          <p:nvPr/>
        </p:nvSpPr>
        <p:spPr>
          <a:xfrm>
            <a:off x="685800" y="1554480"/>
            <a:ext cx="1645920" cy="731520"/>
          </a:xfrm>
          <a:prstGeom prst="roundRect">
            <a:avLst>
              <a:gd name="adj" fmla="val 12500"/>
            </a:avLst>
          </a:prstGeom>
          <a:solidFill>
            <a:schemeClr val="accent4"/>
          </a:solidFill>
          <a:ln/>
        </p:spPr>
        <p:txBody>
          <a:bodyPr wrap="square" lIns="38100" tIns="38100" rIns="38100" bIns="38100" rtlCol="0" anchor="ctr"/>
          <a:lstStyle/>
          <a:p>
            <a:pPr marL="0" indent="0" algn="ctr">
              <a:buNone/>
            </a:pPr>
            <a:r>
              <a:rPr lang="en-US" sz="1800" b="1" dirty="0">
                <a:solidFill>
                  <a:schemeClr val="bg1"/>
                </a:solidFill>
              </a:rPr>
              <a:t>Good</a:t>
            </a:r>
            <a:endParaRPr lang="en-US" sz="1800" dirty="0"/>
          </a:p>
        </p:txBody>
      </p:sp>
      <p:sp>
        <p:nvSpPr>
          <p:cNvPr id="5" name="Text 3"/>
          <p:cNvSpPr txBox="1"/>
          <p:nvPr/>
        </p:nvSpPr>
        <p:spPr>
          <a:xfrm>
            <a:off x="2514600" y="1444752"/>
            <a:ext cx="4023360" cy="950976"/>
          </a:xfrm>
          <a:prstGeom prst="rect">
            <a:avLst/>
          </a:prstGeom>
          <a:noFill/>
          <a:ln/>
        </p:spPr>
        <p:txBody>
          <a:bodyPr wrap="square" lIns="0" tIns="0" rIns="0" bIns="0" rtlCol="0" anchor="ctr"/>
          <a:lstStyle/>
          <a:p>
            <a:pPr marL="0" indent="0">
              <a:buNone/>
            </a:pPr>
            <a:r>
              <a:rPr lang="en-US" sz="1700" dirty="0">
                <a:solidFill>
                  <a:schemeClr val="tx1"/>
                </a:solidFill>
              </a:rPr>
              <a:t>Close to h*(n) but never above it, and cheap to compute.</a:t>
            </a:r>
            <a:endParaRPr lang="en-US" sz="1700" dirty="0"/>
          </a:p>
        </p:txBody>
      </p:sp>
      <p:sp>
        <p:nvSpPr>
          <p:cNvPr id="6" name="Poor heuristic"/>
          <p:cNvSpPr/>
          <p:nvPr/>
        </p:nvSpPr>
        <p:spPr>
          <a:xfrm>
            <a:off x="548640" y="2606040"/>
            <a:ext cx="6126480" cy="1097280"/>
          </a:xfrm>
          <a:prstGeom prst="roundRect">
            <a:avLst>
              <a:gd name="adj" fmla="val 8333"/>
            </a:avLst>
          </a:prstGeom>
          <a:solidFill>
            <a:schemeClr val="bg2"/>
          </a:solidFill>
          <a:ln/>
        </p:spPr>
      </p:sp>
      <p:sp>
        <p:nvSpPr>
          <p:cNvPr id="7" name="Pill"/>
          <p:cNvSpPr txBox="1"/>
          <p:nvPr/>
        </p:nvSpPr>
        <p:spPr>
          <a:xfrm>
            <a:off x="685800" y="2788920"/>
            <a:ext cx="1645920" cy="731520"/>
          </a:xfrm>
          <a:prstGeom prst="roundRect">
            <a:avLst>
              <a:gd name="adj" fmla="val 12500"/>
            </a:avLst>
          </a:prstGeom>
          <a:solidFill>
            <a:schemeClr val="accent5"/>
          </a:solidFill>
          <a:ln/>
        </p:spPr>
        <p:txBody>
          <a:bodyPr wrap="square" lIns="38100" tIns="38100" rIns="38100" bIns="38100" rtlCol="0" anchor="ctr"/>
          <a:lstStyle/>
          <a:p>
            <a:pPr marL="0" indent="0" algn="ctr">
              <a:buNone/>
            </a:pPr>
            <a:r>
              <a:rPr lang="en-US" sz="1800" b="1" dirty="0">
                <a:solidFill>
                  <a:schemeClr val="tx1"/>
                </a:solidFill>
              </a:rPr>
              <a:t>Poor</a:t>
            </a:r>
            <a:endParaRPr lang="en-US" sz="1800" dirty="0"/>
          </a:p>
        </p:txBody>
      </p:sp>
      <p:sp>
        <p:nvSpPr>
          <p:cNvPr id="8" name="Text 6"/>
          <p:cNvSpPr txBox="1"/>
          <p:nvPr/>
        </p:nvSpPr>
        <p:spPr>
          <a:xfrm>
            <a:off x="2514600" y="2679192"/>
            <a:ext cx="4023360" cy="950976"/>
          </a:xfrm>
          <a:prstGeom prst="rect">
            <a:avLst/>
          </a:prstGeom>
          <a:noFill/>
          <a:ln/>
        </p:spPr>
        <p:txBody>
          <a:bodyPr wrap="square" lIns="0" tIns="0" rIns="0" bIns="0" rtlCol="0" anchor="ctr"/>
          <a:lstStyle/>
          <a:p>
            <a:pPr marL="0" indent="0">
              <a:buNone/>
            </a:pPr>
            <a:r>
              <a:rPr lang="en-US" sz="1700" dirty="0">
                <a:solidFill>
                  <a:schemeClr val="tx1"/>
                </a:solidFill>
              </a:rPr>
              <a:t>Far below h*(n), e.g. h(n) = 0: little guidance, so the search is almost blind.</a:t>
            </a:r>
            <a:endParaRPr lang="en-US" sz="1700" dirty="0"/>
          </a:p>
        </p:txBody>
      </p:sp>
      <p:sp>
        <p:nvSpPr>
          <p:cNvPr id="9" name="Overestimating heuristic"/>
          <p:cNvSpPr/>
          <p:nvPr/>
        </p:nvSpPr>
        <p:spPr>
          <a:xfrm>
            <a:off x="548640" y="3840480"/>
            <a:ext cx="6126480" cy="1097280"/>
          </a:xfrm>
          <a:prstGeom prst="roundRect">
            <a:avLst>
              <a:gd name="adj" fmla="val 8333"/>
            </a:avLst>
          </a:prstGeom>
          <a:solidFill>
            <a:schemeClr val="bg2"/>
          </a:solidFill>
          <a:ln/>
        </p:spPr>
      </p:sp>
      <p:sp>
        <p:nvSpPr>
          <p:cNvPr id="10" name="Pill"/>
          <p:cNvSpPr txBox="1"/>
          <p:nvPr/>
        </p:nvSpPr>
        <p:spPr>
          <a:xfrm>
            <a:off x="685800" y="4023360"/>
            <a:ext cx="1645920" cy="731520"/>
          </a:xfrm>
          <a:prstGeom prst="roundRect">
            <a:avLst>
              <a:gd name="adj" fmla="val 12500"/>
            </a:avLst>
          </a:prstGeom>
          <a:solidFill>
            <a:schemeClr val="accent6"/>
          </a:solidFill>
          <a:ln/>
        </p:spPr>
        <p:txBody>
          <a:bodyPr wrap="square" lIns="38100" tIns="38100" rIns="38100" bIns="38100" rtlCol="0" anchor="ctr"/>
          <a:lstStyle/>
          <a:p>
            <a:pPr marL="0" indent="0" algn="ctr">
              <a:buNone/>
            </a:pPr>
            <a:r>
              <a:rPr lang="en-US" sz="1800" b="1" dirty="0">
                <a:solidFill>
                  <a:schemeClr val="bg1"/>
                </a:solidFill>
              </a:rPr>
              <a:t>Over-estimating</a:t>
            </a:r>
            <a:endParaRPr lang="en-US" sz="1800" dirty="0"/>
          </a:p>
        </p:txBody>
      </p:sp>
      <p:sp>
        <p:nvSpPr>
          <p:cNvPr id="11" name="Text 9"/>
          <p:cNvSpPr txBox="1"/>
          <p:nvPr/>
        </p:nvSpPr>
        <p:spPr>
          <a:xfrm>
            <a:off x="2514600" y="3913632"/>
            <a:ext cx="4023360" cy="950976"/>
          </a:xfrm>
          <a:prstGeom prst="rect">
            <a:avLst/>
          </a:prstGeom>
          <a:noFill/>
          <a:ln/>
        </p:spPr>
        <p:txBody>
          <a:bodyPr wrap="square" lIns="0" tIns="0" rIns="0" bIns="0" rtlCol="0" anchor="ctr"/>
          <a:lstStyle/>
          <a:p>
            <a:pPr marL="0" indent="0">
              <a:buNone/>
            </a:pPr>
            <a:r>
              <a:rPr lang="en-US" sz="1700" dirty="0">
                <a:solidFill>
                  <a:schemeClr val="tx1"/>
                </a:solidFill>
              </a:rPr>
              <a:t>h(n) &gt; h*(n): can hide the best path, so A* may return a non-optimal solution.</a:t>
            </a:r>
            <a:endParaRPr lang="en-US" sz="1700" dirty="0"/>
          </a:p>
        </p:txBody>
      </p:sp>
      <p:sp>
        <p:nvSpPr>
          <p:cNvPr id="12" name="More informed heuristic"/>
          <p:cNvSpPr/>
          <p:nvPr/>
        </p:nvSpPr>
        <p:spPr>
          <a:xfrm>
            <a:off x="548640" y="5074920"/>
            <a:ext cx="6126480" cy="1097280"/>
          </a:xfrm>
          <a:prstGeom prst="roundRect">
            <a:avLst>
              <a:gd name="adj" fmla="val 8333"/>
            </a:avLst>
          </a:prstGeom>
          <a:solidFill>
            <a:schemeClr val="bg2"/>
          </a:solidFill>
          <a:ln/>
        </p:spPr>
      </p:sp>
      <p:sp>
        <p:nvSpPr>
          <p:cNvPr id="13" name="Pill"/>
          <p:cNvSpPr txBox="1"/>
          <p:nvPr/>
        </p:nvSpPr>
        <p:spPr>
          <a:xfrm>
            <a:off x="685800" y="5257800"/>
            <a:ext cx="1645920" cy="731520"/>
          </a:xfrm>
          <a:prstGeom prst="roundRect">
            <a:avLst>
              <a:gd name="adj" fmla="val 12500"/>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More informed</a:t>
            </a:r>
            <a:endParaRPr lang="en-US" sz="1800" dirty="0"/>
          </a:p>
        </p:txBody>
      </p:sp>
      <p:sp>
        <p:nvSpPr>
          <p:cNvPr id="14" name="Text 12"/>
          <p:cNvSpPr txBox="1"/>
          <p:nvPr/>
        </p:nvSpPr>
        <p:spPr>
          <a:xfrm>
            <a:off x="2514600" y="5148072"/>
            <a:ext cx="4023360" cy="950976"/>
          </a:xfrm>
          <a:prstGeom prst="rect">
            <a:avLst/>
          </a:prstGeom>
          <a:noFill/>
          <a:ln/>
        </p:spPr>
        <p:txBody>
          <a:bodyPr wrap="square" lIns="0" tIns="0" rIns="0" bIns="0" rtlCol="0" anchor="ctr"/>
          <a:lstStyle/>
          <a:p>
            <a:pPr marL="0" indent="0">
              <a:buNone/>
            </a:pPr>
            <a:r>
              <a:rPr lang="en-US" sz="1700" dirty="0">
                <a:solidFill>
                  <a:schemeClr val="tx1"/>
                </a:solidFill>
              </a:rPr>
              <a:t>h₂ is more informed than h₁ if h₁(n) ≤ h₂(n) ≤ h*(n) for all n: fewer nodes expanded.</a:t>
            </a:r>
            <a:endParaRPr lang="en-US" sz="1700" dirty="0"/>
          </a:p>
        </p:txBody>
      </p:sp>
      <p:sp>
        <p:nvSpPr>
          <p:cNvPr id="15" name="Overestimation trap"/>
          <p:cNvSpPr/>
          <p:nvPr/>
        </p:nvSpPr>
        <p:spPr>
          <a:xfrm>
            <a:off x="6949440" y="1371600"/>
            <a:ext cx="4690872" cy="4846320"/>
          </a:xfrm>
          <a:prstGeom prst="roundRect">
            <a:avLst>
              <a:gd name="adj" fmla="val 1949"/>
            </a:avLst>
          </a:prstGeom>
          <a:solidFill>
            <a:schemeClr val="bg2"/>
          </a:solidFill>
          <a:ln/>
        </p:spPr>
      </p:sp>
      <p:sp>
        <p:nvSpPr>
          <p:cNvPr id="16" name="Text 14"/>
          <p:cNvSpPr txBox="1"/>
          <p:nvPr/>
        </p:nvSpPr>
        <p:spPr>
          <a:xfrm>
            <a:off x="7178040" y="1481328"/>
            <a:ext cx="4297680" cy="365760"/>
          </a:xfrm>
          <a:prstGeom prst="rect">
            <a:avLst/>
          </a:prstGeom>
          <a:noFill/>
          <a:ln/>
        </p:spPr>
        <p:txBody>
          <a:bodyPr wrap="square" lIns="0" tIns="0" rIns="0" bIns="0" rtlCol="0" anchor="t"/>
          <a:lstStyle/>
          <a:p>
            <a:pPr marL="0" indent="0">
              <a:buNone/>
            </a:pPr>
            <a:r>
              <a:rPr lang="en-US" sz="2200" b="1" dirty="0">
                <a:solidFill>
                  <a:schemeClr val="accent6"/>
                </a:solidFill>
              </a:rPr>
              <a:t>The overestimation trap</a:t>
            </a:r>
            <a:endParaRPr lang="en-US" sz="2200" dirty="0"/>
          </a:p>
        </p:txBody>
      </p:sp>
      <p:sp>
        <p:nvSpPr>
          <p:cNvPr id="17" name="Line"/>
          <p:cNvSpPr/>
          <p:nvPr/>
        </p:nvSpPr>
        <p:spPr>
          <a:xfrm flipH="1">
            <a:off x="8415581" y="2358060"/>
            <a:ext cx="668168" cy="495960"/>
          </a:xfrm>
          <a:prstGeom prst="line">
            <a:avLst/>
          </a:prstGeom>
          <a:noFill/>
          <a:ln w="28575">
            <a:solidFill>
              <a:schemeClr val="tx1"/>
            </a:solidFill>
            <a:prstDash val="solid"/>
          </a:ln>
        </p:spPr>
      </p:sp>
      <p:sp>
        <p:nvSpPr>
          <p:cNvPr id="18" name="Line"/>
          <p:cNvSpPr/>
          <p:nvPr/>
        </p:nvSpPr>
        <p:spPr>
          <a:xfrm>
            <a:off x="9524291" y="2358060"/>
            <a:ext cx="668168" cy="495960"/>
          </a:xfrm>
          <a:prstGeom prst="line">
            <a:avLst/>
          </a:prstGeom>
          <a:noFill/>
          <a:ln w="28575">
            <a:solidFill>
              <a:schemeClr val="tx1"/>
            </a:solidFill>
            <a:prstDash val="solid"/>
          </a:ln>
        </p:spPr>
      </p:sp>
      <p:sp>
        <p:nvSpPr>
          <p:cNvPr id="19" name="Text 17"/>
          <p:cNvSpPr txBox="1"/>
          <p:nvPr/>
        </p:nvSpPr>
        <p:spPr>
          <a:xfrm>
            <a:off x="8365617" y="2468880"/>
            <a:ext cx="274320" cy="274320"/>
          </a:xfrm>
          <a:prstGeom prst="rect">
            <a:avLst/>
          </a:prstGeom>
          <a:noFill/>
          <a:ln/>
        </p:spPr>
        <p:txBody>
          <a:bodyPr wrap="square" lIns="0" tIns="0" rIns="0" bIns="0" rtlCol="0" anchor="t"/>
          <a:lstStyle/>
          <a:p>
            <a:pPr marL="0" indent="0" algn="ctr">
              <a:buNone/>
            </a:pPr>
            <a:r>
              <a:rPr lang="en-US" sz="1600" b="1" dirty="0">
                <a:solidFill>
                  <a:schemeClr val="tx1"/>
                </a:solidFill>
              </a:rPr>
              <a:t>2</a:t>
            </a:r>
            <a:endParaRPr lang="en-US" sz="1600" dirty="0"/>
          </a:p>
        </p:txBody>
      </p:sp>
      <p:sp>
        <p:nvSpPr>
          <p:cNvPr id="20" name="Text 18"/>
          <p:cNvSpPr txBox="1"/>
          <p:nvPr/>
        </p:nvSpPr>
        <p:spPr>
          <a:xfrm>
            <a:off x="9968103" y="2468880"/>
            <a:ext cx="274320" cy="274320"/>
          </a:xfrm>
          <a:prstGeom prst="rect">
            <a:avLst/>
          </a:prstGeom>
          <a:noFill/>
          <a:ln/>
        </p:spPr>
        <p:txBody>
          <a:bodyPr wrap="square" lIns="0" tIns="0" rIns="0" bIns="0" rtlCol="0" anchor="t"/>
          <a:lstStyle/>
          <a:p>
            <a:pPr marL="0" indent="0" algn="ctr">
              <a:buNone/>
            </a:pPr>
            <a:r>
              <a:rPr lang="en-US" sz="1600" b="1" dirty="0">
                <a:solidFill>
                  <a:schemeClr val="tx1"/>
                </a:solidFill>
              </a:rPr>
              <a:t>3</a:t>
            </a:r>
            <a:endParaRPr lang="en-US" sz="1600" dirty="0"/>
          </a:p>
        </p:txBody>
      </p:sp>
      <p:sp>
        <p:nvSpPr>
          <p:cNvPr id="21" name="Node S"/>
          <p:cNvSpPr txBox="1"/>
          <p:nvPr/>
        </p:nvSpPr>
        <p:spPr>
          <a:xfrm>
            <a:off x="9029700" y="1920240"/>
            <a:ext cx="548640" cy="548640"/>
          </a:xfrm>
          <a:prstGeom prst="ellipse">
            <a:avLst/>
          </a:prstGeom>
          <a:solidFill>
            <a:schemeClr val="accent1"/>
          </a:solidFill>
          <a:ln w="28575">
            <a:solidFill>
              <a:schemeClr val="accent1"/>
            </a:solidFill>
          </a:ln>
        </p:spPr>
        <p:txBody>
          <a:bodyPr wrap="square" lIns="0" tIns="0" rIns="0" bIns="0" rtlCol="0" anchor="ctr"/>
          <a:lstStyle/>
          <a:p>
            <a:pPr marL="0" indent="0" algn="ctr">
              <a:buNone/>
            </a:pPr>
            <a:r>
              <a:rPr lang="en-US" sz="2000" b="1" dirty="0">
                <a:solidFill>
                  <a:schemeClr val="bg1"/>
                </a:solidFill>
              </a:rPr>
              <a:t>S</a:t>
            </a:r>
            <a:endParaRPr lang="en-US" sz="2000" dirty="0"/>
          </a:p>
        </p:txBody>
      </p:sp>
      <p:sp>
        <p:nvSpPr>
          <p:cNvPr id="22" name="Node A"/>
          <p:cNvSpPr txBox="1"/>
          <p:nvPr/>
        </p:nvSpPr>
        <p:spPr>
          <a:xfrm>
            <a:off x="7920990" y="2743200"/>
            <a:ext cx="548640" cy="548640"/>
          </a:xfrm>
          <a:prstGeom prst="ellipse">
            <a:avLst/>
          </a:prstGeom>
          <a:solidFill>
            <a:schemeClr val="accent3"/>
          </a:solidFill>
          <a:ln w="28575">
            <a:solidFill>
              <a:schemeClr val="accent3"/>
            </a:solid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23" name="Text 21"/>
          <p:cNvSpPr txBox="1"/>
          <p:nvPr/>
        </p:nvSpPr>
        <p:spPr>
          <a:xfrm>
            <a:off x="7235190" y="3364992"/>
            <a:ext cx="1920240" cy="566928"/>
          </a:xfrm>
          <a:prstGeom prst="rect">
            <a:avLst/>
          </a:prstGeom>
          <a:noFill/>
          <a:ln/>
        </p:spPr>
        <p:txBody>
          <a:bodyPr wrap="square" lIns="0" tIns="0" rIns="0" bIns="0" rtlCol="0" anchor="t"/>
          <a:lstStyle/>
          <a:p>
            <a:pPr marL="0" indent="0" algn="ctr">
              <a:buNone/>
            </a:pPr>
            <a:r>
              <a:rPr lang="en-US" sz="1600" b="1" dirty="0">
                <a:solidFill>
                  <a:schemeClr val="accent1"/>
                </a:solidFill>
              </a:rPr>
              <a:t>g = 2</a:t>
            </a:r>
            <a:r>
              <a:rPr lang="en-US" sz="1600" dirty="0">
                <a:solidFill>
                  <a:schemeClr val="tx1"/>
                </a:solidFill>
              </a:rPr>
              <a:t>, </a:t>
            </a:r>
            <a:r>
              <a:rPr lang="en-US" sz="1600" b="1" dirty="0">
                <a:solidFill>
                  <a:schemeClr val="accent2"/>
                </a:solidFill>
              </a:rPr>
              <a:t>h = 6</a:t>
            </a:r>
            <a:endParaRPr lang="en-US" sz="1800" dirty="0"/>
          </a:p>
          <a:p>
            <a:pPr marL="0" indent="0" algn="ctr">
              <a:buNone/>
            </a:pPr>
            <a:r>
              <a:rPr lang="en-US" sz="1600" b="1" dirty="0">
                <a:solidFill>
                  <a:schemeClr val="accent3"/>
                </a:solidFill>
              </a:rPr>
              <a:t>f = 8  (lowest)</a:t>
            </a:r>
            <a:endParaRPr lang="en-US" sz="1800" dirty="0"/>
          </a:p>
        </p:txBody>
      </p:sp>
      <p:sp>
        <p:nvSpPr>
          <p:cNvPr id="24" name="Node B"/>
          <p:cNvSpPr txBox="1"/>
          <p:nvPr/>
        </p:nvSpPr>
        <p:spPr>
          <a:xfrm>
            <a:off x="10138410" y="2743200"/>
            <a:ext cx="548640" cy="548640"/>
          </a:xfrm>
          <a:prstGeom prst="ellipse">
            <a:avLst/>
          </a:prstGeom>
          <a:solidFill>
            <a:schemeClr val="bg1"/>
          </a:solidFill>
          <a:ln w="28575">
            <a:solidFill>
              <a:schemeClr val="accent6"/>
            </a:solidFill>
          </a:ln>
        </p:spPr>
        <p:txBody>
          <a:bodyPr wrap="square" lIns="0" tIns="0" rIns="0" bIns="0" rtlCol="0" anchor="ctr"/>
          <a:lstStyle/>
          <a:p>
            <a:pPr marL="0" indent="0" algn="ctr">
              <a:buNone/>
            </a:pPr>
            <a:r>
              <a:rPr lang="en-US" sz="2000" b="1" dirty="0">
                <a:solidFill>
                  <a:schemeClr val="accent6"/>
                </a:solidFill>
              </a:rPr>
              <a:t>B</a:t>
            </a:r>
            <a:endParaRPr lang="en-US" sz="2000" dirty="0"/>
          </a:p>
        </p:txBody>
      </p:sp>
      <p:sp>
        <p:nvSpPr>
          <p:cNvPr id="25" name="Text 23"/>
          <p:cNvSpPr txBox="1"/>
          <p:nvPr/>
        </p:nvSpPr>
        <p:spPr>
          <a:xfrm>
            <a:off x="9452610" y="3364992"/>
            <a:ext cx="1920240" cy="566928"/>
          </a:xfrm>
          <a:prstGeom prst="rect">
            <a:avLst/>
          </a:prstGeom>
          <a:noFill/>
          <a:ln/>
        </p:spPr>
        <p:txBody>
          <a:bodyPr wrap="square" lIns="0" tIns="0" rIns="0" bIns="0" rtlCol="0" anchor="t"/>
          <a:lstStyle/>
          <a:p>
            <a:pPr marL="0" indent="0" algn="ctr">
              <a:buNone/>
            </a:pPr>
            <a:r>
              <a:rPr lang="en-US" sz="1600" b="1" dirty="0">
                <a:solidFill>
                  <a:schemeClr val="accent1"/>
                </a:solidFill>
              </a:rPr>
              <a:t>g = 3</a:t>
            </a:r>
            <a:r>
              <a:rPr lang="en-US" sz="1600" dirty="0">
                <a:solidFill>
                  <a:schemeClr val="tx1"/>
                </a:solidFill>
              </a:rPr>
              <a:t>, </a:t>
            </a:r>
            <a:r>
              <a:rPr lang="en-US" sz="1600" b="1" dirty="0">
                <a:solidFill>
                  <a:schemeClr val="accent6"/>
                </a:solidFill>
              </a:rPr>
              <a:t>h = 8 ✗</a:t>
            </a:r>
            <a:endParaRPr lang="en-US" sz="1800" dirty="0"/>
          </a:p>
          <a:p>
            <a:pPr marL="0" indent="0" algn="ctr">
              <a:buNone/>
            </a:pPr>
            <a:r>
              <a:rPr lang="en-US" sz="1600" b="1" dirty="0">
                <a:solidFill>
                  <a:schemeClr val="accent3"/>
                </a:solidFill>
              </a:rPr>
              <a:t>f = 11</a:t>
            </a:r>
            <a:endParaRPr lang="en-US" sz="1800" dirty="0"/>
          </a:p>
        </p:txBody>
      </p:sp>
      <p:sp>
        <p:nvSpPr>
          <p:cNvPr id="26" name="Text 24"/>
          <p:cNvSpPr txBox="1"/>
          <p:nvPr/>
        </p:nvSpPr>
        <p:spPr>
          <a:xfrm>
            <a:off x="7178040" y="4160520"/>
            <a:ext cx="4297680" cy="1920240"/>
          </a:xfrm>
          <a:prstGeom prst="rect">
            <a:avLst/>
          </a:prstGeom>
          <a:noFill/>
          <a:ln/>
        </p:spPr>
        <p:txBody>
          <a:bodyPr wrap="square" lIns="0" tIns="0" rIns="0" bIns="0" rtlCol="0" anchor="t"/>
          <a:lstStyle/>
          <a:p>
            <a:pPr marL="0" indent="0">
              <a:spcAft>
                <a:spcPts val="600"/>
              </a:spcAft>
              <a:buNone/>
            </a:pPr>
            <a:r>
              <a:rPr lang="en-US" sz="1700" b="1" dirty="0">
                <a:solidFill>
                  <a:schemeClr val="accent6"/>
                </a:solidFill>
              </a:rPr>
              <a:t>h*(B) = 3, but h(B) = 8 overestimates.</a:t>
            </a:r>
            <a:endParaRPr lang="en-US" sz="1800" dirty="0"/>
          </a:p>
          <a:p>
            <a:pPr marL="0" indent="0">
              <a:spcAft>
                <a:spcPts val="600"/>
              </a:spcAft>
              <a:buNone/>
            </a:pPr>
            <a:r>
              <a:rPr lang="en-US" sz="1700" dirty="0">
                <a:solidFill>
                  <a:schemeClr val="tx1"/>
                </a:solidFill>
              </a:rPr>
              <a:t>A* expands A (8 &lt; 11), reaches the goal with cost 9 and never tries B.</a:t>
            </a:r>
            <a:endParaRPr lang="en-US" sz="1800" dirty="0"/>
          </a:p>
          <a:p>
            <a:pPr marL="0" indent="0">
              <a:buNone/>
            </a:pPr>
            <a:r>
              <a:rPr lang="en-US" sz="1700" b="1" dirty="0">
                <a:solidFill>
                  <a:schemeClr val="tx1"/>
                </a:solidFill>
              </a:rPr>
              <a:t>The optimal cost is 6: the best path was missed.</a:t>
            </a:r>
            <a:endParaRPr lang="en-US" sz="1800" dirty="0"/>
          </a:p>
        </p:txBody>
      </p:sp>
      <p:sp>
        <p:nvSpPr>
          <p:cNvPr id="27"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8-Puzzle: Two Heuristic Functions</a:t>
            </a:r>
            <a:endParaRPr lang="en-US" sz="3200" dirty="0"/>
          </a:p>
        </p:txBody>
      </p:sp>
      <p:sp>
        <p:nvSpPr>
          <p:cNvPr id="3" name="Text 1"/>
          <p:cNvSpPr txBox="1"/>
          <p:nvPr/>
        </p:nvSpPr>
        <p:spPr>
          <a:xfrm>
            <a:off x="548640" y="1371600"/>
            <a:ext cx="5303520" cy="777240"/>
          </a:xfrm>
          <a:prstGeom prst="rect">
            <a:avLst/>
          </a:prstGeom>
          <a:noFill/>
          <a:ln/>
        </p:spPr>
        <p:txBody>
          <a:bodyPr wrap="square" lIns="0" tIns="0" rIns="0" bIns="0" rtlCol="0" anchor="t"/>
          <a:lstStyle/>
          <a:p>
            <a:pPr marL="0" indent="0">
              <a:buNone/>
            </a:pPr>
            <a:r>
              <a:rPr lang="en-US" sz="1800" dirty="0">
                <a:solidFill>
                  <a:schemeClr val="tx1"/>
                </a:solidFill>
              </a:rPr>
              <a:t>Problem: slide tiles into the blank until the board matches the goal. Every move costs 1.</a:t>
            </a:r>
            <a:endParaRPr lang="en-US" sz="1800" dirty="0"/>
          </a:p>
        </p:txBody>
      </p:sp>
      <p:sp>
        <p:nvSpPr>
          <p:cNvPr id="4" name="Text 2"/>
          <p:cNvSpPr txBox="1"/>
          <p:nvPr/>
        </p:nvSpPr>
        <p:spPr>
          <a:xfrm>
            <a:off x="548640" y="2286000"/>
            <a:ext cx="2194560" cy="320040"/>
          </a:xfrm>
          <a:prstGeom prst="rect">
            <a:avLst/>
          </a:prstGeom>
          <a:noFill/>
          <a:ln/>
        </p:spPr>
        <p:txBody>
          <a:bodyPr wrap="square" lIns="0" tIns="0" rIns="0" bIns="0" rtlCol="0" anchor="t"/>
          <a:lstStyle/>
          <a:p>
            <a:pPr marL="0" indent="0" algn="ctr">
              <a:buNone/>
            </a:pPr>
            <a:r>
              <a:rPr lang="en-US" sz="1800" b="1" dirty="0">
                <a:solidFill>
                  <a:schemeClr val="accent1"/>
                </a:solidFill>
              </a:rPr>
              <a:t>Start state n</a:t>
            </a:r>
            <a:endParaRPr lang="en-US" sz="1800" dirty="0"/>
          </a:p>
        </p:txBody>
      </p:sp>
      <p:sp>
        <p:nvSpPr>
          <p:cNvPr id="5" name="Text 3"/>
          <p:cNvSpPr txBox="1"/>
          <p:nvPr/>
        </p:nvSpPr>
        <p:spPr>
          <a:xfrm>
            <a:off x="3566160" y="2286000"/>
            <a:ext cx="2194560" cy="320040"/>
          </a:xfrm>
          <a:prstGeom prst="rect">
            <a:avLst/>
          </a:prstGeom>
          <a:noFill/>
          <a:ln/>
        </p:spPr>
        <p:txBody>
          <a:bodyPr wrap="square" lIns="0" tIns="0" rIns="0" bIns="0" rtlCol="0" anchor="t"/>
          <a:lstStyle/>
          <a:p>
            <a:pPr marL="0" indent="0" algn="ctr">
              <a:buNone/>
            </a:pPr>
            <a:r>
              <a:rPr lang="en-US" sz="1800" b="1" dirty="0">
                <a:solidFill>
                  <a:schemeClr val="accent1"/>
                </a:solidFill>
              </a:rPr>
              <a:t>Goal state</a:t>
            </a:r>
            <a:endParaRPr lang="en-US" sz="1800" dirty="0"/>
          </a:p>
        </p:txBody>
      </p:sp>
      <p:sp>
        <p:nvSpPr>
          <p:cNvPr id="6" name="Start tile 2"/>
          <p:cNvSpPr txBox="1"/>
          <p:nvPr/>
        </p:nvSpPr>
        <p:spPr>
          <a:xfrm>
            <a:off x="576072" y="2679192"/>
            <a:ext cx="676656" cy="676656"/>
          </a:xfrm>
          <a:prstGeom prst="rect">
            <a:avLst/>
          </a:prstGeom>
          <a:solidFill>
            <a:schemeClr val="accent2"/>
          </a:solidFill>
          <a:ln/>
        </p:spPr>
        <p:txBody>
          <a:bodyPr wrap="square" lIns="0" tIns="0" rIns="0" bIns="0" rtlCol="0" anchor="ctr"/>
          <a:lstStyle/>
          <a:p>
            <a:pPr marL="0" indent="0" algn="ctr">
              <a:buNone/>
            </a:pPr>
            <a:r>
              <a:rPr lang="en-US" sz="2600" b="1" dirty="0">
                <a:solidFill>
                  <a:schemeClr val="bg1"/>
                </a:solidFill>
              </a:rPr>
              <a:t>2</a:t>
            </a:r>
            <a:endParaRPr lang="en-US" sz="2600" dirty="0"/>
          </a:p>
        </p:txBody>
      </p:sp>
      <p:sp>
        <p:nvSpPr>
          <p:cNvPr id="7" name="Start tile 8"/>
          <p:cNvSpPr txBox="1"/>
          <p:nvPr/>
        </p:nvSpPr>
        <p:spPr>
          <a:xfrm>
            <a:off x="1307592" y="2679192"/>
            <a:ext cx="676656" cy="676656"/>
          </a:xfrm>
          <a:prstGeom prst="rect">
            <a:avLst/>
          </a:prstGeom>
          <a:solidFill>
            <a:schemeClr val="accent2"/>
          </a:solidFill>
          <a:ln/>
        </p:spPr>
        <p:txBody>
          <a:bodyPr wrap="square" lIns="0" tIns="0" rIns="0" bIns="0" rtlCol="0" anchor="ctr"/>
          <a:lstStyle/>
          <a:p>
            <a:pPr marL="0" indent="0" algn="ctr">
              <a:buNone/>
            </a:pPr>
            <a:r>
              <a:rPr lang="en-US" sz="2600" b="1" dirty="0">
                <a:solidFill>
                  <a:schemeClr val="bg1"/>
                </a:solidFill>
              </a:rPr>
              <a:t>8</a:t>
            </a:r>
            <a:endParaRPr lang="en-US" sz="2600" dirty="0"/>
          </a:p>
        </p:txBody>
      </p:sp>
      <p:sp>
        <p:nvSpPr>
          <p:cNvPr id="8" name="Start tile 3"/>
          <p:cNvSpPr txBox="1"/>
          <p:nvPr/>
        </p:nvSpPr>
        <p:spPr>
          <a:xfrm>
            <a:off x="2039112" y="267919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3</a:t>
            </a:r>
            <a:endParaRPr lang="en-US" sz="2600" dirty="0"/>
          </a:p>
        </p:txBody>
      </p:sp>
      <p:sp>
        <p:nvSpPr>
          <p:cNvPr id="9" name="Start tile 1"/>
          <p:cNvSpPr txBox="1"/>
          <p:nvPr/>
        </p:nvSpPr>
        <p:spPr>
          <a:xfrm>
            <a:off x="576072" y="3410712"/>
            <a:ext cx="676656" cy="676656"/>
          </a:xfrm>
          <a:prstGeom prst="rect">
            <a:avLst/>
          </a:prstGeom>
          <a:solidFill>
            <a:schemeClr val="accent2"/>
          </a:solidFill>
          <a:ln/>
        </p:spPr>
        <p:txBody>
          <a:bodyPr wrap="square" lIns="0" tIns="0" rIns="0" bIns="0" rtlCol="0" anchor="ctr"/>
          <a:lstStyle/>
          <a:p>
            <a:pPr marL="0" indent="0" algn="ctr">
              <a:buNone/>
            </a:pPr>
            <a:r>
              <a:rPr lang="en-US" sz="2600" b="1" dirty="0">
                <a:solidFill>
                  <a:schemeClr val="bg1"/>
                </a:solidFill>
              </a:rPr>
              <a:t>1</a:t>
            </a:r>
            <a:endParaRPr lang="en-US" sz="2600" dirty="0"/>
          </a:p>
        </p:txBody>
      </p:sp>
      <p:sp>
        <p:nvSpPr>
          <p:cNvPr id="10" name="Start tile 6"/>
          <p:cNvSpPr txBox="1"/>
          <p:nvPr/>
        </p:nvSpPr>
        <p:spPr>
          <a:xfrm>
            <a:off x="1307592" y="3410712"/>
            <a:ext cx="676656" cy="676656"/>
          </a:xfrm>
          <a:prstGeom prst="rect">
            <a:avLst/>
          </a:prstGeom>
          <a:solidFill>
            <a:schemeClr val="accent2"/>
          </a:solidFill>
          <a:ln/>
        </p:spPr>
        <p:txBody>
          <a:bodyPr wrap="square" lIns="0" tIns="0" rIns="0" bIns="0" rtlCol="0" anchor="ctr"/>
          <a:lstStyle/>
          <a:p>
            <a:pPr marL="0" indent="0" algn="ctr">
              <a:buNone/>
            </a:pPr>
            <a:r>
              <a:rPr lang="en-US" sz="2600" b="1" dirty="0">
                <a:solidFill>
                  <a:schemeClr val="bg1"/>
                </a:solidFill>
              </a:rPr>
              <a:t>6</a:t>
            </a:r>
            <a:endParaRPr lang="en-US" sz="2600" dirty="0"/>
          </a:p>
        </p:txBody>
      </p:sp>
      <p:sp>
        <p:nvSpPr>
          <p:cNvPr id="11" name="Start tile 4"/>
          <p:cNvSpPr txBox="1"/>
          <p:nvPr/>
        </p:nvSpPr>
        <p:spPr>
          <a:xfrm>
            <a:off x="2039112" y="341071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4</a:t>
            </a:r>
            <a:endParaRPr lang="en-US" sz="2600" dirty="0"/>
          </a:p>
        </p:txBody>
      </p:sp>
      <p:sp>
        <p:nvSpPr>
          <p:cNvPr id="12" name="Start tile 7"/>
          <p:cNvSpPr txBox="1"/>
          <p:nvPr/>
        </p:nvSpPr>
        <p:spPr>
          <a:xfrm>
            <a:off x="576072" y="414223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7</a:t>
            </a:r>
            <a:endParaRPr lang="en-US" sz="2600" dirty="0"/>
          </a:p>
        </p:txBody>
      </p:sp>
      <p:sp>
        <p:nvSpPr>
          <p:cNvPr id="13" name="Start blank"/>
          <p:cNvSpPr/>
          <p:nvPr/>
        </p:nvSpPr>
        <p:spPr>
          <a:xfrm>
            <a:off x="1307592" y="4142232"/>
            <a:ext cx="676656" cy="676656"/>
          </a:xfrm>
          <a:prstGeom prst="rect">
            <a:avLst/>
          </a:prstGeom>
          <a:solidFill>
            <a:schemeClr val="bg2"/>
          </a:solidFill>
          <a:ln w="12700">
            <a:solidFill>
              <a:schemeClr val="accent1"/>
            </a:solidFill>
            <a:prstDash val="dash"/>
          </a:ln>
        </p:spPr>
      </p:sp>
      <p:sp>
        <p:nvSpPr>
          <p:cNvPr id="14" name="Start tile 5"/>
          <p:cNvSpPr txBox="1"/>
          <p:nvPr/>
        </p:nvSpPr>
        <p:spPr>
          <a:xfrm>
            <a:off x="2039112" y="414223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5</a:t>
            </a:r>
            <a:endParaRPr lang="en-US" sz="2600" dirty="0"/>
          </a:p>
        </p:txBody>
      </p:sp>
      <p:sp>
        <p:nvSpPr>
          <p:cNvPr id="15" name="Goal tile 1"/>
          <p:cNvSpPr txBox="1"/>
          <p:nvPr/>
        </p:nvSpPr>
        <p:spPr>
          <a:xfrm>
            <a:off x="3593592" y="267919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1</a:t>
            </a:r>
            <a:endParaRPr lang="en-US" sz="2600" dirty="0"/>
          </a:p>
        </p:txBody>
      </p:sp>
      <p:sp>
        <p:nvSpPr>
          <p:cNvPr id="16" name="Goal tile 2"/>
          <p:cNvSpPr txBox="1"/>
          <p:nvPr/>
        </p:nvSpPr>
        <p:spPr>
          <a:xfrm>
            <a:off x="4325112" y="267919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2</a:t>
            </a:r>
            <a:endParaRPr lang="en-US" sz="2600" dirty="0"/>
          </a:p>
        </p:txBody>
      </p:sp>
      <p:sp>
        <p:nvSpPr>
          <p:cNvPr id="17" name="Goal tile 3"/>
          <p:cNvSpPr txBox="1"/>
          <p:nvPr/>
        </p:nvSpPr>
        <p:spPr>
          <a:xfrm>
            <a:off x="5056632" y="267919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3</a:t>
            </a:r>
            <a:endParaRPr lang="en-US" sz="2600" dirty="0"/>
          </a:p>
        </p:txBody>
      </p:sp>
      <p:sp>
        <p:nvSpPr>
          <p:cNvPr id="18" name="Goal tile 8"/>
          <p:cNvSpPr txBox="1"/>
          <p:nvPr/>
        </p:nvSpPr>
        <p:spPr>
          <a:xfrm>
            <a:off x="3593592" y="341071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8</a:t>
            </a:r>
            <a:endParaRPr lang="en-US" sz="2600" dirty="0"/>
          </a:p>
        </p:txBody>
      </p:sp>
      <p:sp>
        <p:nvSpPr>
          <p:cNvPr id="19" name="Goal blank"/>
          <p:cNvSpPr/>
          <p:nvPr/>
        </p:nvSpPr>
        <p:spPr>
          <a:xfrm>
            <a:off x="4325112" y="3410712"/>
            <a:ext cx="676656" cy="676656"/>
          </a:xfrm>
          <a:prstGeom prst="rect">
            <a:avLst/>
          </a:prstGeom>
          <a:solidFill>
            <a:schemeClr val="bg2"/>
          </a:solidFill>
          <a:ln w="12700">
            <a:solidFill>
              <a:schemeClr val="accent1"/>
            </a:solidFill>
            <a:prstDash val="dash"/>
          </a:ln>
        </p:spPr>
      </p:sp>
      <p:sp>
        <p:nvSpPr>
          <p:cNvPr id="20" name="Goal tile 4"/>
          <p:cNvSpPr txBox="1"/>
          <p:nvPr/>
        </p:nvSpPr>
        <p:spPr>
          <a:xfrm>
            <a:off x="5056632" y="341071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4</a:t>
            </a:r>
            <a:endParaRPr lang="en-US" sz="2600" dirty="0"/>
          </a:p>
        </p:txBody>
      </p:sp>
      <p:sp>
        <p:nvSpPr>
          <p:cNvPr id="21" name="Goal tile 7"/>
          <p:cNvSpPr txBox="1"/>
          <p:nvPr/>
        </p:nvSpPr>
        <p:spPr>
          <a:xfrm>
            <a:off x="3593592" y="414223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7</a:t>
            </a:r>
            <a:endParaRPr lang="en-US" sz="2600" dirty="0"/>
          </a:p>
        </p:txBody>
      </p:sp>
      <p:sp>
        <p:nvSpPr>
          <p:cNvPr id="22" name="Goal tile 6"/>
          <p:cNvSpPr txBox="1"/>
          <p:nvPr/>
        </p:nvSpPr>
        <p:spPr>
          <a:xfrm>
            <a:off x="4325112" y="414223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6</a:t>
            </a:r>
            <a:endParaRPr lang="en-US" sz="2600" dirty="0"/>
          </a:p>
        </p:txBody>
      </p:sp>
      <p:sp>
        <p:nvSpPr>
          <p:cNvPr id="23" name="Goal tile 5"/>
          <p:cNvSpPr txBox="1"/>
          <p:nvPr/>
        </p:nvSpPr>
        <p:spPr>
          <a:xfrm>
            <a:off x="5056632" y="4142232"/>
            <a:ext cx="676656" cy="676656"/>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5</a:t>
            </a:r>
            <a:endParaRPr lang="en-US" sz="2600" dirty="0"/>
          </a:p>
        </p:txBody>
      </p:sp>
      <p:sp>
        <p:nvSpPr>
          <p:cNvPr id="24" name="Board arrow"/>
          <p:cNvSpPr/>
          <p:nvPr/>
        </p:nvSpPr>
        <p:spPr>
          <a:xfrm>
            <a:off x="2834640" y="3749040"/>
            <a:ext cx="640080" cy="0"/>
          </a:xfrm>
          <a:prstGeom prst="line">
            <a:avLst/>
          </a:prstGeom>
          <a:noFill/>
          <a:ln w="44450">
            <a:solidFill>
              <a:schemeClr val="tx1"/>
            </a:solidFill>
            <a:prstDash val="solid"/>
            <a:tailEnd type="triangle"/>
          </a:ln>
        </p:spPr>
      </p:sp>
      <p:sp>
        <p:nvSpPr>
          <p:cNvPr id="25" name="Legend swatch"/>
          <p:cNvSpPr/>
          <p:nvPr/>
        </p:nvSpPr>
        <p:spPr>
          <a:xfrm>
            <a:off x="548640" y="5029200"/>
            <a:ext cx="274320" cy="274320"/>
          </a:xfrm>
          <a:prstGeom prst="rect">
            <a:avLst/>
          </a:prstGeom>
          <a:solidFill>
            <a:schemeClr val="accent2"/>
          </a:solidFill>
          <a:ln/>
        </p:spPr>
      </p:sp>
      <p:sp>
        <p:nvSpPr>
          <p:cNvPr id="26" name="Text 24"/>
          <p:cNvSpPr txBox="1"/>
          <p:nvPr/>
        </p:nvSpPr>
        <p:spPr>
          <a:xfrm>
            <a:off x="960120" y="4983480"/>
            <a:ext cx="4846320" cy="365760"/>
          </a:xfrm>
          <a:prstGeom prst="rect">
            <a:avLst/>
          </a:prstGeom>
          <a:noFill/>
          <a:ln/>
        </p:spPr>
        <p:txBody>
          <a:bodyPr wrap="square" lIns="0" tIns="0" rIns="0" bIns="0" rtlCol="0" anchor="ctr"/>
          <a:lstStyle/>
          <a:p>
            <a:pPr marL="0" indent="0">
              <a:buNone/>
            </a:pPr>
            <a:r>
              <a:rPr lang="en-US" sz="1700" dirty="0">
                <a:solidFill>
                  <a:schemeClr val="tx1"/>
                </a:solidFill>
              </a:rPr>
              <a:t>Orange = tile not in its goal position (2, 8, 1, 6)</a:t>
            </a:r>
            <a:endParaRPr lang="en-US" sz="1700" dirty="0"/>
          </a:p>
        </p:txBody>
      </p:sp>
      <p:sp>
        <p:nvSpPr>
          <p:cNvPr id="27" name="Text 25"/>
          <p:cNvSpPr txBox="1"/>
          <p:nvPr/>
        </p:nvSpPr>
        <p:spPr>
          <a:xfrm>
            <a:off x="548640" y="5486400"/>
            <a:ext cx="5303520" cy="365760"/>
          </a:xfrm>
          <a:prstGeom prst="rect">
            <a:avLst/>
          </a:prstGeom>
          <a:noFill/>
          <a:ln/>
        </p:spPr>
        <p:txBody>
          <a:bodyPr wrap="square" lIns="0" tIns="0" rIns="0" bIns="0" rtlCol="0" anchor="t"/>
          <a:lstStyle/>
          <a:p>
            <a:pPr marL="0" indent="0">
              <a:buNone/>
            </a:pPr>
            <a:r>
              <a:rPr lang="en-US" sz="1700" dirty="0">
                <a:solidFill>
                  <a:schemeClr val="tx1"/>
                </a:solidFill>
              </a:rPr>
              <a:t>The blank is never counted as a tile.</a:t>
            </a:r>
            <a:endParaRPr lang="en-US" sz="1700" dirty="0"/>
          </a:p>
        </p:txBody>
      </p:sp>
      <p:sp>
        <p:nvSpPr>
          <p:cNvPr id="28" name="h1 card"/>
          <p:cNvSpPr/>
          <p:nvPr/>
        </p:nvSpPr>
        <p:spPr>
          <a:xfrm>
            <a:off x="6172200" y="1325880"/>
            <a:ext cx="5468112" cy="2423160"/>
          </a:xfrm>
          <a:prstGeom prst="roundRect">
            <a:avLst>
              <a:gd name="adj" fmla="val 3774"/>
            </a:avLst>
          </a:prstGeom>
          <a:solidFill>
            <a:schemeClr val="bg2"/>
          </a:solidFill>
          <a:ln/>
        </p:spPr>
      </p:sp>
      <p:sp>
        <p:nvSpPr>
          <p:cNvPr id="29" name="Text 27"/>
          <p:cNvSpPr txBox="1"/>
          <p:nvPr/>
        </p:nvSpPr>
        <p:spPr>
          <a:xfrm>
            <a:off x="6400800" y="1417320"/>
            <a:ext cx="5029200" cy="365760"/>
          </a:xfrm>
          <a:prstGeom prst="rect">
            <a:avLst/>
          </a:prstGeom>
          <a:noFill/>
          <a:ln/>
        </p:spPr>
        <p:txBody>
          <a:bodyPr wrap="square" lIns="0" tIns="0" rIns="0" bIns="0" rtlCol="0" anchor="t"/>
          <a:lstStyle/>
          <a:p>
            <a:pPr marL="0" indent="0">
              <a:buNone/>
            </a:pPr>
            <a:r>
              <a:rPr lang="en-US" sz="2000" b="1" dirty="0">
                <a:solidFill>
                  <a:schemeClr val="accent1"/>
                </a:solidFill>
              </a:rPr>
              <a:t>1 · Misplaced Tiles</a:t>
            </a:r>
            <a:endParaRPr lang="en-US" sz="2000" dirty="0"/>
          </a:p>
        </p:txBody>
      </p:sp>
      <p:sp>
        <p:nvSpPr>
          <p:cNvPr id="30" name="Text 28"/>
          <p:cNvSpPr txBox="1"/>
          <p:nvPr/>
        </p:nvSpPr>
        <p:spPr>
          <a:xfrm>
            <a:off x="6400800" y="1828800"/>
            <a:ext cx="5029200" cy="411480"/>
          </a:xfrm>
          <a:prstGeom prst="rect">
            <a:avLst/>
          </a:prstGeom>
          <a:noFill/>
          <a:ln/>
        </p:spPr>
        <p:txBody>
          <a:bodyPr wrap="square" lIns="0" tIns="0" rIns="0" bIns="0" rtlCol="0" anchor="t"/>
          <a:lstStyle/>
          <a:p>
            <a:pPr marL="0" indent="0">
              <a:buNone/>
            </a:pPr>
            <a:r>
              <a:rPr lang="en-US" sz="2200" b="1" dirty="0">
                <a:solidFill>
                  <a:schemeClr val="accent2"/>
                </a:solidFill>
              </a:rPr>
              <a:t>h₁(n) = number of misplaced tiles</a:t>
            </a:r>
            <a:endParaRPr lang="en-US" sz="2200" dirty="0"/>
          </a:p>
        </p:txBody>
      </p:sp>
      <p:sp>
        <p:nvSpPr>
          <p:cNvPr id="31" name="Text 29"/>
          <p:cNvSpPr txBox="1"/>
          <p:nvPr/>
        </p:nvSpPr>
        <p:spPr>
          <a:xfrm>
            <a:off x="6400800" y="2286000"/>
            <a:ext cx="5029200" cy="548640"/>
          </a:xfrm>
          <a:prstGeom prst="rect">
            <a:avLst/>
          </a:prstGeom>
          <a:noFill/>
          <a:ln/>
        </p:spPr>
        <p:txBody>
          <a:bodyPr wrap="square" lIns="0" tIns="0" rIns="0" bIns="0" rtlCol="0" anchor="t"/>
          <a:lstStyle/>
          <a:p>
            <a:pPr marL="0" indent="0">
              <a:buNone/>
            </a:pPr>
            <a:r>
              <a:rPr lang="en-US" sz="1700" dirty="0">
                <a:solidFill>
                  <a:schemeClr val="tx1"/>
                </a:solidFill>
              </a:rPr>
              <a:t>Counts tiles 1–8 that are not on their goal square (blank excluded).</a:t>
            </a:r>
            <a:endParaRPr lang="en-US" sz="1700" dirty="0"/>
          </a:p>
        </p:txBody>
      </p:sp>
      <p:sp>
        <p:nvSpPr>
          <p:cNvPr id="32" name="Text 30"/>
          <p:cNvSpPr txBox="1"/>
          <p:nvPr/>
        </p:nvSpPr>
        <p:spPr>
          <a:xfrm>
            <a:off x="6400800" y="2852928"/>
            <a:ext cx="5029200" cy="320040"/>
          </a:xfrm>
          <a:prstGeom prst="rect">
            <a:avLst/>
          </a:prstGeom>
          <a:noFill/>
          <a:ln/>
        </p:spPr>
        <p:txBody>
          <a:bodyPr wrap="square" lIns="0" tIns="0" rIns="0" bIns="0" rtlCol="0" anchor="t"/>
          <a:lstStyle/>
          <a:p>
            <a:pPr marL="0" indent="0">
              <a:buNone/>
            </a:pPr>
            <a:r>
              <a:rPr lang="en-US" sz="1700" b="1" dirty="0">
                <a:solidFill>
                  <a:schemeClr val="tx1"/>
                </a:solidFill>
              </a:rPr>
              <a:t>Start state: tiles 2, 8, 1, 6  →  h₁ = 4</a:t>
            </a:r>
            <a:endParaRPr lang="en-US" sz="1700" dirty="0"/>
          </a:p>
        </p:txBody>
      </p:sp>
      <p:sp>
        <p:nvSpPr>
          <p:cNvPr id="33" name="Text 31"/>
          <p:cNvSpPr txBox="1"/>
          <p:nvPr/>
        </p:nvSpPr>
        <p:spPr>
          <a:xfrm>
            <a:off x="6400800" y="3200400"/>
            <a:ext cx="5029200" cy="457200"/>
          </a:xfrm>
          <a:prstGeom prst="rect">
            <a:avLst/>
          </a:prstGeom>
          <a:noFill/>
          <a:ln/>
        </p:spPr>
        <p:txBody>
          <a:bodyPr wrap="square" lIns="0" tIns="0" rIns="0" bIns="0" rtlCol="0" anchor="t"/>
          <a:lstStyle/>
          <a:p>
            <a:pPr marL="0" indent="0">
              <a:buNone/>
            </a:pPr>
            <a:r>
              <a:rPr lang="en-US" sz="1700" dirty="0">
                <a:solidFill>
                  <a:schemeClr val="tx1"/>
                </a:solidFill>
              </a:rPr>
              <a:t>Lower = fewer tiles to fix; h₁ = 0 only at the goal.</a:t>
            </a:r>
            <a:endParaRPr lang="en-US" sz="1700" dirty="0"/>
          </a:p>
        </p:txBody>
      </p:sp>
      <p:sp>
        <p:nvSpPr>
          <p:cNvPr id="34" name="h2 card"/>
          <p:cNvSpPr/>
          <p:nvPr/>
        </p:nvSpPr>
        <p:spPr>
          <a:xfrm>
            <a:off x="6172200" y="3886200"/>
            <a:ext cx="5468112" cy="2377440"/>
          </a:xfrm>
          <a:prstGeom prst="roundRect">
            <a:avLst>
              <a:gd name="adj" fmla="val 3846"/>
            </a:avLst>
          </a:prstGeom>
          <a:solidFill>
            <a:schemeClr val="bg2"/>
          </a:solidFill>
          <a:ln/>
        </p:spPr>
      </p:sp>
      <p:sp>
        <p:nvSpPr>
          <p:cNvPr id="35" name="Text 33"/>
          <p:cNvSpPr txBox="1"/>
          <p:nvPr/>
        </p:nvSpPr>
        <p:spPr>
          <a:xfrm>
            <a:off x="6400800" y="3977640"/>
            <a:ext cx="5029200" cy="365760"/>
          </a:xfrm>
          <a:prstGeom prst="rect">
            <a:avLst/>
          </a:prstGeom>
          <a:noFill/>
          <a:ln/>
        </p:spPr>
        <p:txBody>
          <a:bodyPr wrap="square" lIns="0" tIns="0" rIns="0" bIns="0" rtlCol="0" anchor="t"/>
          <a:lstStyle/>
          <a:p>
            <a:pPr marL="0" indent="0">
              <a:buNone/>
            </a:pPr>
            <a:r>
              <a:rPr lang="en-US" sz="2000" b="1" dirty="0">
                <a:solidFill>
                  <a:schemeClr val="accent1"/>
                </a:solidFill>
              </a:rPr>
              <a:t>2 · Manhattan Distance</a:t>
            </a:r>
            <a:endParaRPr lang="en-US" sz="2000" dirty="0"/>
          </a:p>
        </p:txBody>
      </p:sp>
      <p:sp>
        <p:nvSpPr>
          <p:cNvPr id="36" name="Text 34"/>
          <p:cNvSpPr txBox="1"/>
          <p:nvPr/>
        </p:nvSpPr>
        <p:spPr>
          <a:xfrm>
            <a:off x="6400800" y="4389120"/>
            <a:ext cx="5029200" cy="457200"/>
          </a:xfrm>
          <a:prstGeom prst="rect">
            <a:avLst/>
          </a:prstGeom>
          <a:noFill/>
          <a:ln/>
        </p:spPr>
        <p:txBody>
          <a:bodyPr wrap="square" lIns="0" tIns="0" rIns="0" bIns="0" rtlCol="0" anchor="t"/>
          <a:lstStyle/>
          <a:p>
            <a:pPr marL="0" indent="0">
              <a:buNone/>
            </a:pPr>
            <a:r>
              <a:rPr lang="en-US" sz="2200" b="1" dirty="0">
                <a:solidFill>
                  <a:schemeClr val="accent2"/>
                </a:solidFill>
              </a:rPr>
              <a:t>h₂(n) = Σᵢ ( |xᵢ − xᵢ*| + |yᵢ − yᵢ*| )</a:t>
            </a:r>
            <a:endParaRPr lang="en-US" sz="1800" dirty="0"/>
          </a:p>
        </p:txBody>
      </p:sp>
      <p:sp>
        <p:nvSpPr>
          <p:cNvPr id="37" name="Text 35"/>
          <p:cNvSpPr txBox="1"/>
          <p:nvPr/>
        </p:nvSpPr>
        <p:spPr>
          <a:xfrm>
            <a:off x="6400800" y="4892040"/>
            <a:ext cx="5029200" cy="822960"/>
          </a:xfrm>
          <a:prstGeom prst="rect">
            <a:avLst/>
          </a:prstGeom>
          <a:noFill/>
          <a:ln/>
        </p:spPr>
        <p:txBody>
          <a:bodyPr wrap="square" lIns="0" tIns="0" rIns="0" bIns="0" rtlCol="0" anchor="t"/>
          <a:lstStyle/>
          <a:p>
            <a:pPr marL="0" indent="0">
              <a:buNone/>
            </a:pPr>
            <a:r>
              <a:rPr lang="en-US" sz="1700" dirty="0">
                <a:solidFill>
                  <a:schemeClr val="tx1"/>
                </a:solidFill>
              </a:rPr>
              <a:t>Σ over the 8 numbered tiles i. (xᵢ, yᵢ) = current column and row; (xᵢ*, yᵢ*) = goal column and row.</a:t>
            </a:r>
            <a:endParaRPr lang="en-US" sz="1800" dirty="0"/>
          </a:p>
        </p:txBody>
      </p:sp>
      <p:sp>
        <p:nvSpPr>
          <p:cNvPr id="38" name="Text 36"/>
          <p:cNvSpPr txBox="1"/>
          <p:nvPr/>
        </p:nvSpPr>
        <p:spPr>
          <a:xfrm>
            <a:off x="6400800" y="5669280"/>
            <a:ext cx="5029200" cy="548640"/>
          </a:xfrm>
          <a:prstGeom prst="rect">
            <a:avLst/>
          </a:prstGeom>
          <a:noFill/>
          <a:ln/>
        </p:spPr>
        <p:txBody>
          <a:bodyPr wrap="square" lIns="0" tIns="0" rIns="0" bIns="0" rtlCol="0" anchor="t"/>
          <a:lstStyle/>
          <a:p>
            <a:pPr marL="0" indent="0">
              <a:buNone/>
            </a:pPr>
            <a:r>
              <a:rPr lang="en-US" sz="1700" dirty="0">
                <a:solidFill>
                  <a:schemeClr val="tx1"/>
                </a:solidFill>
              </a:rPr>
              <a:t>Each term = moves tile i needs if nothing blocked it. Lower = closer to goal.</a:t>
            </a:r>
            <a:endParaRPr lang="en-US" sz="1700" dirty="0"/>
          </a:p>
        </p:txBody>
      </p:sp>
      <p:sp>
        <p:nvSpPr>
          <p:cNvPr id="39"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8-Puzzle: Worked Calculation and Comparison</a:t>
            </a:r>
            <a:endParaRPr lang="en-US" sz="3200" dirty="0"/>
          </a:p>
        </p:txBody>
      </p:sp>
      <p:graphicFrame>
        <p:nvGraphicFramePr>
          <p:cNvPr id="8" name="Manhattan table"/>
          <p:cNvGraphicFramePr>
            <a:graphicFrameLocks noGrp="1"/>
          </p:cNvGraphicFramePr>
          <p:nvPr/>
        </p:nvGraphicFramePr>
        <p:xfrm>
          <a:off x="548640" y="1325880"/>
          <a:ext cx="6035040" cy="4023360"/>
        </p:xfrm>
        <a:graphic>
          <a:graphicData uri="http://schemas.openxmlformats.org/drawingml/2006/table">
            <a:tbl>
              <a:tblPr/>
              <a:tblGrid>
                <a:gridCol w="1097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02336">
                <a:tc>
                  <a:txBody>
                    <a:bodyPr/>
                    <a:lstStyle/>
                    <a:p>
                      <a:pPr marL="0" indent="0">
                        <a:buNone/>
                      </a:pPr>
                      <a:r>
                        <a:rPr lang="en-US" sz="1700" b="1" dirty="0">
                          <a:solidFill>
                            <a:schemeClr val="bg1"/>
                          </a:solidFill>
                        </a:rPr>
                        <a:t>Tile i</a:t>
                      </a:r>
                      <a:endParaRPr lang="en-US" sz="17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700" b="1" dirty="0">
                          <a:solidFill>
                            <a:schemeClr val="bg1"/>
                          </a:solidFill>
                        </a:rPr>
                        <a:t>Current (x, y)</a:t>
                      </a:r>
                      <a:endParaRPr lang="en-US" sz="17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700" b="1" dirty="0">
                          <a:solidFill>
                            <a:schemeClr val="bg1"/>
                          </a:solidFill>
                        </a:rPr>
                        <a:t>Goal (x, y)</a:t>
                      </a:r>
                      <a:endParaRPr lang="en-US" sz="17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700" b="1" dirty="0">
                          <a:solidFill>
                            <a:schemeClr val="bg1"/>
                          </a:solidFill>
                        </a:rPr>
                        <a:t>|Δx| + |Δy|</a:t>
                      </a:r>
                      <a:endParaRPr lang="en-US" sz="17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02336">
                <a:tc>
                  <a:txBody>
                    <a:bodyPr/>
                    <a:lstStyle/>
                    <a:p>
                      <a:pPr marL="0" indent="0">
                        <a:buNone/>
                      </a:pPr>
                      <a:r>
                        <a:rPr lang="en-US" sz="1600" b="1" dirty="0">
                          <a:solidFill>
                            <a:schemeClr val="tx1"/>
                          </a:solidFill>
                        </a:rPr>
                        <a:t>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(1, 2)</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(1, 1)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0 + 1 =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extLst>
                  <a:ext uri="{0D108BD9-81ED-4DB2-BD59-A6C34878D82A}">
                    <a16:rowId xmlns:a16="http://schemas.microsoft.com/office/drawing/2014/main" val="10001"/>
                  </a:ext>
                </a:extLst>
              </a:tr>
              <a:tr h="402336">
                <a:tc>
                  <a:txBody>
                    <a:bodyPr/>
                    <a:lstStyle/>
                    <a:p>
                      <a:pPr marL="0" indent="0">
                        <a:buNone/>
                      </a:pPr>
                      <a:r>
                        <a:rPr lang="en-US" sz="1600" b="1" dirty="0">
                          <a:solidFill>
                            <a:schemeClr val="tx1"/>
                          </a:solidFill>
                        </a:rPr>
                        <a:t>2</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(1, 1)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(2, 1)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1 + 0 =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extLst>
                  <a:ext uri="{0D108BD9-81ED-4DB2-BD59-A6C34878D82A}">
                    <a16:rowId xmlns:a16="http://schemas.microsoft.com/office/drawing/2014/main" val="10002"/>
                  </a:ext>
                </a:extLst>
              </a:tr>
              <a:tr h="402336">
                <a:tc>
                  <a:txBody>
                    <a:bodyPr/>
                    <a:lstStyle/>
                    <a:p>
                      <a:pPr marL="0" indent="0">
                        <a:buNone/>
                      </a:pPr>
                      <a:r>
                        <a:rPr lang="en-US" sz="1600" dirty="0">
                          <a:solidFill>
                            <a:schemeClr val="tx1"/>
                          </a:solidFill>
                        </a:rPr>
                        <a:t>3</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(3, 1)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(3, 1)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0</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2336">
                <a:tc>
                  <a:txBody>
                    <a:bodyPr/>
                    <a:lstStyle/>
                    <a:p>
                      <a:pPr marL="0" indent="0">
                        <a:buNone/>
                      </a:pPr>
                      <a:r>
                        <a:rPr lang="en-US" sz="1600" dirty="0">
                          <a:solidFill>
                            <a:schemeClr val="tx1"/>
                          </a:solidFill>
                        </a:rPr>
                        <a:t>4</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(3, 2)</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(3, 2)</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0</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02336">
                <a:tc>
                  <a:txBody>
                    <a:bodyPr/>
                    <a:lstStyle/>
                    <a:p>
                      <a:pPr marL="0" indent="0">
                        <a:buNone/>
                      </a:pPr>
                      <a:r>
                        <a:rPr lang="en-US" sz="1600" dirty="0">
                          <a:solidFill>
                            <a:schemeClr val="tx1"/>
                          </a:solidFill>
                        </a:rPr>
                        <a:t>5</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(3, 3)</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(3, 3)</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0</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02336">
                <a:tc>
                  <a:txBody>
                    <a:bodyPr/>
                    <a:lstStyle/>
                    <a:p>
                      <a:pPr marL="0" indent="0">
                        <a:buNone/>
                      </a:pPr>
                      <a:r>
                        <a:rPr lang="en-US" sz="1600" b="1" dirty="0">
                          <a:solidFill>
                            <a:schemeClr val="tx1"/>
                          </a:solidFill>
                        </a:rPr>
                        <a:t>6</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(2, 2)</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(2, 3)</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0 + 1 =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extLst>
                  <a:ext uri="{0D108BD9-81ED-4DB2-BD59-A6C34878D82A}">
                    <a16:rowId xmlns:a16="http://schemas.microsoft.com/office/drawing/2014/main" val="10006"/>
                  </a:ext>
                </a:extLst>
              </a:tr>
              <a:tr h="402336">
                <a:tc>
                  <a:txBody>
                    <a:bodyPr/>
                    <a:lstStyle/>
                    <a:p>
                      <a:pPr marL="0" indent="0">
                        <a:buNone/>
                      </a:pPr>
                      <a:r>
                        <a:rPr lang="en-US" sz="1600" dirty="0">
                          <a:solidFill>
                            <a:schemeClr val="tx1"/>
                          </a:solidFill>
                        </a:rPr>
                        <a:t>7</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(1, 3)</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(1, 3)</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0</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02336">
                <a:tc>
                  <a:txBody>
                    <a:bodyPr/>
                    <a:lstStyle/>
                    <a:p>
                      <a:pPr marL="0" indent="0">
                        <a:buNone/>
                      </a:pPr>
                      <a:r>
                        <a:rPr lang="en-US" sz="1600" b="1" dirty="0">
                          <a:solidFill>
                            <a:schemeClr val="tx1"/>
                          </a:solidFill>
                        </a:rPr>
                        <a:t>8</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(2, 1)</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(1, 2)</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tc>
                  <a:txBody>
                    <a:bodyPr/>
                    <a:lstStyle/>
                    <a:p>
                      <a:pPr marL="0" indent="0">
                        <a:buNone/>
                      </a:pPr>
                      <a:r>
                        <a:rPr lang="en-US" sz="1600" b="1" dirty="0">
                          <a:solidFill>
                            <a:schemeClr val="tx1"/>
                          </a:solidFill>
                        </a:rPr>
                        <a:t>1 + 1 = 2</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2">
                        <a:alpha val="15000"/>
                      </a:schemeClr>
                    </a:solidFill>
                  </a:tcPr>
                </a:tc>
                <a:extLst>
                  <a:ext uri="{0D108BD9-81ED-4DB2-BD59-A6C34878D82A}">
                    <a16:rowId xmlns:a16="http://schemas.microsoft.com/office/drawing/2014/main" val="10008"/>
                  </a:ext>
                </a:extLst>
              </a:tr>
              <a:tr h="402336">
                <a:tc>
                  <a:txBody>
                    <a:bodyPr/>
                    <a:lstStyle/>
                    <a:p>
                      <a:pPr marL="0" indent="0">
                        <a:buNone/>
                      </a:pPr>
                      <a:r>
                        <a:rPr lang="en-US" sz="1700" b="1" dirty="0">
                          <a:solidFill>
                            <a:schemeClr val="bg1"/>
                          </a:solidFill>
                        </a:rPr>
                        <a:t>Total</a:t>
                      </a:r>
                      <a:endParaRPr lang="en-US" sz="17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endParaRPr lang="en-US" sz="1600" dirty="0"/>
                    </a:p>
                  </a:txBody>
                  <a:tcPr marL="101600" marR="101600" marT="38100" marB="381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endParaRPr lang="en-US" sz="1600" dirty="0"/>
                    </a:p>
                  </a:txBody>
                  <a:tcPr marL="101600" marR="101600" marT="38100" marB="38100">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700" b="1" dirty="0">
                          <a:solidFill>
                            <a:schemeClr val="bg1"/>
                          </a:solidFill>
                        </a:rPr>
                        <a:t>h₂ = 5</a:t>
                      </a:r>
                      <a:endParaRPr lang="en-US" sz="17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extLst>
                  <a:ext uri="{0D108BD9-81ED-4DB2-BD59-A6C34878D82A}">
                    <a16:rowId xmlns:a16="http://schemas.microsoft.com/office/drawing/2014/main" val="10009"/>
                  </a:ext>
                </a:extLst>
              </a:tr>
            </a:tbl>
          </a:graphicData>
        </a:graphic>
      </p:graphicFrame>
      <p:sp>
        <p:nvSpPr>
          <p:cNvPr id="4" name="Text 1"/>
          <p:cNvSpPr txBox="1"/>
          <p:nvPr/>
        </p:nvSpPr>
        <p:spPr>
          <a:xfrm>
            <a:off x="548640" y="5669280"/>
            <a:ext cx="6035040" cy="594360"/>
          </a:xfrm>
          <a:prstGeom prst="rect">
            <a:avLst/>
          </a:prstGeom>
          <a:noFill/>
          <a:ln/>
        </p:spPr>
        <p:txBody>
          <a:bodyPr wrap="square" lIns="0" tIns="0" rIns="0" bIns="0" rtlCol="0" anchor="t"/>
          <a:lstStyle/>
          <a:p>
            <a:pPr marL="0" indent="0">
              <a:buNone/>
            </a:pPr>
            <a:r>
              <a:rPr lang="en-US" sz="1600" dirty="0">
                <a:solidFill>
                  <a:schemeClr val="tx1"/>
                </a:solidFill>
              </a:rPr>
              <a:t>(x, y) = (column, row), counted from 1 at the top-left. Orange rows are misplaced tiles.</a:t>
            </a:r>
            <a:endParaRPr lang="en-US" sz="1600" dirty="0"/>
          </a:p>
        </p:txBody>
      </p:sp>
      <p:sp>
        <p:nvSpPr>
          <p:cNvPr id="5" name="Result card"/>
          <p:cNvSpPr/>
          <p:nvPr/>
        </p:nvSpPr>
        <p:spPr>
          <a:xfrm>
            <a:off x="6858000" y="1325880"/>
            <a:ext cx="4782312" cy="1965960"/>
          </a:xfrm>
          <a:prstGeom prst="roundRect">
            <a:avLst>
              <a:gd name="adj" fmla="val 4651"/>
            </a:avLst>
          </a:prstGeom>
          <a:solidFill>
            <a:schemeClr val="bg2"/>
          </a:solidFill>
          <a:ln/>
        </p:spPr>
      </p:sp>
      <p:sp>
        <p:nvSpPr>
          <p:cNvPr id="6" name="Text 3"/>
          <p:cNvSpPr txBox="1"/>
          <p:nvPr/>
        </p:nvSpPr>
        <p:spPr>
          <a:xfrm>
            <a:off x="7086600" y="1417320"/>
            <a:ext cx="4389120" cy="1783080"/>
          </a:xfrm>
          <a:prstGeom prst="rect">
            <a:avLst/>
          </a:prstGeom>
          <a:noFill/>
          <a:ln/>
        </p:spPr>
        <p:txBody>
          <a:bodyPr wrap="square" lIns="0" tIns="0" rIns="0" bIns="0" rtlCol="0" anchor="t"/>
          <a:lstStyle/>
          <a:p>
            <a:pPr marL="0" indent="0">
              <a:buNone/>
            </a:pPr>
            <a:r>
              <a:rPr lang="en-US" sz="2600" b="1" dirty="0">
                <a:solidFill>
                  <a:schemeClr val="accent2"/>
                </a:solidFill>
              </a:rPr>
              <a:t>h₁(n) = 4</a:t>
            </a:r>
            <a:endParaRPr lang="en-US" sz="1800" dirty="0"/>
          </a:p>
          <a:p>
            <a:pPr marL="0" indent="0">
              <a:buNone/>
            </a:pPr>
            <a:r>
              <a:rPr lang="en-US" sz="2600" b="1" dirty="0">
                <a:solidFill>
                  <a:schemeClr val="accent2"/>
                </a:solidFill>
              </a:rPr>
              <a:t>h₂(n) = 5</a:t>
            </a:r>
            <a:endParaRPr lang="en-US" sz="1800" dirty="0"/>
          </a:p>
          <a:p>
            <a:pPr marL="0" indent="0">
              <a:buNone/>
            </a:pPr>
            <a:r>
              <a:rPr lang="en-US" sz="2200" b="1" dirty="0">
                <a:solidFill>
                  <a:schemeClr val="accent3"/>
                </a:solidFill>
              </a:rPr>
              <a:t>h₁(n) ≤ h₂(n) ≤ h*(n) = 5</a:t>
            </a:r>
            <a:endParaRPr lang="en-US" sz="1800" dirty="0"/>
          </a:p>
          <a:p>
            <a:pPr marL="0" indent="0">
              <a:buNone/>
            </a:pPr>
            <a:r>
              <a:rPr lang="en-US" sz="1600" dirty="0">
                <a:solidFill>
                  <a:schemeClr val="tx1"/>
                </a:solidFill>
              </a:rPr>
              <a:t>h* = 5: the optimal solution needs 5 moves.</a:t>
            </a:r>
            <a:endParaRPr lang="en-US" sz="1800" dirty="0"/>
          </a:p>
        </p:txBody>
      </p:sp>
      <p:sp>
        <p:nvSpPr>
          <p:cNvPr id="7" name="Comparison card"/>
          <p:cNvSpPr/>
          <p:nvPr/>
        </p:nvSpPr>
        <p:spPr>
          <a:xfrm>
            <a:off x="6858000" y="3474720"/>
            <a:ext cx="4782312" cy="2788920"/>
          </a:xfrm>
          <a:prstGeom prst="roundRect">
            <a:avLst>
              <a:gd name="adj" fmla="val 3279"/>
            </a:avLst>
          </a:prstGeom>
          <a:solidFill>
            <a:schemeClr val="bg2"/>
          </a:solidFill>
          <a:ln/>
        </p:spPr>
      </p:sp>
      <p:sp>
        <p:nvSpPr>
          <p:cNvPr id="3" name="Text 5"/>
          <p:cNvSpPr txBox="1"/>
          <p:nvPr/>
        </p:nvSpPr>
        <p:spPr>
          <a:xfrm>
            <a:off x="7086600" y="3566160"/>
            <a:ext cx="4389120" cy="365760"/>
          </a:xfrm>
          <a:prstGeom prst="rect">
            <a:avLst/>
          </a:prstGeom>
          <a:noFill/>
          <a:ln/>
        </p:spPr>
        <p:txBody>
          <a:bodyPr wrap="square" lIns="0" tIns="0" rIns="0" bIns="0" rtlCol="0" anchor="t"/>
          <a:lstStyle/>
          <a:p>
            <a:pPr marL="0" indent="0">
              <a:buNone/>
            </a:pPr>
            <a:r>
              <a:rPr lang="en-US" sz="2200" b="1" dirty="0">
                <a:solidFill>
                  <a:schemeClr val="accent1"/>
                </a:solidFill>
              </a:rPr>
              <a:t>Which is more informed?</a:t>
            </a:r>
            <a:endParaRPr lang="en-US" sz="2200" dirty="0"/>
          </a:p>
        </p:txBody>
      </p:sp>
      <p:sp>
        <p:nvSpPr>
          <p:cNvPr id="9" name="Text 6"/>
          <p:cNvSpPr txBox="1"/>
          <p:nvPr/>
        </p:nvSpPr>
        <p:spPr>
          <a:xfrm>
            <a:off x="7086600" y="4023360"/>
            <a:ext cx="4389120" cy="2194560"/>
          </a:xfrm>
          <a:prstGeom prst="rect">
            <a:avLst/>
          </a:prstGeom>
          <a:noFill/>
          <a:ln/>
        </p:spPr>
        <p:txBody>
          <a:bodyPr wrap="square" lIns="0" tIns="0" rIns="0" bIns="0" rtlCol="0" anchor="t"/>
          <a:lstStyle/>
          <a:p>
            <a:pPr marL="228600" indent="-228600">
              <a:spcAft>
                <a:spcPts val="500"/>
              </a:spcAft>
              <a:buSzPct val="100000"/>
              <a:buChar char="•"/>
            </a:pPr>
            <a:r>
              <a:rPr lang="en-US" sz="1700" dirty="0">
                <a:solidFill>
                  <a:schemeClr val="tx1"/>
                </a:solidFill>
              </a:rPr>
              <a:t>Each misplaced tile adds at least 1 to h₂, so h₂(n) ≥ h₁(n).</a:t>
            </a:r>
            <a:endParaRPr lang="en-US" sz="1800" dirty="0"/>
          </a:p>
          <a:p>
            <a:pPr marL="228600" indent="-228600">
              <a:spcAft>
                <a:spcPts val="500"/>
              </a:spcAft>
              <a:buSzPct val="100000"/>
              <a:buChar char="•"/>
            </a:pPr>
            <a:r>
              <a:rPr lang="en-US" sz="1700" dirty="0">
                <a:solidFill>
                  <a:schemeClr val="tx1"/>
                </a:solidFill>
              </a:rPr>
              <a:t>Both are admissible: one move shifts one tile by one square.</a:t>
            </a:r>
            <a:endParaRPr lang="en-US" sz="1800" dirty="0"/>
          </a:p>
          <a:p>
            <a:pPr marL="228600" indent="-228600">
              <a:spcAft>
                <a:spcPts val="500"/>
              </a:spcAft>
              <a:buSzPct val="100000"/>
              <a:buChar char="•"/>
            </a:pPr>
            <a:r>
              <a:rPr lang="en-US" sz="1700" dirty="0">
                <a:solidFill>
                  <a:schemeClr val="tx1"/>
                </a:solidFill>
              </a:rPr>
              <a:t>h₂ is more informed: it sees how far tiles are, so A* expands fewer nodes.</a:t>
            </a:r>
            <a:endParaRPr lang="en-US" sz="1800" dirty="0"/>
          </a:p>
        </p:txBody>
      </p:sp>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8-Queens: Counting Attacking Pairs</a:t>
            </a:r>
            <a:endParaRPr lang="en-US" sz="3200" dirty="0"/>
          </a:p>
        </p:txBody>
      </p:sp>
      <p:sp>
        <p:nvSpPr>
          <p:cNvPr id="3" name="Square"/>
          <p:cNvSpPr/>
          <p:nvPr/>
        </p:nvSpPr>
        <p:spPr>
          <a:xfrm>
            <a:off x="548640" y="1371600"/>
            <a:ext cx="530352" cy="530352"/>
          </a:xfrm>
          <a:prstGeom prst="rect">
            <a:avLst/>
          </a:prstGeom>
          <a:solidFill>
            <a:schemeClr val="bg2"/>
          </a:solidFill>
          <a:ln/>
        </p:spPr>
      </p:sp>
      <p:sp>
        <p:nvSpPr>
          <p:cNvPr id="4" name="Square"/>
          <p:cNvSpPr/>
          <p:nvPr/>
        </p:nvSpPr>
        <p:spPr>
          <a:xfrm>
            <a:off x="1078992" y="1371600"/>
            <a:ext cx="530352" cy="530352"/>
          </a:xfrm>
          <a:prstGeom prst="rect">
            <a:avLst/>
          </a:prstGeom>
          <a:solidFill>
            <a:schemeClr val="accent1">
              <a:alpha val="32000"/>
            </a:schemeClr>
          </a:solidFill>
          <a:ln/>
        </p:spPr>
      </p:sp>
      <p:sp>
        <p:nvSpPr>
          <p:cNvPr id="5" name="Square"/>
          <p:cNvSpPr/>
          <p:nvPr/>
        </p:nvSpPr>
        <p:spPr>
          <a:xfrm>
            <a:off x="1609344" y="1371600"/>
            <a:ext cx="530352" cy="530352"/>
          </a:xfrm>
          <a:prstGeom prst="rect">
            <a:avLst/>
          </a:prstGeom>
          <a:solidFill>
            <a:schemeClr val="bg2"/>
          </a:solidFill>
          <a:ln/>
        </p:spPr>
      </p:sp>
      <p:sp>
        <p:nvSpPr>
          <p:cNvPr id="6" name="Square"/>
          <p:cNvSpPr/>
          <p:nvPr/>
        </p:nvSpPr>
        <p:spPr>
          <a:xfrm>
            <a:off x="2139696" y="1371600"/>
            <a:ext cx="530352" cy="530352"/>
          </a:xfrm>
          <a:prstGeom prst="rect">
            <a:avLst/>
          </a:prstGeom>
          <a:solidFill>
            <a:schemeClr val="accent1">
              <a:alpha val="32000"/>
            </a:schemeClr>
          </a:solidFill>
          <a:ln/>
        </p:spPr>
      </p:sp>
      <p:sp>
        <p:nvSpPr>
          <p:cNvPr id="7" name="Square"/>
          <p:cNvSpPr/>
          <p:nvPr/>
        </p:nvSpPr>
        <p:spPr>
          <a:xfrm>
            <a:off x="2670048" y="1371600"/>
            <a:ext cx="530352" cy="530352"/>
          </a:xfrm>
          <a:prstGeom prst="rect">
            <a:avLst/>
          </a:prstGeom>
          <a:solidFill>
            <a:schemeClr val="bg2"/>
          </a:solidFill>
          <a:ln/>
        </p:spPr>
      </p:sp>
      <p:sp>
        <p:nvSpPr>
          <p:cNvPr id="8" name="Square"/>
          <p:cNvSpPr/>
          <p:nvPr/>
        </p:nvSpPr>
        <p:spPr>
          <a:xfrm>
            <a:off x="3200400" y="1371600"/>
            <a:ext cx="530352" cy="530352"/>
          </a:xfrm>
          <a:prstGeom prst="rect">
            <a:avLst/>
          </a:prstGeom>
          <a:solidFill>
            <a:schemeClr val="accent1">
              <a:alpha val="32000"/>
            </a:schemeClr>
          </a:solidFill>
          <a:ln/>
        </p:spPr>
      </p:sp>
      <p:sp>
        <p:nvSpPr>
          <p:cNvPr id="9" name="Square"/>
          <p:cNvSpPr/>
          <p:nvPr/>
        </p:nvSpPr>
        <p:spPr>
          <a:xfrm>
            <a:off x="3730752" y="1371600"/>
            <a:ext cx="530352" cy="530352"/>
          </a:xfrm>
          <a:prstGeom prst="rect">
            <a:avLst/>
          </a:prstGeom>
          <a:solidFill>
            <a:schemeClr val="bg2"/>
          </a:solidFill>
          <a:ln/>
        </p:spPr>
      </p:sp>
      <p:sp>
        <p:nvSpPr>
          <p:cNvPr id="10" name="Square"/>
          <p:cNvSpPr/>
          <p:nvPr/>
        </p:nvSpPr>
        <p:spPr>
          <a:xfrm>
            <a:off x="4261104" y="1371600"/>
            <a:ext cx="530352" cy="530352"/>
          </a:xfrm>
          <a:prstGeom prst="rect">
            <a:avLst/>
          </a:prstGeom>
          <a:solidFill>
            <a:schemeClr val="accent1">
              <a:alpha val="32000"/>
            </a:schemeClr>
          </a:solidFill>
          <a:ln/>
        </p:spPr>
      </p:sp>
      <p:sp>
        <p:nvSpPr>
          <p:cNvPr id="11" name="Square"/>
          <p:cNvSpPr/>
          <p:nvPr/>
        </p:nvSpPr>
        <p:spPr>
          <a:xfrm>
            <a:off x="548640" y="1901952"/>
            <a:ext cx="530352" cy="530352"/>
          </a:xfrm>
          <a:prstGeom prst="rect">
            <a:avLst/>
          </a:prstGeom>
          <a:solidFill>
            <a:schemeClr val="accent1">
              <a:alpha val="32000"/>
            </a:schemeClr>
          </a:solidFill>
          <a:ln/>
        </p:spPr>
      </p:sp>
      <p:sp>
        <p:nvSpPr>
          <p:cNvPr id="12" name="Square"/>
          <p:cNvSpPr/>
          <p:nvPr/>
        </p:nvSpPr>
        <p:spPr>
          <a:xfrm>
            <a:off x="1078992" y="1901952"/>
            <a:ext cx="530352" cy="530352"/>
          </a:xfrm>
          <a:prstGeom prst="rect">
            <a:avLst/>
          </a:prstGeom>
          <a:solidFill>
            <a:schemeClr val="bg2"/>
          </a:solidFill>
          <a:ln/>
        </p:spPr>
      </p:sp>
      <p:sp>
        <p:nvSpPr>
          <p:cNvPr id="13" name="Square"/>
          <p:cNvSpPr/>
          <p:nvPr/>
        </p:nvSpPr>
        <p:spPr>
          <a:xfrm>
            <a:off x="1609344" y="1901952"/>
            <a:ext cx="530352" cy="530352"/>
          </a:xfrm>
          <a:prstGeom prst="rect">
            <a:avLst/>
          </a:prstGeom>
          <a:solidFill>
            <a:schemeClr val="accent1">
              <a:alpha val="32000"/>
            </a:schemeClr>
          </a:solidFill>
          <a:ln/>
        </p:spPr>
      </p:sp>
      <p:sp>
        <p:nvSpPr>
          <p:cNvPr id="14" name="Square"/>
          <p:cNvSpPr/>
          <p:nvPr/>
        </p:nvSpPr>
        <p:spPr>
          <a:xfrm>
            <a:off x="2139696" y="1901952"/>
            <a:ext cx="530352" cy="530352"/>
          </a:xfrm>
          <a:prstGeom prst="rect">
            <a:avLst/>
          </a:prstGeom>
          <a:solidFill>
            <a:schemeClr val="bg2"/>
          </a:solidFill>
          <a:ln/>
        </p:spPr>
      </p:sp>
      <p:sp>
        <p:nvSpPr>
          <p:cNvPr id="15" name="Square"/>
          <p:cNvSpPr/>
          <p:nvPr/>
        </p:nvSpPr>
        <p:spPr>
          <a:xfrm>
            <a:off x="2670048" y="1901952"/>
            <a:ext cx="530352" cy="530352"/>
          </a:xfrm>
          <a:prstGeom prst="rect">
            <a:avLst/>
          </a:prstGeom>
          <a:solidFill>
            <a:schemeClr val="accent1">
              <a:alpha val="32000"/>
            </a:schemeClr>
          </a:solidFill>
          <a:ln/>
        </p:spPr>
      </p:sp>
      <p:sp>
        <p:nvSpPr>
          <p:cNvPr id="16" name="Square"/>
          <p:cNvSpPr/>
          <p:nvPr/>
        </p:nvSpPr>
        <p:spPr>
          <a:xfrm>
            <a:off x="3200400" y="1901952"/>
            <a:ext cx="530352" cy="530352"/>
          </a:xfrm>
          <a:prstGeom prst="rect">
            <a:avLst/>
          </a:prstGeom>
          <a:solidFill>
            <a:schemeClr val="bg2"/>
          </a:solidFill>
          <a:ln/>
        </p:spPr>
      </p:sp>
      <p:sp>
        <p:nvSpPr>
          <p:cNvPr id="17" name="Square"/>
          <p:cNvSpPr/>
          <p:nvPr/>
        </p:nvSpPr>
        <p:spPr>
          <a:xfrm>
            <a:off x="3730752" y="1901952"/>
            <a:ext cx="530352" cy="530352"/>
          </a:xfrm>
          <a:prstGeom prst="rect">
            <a:avLst/>
          </a:prstGeom>
          <a:solidFill>
            <a:schemeClr val="accent1">
              <a:alpha val="32000"/>
            </a:schemeClr>
          </a:solidFill>
          <a:ln/>
        </p:spPr>
      </p:sp>
      <p:sp>
        <p:nvSpPr>
          <p:cNvPr id="18" name="Square"/>
          <p:cNvSpPr/>
          <p:nvPr/>
        </p:nvSpPr>
        <p:spPr>
          <a:xfrm>
            <a:off x="4261104" y="1901952"/>
            <a:ext cx="530352" cy="530352"/>
          </a:xfrm>
          <a:prstGeom prst="rect">
            <a:avLst/>
          </a:prstGeom>
          <a:solidFill>
            <a:schemeClr val="bg2"/>
          </a:solidFill>
          <a:ln/>
        </p:spPr>
      </p:sp>
      <p:sp>
        <p:nvSpPr>
          <p:cNvPr id="19" name="Square"/>
          <p:cNvSpPr/>
          <p:nvPr/>
        </p:nvSpPr>
        <p:spPr>
          <a:xfrm>
            <a:off x="548640" y="2432304"/>
            <a:ext cx="530352" cy="530352"/>
          </a:xfrm>
          <a:prstGeom prst="rect">
            <a:avLst/>
          </a:prstGeom>
          <a:solidFill>
            <a:schemeClr val="bg2"/>
          </a:solidFill>
          <a:ln/>
        </p:spPr>
      </p:sp>
      <p:sp>
        <p:nvSpPr>
          <p:cNvPr id="20" name="Square"/>
          <p:cNvSpPr/>
          <p:nvPr/>
        </p:nvSpPr>
        <p:spPr>
          <a:xfrm>
            <a:off x="1078992" y="2432304"/>
            <a:ext cx="530352" cy="530352"/>
          </a:xfrm>
          <a:prstGeom prst="rect">
            <a:avLst/>
          </a:prstGeom>
          <a:solidFill>
            <a:schemeClr val="accent1">
              <a:alpha val="32000"/>
            </a:schemeClr>
          </a:solidFill>
          <a:ln/>
        </p:spPr>
      </p:sp>
      <p:sp>
        <p:nvSpPr>
          <p:cNvPr id="21" name="Square"/>
          <p:cNvSpPr/>
          <p:nvPr/>
        </p:nvSpPr>
        <p:spPr>
          <a:xfrm>
            <a:off x="1609344" y="2432304"/>
            <a:ext cx="530352" cy="530352"/>
          </a:xfrm>
          <a:prstGeom prst="rect">
            <a:avLst/>
          </a:prstGeom>
          <a:solidFill>
            <a:schemeClr val="bg2"/>
          </a:solidFill>
          <a:ln/>
        </p:spPr>
      </p:sp>
      <p:sp>
        <p:nvSpPr>
          <p:cNvPr id="22" name="Square"/>
          <p:cNvSpPr/>
          <p:nvPr/>
        </p:nvSpPr>
        <p:spPr>
          <a:xfrm>
            <a:off x="2139696" y="2432304"/>
            <a:ext cx="530352" cy="530352"/>
          </a:xfrm>
          <a:prstGeom prst="rect">
            <a:avLst/>
          </a:prstGeom>
          <a:solidFill>
            <a:schemeClr val="accent1">
              <a:alpha val="32000"/>
            </a:schemeClr>
          </a:solidFill>
          <a:ln/>
        </p:spPr>
      </p:sp>
      <p:sp>
        <p:nvSpPr>
          <p:cNvPr id="23" name="Square"/>
          <p:cNvSpPr/>
          <p:nvPr/>
        </p:nvSpPr>
        <p:spPr>
          <a:xfrm>
            <a:off x="2670048" y="2432304"/>
            <a:ext cx="530352" cy="530352"/>
          </a:xfrm>
          <a:prstGeom prst="rect">
            <a:avLst/>
          </a:prstGeom>
          <a:solidFill>
            <a:schemeClr val="bg2"/>
          </a:solidFill>
          <a:ln/>
        </p:spPr>
      </p:sp>
      <p:sp>
        <p:nvSpPr>
          <p:cNvPr id="24" name="Square"/>
          <p:cNvSpPr/>
          <p:nvPr/>
        </p:nvSpPr>
        <p:spPr>
          <a:xfrm>
            <a:off x="3200400" y="2432304"/>
            <a:ext cx="530352" cy="530352"/>
          </a:xfrm>
          <a:prstGeom prst="rect">
            <a:avLst/>
          </a:prstGeom>
          <a:solidFill>
            <a:schemeClr val="accent1">
              <a:alpha val="32000"/>
            </a:schemeClr>
          </a:solidFill>
          <a:ln/>
        </p:spPr>
      </p:sp>
      <p:sp>
        <p:nvSpPr>
          <p:cNvPr id="25" name="Square"/>
          <p:cNvSpPr/>
          <p:nvPr/>
        </p:nvSpPr>
        <p:spPr>
          <a:xfrm>
            <a:off x="3730752" y="2432304"/>
            <a:ext cx="530352" cy="530352"/>
          </a:xfrm>
          <a:prstGeom prst="rect">
            <a:avLst/>
          </a:prstGeom>
          <a:solidFill>
            <a:schemeClr val="bg2"/>
          </a:solidFill>
          <a:ln/>
        </p:spPr>
      </p:sp>
      <p:sp>
        <p:nvSpPr>
          <p:cNvPr id="26" name="Square"/>
          <p:cNvSpPr/>
          <p:nvPr/>
        </p:nvSpPr>
        <p:spPr>
          <a:xfrm>
            <a:off x="4261104" y="2432304"/>
            <a:ext cx="530352" cy="530352"/>
          </a:xfrm>
          <a:prstGeom prst="rect">
            <a:avLst/>
          </a:prstGeom>
          <a:solidFill>
            <a:schemeClr val="accent1">
              <a:alpha val="32000"/>
            </a:schemeClr>
          </a:solidFill>
          <a:ln/>
        </p:spPr>
      </p:sp>
      <p:sp>
        <p:nvSpPr>
          <p:cNvPr id="27" name="Square"/>
          <p:cNvSpPr/>
          <p:nvPr/>
        </p:nvSpPr>
        <p:spPr>
          <a:xfrm>
            <a:off x="548640" y="2962656"/>
            <a:ext cx="530352" cy="530352"/>
          </a:xfrm>
          <a:prstGeom prst="rect">
            <a:avLst/>
          </a:prstGeom>
          <a:solidFill>
            <a:schemeClr val="accent1">
              <a:alpha val="32000"/>
            </a:schemeClr>
          </a:solidFill>
          <a:ln/>
        </p:spPr>
      </p:sp>
      <p:sp>
        <p:nvSpPr>
          <p:cNvPr id="28" name="Square"/>
          <p:cNvSpPr/>
          <p:nvPr/>
        </p:nvSpPr>
        <p:spPr>
          <a:xfrm>
            <a:off x="1078992" y="2962656"/>
            <a:ext cx="530352" cy="530352"/>
          </a:xfrm>
          <a:prstGeom prst="rect">
            <a:avLst/>
          </a:prstGeom>
          <a:solidFill>
            <a:schemeClr val="bg2"/>
          </a:solidFill>
          <a:ln/>
        </p:spPr>
      </p:sp>
      <p:sp>
        <p:nvSpPr>
          <p:cNvPr id="29" name="Square"/>
          <p:cNvSpPr/>
          <p:nvPr/>
        </p:nvSpPr>
        <p:spPr>
          <a:xfrm>
            <a:off x="1609344" y="2962656"/>
            <a:ext cx="530352" cy="530352"/>
          </a:xfrm>
          <a:prstGeom prst="rect">
            <a:avLst/>
          </a:prstGeom>
          <a:solidFill>
            <a:schemeClr val="accent1">
              <a:alpha val="32000"/>
            </a:schemeClr>
          </a:solidFill>
          <a:ln/>
        </p:spPr>
      </p:sp>
      <p:sp>
        <p:nvSpPr>
          <p:cNvPr id="30" name="Square"/>
          <p:cNvSpPr/>
          <p:nvPr/>
        </p:nvSpPr>
        <p:spPr>
          <a:xfrm>
            <a:off x="2139696" y="2962656"/>
            <a:ext cx="530352" cy="530352"/>
          </a:xfrm>
          <a:prstGeom prst="rect">
            <a:avLst/>
          </a:prstGeom>
          <a:solidFill>
            <a:schemeClr val="bg2"/>
          </a:solidFill>
          <a:ln/>
        </p:spPr>
      </p:sp>
      <p:sp>
        <p:nvSpPr>
          <p:cNvPr id="31" name="Square"/>
          <p:cNvSpPr/>
          <p:nvPr/>
        </p:nvSpPr>
        <p:spPr>
          <a:xfrm>
            <a:off x="2670048" y="2962656"/>
            <a:ext cx="530352" cy="530352"/>
          </a:xfrm>
          <a:prstGeom prst="rect">
            <a:avLst/>
          </a:prstGeom>
          <a:solidFill>
            <a:schemeClr val="accent1">
              <a:alpha val="32000"/>
            </a:schemeClr>
          </a:solidFill>
          <a:ln/>
        </p:spPr>
      </p:sp>
      <p:sp>
        <p:nvSpPr>
          <p:cNvPr id="32" name="Square"/>
          <p:cNvSpPr/>
          <p:nvPr/>
        </p:nvSpPr>
        <p:spPr>
          <a:xfrm>
            <a:off x="3200400" y="2962656"/>
            <a:ext cx="530352" cy="530352"/>
          </a:xfrm>
          <a:prstGeom prst="rect">
            <a:avLst/>
          </a:prstGeom>
          <a:solidFill>
            <a:schemeClr val="bg2"/>
          </a:solidFill>
          <a:ln/>
        </p:spPr>
      </p:sp>
      <p:sp>
        <p:nvSpPr>
          <p:cNvPr id="33" name="Square"/>
          <p:cNvSpPr/>
          <p:nvPr/>
        </p:nvSpPr>
        <p:spPr>
          <a:xfrm>
            <a:off x="3730752" y="2962656"/>
            <a:ext cx="530352" cy="530352"/>
          </a:xfrm>
          <a:prstGeom prst="rect">
            <a:avLst/>
          </a:prstGeom>
          <a:solidFill>
            <a:schemeClr val="accent1">
              <a:alpha val="32000"/>
            </a:schemeClr>
          </a:solidFill>
          <a:ln/>
        </p:spPr>
      </p:sp>
      <p:sp>
        <p:nvSpPr>
          <p:cNvPr id="34" name="Square"/>
          <p:cNvSpPr/>
          <p:nvPr/>
        </p:nvSpPr>
        <p:spPr>
          <a:xfrm>
            <a:off x="4261104" y="2962656"/>
            <a:ext cx="530352" cy="530352"/>
          </a:xfrm>
          <a:prstGeom prst="rect">
            <a:avLst/>
          </a:prstGeom>
          <a:solidFill>
            <a:schemeClr val="bg2"/>
          </a:solidFill>
          <a:ln/>
        </p:spPr>
      </p:sp>
      <p:sp>
        <p:nvSpPr>
          <p:cNvPr id="35" name="Square"/>
          <p:cNvSpPr/>
          <p:nvPr/>
        </p:nvSpPr>
        <p:spPr>
          <a:xfrm>
            <a:off x="548640" y="3493008"/>
            <a:ext cx="530352" cy="530352"/>
          </a:xfrm>
          <a:prstGeom prst="rect">
            <a:avLst/>
          </a:prstGeom>
          <a:solidFill>
            <a:schemeClr val="bg2"/>
          </a:solidFill>
          <a:ln/>
        </p:spPr>
      </p:sp>
      <p:sp>
        <p:nvSpPr>
          <p:cNvPr id="36" name="Square"/>
          <p:cNvSpPr/>
          <p:nvPr/>
        </p:nvSpPr>
        <p:spPr>
          <a:xfrm>
            <a:off x="1078992" y="3493008"/>
            <a:ext cx="530352" cy="530352"/>
          </a:xfrm>
          <a:prstGeom prst="rect">
            <a:avLst/>
          </a:prstGeom>
          <a:solidFill>
            <a:schemeClr val="accent1">
              <a:alpha val="32000"/>
            </a:schemeClr>
          </a:solidFill>
          <a:ln/>
        </p:spPr>
      </p:sp>
      <p:sp>
        <p:nvSpPr>
          <p:cNvPr id="37" name="Square"/>
          <p:cNvSpPr/>
          <p:nvPr/>
        </p:nvSpPr>
        <p:spPr>
          <a:xfrm>
            <a:off x="1609344" y="3493008"/>
            <a:ext cx="530352" cy="530352"/>
          </a:xfrm>
          <a:prstGeom prst="rect">
            <a:avLst/>
          </a:prstGeom>
          <a:solidFill>
            <a:schemeClr val="bg2"/>
          </a:solidFill>
          <a:ln/>
        </p:spPr>
      </p:sp>
      <p:sp>
        <p:nvSpPr>
          <p:cNvPr id="38" name="Square"/>
          <p:cNvSpPr/>
          <p:nvPr/>
        </p:nvSpPr>
        <p:spPr>
          <a:xfrm>
            <a:off x="2139696" y="3493008"/>
            <a:ext cx="530352" cy="530352"/>
          </a:xfrm>
          <a:prstGeom prst="rect">
            <a:avLst/>
          </a:prstGeom>
          <a:solidFill>
            <a:schemeClr val="accent1">
              <a:alpha val="32000"/>
            </a:schemeClr>
          </a:solidFill>
          <a:ln/>
        </p:spPr>
      </p:sp>
      <p:sp>
        <p:nvSpPr>
          <p:cNvPr id="39" name="Square"/>
          <p:cNvSpPr/>
          <p:nvPr/>
        </p:nvSpPr>
        <p:spPr>
          <a:xfrm>
            <a:off x="2670048" y="3493008"/>
            <a:ext cx="530352" cy="530352"/>
          </a:xfrm>
          <a:prstGeom prst="rect">
            <a:avLst/>
          </a:prstGeom>
          <a:solidFill>
            <a:schemeClr val="bg2"/>
          </a:solidFill>
          <a:ln/>
        </p:spPr>
      </p:sp>
      <p:sp>
        <p:nvSpPr>
          <p:cNvPr id="40" name="Square"/>
          <p:cNvSpPr/>
          <p:nvPr/>
        </p:nvSpPr>
        <p:spPr>
          <a:xfrm>
            <a:off x="3200400" y="3493008"/>
            <a:ext cx="530352" cy="530352"/>
          </a:xfrm>
          <a:prstGeom prst="rect">
            <a:avLst/>
          </a:prstGeom>
          <a:solidFill>
            <a:schemeClr val="accent1">
              <a:alpha val="32000"/>
            </a:schemeClr>
          </a:solidFill>
          <a:ln/>
        </p:spPr>
      </p:sp>
      <p:sp>
        <p:nvSpPr>
          <p:cNvPr id="41" name="Square"/>
          <p:cNvSpPr/>
          <p:nvPr/>
        </p:nvSpPr>
        <p:spPr>
          <a:xfrm>
            <a:off x="3730752" y="3493008"/>
            <a:ext cx="530352" cy="530352"/>
          </a:xfrm>
          <a:prstGeom prst="rect">
            <a:avLst/>
          </a:prstGeom>
          <a:solidFill>
            <a:schemeClr val="bg2"/>
          </a:solidFill>
          <a:ln/>
        </p:spPr>
      </p:sp>
      <p:sp>
        <p:nvSpPr>
          <p:cNvPr id="42" name="Square"/>
          <p:cNvSpPr/>
          <p:nvPr/>
        </p:nvSpPr>
        <p:spPr>
          <a:xfrm>
            <a:off x="4261104" y="3493008"/>
            <a:ext cx="530352" cy="530352"/>
          </a:xfrm>
          <a:prstGeom prst="rect">
            <a:avLst/>
          </a:prstGeom>
          <a:solidFill>
            <a:schemeClr val="accent1">
              <a:alpha val="32000"/>
            </a:schemeClr>
          </a:solidFill>
          <a:ln/>
        </p:spPr>
      </p:sp>
      <p:sp>
        <p:nvSpPr>
          <p:cNvPr id="43" name="Square"/>
          <p:cNvSpPr/>
          <p:nvPr/>
        </p:nvSpPr>
        <p:spPr>
          <a:xfrm>
            <a:off x="548640" y="4023360"/>
            <a:ext cx="530352" cy="530352"/>
          </a:xfrm>
          <a:prstGeom prst="rect">
            <a:avLst/>
          </a:prstGeom>
          <a:solidFill>
            <a:schemeClr val="accent1">
              <a:alpha val="32000"/>
            </a:schemeClr>
          </a:solidFill>
          <a:ln/>
        </p:spPr>
      </p:sp>
      <p:sp>
        <p:nvSpPr>
          <p:cNvPr id="44" name="Square"/>
          <p:cNvSpPr/>
          <p:nvPr/>
        </p:nvSpPr>
        <p:spPr>
          <a:xfrm>
            <a:off x="1078992" y="4023360"/>
            <a:ext cx="530352" cy="530352"/>
          </a:xfrm>
          <a:prstGeom prst="rect">
            <a:avLst/>
          </a:prstGeom>
          <a:solidFill>
            <a:schemeClr val="bg2"/>
          </a:solidFill>
          <a:ln/>
        </p:spPr>
      </p:sp>
      <p:sp>
        <p:nvSpPr>
          <p:cNvPr id="45" name="Square"/>
          <p:cNvSpPr/>
          <p:nvPr/>
        </p:nvSpPr>
        <p:spPr>
          <a:xfrm>
            <a:off x="1609344" y="4023360"/>
            <a:ext cx="530352" cy="530352"/>
          </a:xfrm>
          <a:prstGeom prst="rect">
            <a:avLst/>
          </a:prstGeom>
          <a:solidFill>
            <a:schemeClr val="accent1">
              <a:alpha val="32000"/>
            </a:schemeClr>
          </a:solidFill>
          <a:ln/>
        </p:spPr>
      </p:sp>
      <p:sp>
        <p:nvSpPr>
          <p:cNvPr id="46" name="Square"/>
          <p:cNvSpPr/>
          <p:nvPr/>
        </p:nvSpPr>
        <p:spPr>
          <a:xfrm>
            <a:off x="2139696" y="4023360"/>
            <a:ext cx="530352" cy="530352"/>
          </a:xfrm>
          <a:prstGeom prst="rect">
            <a:avLst/>
          </a:prstGeom>
          <a:solidFill>
            <a:schemeClr val="bg2"/>
          </a:solidFill>
          <a:ln/>
        </p:spPr>
      </p:sp>
      <p:sp>
        <p:nvSpPr>
          <p:cNvPr id="47" name="Square"/>
          <p:cNvSpPr/>
          <p:nvPr/>
        </p:nvSpPr>
        <p:spPr>
          <a:xfrm>
            <a:off x="2670048" y="4023360"/>
            <a:ext cx="530352" cy="530352"/>
          </a:xfrm>
          <a:prstGeom prst="rect">
            <a:avLst/>
          </a:prstGeom>
          <a:solidFill>
            <a:schemeClr val="accent1">
              <a:alpha val="32000"/>
            </a:schemeClr>
          </a:solidFill>
          <a:ln/>
        </p:spPr>
      </p:sp>
      <p:sp>
        <p:nvSpPr>
          <p:cNvPr id="48" name="Square"/>
          <p:cNvSpPr/>
          <p:nvPr/>
        </p:nvSpPr>
        <p:spPr>
          <a:xfrm>
            <a:off x="3200400" y="4023360"/>
            <a:ext cx="530352" cy="530352"/>
          </a:xfrm>
          <a:prstGeom prst="rect">
            <a:avLst/>
          </a:prstGeom>
          <a:solidFill>
            <a:schemeClr val="bg2"/>
          </a:solidFill>
          <a:ln/>
        </p:spPr>
      </p:sp>
      <p:sp>
        <p:nvSpPr>
          <p:cNvPr id="49" name="Square"/>
          <p:cNvSpPr/>
          <p:nvPr/>
        </p:nvSpPr>
        <p:spPr>
          <a:xfrm>
            <a:off x="3730752" y="4023360"/>
            <a:ext cx="530352" cy="530352"/>
          </a:xfrm>
          <a:prstGeom prst="rect">
            <a:avLst/>
          </a:prstGeom>
          <a:solidFill>
            <a:schemeClr val="accent1">
              <a:alpha val="32000"/>
            </a:schemeClr>
          </a:solidFill>
          <a:ln/>
        </p:spPr>
      </p:sp>
      <p:sp>
        <p:nvSpPr>
          <p:cNvPr id="50" name="Square"/>
          <p:cNvSpPr/>
          <p:nvPr/>
        </p:nvSpPr>
        <p:spPr>
          <a:xfrm>
            <a:off x="4261104" y="4023360"/>
            <a:ext cx="530352" cy="530352"/>
          </a:xfrm>
          <a:prstGeom prst="rect">
            <a:avLst/>
          </a:prstGeom>
          <a:solidFill>
            <a:schemeClr val="bg2"/>
          </a:solidFill>
          <a:ln/>
        </p:spPr>
      </p:sp>
      <p:sp>
        <p:nvSpPr>
          <p:cNvPr id="51" name="Square"/>
          <p:cNvSpPr/>
          <p:nvPr/>
        </p:nvSpPr>
        <p:spPr>
          <a:xfrm>
            <a:off x="548640" y="4553712"/>
            <a:ext cx="530352" cy="530352"/>
          </a:xfrm>
          <a:prstGeom prst="rect">
            <a:avLst/>
          </a:prstGeom>
          <a:solidFill>
            <a:schemeClr val="bg2"/>
          </a:solidFill>
          <a:ln/>
        </p:spPr>
      </p:sp>
      <p:sp>
        <p:nvSpPr>
          <p:cNvPr id="52" name="Square"/>
          <p:cNvSpPr/>
          <p:nvPr/>
        </p:nvSpPr>
        <p:spPr>
          <a:xfrm>
            <a:off x="1078992" y="4553712"/>
            <a:ext cx="530352" cy="530352"/>
          </a:xfrm>
          <a:prstGeom prst="rect">
            <a:avLst/>
          </a:prstGeom>
          <a:solidFill>
            <a:schemeClr val="accent1">
              <a:alpha val="32000"/>
            </a:schemeClr>
          </a:solidFill>
          <a:ln/>
        </p:spPr>
      </p:sp>
      <p:sp>
        <p:nvSpPr>
          <p:cNvPr id="53" name="Square"/>
          <p:cNvSpPr/>
          <p:nvPr/>
        </p:nvSpPr>
        <p:spPr>
          <a:xfrm>
            <a:off x="1609344" y="4553712"/>
            <a:ext cx="530352" cy="530352"/>
          </a:xfrm>
          <a:prstGeom prst="rect">
            <a:avLst/>
          </a:prstGeom>
          <a:solidFill>
            <a:schemeClr val="bg2"/>
          </a:solidFill>
          <a:ln/>
        </p:spPr>
      </p:sp>
      <p:sp>
        <p:nvSpPr>
          <p:cNvPr id="54" name="Square"/>
          <p:cNvSpPr/>
          <p:nvPr/>
        </p:nvSpPr>
        <p:spPr>
          <a:xfrm>
            <a:off x="2139696" y="4553712"/>
            <a:ext cx="530352" cy="530352"/>
          </a:xfrm>
          <a:prstGeom prst="rect">
            <a:avLst/>
          </a:prstGeom>
          <a:solidFill>
            <a:schemeClr val="accent1">
              <a:alpha val="32000"/>
            </a:schemeClr>
          </a:solidFill>
          <a:ln/>
        </p:spPr>
      </p:sp>
      <p:sp>
        <p:nvSpPr>
          <p:cNvPr id="55" name="Square"/>
          <p:cNvSpPr/>
          <p:nvPr/>
        </p:nvSpPr>
        <p:spPr>
          <a:xfrm>
            <a:off x="2670048" y="4553712"/>
            <a:ext cx="530352" cy="530352"/>
          </a:xfrm>
          <a:prstGeom prst="rect">
            <a:avLst/>
          </a:prstGeom>
          <a:solidFill>
            <a:schemeClr val="bg2"/>
          </a:solidFill>
          <a:ln/>
        </p:spPr>
      </p:sp>
      <p:sp>
        <p:nvSpPr>
          <p:cNvPr id="56" name="Square"/>
          <p:cNvSpPr/>
          <p:nvPr/>
        </p:nvSpPr>
        <p:spPr>
          <a:xfrm>
            <a:off x="3200400" y="4553712"/>
            <a:ext cx="530352" cy="530352"/>
          </a:xfrm>
          <a:prstGeom prst="rect">
            <a:avLst/>
          </a:prstGeom>
          <a:solidFill>
            <a:schemeClr val="accent1">
              <a:alpha val="32000"/>
            </a:schemeClr>
          </a:solidFill>
          <a:ln/>
        </p:spPr>
      </p:sp>
      <p:sp>
        <p:nvSpPr>
          <p:cNvPr id="57" name="Square"/>
          <p:cNvSpPr/>
          <p:nvPr/>
        </p:nvSpPr>
        <p:spPr>
          <a:xfrm>
            <a:off x="3730752" y="4553712"/>
            <a:ext cx="530352" cy="530352"/>
          </a:xfrm>
          <a:prstGeom prst="rect">
            <a:avLst/>
          </a:prstGeom>
          <a:solidFill>
            <a:schemeClr val="bg2"/>
          </a:solidFill>
          <a:ln/>
        </p:spPr>
      </p:sp>
      <p:sp>
        <p:nvSpPr>
          <p:cNvPr id="58" name="Square"/>
          <p:cNvSpPr/>
          <p:nvPr/>
        </p:nvSpPr>
        <p:spPr>
          <a:xfrm>
            <a:off x="4261104" y="4553712"/>
            <a:ext cx="530352" cy="530352"/>
          </a:xfrm>
          <a:prstGeom prst="rect">
            <a:avLst/>
          </a:prstGeom>
          <a:solidFill>
            <a:schemeClr val="accent1">
              <a:alpha val="32000"/>
            </a:schemeClr>
          </a:solidFill>
          <a:ln/>
        </p:spPr>
      </p:sp>
      <p:sp>
        <p:nvSpPr>
          <p:cNvPr id="59" name="Square"/>
          <p:cNvSpPr/>
          <p:nvPr/>
        </p:nvSpPr>
        <p:spPr>
          <a:xfrm>
            <a:off x="548640" y="5084064"/>
            <a:ext cx="530352" cy="530352"/>
          </a:xfrm>
          <a:prstGeom prst="rect">
            <a:avLst/>
          </a:prstGeom>
          <a:solidFill>
            <a:schemeClr val="accent1">
              <a:alpha val="32000"/>
            </a:schemeClr>
          </a:solidFill>
          <a:ln/>
        </p:spPr>
      </p:sp>
      <p:sp>
        <p:nvSpPr>
          <p:cNvPr id="60" name="Square"/>
          <p:cNvSpPr/>
          <p:nvPr/>
        </p:nvSpPr>
        <p:spPr>
          <a:xfrm>
            <a:off x="1078992" y="5084064"/>
            <a:ext cx="530352" cy="530352"/>
          </a:xfrm>
          <a:prstGeom prst="rect">
            <a:avLst/>
          </a:prstGeom>
          <a:solidFill>
            <a:schemeClr val="bg2"/>
          </a:solidFill>
          <a:ln/>
        </p:spPr>
      </p:sp>
      <p:sp>
        <p:nvSpPr>
          <p:cNvPr id="61" name="Square"/>
          <p:cNvSpPr/>
          <p:nvPr/>
        </p:nvSpPr>
        <p:spPr>
          <a:xfrm>
            <a:off x="1609344" y="5084064"/>
            <a:ext cx="530352" cy="530352"/>
          </a:xfrm>
          <a:prstGeom prst="rect">
            <a:avLst/>
          </a:prstGeom>
          <a:solidFill>
            <a:schemeClr val="accent1">
              <a:alpha val="32000"/>
            </a:schemeClr>
          </a:solidFill>
          <a:ln/>
        </p:spPr>
      </p:sp>
      <p:sp>
        <p:nvSpPr>
          <p:cNvPr id="62" name="Square"/>
          <p:cNvSpPr/>
          <p:nvPr/>
        </p:nvSpPr>
        <p:spPr>
          <a:xfrm>
            <a:off x="2139696" y="5084064"/>
            <a:ext cx="530352" cy="530352"/>
          </a:xfrm>
          <a:prstGeom prst="rect">
            <a:avLst/>
          </a:prstGeom>
          <a:solidFill>
            <a:schemeClr val="bg2"/>
          </a:solidFill>
          <a:ln/>
        </p:spPr>
      </p:sp>
      <p:sp>
        <p:nvSpPr>
          <p:cNvPr id="63" name="Square"/>
          <p:cNvSpPr/>
          <p:nvPr/>
        </p:nvSpPr>
        <p:spPr>
          <a:xfrm>
            <a:off x="2670048" y="5084064"/>
            <a:ext cx="530352" cy="530352"/>
          </a:xfrm>
          <a:prstGeom prst="rect">
            <a:avLst/>
          </a:prstGeom>
          <a:solidFill>
            <a:schemeClr val="accent1">
              <a:alpha val="32000"/>
            </a:schemeClr>
          </a:solidFill>
          <a:ln/>
        </p:spPr>
      </p:sp>
      <p:sp>
        <p:nvSpPr>
          <p:cNvPr id="64" name="Square"/>
          <p:cNvSpPr/>
          <p:nvPr/>
        </p:nvSpPr>
        <p:spPr>
          <a:xfrm>
            <a:off x="3200400" y="5084064"/>
            <a:ext cx="530352" cy="530352"/>
          </a:xfrm>
          <a:prstGeom prst="rect">
            <a:avLst/>
          </a:prstGeom>
          <a:solidFill>
            <a:schemeClr val="bg2"/>
          </a:solidFill>
          <a:ln/>
        </p:spPr>
      </p:sp>
      <p:sp>
        <p:nvSpPr>
          <p:cNvPr id="65" name="Square"/>
          <p:cNvSpPr/>
          <p:nvPr/>
        </p:nvSpPr>
        <p:spPr>
          <a:xfrm>
            <a:off x="3730752" y="5084064"/>
            <a:ext cx="530352" cy="530352"/>
          </a:xfrm>
          <a:prstGeom prst="rect">
            <a:avLst/>
          </a:prstGeom>
          <a:solidFill>
            <a:schemeClr val="accent1">
              <a:alpha val="32000"/>
            </a:schemeClr>
          </a:solidFill>
          <a:ln/>
        </p:spPr>
      </p:sp>
      <p:sp>
        <p:nvSpPr>
          <p:cNvPr id="66" name="Square"/>
          <p:cNvSpPr/>
          <p:nvPr/>
        </p:nvSpPr>
        <p:spPr>
          <a:xfrm>
            <a:off x="4261104" y="5084064"/>
            <a:ext cx="530352" cy="530352"/>
          </a:xfrm>
          <a:prstGeom prst="rect">
            <a:avLst/>
          </a:prstGeom>
          <a:solidFill>
            <a:schemeClr val="bg2"/>
          </a:solidFill>
          <a:ln/>
        </p:spPr>
      </p:sp>
      <p:sp>
        <p:nvSpPr>
          <p:cNvPr id="67" name="Board frame"/>
          <p:cNvSpPr/>
          <p:nvPr/>
        </p:nvSpPr>
        <p:spPr>
          <a:xfrm>
            <a:off x="548640" y="1371600"/>
            <a:ext cx="4242816" cy="4242816"/>
          </a:xfrm>
          <a:prstGeom prst="rect">
            <a:avLst/>
          </a:prstGeom>
          <a:noFill/>
          <a:ln w="25400">
            <a:solidFill>
              <a:schemeClr val="accent1"/>
            </a:solidFill>
            <a:prstDash val="solid"/>
          </a:ln>
        </p:spPr>
      </p:sp>
      <p:sp>
        <p:nvSpPr>
          <p:cNvPr id="68" name="Attack Q2-Q8"/>
          <p:cNvSpPr/>
          <p:nvPr/>
        </p:nvSpPr>
        <p:spPr>
          <a:xfrm>
            <a:off x="1344168" y="2167128"/>
            <a:ext cx="3182112" cy="3182112"/>
          </a:xfrm>
          <a:prstGeom prst="line">
            <a:avLst/>
          </a:prstGeom>
          <a:noFill/>
          <a:ln w="38100">
            <a:solidFill>
              <a:schemeClr val="accent2"/>
            </a:solidFill>
            <a:prstDash val="solid"/>
          </a:ln>
        </p:spPr>
      </p:sp>
      <p:sp>
        <p:nvSpPr>
          <p:cNvPr id="69" name="Attack Q3-Q5"/>
          <p:cNvSpPr/>
          <p:nvPr/>
        </p:nvSpPr>
        <p:spPr>
          <a:xfrm>
            <a:off x="1874520" y="4818888"/>
            <a:ext cx="1060704" cy="0"/>
          </a:xfrm>
          <a:prstGeom prst="line">
            <a:avLst/>
          </a:prstGeom>
          <a:noFill/>
          <a:ln w="38100">
            <a:solidFill>
              <a:schemeClr val="accent2"/>
            </a:solidFill>
            <a:prstDash val="solid"/>
          </a:ln>
        </p:spPr>
      </p:sp>
      <p:sp>
        <p:nvSpPr>
          <p:cNvPr id="70" name="Attack Q5-Q6"/>
          <p:cNvSpPr/>
          <p:nvPr/>
        </p:nvSpPr>
        <p:spPr>
          <a:xfrm>
            <a:off x="2935224" y="4818888"/>
            <a:ext cx="530352" cy="530352"/>
          </a:xfrm>
          <a:prstGeom prst="line">
            <a:avLst/>
          </a:prstGeom>
          <a:noFill/>
          <a:ln w="38100">
            <a:solidFill>
              <a:schemeClr val="accent2"/>
            </a:solidFill>
            <a:prstDash val="solid"/>
          </a:ln>
        </p:spPr>
      </p:sp>
      <p:sp>
        <p:nvSpPr>
          <p:cNvPr id="71" name="Attack Q5-Q7"/>
          <p:cNvSpPr/>
          <p:nvPr/>
        </p:nvSpPr>
        <p:spPr>
          <a:xfrm flipV="1">
            <a:off x="2935224" y="3758184"/>
            <a:ext cx="1060704" cy="1060704"/>
          </a:xfrm>
          <a:prstGeom prst="line">
            <a:avLst/>
          </a:prstGeom>
          <a:noFill/>
          <a:ln w="38100">
            <a:solidFill>
              <a:schemeClr val="accent2"/>
            </a:solidFill>
            <a:prstDash val="solid"/>
          </a:ln>
        </p:spPr>
      </p:sp>
      <p:sp>
        <p:nvSpPr>
          <p:cNvPr id="72" name="Attack Q6-Q8"/>
          <p:cNvSpPr/>
          <p:nvPr/>
        </p:nvSpPr>
        <p:spPr>
          <a:xfrm>
            <a:off x="3465576" y="5349240"/>
            <a:ext cx="1060704" cy="0"/>
          </a:xfrm>
          <a:prstGeom prst="line">
            <a:avLst/>
          </a:prstGeom>
          <a:noFill/>
          <a:ln w="38100">
            <a:solidFill>
              <a:schemeClr val="accent2"/>
            </a:solidFill>
            <a:prstDash val="solid"/>
          </a:ln>
        </p:spPr>
      </p:sp>
      <p:sp>
        <p:nvSpPr>
          <p:cNvPr id="73" name="Node Q"/>
          <p:cNvSpPr txBox="1"/>
          <p:nvPr/>
        </p:nvSpPr>
        <p:spPr>
          <a:xfrm>
            <a:off x="612648" y="3026664"/>
            <a:ext cx="402336" cy="402336"/>
          </a:xfrm>
          <a:prstGeom prst="ellipse">
            <a:avLst/>
          </a:prstGeom>
          <a:solidFill>
            <a:schemeClr val="accent1"/>
          </a:solidFill>
          <a:ln w="28575">
            <a:solidFill>
              <a:schemeClr val="bg1"/>
            </a:solidFill>
          </a:ln>
        </p:spPr>
        <p:txBody>
          <a:bodyPr wrap="square" lIns="0" tIns="0" rIns="0" bIns="0" rtlCol="0" anchor="ctr"/>
          <a:lstStyle/>
          <a:p>
            <a:pPr marL="0" indent="0" algn="ctr">
              <a:buNone/>
            </a:pPr>
            <a:r>
              <a:rPr lang="en-US" sz="1600" b="1" dirty="0">
                <a:solidFill>
                  <a:schemeClr val="bg1"/>
                </a:solidFill>
              </a:rPr>
              <a:t>Q</a:t>
            </a:r>
            <a:endParaRPr lang="en-US" sz="1600" dirty="0"/>
          </a:p>
        </p:txBody>
      </p:sp>
      <p:sp>
        <p:nvSpPr>
          <p:cNvPr id="74" name="Text 72"/>
          <p:cNvSpPr txBox="1"/>
          <p:nvPr/>
        </p:nvSpPr>
        <p:spPr>
          <a:xfrm>
            <a:off x="548640" y="5660136"/>
            <a:ext cx="530352" cy="274320"/>
          </a:xfrm>
          <a:prstGeom prst="rect">
            <a:avLst/>
          </a:prstGeom>
          <a:noFill/>
          <a:ln/>
        </p:spPr>
        <p:txBody>
          <a:bodyPr wrap="square" lIns="0" tIns="0" rIns="0" bIns="0" rtlCol="0" anchor="t"/>
          <a:lstStyle/>
          <a:p>
            <a:pPr marL="0" indent="0" algn="ctr">
              <a:buNone/>
            </a:pPr>
            <a:r>
              <a:rPr lang="en-US" sz="1600" dirty="0">
                <a:solidFill>
                  <a:schemeClr val="tx1"/>
                </a:solidFill>
              </a:rPr>
              <a:t>1</a:t>
            </a:r>
            <a:endParaRPr lang="en-US" sz="1600" dirty="0"/>
          </a:p>
        </p:txBody>
      </p:sp>
      <p:sp>
        <p:nvSpPr>
          <p:cNvPr id="75" name="Node Q"/>
          <p:cNvSpPr txBox="1"/>
          <p:nvPr/>
        </p:nvSpPr>
        <p:spPr>
          <a:xfrm>
            <a:off x="1143000" y="1965960"/>
            <a:ext cx="402336" cy="402336"/>
          </a:xfrm>
          <a:prstGeom prst="ellipse">
            <a:avLst/>
          </a:prstGeom>
          <a:solidFill>
            <a:schemeClr val="accent2"/>
          </a:solidFill>
          <a:ln w="28575">
            <a:solidFill>
              <a:schemeClr val="bg1"/>
            </a:solidFill>
          </a:ln>
        </p:spPr>
        <p:txBody>
          <a:bodyPr wrap="square" lIns="0" tIns="0" rIns="0" bIns="0" rtlCol="0" anchor="ctr"/>
          <a:lstStyle/>
          <a:p>
            <a:pPr marL="0" indent="0" algn="ctr">
              <a:buNone/>
            </a:pPr>
            <a:r>
              <a:rPr lang="en-US" sz="1600" b="1" dirty="0">
                <a:solidFill>
                  <a:schemeClr val="bg1"/>
                </a:solidFill>
              </a:rPr>
              <a:t>Q</a:t>
            </a:r>
            <a:endParaRPr lang="en-US" sz="1600" dirty="0"/>
          </a:p>
        </p:txBody>
      </p:sp>
      <p:sp>
        <p:nvSpPr>
          <p:cNvPr id="76" name="Text 74"/>
          <p:cNvSpPr txBox="1"/>
          <p:nvPr/>
        </p:nvSpPr>
        <p:spPr>
          <a:xfrm>
            <a:off x="1078992" y="5660136"/>
            <a:ext cx="530352" cy="274320"/>
          </a:xfrm>
          <a:prstGeom prst="rect">
            <a:avLst/>
          </a:prstGeom>
          <a:noFill/>
          <a:ln/>
        </p:spPr>
        <p:txBody>
          <a:bodyPr wrap="square" lIns="0" tIns="0" rIns="0" bIns="0" rtlCol="0" anchor="t"/>
          <a:lstStyle/>
          <a:p>
            <a:pPr marL="0" indent="0" algn="ctr">
              <a:buNone/>
            </a:pPr>
            <a:r>
              <a:rPr lang="en-US" sz="1600" dirty="0">
                <a:solidFill>
                  <a:schemeClr val="tx1"/>
                </a:solidFill>
              </a:rPr>
              <a:t>2</a:t>
            </a:r>
            <a:endParaRPr lang="en-US" sz="1600" dirty="0"/>
          </a:p>
        </p:txBody>
      </p:sp>
      <p:sp>
        <p:nvSpPr>
          <p:cNvPr id="77" name="Node Q"/>
          <p:cNvSpPr txBox="1"/>
          <p:nvPr/>
        </p:nvSpPr>
        <p:spPr>
          <a:xfrm>
            <a:off x="1673352" y="4617720"/>
            <a:ext cx="402336" cy="402336"/>
          </a:xfrm>
          <a:prstGeom prst="ellipse">
            <a:avLst/>
          </a:prstGeom>
          <a:solidFill>
            <a:schemeClr val="accent2"/>
          </a:solidFill>
          <a:ln w="28575">
            <a:solidFill>
              <a:schemeClr val="bg1"/>
            </a:solidFill>
          </a:ln>
        </p:spPr>
        <p:txBody>
          <a:bodyPr wrap="square" lIns="0" tIns="0" rIns="0" bIns="0" rtlCol="0" anchor="ctr"/>
          <a:lstStyle/>
          <a:p>
            <a:pPr marL="0" indent="0" algn="ctr">
              <a:buNone/>
            </a:pPr>
            <a:r>
              <a:rPr lang="en-US" sz="1600" b="1" dirty="0">
                <a:solidFill>
                  <a:schemeClr val="bg1"/>
                </a:solidFill>
              </a:rPr>
              <a:t>Q</a:t>
            </a:r>
            <a:endParaRPr lang="en-US" sz="1600" dirty="0"/>
          </a:p>
        </p:txBody>
      </p:sp>
      <p:sp>
        <p:nvSpPr>
          <p:cNvPr id="78" name="Text 76"/>
          <p:cNvSpPr txBox="1"/>
          <p:nvPr/>
        </p:nvSpPr>
        <p:spPr>
          <a:xfrm>
            <a:off x="1609344" y="5660136"/>
            <a:ext cx="530352" cy="274320"/>
          </a:xfrm>
          <a:prstGeom prst="rect">
            <a:avLst/>
          </a:prstGeom>
          <a:noFill/>
          <a:ln/>
        </p:spPr>
        <p:txBody>
          <a:bodyPr wrap="square" lIns="0" tIns="0" rIns="0" bIns="0" rtlCol="0" anchor="t"/>
          <a:lstStyle/>
          <a:p>
            <a:pPr marL="0" indent="0" algn="ctr">
              <a:buNone/>
            </a:pPr>
            <a:r>
              <a:rPr lang="en-US" sz="1600" dirty="0">
                <a:solidFill>
                  <a:schemeClr val="tx1"/>
                </a:solidFill>
              </a:rPr>
              <a:t>3</a:t>
            </a:r>
            <a:endParaRPr lang="en-US" sz="1600" dirty="0"/>
          </a:p>
        </p:txBody>
      </p:sp>
      <p:sp>
        <p:nvSpPr>
          <p:cNvPr id="79" name="Node Q"/>
          <p:cNvSpPr txBox="1"/>
          <p:nvPr/>
        </p:nvSpPr>
        <p:spPr>
          <a:xfrm>
            <a:off x="2203704" y="2496312"/>
            <a:ext cx="402336" cy="402336"/>
          </a:xfrm>
          <a:prstGeom prst="ellipse">
            <a:avLst/>
          </a:prstGeom>
          <a:solidFill>
            <a:schemeClr val="accent1"/>
          </a:solidFill>
          <a:ln w="28575">
            <a:solidFill>
              <a:schemeClr val="bg1"/>
            </a:solidFill>
          </a:ln>
        </p:spPr>
        <p:txBody>
          <a:bodyPr wrap="square" lIns="0" tIns="0" rIns="0" bIns="0" rtlCol="0" anchor="ctr"/>
          <a:lstStyle/>
          <a:p>
            <a:pPr marL="0" indent="0" algn="ctr">
              <a:buNone/>
            </a:pPr>
            <a:r>
              <a:rPr lang="en-US" sz="1600" b="1" dirty="0">
                <a:solidFill>
                  <a:schemeClr val="bg1"/>
                </a:solidFill>
              </a:rPr>
              <a:t>Q</a:t>
            </a:r>
            <a:endParaRPr lang="en-US" sz="1600" dirty="0"/>
          </a:p>
        </p:txBody>
      </p:sp>
      <p:sp>
        <p:nvSpPr>
          <p:cNvPr id="80" name="Text 78"/>
          <p:cNvSpPr txBox="1"/>
          <p:nvPr/>
        </p:nvSpPr>
        <p:spPr>
          <a:xfrm>
            <a:off x="2139696" y="5660136"/>
            <a:ext cx="530352" cy="274320"/>
          </a:xfrm>
          <a:prstGeom prst="rect">
            <a:avLst/>
          </a:prstGeom>
          <a:noFill/>
          <a:ln/>
        </p:spPr>
        <p:txBody>
          <a:bodyPr wrap="square" lIns="0" tIns="0" rIns="0" bIns="0" rtlCol="0" anchor="t"/>
          <a:lstStyle/>
          <a:p>
            <a:pPr marL="0" indent="0" algn="ctr">
              <a:buNone/>
            </a:pPr>
            <a:r>
              <a:rPr lang="en-US" sz="1600" dirty="0">
                <a:solidFill>
                  <a:schemeClr val="tx1"/>
                </a:solidFill>
              </a:rPr>
              <a:t>4</a:t>
            </a:r>
            <a:endParaRPr lang="en-US" sz="1600" dirty="0"/>
          </a:p>
        </p:txBody>
      </p:sp>
      <p:sp>
        <p:nvSpPr>
          <p:cNvPr id="81" name="Node Q"/>
          <p:cNvSpPr txBox="1"/>
          <p:nvPr/>
        </p:nvSpPr>
        <p:spPr>
          <a:xfrm>
            <a:off x="2734056" y="4617720"/>
            <a:ext cx="402336" cy="402336"/>
          </a:xfrm>
          <a:prstGeom prst="ellipse">
            <a:avLst/>
          </a:prstGeom>
          <a:solidFill>
            <a:schemeClr val="accent2"/>
          </a:solidFill>
          <a:ln w="28575">
            <a:solidFill>
              <a:schemeClr val="bg1"/>
            </a:solidFill>
          </a:ln>
        </p:spPr>
        <p:txBody>
          <a:bodyPr wrap="square" lIns="0" tIns="0" rIns="0" bIns="0" rtlCol="0" anchor="ctr"/>
          <a:lstStyle/>
          <a:p>
            <a:pPr marL="0" indent="0" algn="ctr">
              <a:buNone/>
            </a:pPr>
            <a:r>
              <a:rPr lang="en-US" sz="1600" b="1" dirty="0">
                <a:solidFill>
                  <a:schemeClr val="bg1"/>
                </a:solidFill>
              </a:rPr>
              <a:t>Q</a:t>
            </a:r>
            <a:endParaRPr lang="en-US" sz="1600" dirty="0"/>
          </a:p>
        </p:txBody>
      </p:sp>
      <p:sp>
        <p:nvSpPr>
          <p:cNvPr id="82" name="Text 80"/>
          <p:cNvSpPr txBox="1"/>
          <p:nvPr/>
        </p:nvSpPr>
        <p:spPr>
          <a:xfrm>
            <a:off x="2670048" y="5660136"/>
            <a:ext cx="530352" cy="274320"/>
          </a:xfrm>
          <a:prstGeom prst="rect">
            <a:avLst/>
          </a:prstGeom>
          <a:noFill/>
          <a:ln/>
        </p:spPr>
        <p:txBody>
          <a:bodyPr wrap="square" lIns="0" tIns="0" rIns="0" bIns="0" rtlCol="0" anchor="t"/>
          <a:lstStyle/>
          <a:p>
            <a:pPr marL="0" indent="0" algn="ctr">
              <a:buNone/>
            </a:pPr>
            <a:r>
              <a:rPr lang="en-US" sz="1600" dirty="0">
                <a:solidFill>
                  <a:schemeClr val="tx1"/>
                </a:solidFill>
              </a:rPr>
              <a:t>5</a:t>
            </a:r>
            <a:endParaRPr lang="en-US" sz="1600" dirty="0"/>
          </a:p>
        </p:txBody>
      </p:sp>
      <p:sp>
        <p:nvSpPr>
          <p:cNvPr id="83" name="Node Q"/>
          <p:cNvSpPr txBox="1"/>
          <p:nvPr/>
        </p:nvSpPr>
        <p:spPr>
          <a:xfrm>
            <a:off x="3264408" y="5148072"/>
            <a:ext cx="402336" cy="402336"/>
          </a:xfrm>
          <a:prstGeom prst="ellipse">
            <a:avLst/>
          </a:prstGeom>
          <a:solidFill>
            <a:schemeClr val="accent2"/>
          </a:solidFill>
          <a:ln w="28575">
            <a:solidFill>
              <a:schemeClr val="bg1"/>
            </a:solidFill>
          </a:ln>
        </p:spPr>
        <p:txBody>
          <a:bodyPr wrap="square" lIns="0" tIns="0" rIns="0" bIns="0" rtlCol="0" anchor="ctr"/>
          <a:lstStyle/>
          <a:p>
            <a:pPr marL="0" indent="0" algn="ctr">
              <a:buNone/>
            </a:pPr>
            <a:r>
              <a:rPr lang="en-US" sz="1600" b="1" dirty="0">
                <a:solidFill>
                  <a:schemeClr val="bg1"/>
                </a:solidFill>
              </a:rPr>
              <a:t>Q</a:t>
            </a:r>
            <a:endParaRPr lang="en-US" sz="1600" dirty="0"/>
          </a:p>
        </p:txBody>
      </p:sp>
      <p:sp>
        <p:nvSpPr>
          <p:cNvPr id="84" name="Text 82"/>
          <p:cNvSpPr txBox="1"/>
          <p:nvPr/>
        </p:nvSpPr>
        <p:spPr>
          <a:xfrm>
            <a:off x="3200400" y="5660136"/>
            <a:ext cx="530352" cy="274320"/>
          </a:xfrm>
          <a:prstGeom prst="rect">
            <a:avLst/>
          </a:prstGeom>
          <a:noFill/>
          <a:ln/>
        </p:spPr>
        <p:txBody>
          <a:bodyPr wrap="square" lIns="0" tIns="0" rIns="0" bIns="0" rtlCol="0" anchor="t"/>
          <a:lstStyle/>
          <a:p>
            <a:pPr marL="0" indent="0" algn="ctr">
              <a:buNone/>
            </a:pPr>
            <a:r>
              <a:rPr lang="en-US" sz="1600" dirty="0">
                <a:solidFill>
                  <a:schemeClr val="tx1"/>
                </a:solidFill>
              </a:rPr>
              <a:t>6</a:t>
            </a:r>
            <a:endParaRPr lang="en-US" sz="1600" dirty="0"/>
          </a:p>
        </p:txBody>
      </p:sp>
      <p:sp>
        <p:nvSpPr>
          <p:cNvPr id="85" name="Node Q"/>
          <p:cNvSpPr txBox="1"/>
          <p:nvPr/>
        </p:nvSpPr>
        <p:spPr>
          <a:xfrm>
            <a:off x="3794760" y="3557016"/>
            <a:ext cx="402336" cy="402336"/>
          </a:xfrm>
          <a:prstGeom prst="ellipse">
            <a:avLst/>
          </a:prstGeom>
          <a:solidFill>
            <a:schemeClr val="accent2"/>
          </a:solidFill>
          <a:ln w="28575">
            <a:solidFill>
              <a:schemeClr val="bg1"/>
            </a:solidFill>
          </a:ln>
        </p:spPr>
        <p:txBody>
          <a:bodyPr wrap="square" lIns="0" tIns="0" rIns="0" bIns="0" rtlCol="0" anchor="ctr"/>
          <a:lstStyle/>
          <a:p>
            <a:pPr marL="0" indent="0" algn="ctr">
              <a:buNone/>
            </a:pPr>
            <a:r>
              <a:rPr lang="en-US" sz="1600" b="1" dirty="0">
                <a:solidFill>
                  <a:schemeClr val="bg1"/>
                </a:solidFill>
              </a:rPr>
              <a:t>Q</a:t>
            </a:r>
            <a:endParaRPr lang="en-US" sz="1600" dirty="0"/>
          </a:p>
        </p:txBody>
      </p:sp>
      <p:sp>
        <p:nvSpPr>
          <p:cNvPr id="86" name="Text 84"/>
          <p:cNvSpPr txBox="1"/>
          <p:nvPr/>
        </p:nvSpPr>
        <p:spPr>
          <a:xfrm>
            <a:off x="3730752" y="5660136"/>
            <a:ext cx="530352" cy="274320"/>
          </a:xfrm>
          <a:prstGeom prst="rect">
            <a:avLst/>
          </a:prstGeom>
          <a:noFill/>
          <a:ln/>
        </p:spPr>
        <p:txBody>
          <a:bodyPr wrap="square" lIns="0" tIns="0" rIns="0" bIns="0" rtlCol="0" anchor="t"/>
          <a:lstStyle/>
          <a:p>
            <a:pPr marL="0" indent="0" algn="ctr">
              <a:buNone/>
            </a:pPr>
            <a:r>
              <a:rPr lang="en-US" sz="1600" dirty="0">
                <a:solidFill>
                  <a:schemeClr val="tx1"/>
                </a:solidFill>
              </a:rPr>
              <a:t>7</a:t>
            </a:r>
            <a:endParaRPr lang="en-US" sz="1600" dirty="0"/>
          </a:p>
        </p:txBody>
      </p:sp>
      <p:sp>
        <p:nvSpPr>
          <p:cNvPr id="87" name="Node Q"/>
          <p:cNvSpPr txBox="1"/>
          <p:nvPr/>
        </p:nvSpPr>
        <p:spPr>
          <a:xfrm>
            <a:off x="4325112" y="5148072"/>
            <a:ext cx="402336" cy="402336"/>
          </a:xfrm>
          <a:prstGeom prst="ellipse">
            <a:avLst/>
          </a:prstGeom>
          <a:solidFill>
            <a:schemeClr val="accent2"/>
          </a:solidFill>
          <a:ln w="28575">
            <a:solidFill>
              <a:schemeClr val="bg1"/>
            </a:solidFill>
          </a:ln>
        </p:spPr>
        <p:txBody>
          <a:bodyPr wrap="square" lIns="0" tIns="0" rIns="0" bIns="0" rtlCol="0" anchor="ctr"/>
          <a:lstStyle/>
          <a:p>
            <a:pPr marL="0" indent="0" algn="ctr">
              <a:buNone/>
            </a:pPr>
            <a:r>
              <a:rPr lang="en-US" sz="1600" b="1" dirty="0">
                <a:solidFill>
                  <a:schemeClr val="bg1"/>
                </a:solidFill>
              </a:rPr>
              <a:t>Q</a:t>
            </a:r>
            <a:endParaRPr lang="en-US" sz="1600" dirty="0"/>
          </a:p>
        </p:txBody>
      </p:sp>
      <p:sp>
        <p:nvSpPr>
          <p:cNvPr id="88" name="Text 86"/>
          <p:cNvSpPr txBox="1"/>
          <p:nvPr/>
        </p:nvSpPr>
        <p:spPr>
          <a:xfrm>
            <a:off x="4261104" y="5660136"/>
            <a:ext cx="530352" cy="274320"/>
          </a:xfrm>
          <a:prstGeom prst="rect">
            <a:avLst/>
          </a:prstGeom>
          <a:noFill/>
          <a:ln/>
        </p:spPr>
        <p:txBody>
          <a:bodyPr wrap="square" lIns="0" tIns="0" rIns="0" bIns="0" rtlCol="0" anchor="t"/>
          <a:lstStyle/>
          <a:p>
            <a:pPr marL="0" indent="0" algn="ctr">
              <a:buNone/>
            </a:pPr>
            <a:r>
              <a:rPr lang="en-US" sz="1600" dirty="0">
                <a:solidFill>
                  <a:schemeClr val="tx1"/>
                </a:solidFill>
              </a:rPr>
              <a:t>8</a:t>
            </a:r>
            <a:endParaRPr lang="en-US" sz="1600" dirty="0"/>
          </a:p>
        </p:txBody>
      </p:sp>
      <p:sp>
        <p:nvSpPr>
          <p:cNvPr id="89" name="Definition card"/>
          <p:cNvSpPr/>
          <p:nvPr/>
        </p:nvSpPr>
        <p:spPr>
          <a:xfrm>
            <a:off x="5212080" y="1325880"/>
            <a:ext cx="6428232" cy="1783080"/>
          </a:xfrm>
          <a:prstGeom prst="roundRect">
            <a:avLst>
              <a:gd name="adj" fmla="val 5128"/>
            </a:avLst>
          </a:prstGeom>
          <a:solidFill>
            <a:schemeClr val="bg2"/>
          </a:solidFill>
          <a:ln/>
        </p:spPr>
      </p:sp>
      <p:sp>
        <p:nvSpPr>
          <p:cNvPr id="90" name="Text 88"/>
          <p:cNvSpPr txBox="1"/>
          <p:nvPr/>
        </p:nvSpPr>
        <p:spPr>
          <a:xfrm>
            <a:off x="5440680" y="1417320"/>
            <a:ext cx="5989320" cy="320040"/>
          </a:xfrm>
          <a:prstGeom prst="rect">
            <a:avLst/>
          </a:prstGeom>
          <a:noFill/>
          <a:ln/>
        </p:spPr>
        <p:txBody>
          <a:bodyPr wrap="square" lIns="0" tIns="0" rIns="0" bIns="0" rtlCol="0" anchor="t"/>
          <a:lstStyle/>
          <a:p>
            <a:pPr marL="0" indent="0">
              <a:buNone/>
            </a:pPr>
            <a:r>
              <a:rPr lang="en-US" sz="1700" dirty="0">
                <a:solidFill>
                  <a:schemeClr val="tx1"/>
                </a:solidFill>
              </a:rPr>
              <a:t>Place 8 queens, one per column, so that none attack each other.</a:t>
            </a:r>
            <a:endParaRPr lang="en-US" sz="1700" dirty="0"/>
          </a:p>
        </p:txBody>
      </p:sp>
      <p:sp>
        <p:nvSpPr>
          <p:cNvPr id="91" name="Text 89"/>
          <p:cNvSpPr txBox="1"/>
          <p:nvPr/>
        </p:nvSpPr>
        <p:spPr>
          <a:xfrm>
            <a:off x="5440680" y="1783080"/>
            <a:ext cx="5989320" cy="411480"/>
          </a:xfrm>
          <a:prstGeom prst="rect">
            <a:avLst/>
          </a:prstGeom>
          <a:noFill/>
          <a:ln/>
        </p:spPr>
        <p:txBody>
          <a:bodyPr wrap="square" lIns="0" tIns="0" rIns="0" bIns="0" rtlCol="0" anchor="t"/>
          <a:lstStyle/>
          <a:p>
            <a:pPr marL="0" indent="0">
              <a:buNone/>
            </a:pPr>
            <a:r>
              <a:rPr lang="en-US" sz="2200" b="1" dirty="0">
                <a:solidFill>
                  <a:schemeClr val="accent2"/>
                </a:solidFill>
              </a:rPr>
              <a:t>h(n) = number of attacking pairs of queens</a:t>
            </a:r>
            <a:endParaRPr lang="en-US" sz="2200" dirty="0"/>
          </a:p>
        </p:txBody>
      </p:sp>
      <p:sp>
        <p:nvSpPr>
          <p:cNvPr id="92" name="Text 90"/>
          <p:cNvSpPr txBox="1"/>
          <p:nvPr/>
        </p:nvSpPr>
        <p:spPr>
          <a:xfrm>
            <a:off x="5440680" y="2286000"/>
            <a:ext cx="5989320" cy="777240"/>
          </a:xfrm>
          <a:prstGeom prst="rect">
            <a:avLst/>
          </a:prstGeom>
          <a:noFill/>
          <a:ln/>
        </p:spPr>
        <p:txBody>
          <a:bodyPr wrap="square" lIns="0" tIns="0" rIns="0" bIns="0" rtlCol="0" anchor="t"/>
          <a:lstStyle/>
          <a:p>
            <a:pPr marL="0" indent="0">
              <a:buNone/>
            </a:pPr>
            <a:r>
              <a:rPr lang="en-US" sz="1700" dirty="0">
                <a:solidFill>
                  <a:schemeClr val="tx1"/>
                </a:solidFill>
              </a:rPr>
              <a:t>Queens i and j form an attacking pair if they share a row or a diagonal. Qᵢ = the queen in column i.</a:t>
            </a:r>
            <a:endParaRPr lang="en-US" sz="1800" dirty="0"/>
          </a:p>
        </p:txBody>
      </p:sp>
      <p:sp>
        <p:nvSpPr>
          <p:cNvPr id="93" name="Pairs card"/>
          <p:cNvSpPr/>
          <p:nvPr/>
        </p:nvSpPr>
        <p:spPr>
          <a:xfrm>
            <a:off x="5212080" y="3246120"/>
            <a:ext cx="6428232" cy="2057400"/>
          </a:xfrm>
          <a:prstGeom prst="roundRect">
            <a:avLst>
              <a:gd name="adj" fmla="val 4444"/>
            </a:avLst>
          </a:prstGeom>
          <a:solidFill>
            <a:schemeClr val="bg2"/>
          </a:solidFill>
          <a:ln/>
        </p:spPr>
      </p:sp>
      <p:sp>
        <p:nvSpPr>
          <p:cNvPr id="94" name="Text 92"/>
          <p:cNvSpPr txBox="1"/>
          <p:nvPr/>
        </p:nvSpPr>
        <p:spPr>
          <a:xfrm>
            <a:off x="5440680" y="3337560"/>
            <a:ext cx="5989320" cy="365760"/>
          </a:xfrm>
          <a:prstGeom prst="rect">
            <a:avLst/>
          </a:prstGeom>
          <a:noFill/>
          <a:ln/>
        </p:spPr>
        <p:txBody>
          <a:bodyPr wrap="square" lIns="0" tIns="0" rIns="0" bIns="0" rtlCol="0" anchor="t"/>
          <a:lstStyle/>
          <a:p>
            <a:pPr marL="0" indent="0">
              <a:buNone/>
            </a:pPr>
            <a:r>
              <a:rPr lang="en-US" sz="2000" b="1" dirty="0">
                <a:solidFill>
                  <a:schemeClr val="accent1"/>
                </a:solidFill>
              </a:rPr>
              <a:t>Attacking pairs on this board:  h(n) = 5</a:t>
            </a:r>
            <a:endParaRPr lang="en-US" sz="2000" dirty="0"/>
          </a:p>
        </p:txBody>
      </p:sp>
      <p:sp>
        <p:nvSpPr>
          <p:cNvPr id="95" name="Text 93"/>
          <p:cNvSpPr txBox="1"/>
          <p:nvPr/>
        </p:nvSpPr>
        <p:spPr>
          <a:xfrm>
            <a:off x="5440680" y="3767328"/>
            <a:ext cx="5989320" cy="1463040"/>
          </a:xfrm>
          <a:prstGeom prst="rect">
            <a:avLst/>
          </a:prstGeom>
          <a:noFill/>
          <a:ln/>
        </p:spPr>
        <p:txBody>
          <a:bodyPr wrap="square" lIns="0" tIns="0" rIns="0" bIns="0" rtlCol="0" anchor="t"/>
          <a:lstStyle/>
          <a:p>
            <a:pPr marL="228600" indent="-228600">
              <a:spcAft>
                <a:spcPts val="200"/>
              </a:spcAft>
              <a:buSzPct val="100000"/>
              <a:buChar char="•"/>
            </a:pPr>
            <a:r>
              <a:rPr lang="en-US" sz="1700" dirty="0">
                <a:solidFill>
                  <a:schemeClr val="tx1"/>
                </a:solidFill>
              </a:rPr>
              <a:t>Q2 – Q8: same diagonal</a:t>
            </a:r>
            <a:endParaRPr lang="en-US" sz="1800" dirty="0"/>
          </a:p>
          <a:p>
            <a:pPr marL="228600" indent="-228600">
              <a:spcAft>
                <a:spcPts val="200"/>
              </a:spcAft>
              <a:buSzPct val="100000"/>
              <a:buChar char="•"/>
            </a:pPr>
            <a:r>
              <a:rPr lang="en-US" sz="1700" dirty="0">
                <a:solidFill>
                  <a:schemeClr val="tx1"/>
                </a:solidFill>
              </a:rPr>
              <a:t>Q3 – Q5: same row</a:t>
            </a:r>
            <a:endParaRPr lang="en-US" sz="1800" dirty="0"/>
          </a:p>
          <a:p>
            <a:pPr marL="228600" indent="-228600">
              <a:spcAft>
                <a:spcPts val="200"/>
              </a:spcAft>
              <a:buSzPct val="100000"/>
              <a:buChar char="•"/>
            </a:pPr>
            <a:r>
              <a:rPr lang="en-US" sz="1700" dirty="0">
                <a:solidFill>
                  <a:schemeClr val="tx1"/>
                </a:solidFill>
              </a:rPr>
              <a:t>Q5 – Q6: same diagonal</a:t>
            </a:r>
            <a:endParaRPr lang="en-US" sz="1800" dirty="0"/>
          </a:p>
          <a:p>
            <a:pPr marL="228600" indent="-228600">
              <a:spcAft>
                <a:spcPts val="200"/>
              </a:spcAft>
              <a:buSzPct val="100000"/>
              <a:buChar char="•"/>
            </a:pPr>
            <a:r>
              <a:rPr lang="en-US" sz="1700" dirty="0">
                <a:solidFill>
                  <a:schemeClr val="tx1"/>
                </a:solidFill>
              </a:rPr>
              <a:t>Q5 – Q7: same diagonal</a:t>
            </a:r>
            <a:endParaRPr lang="en-US" sz="1800" dirty="0"/>
          </a:p>
          <a:p>
            <a:pPr marL="228600" indent="-228600">
              <a:spcAft>
                <a:spcPts val="200"/>
              </a:spcAft>
              <a:buSzPct val="100000"/>
              <a:buChar char="•"/>
            </a:pPr>
            <a:r>
              <a:rPr lang="en-US" sz="1700" dirty="0">
                <a:solidFill>
                  <a:schemeClr val="tx1"/>
                </a:solidFill>
              </a:rPr>
              <a:t>Q6 – Q8: same row</a:t>
            </a:r>
            <a:endParaRPr lang="en-US" sz="1800" dirty="0"/>
          </a:p>
        </p:txBody>
      </p:sp>
      <p:sp>
        <p:nvSpPr>
          <p:cNvPr id="96" name="Meaning card"/>
          <p:cNvSpPr/>
          <p:nvPr/>
        </p:nvSpPr>
        <p:spPr>
          <a:xfrm>
            <a:off x="5212080" y="5440680"/>
            <a:ext cx="6428232" cy="822960"/>
          </a:xfrm>
          <a:prstGeom prst="roundRect">
            <a:avLst>
              <a:gd name="adj" fmla="val 11111"/>
            </a:avLst>
          </a:prstGeom>
          <a:solidFill>
            <a:schemeClr val="accent4">
              <a:alpha val="12000"/>
            </a:schemeClr>
          </a:solidFill>
          <a:ln w="15875">
            <a:solidFill>
              <a:schemeClr val="accent4"/>
            </a:solidFill>
            <a:prstDash val="solid"/>
          </a:ln>
        </p:spPr>
      </p:sp>
      <p:sp>
        <p:nvSpPr>
          <p:cNvPr id="97" name="Text 95"/>
          <p:cNvSpPr txBox="1"/>
          <p:nvPr/>
        </p:nvSpPr>
        <p:spPr>
          <a:xfrm>
            <a:off x="5440680" y="5440680"/>
            <a:ext cx="5989320" cy="822960"/>
          </a:xfrm>
          <a:prstGeom prst="rect">
            <a:avLst/>
          </a:prstGeom>
          <a:noFill/>
          <a:ln/>
        </p:spPr>
        <p:txBody>
          <a:bodyPr wrap="square" lIns="0" tIns="0" rIns="0" bIns="0" rtlCol="0" anchor="ctr"/>
          <a:lstStyle/>
          <a:p>
            <a:pPr marL="0" indent="0">
              <a:buNone/>
            </a:pPr>
            <a:r>
              <a:rPr lang="en-US" sz="1700" dirty="0">
                <a:solidFill>
                  <a:schemeClr val="tx1"/>
                </a:solidFill>
              </a:rPr>
              <a:t>h(n) = 0 → a solution (no pair attacks). Lower is better; the worst case is C(8,2) = 28 pairs.</a:t>
            </a:r>
            <a:endParaRPr lang="en-US" sz="1700" dirty="0"/>
          </a:p>
        </p:txBody>
      </p:sp>
      <p:sp>
        <p:nvSpPr>
          <p:cNvPr id="98"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Tic-Tac-Toe: A Game Evaluation Function</a:t>
            </a:r>
            <a:endParaRPr lang="en-US" sz="3200" dirty="0"/>
          </a:p>
        </p:txBody>
      </p:sp>
      <p:sp>
        <p:nvSpPr>
          <p:cNvPr id="3" name="Formula card"/>
          <p:cNvSpPr/>
          <p:nvPr/>
        </p:nvSpPr>
        <p:spPr>
          <a:xfrm>
            <a:off x="548640" y="1280160"/>
            <a:ext cx="11091672" cy="1097280"/>
          </a:xfrm>
          <a:prstGeom prst="roundRect">
            <a:avLst>
              <a:gd name="adj" fmla="val 8333"/>
            </a:avLst>
          </a:prstGeom>
          <a:solidFill>
            <a:schemeClr val="bg2"/>
          </a:solidFill>
          <a:ln/>
        </p:spPr>
      </p:sp>
      <p:sp>
        <p:nvSpPr>
          <p:cNvPr id="4" name="Text 2"/>
          <p:cNvSpPr txBox="1"/>
          <p:nvPr/>
        </p:nvSpPr>
        <p:spPr>
          <a:xfrm>
            <a:off x="822960" y="1344168"/>
            <a:ext cx="10607040" cy="457200"/>
          </a:xfrm>
          <a:prstGeom prst="rect">
            <a:avLst/>
          </a:prstGeom>
          <a:noFill/>
          <a:ln/>
        </p:spPr>
        <p:txBody>
          <a:bodyPr wrap="square" lIns="0" tIns="0" rIns="0" bIns="0" rtlCol="0" anchor="t"/>
          <a:lstStyle/>
          <a:p>
            <a:pPr marL="0" indent="0">
              <a:buNone/>
            </a:pPr>
            <a:r>
              <a:rPr lang="en-US" sz="2600" b="1" dirty="0">
                <a:solidFill>
                  <a:schemeClr val="accent2"/>
                </a:solidFill>
              </a:rPr>
              <a:t>H(s) = 100(X₃ − O₃) + 10(X₂ − O₂) + 1(X₁ − O₁)</a:t>
            </a:r>
            <a:endParaRPr lang="en-US" sz="1800" dirty="0"/>
          </a:p>
        </p:txBody>
      </p:sp>
      <p:sp>
        <p:nvSpPr>
          <p:cNvPr id="5" name="Text 3"/>
          <p:cNvSpPr txBox="1"/>
          <p:nvPr/>
        </p:nvSpPr>
        <p:spPr>
          <a:xfrm>
            <a:off x="822960" y="1874520"/>
            <a:ext cx="10607040" cy="457200"/>
          </a:xfrm>
          <a:prstGeom prst="rect">
            <a:avLst/>
          </a:prstGeom>
          <a:noFill/>
          <a:ln/>
        </p:spPr>
        <p:txBody>
          <a:bodyPr wrap="square" lIns="0" tIns="0" rIns="0" bIns="0" rtlCol="0" anchor="t"/>
          <a:lstStyle/>
          <a:p>
            <a:pPr marL="0" indent="0">
              <a:buNone/>
            </a:pPr>
            <a:r>
              <a:rPr lang="en-US" sz="1700" dirty="0">
                <a:solidFill>
                  <a:schemeClr val="tx1"/>
                </a:solidFill>
              </a:rPr>
              <a:t>Xₖ (Oₖ) = number of the 8 lines holding exactly k marks of X (O) and none of the opponent’s. X = AI, O = opponent.</a:t>
            </a:r>
            <a:endParaRPr lang="en-US" sz="1800" dirty="0"/>
          </a:p>
        </p:txBody>
      </p:sp>
      <p:sp>
        <p:nvSpPr>
          <p:cNvPr id="6" name="Text 4"/>
          <p:cNvSpPr txBox="1"/>
          <p:nvPr/>
        </p:nvSpPr>
        <p:spPr>
          <a:xfrm>
            <a:off x="548640" y="2514600"/>
            <a:ext cx="2468880" cy="320040"/>
          </a:xfrm>
          <a:prstGeom prst="rect">
            <a:avLst/>
          </a:prstGeom>
          <a:noFill/>
          <a:ln/>
        </p:spPr>
        <p:txBody>
          <a:bodyPr wrap="square" lIns="0" tIns="0" rIns="0" bIns="0" rtlCol="0" anchor="t"/>
          <a:lstStyle/>
          <a:p>
            <a:pPr marL="0" indent="0" algn="ctr">
              <a:buNone/>
            </a:pPr>
            <a:r>
              <a:rPr lang="en-US" sz="1700" b="1" dirty="0">
                <a:solidFill>
                  <a:schemeClr val="accent1"/>
                </a:solidFill>
              </a:rPr>
              <a:t>State s (X to move)</a:t>
            </a:r>
            <a:endParaRPr lang="en-US" sz="1700" dirty="0"/>
          </a:p>
        </p:txBody>
      </p:sp>
      <p:sp>
        <p:nvSpPr>
          <p:cNvPr id="7" name="TTT cell"/>
          <p:cNvSpPr txBox="1"/>
          <p:nvPr/>
        </p:nvSpPr>
        <p:spPr>
          <a:xfrm>
            <a:off x="548640" y="288036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r>
              <a:rPr lang="en-US" sz="3200" b="1" dirty="0">
                <a:solidFill>
                  <a:schemeClr val="accent1"/>
                </a:solidFill>
              </a:rPr>
              <a:t>X</a:t>
            </a:r>
            <a:endParaRPr lang="en-US" sz="3200" dirty="0"/>
          </a:p>
        </p:txBody>
      </p:sp>
      <p:sp>
        <p:nvSpPr>
          <p:cNvPr id="8" name="TTT cell"/>
          <p:cNvSpPr txBox="1"/>
          <p:nvPr/>
        </p:nvSpPr>
        <p:spPr>
          <a:xfrm>
            <a:off x="1371600" y="288036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endParaRPr lang="en-US" sz="3200" dirty="0"/>
          </a:p>
        </p:txBody>
      </p:sp>
      <p:sp>
        <p:nvSpPr>
          <p:cNvPr id="9" name="TTT cell"/>
          <p:cNvSpPr txBox="1"/>
          <p:nvPr/>
        </p:nvSpPr>
        <p:spPr>
          <a:xfrm>
            <a:off x="2194560" y="288036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r>
              <a:rPr lang="en-US" sz="3200" b="1" dirty="0">
                <a:solidFill>
                  <a:schemeClr val="accent3"/>
                </a:solidFill>
              </a:rPr>
              <a:t>O</a:t>
            </a:r>
            <a:endParaRPr lang="en-US" sz="3200" dirty="0"/>
          </a:p>
        </p:txBody>
      </p:sp>
      <p:sp>
        <p:nvSpPr>
          <p:cNvPr id="10" name="TTT cell"/>
          <p:cNvSpPr txBox="1"/>
          <p:nvPr/>
        </p:nvSpPr>
        <p:spPr>
          <a:xfrm>
            <a:off x="548640" y="370332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endParaRPr lang="en-US" sz="3200" dirty="0"/>
          </a:p>
        </p:txBody>
      </p:sp>
      <p:sp>
        <p:nvSpPr>
          <p:cNvPr id="11" name="TTT cell"/>
          <p:cNvSpPr txBox="1"/>
          <p:nvPr/>
        </p:nvSpPr>
        <p:spPr>
          <a:xfrm>
            <a:off x="1371600" y="370332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r>
              <a:rPr lang="en-US" sz="3200" b="1" dirty="0">
                <a:solidFill>
                  <a:schemeClr val="accent1"/>
                </a:solidFill>
              </a:rPr>
              <a:t>X</a:t>
            </a:r>
            <a:endParaRPr lang="en-US" sz="3200" dirty="0"/>
          </a:p>
        </p:txBody>
      </p:sp>
      <p:sp>
        <p:nvSpPr>
          <p:cNvPr id="12" name="TTT cell"/>
          <p:cNvSpPr txBox="1"/>
          <p:nvPr/>
        </p:nvSpPr>
        <p:spPr>
          <a:xfrm>
            <a:off x="2194560" y="370332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endParaRPr lang="en-US" sz="3200" dirty="0"/>
          </a:p>
        </p:txBody>
      </p:sp>
      <p:sp>
        <p:nvSpPr>
          <p:cNvPr id="13" name="TTT cell"/>
          <p:cNvSpPr txBox="1"/>
          <p:nvPr/>
        </p:nvSpPr>
        <p:spPr>
          <a:xfrm>
            <a:off x="548640" y="452628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endParaRPr lang="en-US" sz="3200" dirty="0"/>
          </a:p>
        </p:txBody>
      </p:sp>
      <p:sp>
        <p:nvSpPr>
          <p:cNvPr id="14" name="TTT cell"/>
          <p:cNvSpPr txBox="1"/>
          <p:nvPr/>
        </p:nvSpPr>
        <p:spPr>
          <a:xfrm>
            <a:off x="1371600" y="452628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endParaRPr lang="en-US" sz="3200" dirty="0"/>
          </a:p>
        </p:txBody>
      </p:sp>
      <p:sp>
        <p:nvSpPr>
          <p:cNvPr id="15" name="TTT cell"/>
          <p:cNvSpPr txBox="1"/>
          <p:nvPr/>
        </p:nvSpPr>
        <p:spPr>
          <a:xfrm>
            <a:off x="2194560" y="4526280"/>
            <a:ext cx="822960" cy="822960"/>
          </a:xfrm>
          <a:prstGeom prst="rect">
            <a:avLst/>
          </a:prstGeom>
          <a:solidFill>
            <a:schemeClr val="bg2"/>
          </a:solidFill>
          <a:ln w="19050">
            <a:solidFill>
              <a:schemeClr val="accent1"/>
            </a:solidFill>
          </a:ln>
        </p:spPr>
        <p:txBody>
          <a:bodyPr wrap="square" lIns="0" tIns="0" rIns="0" bIns="0" rtlCol="0" anchor="ctr"/>
          <a:lstStyle/>
          <a:p>
            <a:pPr marL="0" indent="0" algn="ctr">
              <a:buNone/>
            </a:pPr>
            <a:r>
              <a:rPr lang="en-US" sz="3200" b="1" dirty="0">
                <a:solidFill>
                  <a:schemeClr val="accent3"/>
                </a:solidFill>
              </a:rPr>
              <a:t>O</a:t>
            </a:r>
            <a:endParaRPr lang="en-US" sz="3200" dirty="0"/>
          </a:p>
        </p:txBody>
      </p:sp>
      <p:sp>
        <p:nvSpPr>
          <p:cNvPr id="16" name="Threat column"/>
          <p:cNvSpPr/>
          <p:nvPr/>
        </p:nvSpPr>
        <p:spPr>
          <a:xfrm>
            <a:off x="2194560" y="2880360"/>
            <a:ext cx="822960" cy="2468880"/>
          </a:xfrm>
          <a:prstGeom prst="rect">
            <a:avLst/>
          </a:prstGeom>
          <a:solidFill>
            <a:schemeClr val="accent2">
              <a:alpha val="0"/>
            </a:schemeClr>
          </a:solidFill>
          <a:ln w="44450">
            <a:solidFill>
              <a:schemeClr val="accent2"/>
            </a:solidFill>
            <a:prstDash val="solid"/>
          </a:ln>
        </p:spPr>
      </p:sp>
      <p:sp>
        <p:nvSpPr>
          <p:cNvPr id="17" name="Text 15"/>
          <p:cNvSpPr txBox="1"/>
          <p:nvPr/>
        </p:nvSpPr>
        <p:spPr>
          <a:xfrm>
            <a:off x="548640" y="5440680"/>
            <a:ext cx="2468880" cy="320040"/>
          </a:xfrm>
          <a:prstGeom prst="rect">
            <a:avLst/>
          </a:prstGeom>
          <a:noFill/>
          <a:ln/>
        </p:spPr>
        <p:txBody>
          <a:bodyPr wrap="square" lIns="0" tIns="0" rIns="0" bIns="0" rtlCol="0" anchor="t"/>
          <a:lstStyle/>
          <a:p>
            <a:pPr marL="0" indent="0" algn="ctr">
              <a:buNone/>
            </a:pPr>
            <a:r>
              <a:rPr lang="en-US" sz="1600" b="1" dirty="0">
                <a:solidFill>
                  <a:schemeClr val="accent2"/>
                </a:solidFill>
              </a:rPr>
              <a:t>O threatens column 3</a:t>
            </a:r>
            <a:endParaRPr lang="en-US" sz="1600" dirty="0"/>
          </a:p>
        </p:txBody>
      </p:sp>
      <p:graphicFrame>
        <p:nvGraphicFramePr>
          <p:cNvPr id="18" name="Lines table"/>
          <p:cNvGraphicFramePr>
            <a:graphicFrameLocks noGrp="1"/>
          </p:cNvGraphicFramePr>
          <p:nvPr/>
        </p:nvGraphicFramePr>
        <p:xfrm>
          <a:off x="3291840" y="2514600"/>
          <a:ext cx="3931920" cy="3291840"/>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65760">
                <a:tc>
                  <a:txBody>
                    <a:bodyPr/>
                    <a:lstStyle/>
                    <a:p>
                      <a:pPr marL="0" indent="0">
                        <a:buNone/>
                      </a:pPr>
                      <a:r>
                        <a:rPr lang="en-US" sz="1700" b="1" dirty="0">
                          <a:solidFill>
                            <a:schemeClr val="bg1"/>
                          </a:solidFill>
                        </a:rPr>
                        <a:t>Line</a:t>
                      </a:r>
                      <a:endParaRPr lang="en-US" sz="17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700" b="1" dirty="0">
                          <a:solidFill>
                            <a:schemeClr val="bg1"/>
                          </a:solidFill>
                        </a:rPr>
                        <a:t>Cells</a:t>
                      </a:r>
                      <a:endParaRPr lang="en-US" sz="17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700" b="1" dirty="0">
                          <a:solidFill>
                            <a:schemeClr val="bg1"/>
                          </a:solidFill>
                        </a:rPr>
                        <a:t>Counts as</a:t>
                      </a:r>
                      <a:endParaRPr lang="en-US" sz="17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65760">
                <a:tc>
                  <a:txBody>
                    <a:bodyPr/>
                    <a:lstStyle/>
                    <a:p>
                      <a:pPr marL="0" indent="0">
                        <a:buNone/>
                      </a:pPr>
                      <a:r>
                        <a:rPr lang="en-US" sz="1600" dirty="0">
                          <a:solidFill>
                            <a:schemeClr val="tx1"/>
                          </a:solidFill>
                        </a:rPr>
                        <a:t>Row 1</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X _ O</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dead</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buNone/>
                      </a:pPr>
                      <a:r>
                        <a:rPr lang="en-US" sz="1600" dirty="0">
                          <a:solidFill>
                            <a:schemeClr val="tx1"/>
                          </a:solidFill>
                        </a:rPr>
                        <a:t>Row 2</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_ X _</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X₁</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indent="0">
                        <a:buNone/>
                      </a:pPr>
                      <a:r>
                        <a:rPr lang="en-US" sz="1600" dirty="0">
                          <a:solidFill>
                            <a:schemeClr val="tx1"/>
                          </a:solidFill>
                        </a:rPr>
                        <a:t>Row 3</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_ _ O</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O₁</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buNone/>
                      </a:pPr>
                      <a:r>
                        <a:rPr lang="en-US" sz="1600" dirty="0">
                          <a:solidFill>
                            <a:schemeClr val="tx1"/>
                          </a:solidFill>
                        </a:rPr>
                        <a:t>Column 1</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X _ _</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X₁</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indent="0">
                        <a:buNone/>
                      </a:pPr>
                      <a:r>
                        <a:rPr lang="en-US" sz="1600" dirty="0">
                          <a:solidFill>
                            <a:schemeClr val="tx1"/>
                          </a:solidFill>
                        </a:rPr>
                        <a:t>Column 2</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_ X _</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X₁</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indent="0">
                        <a:buNone/>
                      </a:pPr>
                      <a:r>
                        <a:rPr lang="en-US" sz="1600" dirty="0">
                          <a:solidFill>
                            <a:schemeClr val="tx1"/>
                          </a:solidFill>
                        </a:rPr>
                        <a:t>Column 3</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O _ O</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O₂</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65760">
                <a:tc>
                  <a:txBody>
                    <a:bodyPr/>
                    <a:lstStyle/>
                    <a:p>
                      <a:pPr marL="0" indent="0">
                        <a:buNone/>
                      </a:pPr>
                      <a:r>
                        <a:rPr lang="en-US" sz="1600" dirty="0">
                          <a:solidFill>
                            <a:schemeClr val="tx1"/>
                          </a:solidFill>
                        </a:rPr>
                        <a:t>Diagonal ↘</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X X O</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dead</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65760">
                <a:tc>
                  <a:txBody>
                    <a:bodyPr/>
                    <a:lstStyle/>
                    <a:p>
                      <a:pPr marL="0" indent="0">
                        <a:buNone/>
                      </a:pPr>
                      <a:r>
                        <a:rPr lang="en-US" sz="1600" dirty="0">
                          <a:solidFill>
                            <a:schemeClr val="tx1"/>
                          </a:solidFill>
                        </a:rPr>
                        <a:t>Diagonal ↙</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O X _</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dead</a:t>
                      </a:r>
                      <a:endParaRPr lang="en-US" sz="1600" dirty="0"/>
                    </a:p>
                  </a:txBody>
                  <a:tcPr marL="101600" marR="101600" marT="25400" marB="254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19" name="Calculation card"/>
          <p:cNvSpPr/>
          <p:nvPr/>
        </p:nvSpPr>
        <p:spPr>
          <a:xfrm>
            <a:off x="7498080" y="2514600"/>
            <a:ext cx="4142232" cy="3291840"/>
          </a:xfrm>
          <a:prstGeom prst="roundRect">
            <a:avLst>
              <a:gd name="adj" fmla="val 2778"/>
            </a:avLst>
          </a:prstGeom>
          <a:solidFill>
            <a:schemeClr val="bg2"/>
          </a:solidFill>
          <a:ln/>
        </p:spPr>
      </p:sp>
      <p:sp>
        <p:nvSpPr>
          <p:cNvPr id="20" name="Text 17"/>
          <p:cNvSpPr txBox="1"/>
          <p:nvPr/>
        </p:nvSpPr>
        <p:spPr>
          <a:xfrm>
            <a:off x="7726680" y="2606040"/>
            <a:ext cx="3749040" cy="3108960"/>
          </a:xfrm>
          <a:prstGeom prst="rect">
            <a:avLst/>
          </a:prstGeom>
          <a:noFill/>
          <a:ln/>
        </p:spPr>
        <p:txBody>
          <a:bodyPr wrap="square" lIns="0" tIns="0" rIns="0" bIns="0" rtlCol="0" anchor="t"/>
          <a:lstStyle/>
          <a:p>
            <a:pPr marL="0" indent="0">
              <a:buNone/>
            </a:pPr>
            <a:r>
              <a:rPr lang="en-US" sz="1800" dirty="0">
                <a:solidFill>
                  <a:schemeClr val="tx1"/>
                </a:solidFill>
              </a:rPr>
              <a:t>X₁ = 3   X₂ = 0   X₃ = 0</a:t>
            </a:r>
            <a:endParaRPr lang="en-US" sz="1800" dirty="0"/>
          </a:p>
          <a:p>
            <a:pPr marL="0" indent="0">
              <a:spcAft>
                <a:spcPts val="800"/>
              </a:spcAft>
              <a:buNone/>
            </a:pPr>
            <a:r>
              <a:rPr lang="en-US" sz="1800" dirty="0">
                <a:solidFill>
                  <a:schemeClr val="tx1"/>
                </a:solidFill>
              </a:rPr>
              <a:t>O₁ = 1   O₂ = 1   O₃ = 0</a:t>
            </a:r>
            <a:endParaRPr lang="en-US" sz="1800" dirty="0"/>
          </a:p>
          <a:p>
            <a:pPr marL="0" indent="0">
              <a:buNone/>
            </a:pPr>
            <a:r>
              <a:rPr lang="en-US" sz="2200" b="1" dirty="0">
                <a:solidFill>
                  <a:schemeClr val="accent2"/>
                </a:solidFill>
              </a:rPr>
              <a:t>H = 100(0 − 0)</a:t>
            </a:r>
            <a:endParaRPr lang="en-US" sz="1800" dirty="0"/>
          </a:p>
          <a:p>
            <a:pPr marL="0" indent="0">
              <a:buNone/>
            </a:pPr>
            <a:r>
              <a:rPr lang="en-US" sz="2200" b="1" dirty="0">
                <a:solidFill>
                  <a:schemeClr val="accent2"/>
                </a:solidFill>
              </a:rPr>
              <a:t>     + 10(0 − 1)</a:t>
            </a:r>
            <a:endParaRPr lang="en-US" sz="1800" dirty="0"/>
          </a:p>
          <a:p>
            <a:pPr marL="0" indent="0">
              <a:buNone/>
            </a:pPr>
            <a:r>
              <a:rPr lang="en-US" sz="2200" b="1" dirty="0">
                <a:solidFill>
                  <a:schemeClr val="accent2"/>
                </a:solidFill>
              </a:rPr>
              <a:t>     + 1(3 − 1)</a:t>
            </a:r>
            <a:endParaRPr lang="en-US" sz="1800" dirty="0"/>
          </a:p>
          <a:p>
            <a:pPr marL="0" indent="0">
              <a:spcAft>
                <a:spcPts val="800"/>
              </a:spcAft>
              <a:buNone/>
            </a:pPr>
            <a:r>
              <a:rPr lang="en-US" sz="2600" b="1" dirty="0">
                <a:solidFill>
                  <a:schemeClr val="accent6"/>
                </a:solidFill>
              </a:rPr>
              <a:t>     = −8</a:t>
            </a:r>
            <a:endParaRPr lang="en-US" sz="1800" dirty="0"/>
          </a:p>
          <a:p>
            <a:pPr marL="0" indent="0">
              <a:spcAft>
                <a:spcPts val="600"/>
              </a:spcAft>
              <a:buNone/>
            </a:pPr>
            <a:r>
              <a:rPr lang="en-US" sz="1700" b="1" dirty="0">
                <a:solidFill>
                  <a:schemeClr val="tx1"/>
                </a:solidFill>
              </a:rPr>
              <a:t>X must block cell 6; then H = +11.</a:t>
            </a:r>
            <a:endParaRPr lang="en-US" sz="1800" dirty="0"/>
          </a:p>
          <a:p>
            <a:pPr marL="0" indent="0">
              <a:buNone/>
            </a:pPr>
            <a:r>
              <a:rPr lang="en-US" sz="1600" dirty="0">
                <a:solidFill>
                  <a:schemeClr val="tx1"/>
                </a:solidFill>
              </a:rPr>
              <a:t>O’s two-in-a-row is blocked, and X gains its own two-in-a-row in row 2.</a:t>
            </a:r>
            <a:endParaRPr lang="en-US" sz="1800" dirty="0"/>
          </a:p>
        </p:txBody>
      </p:sp>
      <p:sp>
        <p:nvSpPr>
          <p:cNvPr id="21" name="Interpretation strip"/>
          <p:cNvSpPr/>
          <p:nvPr/>
        </p:nvSpPr>
        <p:spPr>
          <a:xfrm>
            <a:off x="548640" y="5897880"/>
            <a:ext cx="11091672" cy="411480"/>
          </a:xfrm>
          <a:prstGeom prst="roundRect">
            <a:avLst>
              <a:gd name="adj" fmla="val 22222"/>
            </a:avLst>
          </a:prstGeom>
          <a:solidFill>
            <a:schemeClr val="accent1">
              <a:alpha val="12000"/>
            </a:schemeClr>
          </a:solidFill>
          <a:ln/>
        </p:spPr>
      </p:sp>
      <p:sp>
        <p:nvSpPr>
          <p:cNvPr id="22" name="Text 19"/>
          <p:cNvSpPr txBox="1"/>
          <p:nvPr/>
        </p:nvSpPr>
        <p:spPr>
          <a:xfrm>
            <a:off x="548640" y="5897880"/>
            <a:ext cx="11091672" cy="411480"/>
          </a:xfrm>
          <a:prstGeom prst="rect">
            <a:avLst/>
          </a:prstGeom>
          <a:noFill/>
          <a:ln/>
        </p:spPr>
        <p:txBody>
          <a:bodyPr wrap="square" lIns="0" tIns="0" rIns="0" bIns="0" rtlCol="0" anchor="ctr"/>
          <a:lstStyle/>
          <a:p>
            <a:pPr marL="0" indent="0" algn="ctr">
              <a:buNone/>
            </a:pPr>
            <a:r>
              <a:rPr lang="en-US" sz="1700" b="1" dirty="0">
                <a:solidFill>
                  <a:schemeClr val="accent1"/>
                </a:solidFill>
              </a:rPr>
              <a:t>H &gt; 0 favors the AI   ·   H &lt; 0 favors the opponent   ·   H = 0 ≈ balanced position</a:t>
            </a:r>
            <a:endParaRPr lang="en-US" sz="1700" dirty="0"/>
          </a:p>
        </p:txBody>
      </p:sp>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More Heuristic Examples</a:t>
            </a:r>
            <a:endParaRPr lang="en-US" sz="3200" dirty="0"/>
          </a:p>
        </p:txBody>
      </p:sp>
      <p:sp>
        <p:nvSpPr>
          <p:cNvPr id="3" name="Route card"/>
          <p:cNvSpPr/>
          <p:nvPr/>
        </p:nvSpPr>
        <p:spPr>
          <a:xfrm>
            <a:off x="548640" y="1325880"/>
            <a:ext cx="3566160" cy="4937760"/>
          </a:xfrm>
          <a:prstGeom prst="roundRect">
            <a:avLst>
              <a:gd name="adj" fmla="val 2564"/>
            </a:avLst>
          </a:prstGeom>
          <a:solidFill>
            <a:schemeClr val="bg2"/>
          </a:solidFill>
          <a:ln/>
        </p:spPr>
      </p:sp>
      <p:sp>
        <p:nvSpPr>
          <p:cNvPr id="4" name="Pill"/>
          <p:cNvSpPr txBox="1"/>
          <p:nvPr/>
        </p:nvSpPr>
        <p:spPr>
          <a:xfrm>
            <a:off x="731520" y="1463040"/>
            <a:ext cx="2286000" cy="457200"/>
          </a:xfrm>
          <a:prstGeom prst="roundRect">
            <a:avLst>
              <a:gd name="adj" fmla="val 20000"/>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Route Finding</a:t>
            </a:r>
            <a:endParaRPr lang="en-US" sz="1800" dirty="0"/>
          </a:p>
        </p:txBody>
      </p:sp>
      <p:sp>
        <p:nvSpPr>
          <p:cNvPr id="5" name="Text 3"/>
          <p:cNvSpPr txBox="1"/>
          <p:nvPr/>
        </p:nvSpPr>
        <p:spPr>
          <a:xfrm>
            <a:off x="777240" y="2103120"/>
            <a:ext cx="3154680" cy="685800"/>
          </a:xfrm>
          <a:prstGeom prst="rect">
            <a:avLst/>
          </a:prstGeom>
          <a:noFill/>
          <a:ln/>
        </p:spPr>
        <p:txBody>
          <a:bodyPr wrap="square" lIns="0" tIns="0" rIns="0" bIns="0" rtlCol="0" anchor="t"/>
          <a:lstStyle/>
          <a:p>
            <a:pPr marL="0" indent="0">
              <a:buNone/>
            </a:pPr>
            <a:r>
              <a:rPr lang="en-US" sz="2000" b="1" dirty="0">
                <a:solidFill>
                  <a:schemeClr val="accent2"/>
                </a:solidFill>
              </a:rPr>
              <a:t>h(n) = √((x₁ − x₂)² + (y₁ − y₂)²)</a:t>
            </a:r>
            <a:endParaRPr lang="en-US" sz="1800" dirty="0"/>
          </a:p>
        </p:txBody>
      </p:sp>
      <p:sp>
        <p:nvSpPr>
          <p:cNvPr id="6" name="Text 4"/>
          <p:cNvSpPr txBox="1"/>
          <p:nvPr/>
        </p:nvSpPr>
        <p:spPr>
          <a:xfrm>
            <a:off x="777240" y="2788920"/>
            <a:ext cx="3154680" cy="868680"/>
          </a:xfrm>
          <a:prstGeom prst="rect">
            <a:avLst/>
          </a:prstGeom>
          <a:noFill/>
          <a:ln/>
        </p:spPr>
        <p:txBody>
          <a:bodyPr wrap="square" lIns="0" tIns="0" rIns="0" bIns="0" rtlCol="0" anchor="t"/>
          <a:lstStyle/>
          <a:p>
            <a:pPr marL="0" indent="0">
              <a:buNone/>
            </a:pPr>
            <a:r>
              <a:rPr lang="en-US" sz="1700" dirty="0">
                <a:solidFill>
                  <a:schemeClr val="tx1"/>
                </a:solidFill>
              </a:rPr>
              <a:t>Straight-line (Euclidean) distance from node n (x₁, y₁) to the destination (x₂, y₂).</a:t>
            </a:r>
            <a:endParaRPr lang="en-US" sz="1700" dirty="0"/>
          </a:p>
        </p:txBody>
      </p:sp>
      <p:sp>
        <p:nvSpPr>
          <p:cNvPr id="7" name="Line"/>
          <p:cNvSpPr/>
          <p:nvPr/>
        </p:nvSpPr>
        <p:spPr>
          <a:xfrm>
            <a:off x="1188720" y="4800600"/>
            <a:ext cx="1371600" cy="274320"/>
          </a:xfrm>
          <a:prstGeom prst="line">
            <a:avLst/>
          </a:prstGeom>
          <a:noFill/>
          <a:ln w="38100">
            <a:solidFill>
              <a:schemeClr val="accent1"/>
            </a:solidFill>
            <a:prstDash val="solid"/>
          </a:ln>
        </p:spPr>
      </p:sp>
      <p:sp>
        <p:nvSpPr>
          <p:cNvPr id="8" name="Line"/>
          <p:cNvSpPr/>
          <p:nvPr/>
        </p:nvSpPr>
        <p:spPr>
          <a:xfrm flipV="1">
            <a:off x="2560320" y="4069080"/>
            <a:ext cx="914400" cy="1005840"/>
          </a:xfrm>
          <a:prstGeom prst="line">
            <a:avLst/>
          </a:prstGeom>
          <a:noFill/>
          <a:ln w="38100">
            <a:solidFill>
              <a:schemeClr val="accent1"/>
            </a:solidFill>
            <a:prstDash val="solid"/>
          </a:ln>
        </p:spPr>
      </p:sp>
      <p:sp>
        <p:nvSpPr>
          <p:cNvPr id="9" name="Line"/>
          <p:cNvSpPr/>
          <p:nvPr/>
        </p:nvSpPr>
        <p:spPr>
          <a:xfrm flipV="1">
            <a:off x="1188720" y="4069080"/>
            <a:ext cx="2286000" cy="731520"/>
          </a:xfrm>
          <a:prstGeom prst="line">
            <a:avLst/>
          </a:prstGeom>
          <a:noFill/>
          <a:ln w="38100">
            <a:solidFill>
              <a:schemeClr val="accent2"/>
            </a:solidFill>
            <a:prstDash val="dash"/>
          </a:ln>
        </p:spPr>
      </p:sp>
      <p:sp>
        <p:nvSpPr>
          <p:cNvPr id="10" name="Node n"/>
          <p:cNvSpPr txBox="1"/>
          <p:nvPr/>
        </p:nvSpPr>
        <p:spPr>
          <a:xfrm>
            <a:off x="960120" y="4572000"/>
            <a:ext cx="457200" cy="457200"/>
          </a:xfrm>
          <a:prstGeom prst="ellipse">
            <a:avLst/>
          </a:prstGeom>
          <a:solidFill>
            <a:schemeClr val="accent1"/>
          </a:solidFill>
          <a:ln w="28575">
            <a:solidFill>
              <a:schemeClr val="accent1"/>
            </a:solidFill>
          </a:ln>
        </p:spPr>
        <p:txBody>
          <a:bodyPr wrap="square" lIns="0" tIns="0" rIns="0" bIns="0" rtlCol="0" anchor="ctr"/>
          <a:lstStyle/>
          <a:p>
            <a:pPr marL="0" indent="0" algn="ctr">
              <a:buNone/>
            </a:pPr>
            <a:r>
              <a:rPr lang="en-US" sz="1600" b="1" dirty="0">
                <a:solidFill>
                  <a:schemeClr val="bg1"/>
                </a:solidFill>
              </a:rPr>
              <a:t>n</a:t>
            </a:r>
            <a:endParaRPr lang="en-US" sz="1600" dirty="0"/>
          </a:p>
        </p:txBody>
      </p:sp>
      <p:sp>
        <p:nvSpPr>
          <p:cNvPr id="11" name="Node G"/>
          <p:cNvSpPr txBox="1"/>
          <p:nvPr/>
        </p:nvSpPr>
        <p:spPr>
          <a:xfrm>
            <a:off x="3246120" y="3840480"/>
            <a:ext cx="457200" cy="457200"/>
          </a:xfrm>
          <a:prstGeom prst="ellipse">
            <a:avLst/>
          </a:prstGeom>
          <a:solidFill>
            <a:schemeClr val="accent2"/>
          </a:solidFill>
          <a:ln w="28575">
            <a:solidFill>
              <a:schemeClr val="accent2"/>
            </a:solidFill>
          </a:ln>
        </p:spPr>
        <p:txBody>
          <a:bodyPr wrap="square" lIns="0" tIns="0" rIns="0" bIns="0" rtlCol="0" anchor="ctr"/>
          <a:lstStyle/>
          <a:p>
            <a:pPr marL="0" indent="0" algn="ctr">
              <a:buNone/>
            </a:pPr>
            <a:r>
              <a:rPr lang="en-US" sz="1600" b="1" dirty="0">
                <a:solidFill>
                  <a:schemeClr val="bg1"/>
                </a:solidFill>
              </a:rPr>
              <a:t>G</a:t>
            </a:r>
            <a:endParaRPr lang="en-US" sz="1600" dirty="0"/>
          </a:p>
        </p:txBody>
      </p:sp>
      <p:sp>
        <p:nvSpPr>
          <p:cNvPr id="12" name="Text 10"/>
          <p:cNvSpPr txBox="1"/>
          <p:nvPr/>
        </p:nvSpPr>
        <p:spPr>
          <a:xfrm>
            <a:off x="777240" y="3657600"/>
            <a:ext cx="2743200" cy="274320"/>
          </a:xfrm>
          <a:prstGeom prst="rect">
            <a:avLst/>
          </a:prstGeom>
          <a:noFill/>
          <a:ln/>
        </p:spPr>
        <p:txBody>
          <a:bodyPr wrap="square" lIns="0" tIns="0" rIns="0" bIns="0" rtlCol="0" anchor="t"/>
          <a:lstStyle/>
          <a:p>
            <a:pPr marL="0" indent="0">
              <a:buNone/>
            </a:pPr>
            <a:r>
              <a:rPr lang="en-US" sz="1600" b="1" dirty="0">
                <a:solidFill>
                  <a:schemeClr val="accent2"/>
                </a:solidFill>
              </a:rPr>
              <a:t>h = 5 (straight line)</a:t>
            </a:r>
            <a:endParaRPr lang="en-US" sz="1600" dirty="0"/>
          </a:p>
        </p:txBody>
      </p:sp>
      <p:sp>
        <p:nvSpPr>
          <p:cNvPr id="13" name="Text 11"/>
          <p:cNvSpPr txBox="1"/>
          <p:nvPr/>
        </p:nvSpPr>
        <p:spPr>
          <a:xfrm>
            <a:off x="777240" y="5440680"/>
            <a:ext cx="3154680" cy="731520"/>
          </a:xfrm>
          <a:prstGeom prst="rect">
            <a:avLst/>
          </a:prstGeom>
          <a:noFill/>
          <a:ln/>
        </p:spPr>
        <p:txBody>
          <a:bodyPr wrap="square" lIns="0" tIns="0" rIns="0" bIns="0" rtlCol="0" anchor="t"/>
          <a:lstStyle/>
          <a:p>
            <a:pPr marL="0" indent="0">
              <a:buNone/>
            </a:pPr>
            <a:r>
              <a:rPr lang="en-US" sz="1600" dirty="0">
                <a:solidFill>
                  <a:schemeClr val="tx1"/>
                </a:solidFill>
              </a:rPr>
              <a:t>Real road = 7: h never overestimates.</a:t>
            </a:r>
            <a:endParaRPr lang="en-US" sz="1600" dirty="0"/>
          </a:p>
        </p:txBody>
      </p:sp>
      <p:sp>
        <p:nvSpPr>
          <p:cNvPr id="14" name="Grid card"/>
          <p:cNvSpPr/>
          <p:nvPr/>
        </p:nvSpPr>
        <p:spPr>
          <a:xfrm>
            <a:off x="4311396" y="1325880"/>
            <a:ext cx="3566160" cy="4937760"/>
          </a:xfrm>
          <a:prstGeom prst="roundRect">
            <a:avLst>
              <a:gd name="adj" fmla="val 2564"/>
            </a:avLst>
          </a:prstGeom>
          <a:solidFill>
            <a:schemeClr val="bg2"/>
          </a:solidFill>
          <a:ln/>
        </p:spPr>
      </p:sp>
      <p:sp>
        <p:nvSpPr>
          <p:cNvPr id="15" name="Pill"/>
          <p:cNvSpPr txBox="1"/>
          <p:nvPr/>
        </p:nvSpPr>
        <p:spPr>
          <a:xfrm>
            <a:off x="4494276" y="1463040"/>
            <a:ext cx="2560320" cy="457200"/>
          </a:xfrm>
          <a:prstGeom prst="roundRect">
            <a:avLst>
              <a:gd name="adj" fmla="val 20000"/>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Grid Pathfinding</a:t>
            </a:r>
            <a:endParaRPr lang="en-US" sz="1800" dirty="0"/>
          </a:p>
        </p:txBody>
      </p:sp>
      <p:sp>
        <p:nvSpPr>
          <p:cNvPr id="16" name="Text 14"/>
          <p:cNvSpPr txBox="1"/>
          <p:nvPr/>
        </p:nvSpPr>
        <p:spPr>
          <a:xfrm>
            <a:off x="4539996" y="2057400"/>
            <a:ext cx="3154680" cy="2011680"/>
          </a:xfrm>
          <a:prstGeom prst="rect">
            <a:avLst/>
          </a:prstGeom>
          <a:noFill/>
          <a:ln/>
        </p:spPr>
        <p:txBody>
          <a:bodyPr wrap="square" lIns="0" tIns="0" rIns="0" bIns="0" rtlCol="0" anchor="t"/>
          <a:lstStyle/>
          <a:p>
            <a:pPr marL="0" indent="0">
              <a:buNone/>
            </a:pPr>
            <a:r>
              <a:rPr lang="en-US" sz="1700" b="1" dirty="0">
                <a:solidFill>
                  <a:schemeClr val="tx1"/>
                </a:solidFill>
              </a:rPr>
              <a:t>Manhattan (4-way moves)</a:t>
            </a:r>
            <a:endParaRPr lang="en-US" sz="1800" dirty="0"/>
          </a:p>
          <a:p>
            <a:pPr marL="0" indent="0">
              <a:spcAft>
                <a:spcPts val="500"/>
              </a:spcAft>
              <a:buNone/>
            </a:pPr>
            <a:r>
              <a:rPr lang="en-US" sz="1800" b="1" dirty="0">
                <a:solidFill>
                  <a:schemeClr val="accent2"/>
                </a:solidFill>
              </a:rPr>
              <a:t>|x₁ − x₂| + |y₁ − y₂| = 7</a:t>
            </a:r>
            <a:endParaRPr lang="en-US" sz="1800" dirty="0"/>
          </a:p>
          <a:p>
            <a:pPr marL="0" indent="0">
              <a:buNone/>
            </a:pPr>
            <a:r>
              <a:rPr lang="en-US" sz="1700" b="1" dirty="0">
                <a:solidFill>
                  <a:schemeClr val="tx1"/>
                </a:solidFill>
              </a:rPr>
              <a:t>Chebyshev (8-way moves)</a:t>
            </a:r>
            <a:endParaRPr lang="en-US" sz="1800" dirty="0"/>
          </a:p>
          <a:p>
            <a:pPr marL="0" indent="0">
              <a:spcAft>
                <a:spcPts val="500"/>
              </a:spcAft>
              <a:buNone/>
            </a:pPr>
            <a:r>
              <a:rPr lang="en-US" sz="1800" b="1" dirty="0">
                <a:solidFill>
                  <a:schemeClr val="accent2"/>
                </a:solidFill>
              </a:rPr>
              <a:t>max(|x₁ − x₂|, |y₁ − y₂|) = 4</a:t>
            </a:r>
            <a:endParaRPr lang="en-US" sz="1800" dirty="0"/>
          </a:p>
          <a:p>
            <a:pPr marL="0" indent="0">
              <a:buNone/>
            </a:pPr>
            <a:r>
              <a:rPr lang="en-US" sz="1700" b="1" dirty="0">
                <a:solidFill>
                  <a:schemeClr val="tx1"/>
                </a:solidFill>
              </a:rPr>
              <a:t>Euclidean (any direction)</a:t>
            </a:r>
            <a:endParaRPr lang="en-US" sz="1800" dirty="0"/>
          </a:p>
          <a:p>
            <a:pPr marL="0" indent="0">
              <a:buNone/>
            </a:pPr>
            <a:r>
              <a:rPr lang="en-US" sz="1800" b="1" dirty="0">
                <a:solidFill>
                  <a:schemeClr val="accent2"/>
                </a:solidFill>
              </a:rPr>
              <a:t>√(Δx² + Δy²) = 5</a:t>
            </a:r>
            <a:endParaRPr lang="en-US" sz="1800" dirty="0"/>
          </a:p>
        </p:txBody>
      </p:sp>
      <p:sp>
        <p:nvSpPr>
          <p:cNvPr id="17" name="Grid cell"/>
          <p:cNvSpPr txBox="1"/>
          <p:nvPr/>
        </p:nvSpPr>
        <p:spPr>
          <a:xfrm>
            <a:off x="4905756" y="434340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18" name="Grid cell"/>
          <p:cNvSpPr txBox="1"/>
          <p:nvPr/>
        </p:nvSpPr>
        <p:spPr>
          <a:xfrm>
            <a:off x="5271516" y="434340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19" name="Grid cell"/>
          <p:cNvSpPr txBox="1"/>
          <p:nvPr/>
        </p:nvSpPr>
        <p:spPr>
          <a:xfrm>
            <a:off x="5637276" y="434340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0" name="Grid cell"/>
          <p:cNvSpPr txBox="1"/>
          <p:nvPr/>
        </p:nvSpPr>
        <p:spPr>
          <a:xfrm>
            <a:off x="6003036" y="434340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1" name="Grid cell"/>
          <p:cNvSpPr txBox="1"/>
          <p:nvPr/>
        </p:nvSpPr>
        <p:spPr>
          <a:xfrm>
            <a:off x="4539996" y="470916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2" name="Grid cell"/>
          <p:cNvSpPr txBox="1"/>
          <p:nvPr/>
        </p:nvSpPr>
        <p:spPr>
          <a:xfrm>
            <a:off x="4905756" y="470916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3" name="Grid cell"/>
          <p:cNvSpPr txBox="1"/>
          <p:nvPr/>
        </p:nvSpPr>
        <p:spPr>
          <a:xfrm>
            <a:off x="5271516" y="470916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4" name="Grid cell"/>
          <p:cNvSpPr txBox="1"/>
          <p:nvPr/>
        </p:nvSpPr>
        <p:spPr>
          <a:xfrm>
            <a:off x="5637276" y="470916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5" name="Grid cell"/>
          <p:cNvSpPr txBox="1"/>
          <p:nvPr/>
        </p:nvSpPr>
        <p:spPr>
          <a:xfrm>
            <a:off x="6003036" y="470916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6" name="Grid cell"/>
          <p:cNvSpPr txBox="1"/>
          <p:nvPr/>
        </p:nvSpPr>
        <p:spPr>
          <a:xfrm>
            <a:off x="4539996" y="507492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7" name="Grid cell"/>
          <p:cNvSpPr txBox="1"/>
          <p:nvPr/>
        </p:nvSpPr>
        <p:spPr>
          <a:xfrm>
            <a:off x="4905756" y="507492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8" name="Grid cell"/>
          <p:cNvSpPr txBox="1"/>
          <p:nvPr/>
        </p:nvSpPr>
        <p:spPr>
          <a:xfrm>
            <a:off x="5271516" y="507492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29" name="Grid cell"/>
          <p:cNvSpPr txBox="1"/>
          <p:nvPr/>
        </p:nvSpPr>
        <p:spPr>
          <a:xfrm>
            <a:off x="5637276" y="507492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30" name="Grid cell"/>
          <p:cNvSpPr txBox="1"/>
          <p:nvPr/>
        </p:nvSpPr>
        <p:spPr>
          <a:xfrm>
            <a:off x="6003036" y="507492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31" name="Grid cell"/>
          <p:cNvSpPr txBox="1"/>
          <p:nvPr/>
        </p:nvSpPr>
        <p:spPr>
          <a:xfrm>
            <a:off x="4539996" y="544068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32" name="Grid cell"/>
          <p:cNvSpPr txBox="1"/>
          <p:nvPr/>
        </p:nvSpPr>
        <p:spPr>
          <a:xfrm>
            <a:off x="4905756" y="544068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33" name="Grid cell"/>
          <p:cNvSpPr txBox="1"/>
          <p:nvPr/>
        </p:nvSpPr>
        <p:spPr>
          <a:xfrm>
            <a:off x="5271516" y="544068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34" name="Grid cell"/>
          <p:cNvSpPr txBox="1"/>
          <p:nvPr/>
        </p:nvSpPr>
        <p:spPr>
          <a:xfrm>
            <a:off x="5637276" y="5440680"/>
            <a:ext cx="365760" cy="365760"/>
          </a:xfrm>
          <a:prstGeom prst="rect">
            <a:avLst/>
          </a:prstGeom>
          <a:solidFill>
            <a:schemeClr val="bg1"/>
          </a:solidFill>
          <a:ln w="12700">
            <a:solidFill>
              <a:schemeClr val="accent1"/>
            </a:solidFill>
          </a:ln>
        </p:spPr>
        <p:txBody>
          <a:bodyPr wrap="square" lIns="0" tIns="0" rIns="0" bIns="0" rtlCol="0" anchor="ctr"/>
          <a:lstStyle/>
          <a:p>
            <a:pPr marL="0" indent="0" algn="ctr">
              <a:buNone/>
            </a:pPr>
            <a:endParaRPr lang="en-US" sz="1600" dirty="0"/>
          </a:p>
        </p:txBody>
      </p:sp>
      <p:sp>
        <p:nvSpPr>
          <p:cNvPr id="35" name="Euclidean line"/>
          <p:cNvSpPr/>
          <p:nvPr/>
        </p:nvSpPr>
        <p:spPr>
          <a:xfrm>
            <a:off x="4722876" y="4526280"/>
            <a:ext cx="1463040" cy="1097280"/>
          </a:xfrm>
          <a:prstGeom prst="line">
            <a:avLst/>
          </a:prstGeom>
          <a:noFill/>
          <a:ln w="31750">
            <a:solidFill>
              <a:schemeClr val="accent2"/>
            </a:solidFill>
            <a:prstDash val="dash"/>
          </a:ln>
        </p:spPr>
      </p:sp>
      <p:sp>
        <p:nvSpPr>
          <p:cNvPr id="36" name="Grid cell"/>
          <p:cNvSpPr txBox="1"/>
          <p:nvPr/>
        </p:nvSpPr>
        <p:spPr>
          <a:xfrm>
            <a:off x="4539996" y="4343400"/>
            <a:ext cx="365760" cy="365760"/>
          </a:xfrm>
          <a:prstGeom prst="rect">
            <a:avLst/>
          </a:prstGeom>
          <a:solidFill>
            <a:schemeClr val="accent1"/>
          </a:solidFill>
          <a:ln w="12700">
            <a:solidFill>
              <a:schemeClr val="accent1"/>
            </a:solidFill>
          </a:ln>
        </p:spPr>
        <p:txBody>
          <a:bodyPr wrap="square" lIns="0" tIns="0" rIns="0" bIns="0" rtlCol="0" anchor="ctr"/>
          <a:lstStyle/>
          <a:p>
            <a:pPr marL="0" indent="0" algn="ctr">
              <a:buNone/>
            </a:pPr>
            <a:r>
              <a:rPr lang="en-US" sz="1600" b="1" dirty="0">
                <a:solidFill>
                  <a:schemeClr val="bg1"/>
                </a:solidFill>
              </a:rPr>
              <a:t>S</a:t>
            </a:r>
            <a:endParaRPr lang="en-US" sz="1600" dirty="0"/>
          </a:p>
        </p:txBody>
      </p:sp>
      <p:sp>
        <p:nvSpPr>
          <p:cNvPr id="37" name="Grid cell"/>
          <p:cNvSpPr txBox="1"/>
          <p:nvPr/>
        </p:nvSpPr>
        <p:spPr>
          <a:xfrm>
            <a:off x="6003036" y="5440680"/>
            <a:ext cx="365760" cy="365760"/>
          </a:xfrm>
          <a:prstGeom prst="rect">
            <a:avLst/>
          </a:prstGeom>
          <a:solidFill>
            <a:schemeClr val="accent2"/>
          </a:solidFill>
          <a:ln w="12700">
            <a:solidFill>
              <a:schemeClr val="accent1"/>
            </a:solidFill>
          </a:ln>
        </p:spPr>
        <p:txBody>
          <a:bodyPr wrap="square" lIns="0" tIns="0" rIns="0" bIns="0" rtlCol="0" anchor="ctr"/>
          <a:lstStyle/>
          <a:p>
            <a:pPr marL="0" indent="0" algn="ctr">
              <a:buNone/>
            </a:pPr>
            <a:r>
              <a:rPr lang="en-US" sz="1600" b="1" dirty="0">
                <a:solidFill>
                  <a:schemeClr val="bg1"/>
                </a:solidFill>
              </a:rPr>
              <a:t>G</a:t>
            </a:r>
            <a:endParaRPr lang="en-US" sz="1600" dirty="0"/>
          </a:p>
        </p:txBody>
      </p:sp>
      <p:sp>
        <p:nvSpPr>
          <p:cNvPr id="38" name="Text 36"/>
          <p:cNvSpPr txBox="1"/>
          <p:nvPr/>
        </p:nvSpPr>
        <p:spPr>
          <a:xfrm>
            <a:off x="4539996" y="5897880"/>
            <a:ext cx="3154680" cy="320040"/>
          </a:xfrm>
          <a:prstGeom prst="rect">
            <a:avLst/>
          </a:prstGeom>
          <a:noFill/>
          <a:ln/>
        </p:spPr>
        <p:txBody>
          <a:bodyPr wrap="square" lIns="0" tIns="0" rIns="0" bIns="0" rtlCol="0" anchor="t"/>
          <a:lstStyle/>
          <a:p>
            <a:pPr marL="0" indent="0">
              <a:buNone/>
            </a:pPr>
            <a:r>
              <a:rPr lang="en-US" sz="1600" dirty="0">
                <a:solidFill>
                  <a:schemeClr val="tx1"/>
                </a:solidFill>
              </a:rPr>
              <a:t>Robot moving from S (0, 0) to G (4, 3)</a:t>
            </a:r>
            <a:endParaRPr lang="en-US" sz="1600" dirty="0"/>
          </a:p>
        </p:txBody>
      </p:sp>
      <p:sp>
        <p:nvSpPr>
          <p:cNvPr id="39" name="Chess card"/>
          <p:cNvSpPr/>
          <p:nvPr/>
        </p:nvSpPr>
        <p:spPr>
          <a:xfrm>
            <a:off x="8074152" y="1325880"/>
            <a:ext cx="3566160" cy="4937760"/>
          </a:xfrm>
          <a:prstGeom prst="roundRect">
            <a:avLst>
              <a:gd name="adj" fmla="val 2564"/>
            </a:avLst>
          </a:prstGeom>
          <a:solidFill>
            <a:schemeClr val="bg2"/>
          </a:solidFill>
          <a:ln/>
        </p:spPr>
      </p:sp>
      <p:sp>
        <p:nvSpPr>
          <p:cNvPr id="40" name="Pill"/>
          <p:cNvSpPr txBox="1"/>
          <p:nvPr/>
        </p:nvSpPr>
        <p:spPr>
          <a:xfrm>
            <a:off x="8257032" y="1463040"/>
            <a:ext cx="2286000" cy="457200"/>
          </a:xfrm>
          <a:prstGeom prst="roundRect">
            <a:avLst>
              <a:gd name="adj" fmla="val 20000"/>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Chess / Games</a:t>
            </a:r>
            <a:endParaRPr lang="en-US" sz="1800" dirty="0"/>
          </a:p>
        </p:txBody>
      </p:sp>
      <p:sp>
        <p:nvSpPr>
          <p:cNvPr id="41" name="Text 39"/>
          <p:cNvSpPr txBox="1"/>
          <p:nvPr/>
        </p:nvSpPr>
        <p:spPr>
          <a:xfrm>
            <a:off x="8302752" y="2057400"/>
            <a:ext cx="3154680" cy="914400"/>
          </a:xfrm>
          <a:prstGeom prst="rect">
            <a:avLst/>
          </a:prstGeom>
          <a:noFill/>
          <a:ln/>
        </p:spPr>
        <p:txBody>
          <a:bodyPr wrap="square" lIns="0" tIns="0" rIns="0" bIns="0" rtlCol="0" anchor="t"/>
          <a:lstStyle/>
          <a:p>
            <a:pPr marL="0" indent="0">
              <a:buNone/>
            </a:pPr>
            <a:r>
              <a:rPr lang="en-US" sz="2000" b="1" dirty="0">
                <a:solidFill>
                  <a:schemeClr val="accent2"/>
                </a:solidFill>
              </a:rPr>
              <a:t>E(s) = w₁·Material + w₂·Position + w₃·Mobility</a:t>
            </a:r>
            <a:endParaRPr lang="en-US" sz="1800" dirty="0"/>
          </a:p>
        </p:txBody>
      </p:sp>
      <p:sp>
        <p:nvSpPr>
          <p:cNvPr id="42" name="Text 40"/>
          <p:cNvSpPr txBox="1"/>
          <p:nvPr/>
        </p:nvSpPr>
        <p:spPr>
          <a:xfrm>
            <a:off x="8302752" y="3017520"/>
            <a:ext cx="3154680" cy="777240"/>
          </a:xfrm>
          <a:prstGeom prst="rect">
            <a:avLst/>
          </a:prstGeom>
          <a:noFill/>
          <a:ln/>
        </p:spPr>
        <p:txBody>
          <a:bodyPr wrap="square" lIns="0" tIns="0" rIns="0" bIns="0" rtlCol="0" anchor="t"/>
          <a:lstStyle/>
          <a:p>
            <a:pPr marL="0" indent="0">
              <a:buNone/>
            </a:pPr>
            <a:r>
              <a:rPr lang="en-US" sz="1700" dirty="0">
                <a:solidFill>
                  <a:schemeClr val="tx1"/>
                </a:solidFill>
              </a:rPr>
              <a:t>Estimates how good a position is for White; it is a score, not a cost to the goal.</a:t>
            </a:r>
            <a:endParaRPr lang="en-US" sz="1700" dirty="0"/>
          </a:p>
        </p:txBody>
      </p:sp>
      <p:sp>
        <p:nvSpPr>
          <p:cNvPr id="43" name="Pill"/>
          <p:cNvSpPr txBox="1"/>
          <p:nvPr/>
        </p:nvSpPr>
        <p:spPr>
          <a:xfrm>
            <a:off x="8302752" y="3886200"/>
            <a:ext cx="566928" cy="384048"/>
          </a:xfrm>
          <a:prstGeom prst="roundRect">
            <a:avLst>
              <a:gd name="adj" fmla="val 23810"/>
            </a:avLst>
          </a:prstGeom>
          <a:solidFill>
            <a:schemeClr val="accent1"/>
          </a:solidFill>
          <a:ln/>
        </p:spPr>
        <p:txBody>
          <a:bodyPr wrap="square" lIns="38100" tIns="38100" rIns="38100" bIns="38100" rtlCol="0" anchor="ctr"/>
          <a:lstStyle/>
          <a:p>
            <a:pPr marL="0" indent="0" algn="ctr">
              <a:buNone/>
            </a:pPr>
            <a:r>
              <a:rPr lang="en-US" sz="1600" b="1" dirty="0">
                <a:solidFill>
                  <a:schemeClr val="bg1"/>
                </a:solidFill>
              </a:rPr>
              <a:t>P 1</a:t>
            </a:r>
            <a:endParaRPr lang="en-US" sz="1600" dirty="0"/>
          </a:p>
        </p:txBody>
      </p:sp>
      <p:sp>
        <p:nvSpPr>
          <p:cNvPr id="44" name="Pill"/>
          <p:cNvSpPr txBox="1"/>
          <p:nvPr/>
        </p:nvSpPr>
        <p:spPr>
          <a:xfrm>
            <a:off x="8942832" y="3886200"/>
            <a:ext cx="566928" cy="384048"/>
          </a:xfrm>
          <a:prstGeom prst="roundRect">
            <a:avLst>
              <a:gd name="adj" fmla="val 23810"/>
            </a:avLst>
          </a:prstGeom>
          <a:solidFill>
            <a:schemeClr val="accent1"/>
          </a:solidFill>
          <a:ln/>
        </p:spPr>
        <p:txBody>
          <a:bodyPr wrap="square" lIns="38100" tIns="38100" rIns="38100" bIns="38100" rtlCol="0" anchor="ctr"/>
          <a:lstStyle/>
          <a:p>
            <a:pPr marL="0" indent="0" algn="ctr">
              <a:buNone/>
            </a:pPr>
            <a:r>
              <a:rPr lang="en-US" sz="1600" b="1" dirty="0">
                <a:solidFill>
                  <a:schemeClr val="bg1"/>
                </a:solidFill>
              </a:rPr>
              <a:t>N 3</a:t>
            </a:r>
            <a:endParaRPr lang="en-US" sz="1600" dirty="0"/>
          </a:p>
        </p:txBody>
      </p:sp>
      <p:sp>
        <p:nvSpPr>
          <p:cNvPr id="45" name="Pill"/>
          <p:cNvSpPr txBox="1"/>
          <p:nvPr/>
        </p:nvSpPr>
        <p:spPr>
          <a:xfrm>
            <a:off x="9582912" y="3886200"/>
            <a:ext cx="566928" cy="384048"/>
          </a:xfrm>
          <a:prstGeom prst="roundRect">
            <a:avLst>
              <a:gd name="adj" fmla="val 23810"/>
            </a:avLst>
          </a:prstGeom>
          <a:solidFill>
            <a:schemeClr val="accent1"/>
          </a:solidFill>
          <a:ln/>
        </p:spPr>
        <p:txBody>
          <a:bodyPr wrap="square" lIns="38100" tIns="38100" rIns="38100" bIns="38100" rtlCol="0" anchor="ctr"/>
          <a:lstStyle/>
          <a:p>
            <a:pPr marL="0" indent="0" algn="ctr">
              <a:buNone/>
            </a:pPr>
            <a:r>
              <a:rPr lang="en-US" sz="1600" b="1" dirty="0">
                <a:solidFill>
                  <a:schemeClr val="bg1"/>
                </a:solidFill>
              </a:rPr>
              <a:t>B 3</a:t>
            </a:r>
            <a:endParaRPr lang="en-US" sz="1600" dirty="0"/>
          </a:p>
        </p:txBody>
      </p:sp>
      <p:sp>
        <p:nvSpPr>
          <p:cNvPr id="46" name="Pill"/>
          <p:cNvSpPr txBox="1"/>
          <p:nvPr/>
        </p:nvSpPr>
        <p:spPr>
          <a:xfrm>
            <a:off x="10222992" y="3886200"/>
            <a:ext cx="566928" cy="384048"/>
          </a:xfrm>
          <a:prstGeom prst="roundRect">
            <a:avLst>
              <a:gd name="adj" fmla="val 23810"/>
            </a:avLst>
          </a:prstGeom>
          <a:solidFill>
            <a:schemeClr val="accent1"/>
          </a:solidFill>
          <a:ln/>
        </p:spPr>
        <p:txBody>
          <a:bodyPr wrap="square" lIns="38100" tIns="38100" rIns="38100" bIns="38100" rtlCol="0" anchor="ctr"/>
          <a:lstStyle/>
          <a:p>
            <a:pPr marL="0" indent="0" algn="ctr">
              <a:buNone/>
            </a:pPr>
            <a:r>
              <a:rPr lang="en-US" sz="1600" b="1" dirty="0">
                <a:solidFill>
                  <a:schemeClr val="bg1"/>
                </a:solidFill>
              </a:rPr>
              <a:t>R 5</a:t>
            </a:r>
            <a:endParaRPr lang="en-US" sz="1600" dirty="0"/>
          </a:p>
        </p:txBody>
      </p:sp>
      <p:sp>
        <p:nvSpPr>
          <p:cNvPr id="47" name="Pill"/>
          <p:cNvSpPr txBox="1"/>
          <p:nvPr/>
        </p:nvSpPr>
        <p:spPr>
          <a:xfrm>
            <a:off x="10863072" y="3886200"/>
            <a:ext cx="566928" cy="384048"/>
          </a:xfrm>
          <a:prstGeom prst="roundRect">
            <a:avLst>
              <a:gd name="adj" fmla="val 23810"/>
            </a:avLst>
          </a:prstGeom>
          <a:solidFill>
            <a:schemeClr val="accent1"/>
          </a:solidFill>
          <a:ln/>
        </p:spPr>
        <p:txBody>
          <a:bodyPr wrap="square" lIns="38100" tIns="38100" rIns="38100" bIns="38100" rtlCol="0" anchor="ctr"/>
          <a:lstStyle/>
          <a:p>
            <a:pPr marL="0" indent="0" algn="ctr">
              <a:buNone/>
            </a:pPr>
            <a:r>
              <a:rPr lang="en-US" sz="1600" b="1" dirty="0">
                <a:solidFill>
                  <a:schemeClr val="bg1"/>
                </a:solidFill>
              </a:rPr>
              <a:t>Q 9</a:t>
            </a:r>
            <a:endParaRPr lang="en-US" sz="1600" dirty="0"/>
          </a:p>
        </p:txBody>
      </p:sp>
      <p:sp>
        <p:nvSpPr>
          <p:cNvPr id="48" name="Text 46"/>
          <p:cNvSpPr txBox="1"/>
          <p:nvPr/>
        </p:nvSpPr>
        <p:spPr>
          <a:xfrm>
            <a:off x="8302752" y="4389120"/>
            <a:ext cx="3154680" cy="731520"/>
          </a:xfrm>
          <a:prstGeom prst="rect">
            <a:avLst/>
          </a:prstGeom>
          <a:noFill/>
          <a:ln/>
        </p:spPr>
        <p:txBody>
          <a:bodyPr wrap="square" lIns="0" tIns="0" rIns="0" bIns="0" rtlCol="0" anchor="t"/>
          <a:lstStyle/>
          <a:p>
            <a:pPr marL="0" indent="0">
              <a:buNone/>
            </a:pPr>
            <a:r>
              <a:rPr lang="en-US" sz="1600" dirty="0">
                <a:solidFill>
                  <a:schemeClr val="tx1"/>
                </a:solidFill>
              </a:rPr>
              <a:t>Up a knight (+3), position +1, mobility +4, with w = (1, 0.5, 0.1):</a:t>
            </a:r>
            <a:endParaRPr lang="en-US" sz="1600" dirty="0"/>
          </a:p>
        </p:txBody>
      </p:sp>
      <p:sp>
        <p:nvSpPr>
          <p:cNvPr id="49" name="Text 47"/>
          <p:cNvSpPr txBox="1"/>
          <p:nvPr/>
        </p:nvSpPr>
        <p:spPr>
          <a:xfrm>
            <a:off x="8302752" y="5120640"/>
            <a:ext cx="3154680" cy="365760"/>
          </a:xfrm>
          <a:prstGeom prst="rect">
            <a:avLst/>
          </a:prstGeom>
          <a:noFill/>
          <a:ln/>
        </p:spPr>
        <p:txBody>
          <a:bodyPr wrap="square" lIns="0" tIns="0" rIns="0" bIns="0" rtlCol="0" anchor="t"/>
          <a:lstStyle/>
          <a:p>
            <a:pPr marL="0" indent="0">
              <a:buNone/>
            </a:pPr>
            <a:r>
              <a:rPr lang="en-US" sz="1800" b="1" dirty="0">
                <a:solidFill>
                  <a:schemeClr val="accent2"/>
                </a:solidFill>
              </a:rPr>
              <a:t>E = 3 + 0.5 + 0.4 = 3.9</a:t>
            </a:r>
            <a:endParaRPr lang="en-US" sz="1800" dirty="0"/>
          </a:p>
        </p:txBody>
      </p:sp>
      <p:sp>
        <p:nvSpPr>
          <p:cNvPr id="50" name="Text 48"/>
          <p:cNvSpPr txBox="1"/>
          <p:nvPr/>
        </p:nvSpPr>
        <p:spPr>
          <a:xfrm>
            <a:off x="8302752" y="5577840"/>
            <a:ext cx="3154680" cy="594360"/>
          </a:xfrm>
          <a:prstGeom prst="rect">
            <a:avLst/>
          </a:prstGeom>
          <a:noFill/>
          <a:ln/>
        </p:spPr>
        <p:txBody>
          <a:bodyPr wrap="square" lIns="0" tIns="0" rIns="0" bIns="0" rtlCol="0" anchor="t"/>
          <a:lstStyle/>
          <a:p>
            <a:pPr marL="0" indent="0">
              <a:buNone/>
            </a:pPr>
            <a:r>
              <a:rPr lang="en-US" sz="1600" dirty="0">
                <a:solidFill>
                  <a:schemeClr val="tx1"/>
                </a:solidFill>
              </a:rPr>
              <a:t>E &gt; 0 favors White, E &lt; 0 favors Black.</a:t>
            </a:r>
            <a:endParaRPr lang="en-US" sz="1600" dirty="0"/>
          </a:p>
        </p:txBody>
      </p:sp>
      <p:sp>
        <p:nvSpPr>
          <p:cNvPr id="51"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200" b="1" dirty="0">
                <a:solidFill>
                  <a:schemeClr val="tx2"/>
                </a:solidFill>
              </a:rPr>
              <a:t>Comparing Heuristics</a:t>
            </a:r>
            <a:endParaRPr lang="en-US" sz="3200" dirty="0"/>
          </a:p>
        </p:txBody>
      </p:sp>
      <p:graphicFrame>
        <p:nvGraphicFramePr>
          <p:cNvPr id="12" name="Comparison table"/>
          <p:cNvGraphicFramePr>
            <a:graphicFrameLocks noGrp="1"/>
          </p:cNvGraphicFramePr>
          <p:nvPr/>
        </p:nvGraphicFramePr>
        <p:xfrm>
          <a:off x="548640" y="1280160"/>
          <a:ext cx="11091672" cy="3749040"/>
        </p:xfrm>
        <a:graphic>
          <a:graphicData uri="http://schemas.openxmlformats.org/drawingml/2006/table">
            <a:tbl>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2953512">
                  <a:extLst>
                    <a:ext uri="{9D8B030D-6E8A-4147-A177-3AD203B41FA5}">
                      <a16:colId xmlns:a16="http://schemas.microsoft.com/office/drawing/2014/main" val="20003"/>
                    </a:ext>
                  </a:extLst>
                </a:gridCol>
              </a:tblGrid>
              <a:tr h="457200">
                <a:tc>
                  <a:txBody>
                    <a:bodyPr/>
                    <a:lstStyle/>
                    <a:p>
                      <a:pPr marL="0" indent="0">
                        <a:buNone/>
                      </a:pPr>
                      <a:r>
                        <a:rPr lang="en-US" sz="1800" b="1" dirty="0">
                          <a:solidFill>
                            <a:schemeClr val="bg1"/>
                          </a:solidFill>
                        </a:rPr>
                        <a:t>Problem</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800" b="1" dirty="0">
                          <a:solidFill>
                            <a:schemeClr val="bg1"/>
                          </a:solidFill>
                        </a:rPr>
                        <a:t>Heuristic</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800" b="1" dirty="0">
                          <a:solidFill>
                            <a:schemeClr val="bg1"/>
                          </a:solidFill>
                        </a:rPr>
                        <a:t>Formula</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tc>
                  <a:txBody>
                    <a:bodyPr/>
                    <a:lstStyle/>
                    <a:p>
                      <a:pPr marL="0" indent="0">
                        <a:buNone/>
                      </a:pPr>
                      <a:r>
                        <a:rPr lang="en-US" sz="1800" b="1" dirty="0">
                          <a:solidFill>
                            <a:schemeClr val="bg1"/>
                          </a:solidFill>
                        </a:rPr>
                        <a:t>Interpretation</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58368">
                <a:tc>
                  <a:txBody>
                    <a:bodyPr/>
                    <a:lstStyle/>
                    <a:p>
                      <a:pPr marL="0" indent="0">
                        <a:buNone/>
                      </a:pPr>
                      <a:r>
                        <a:rPr lang="en-US" sz="1600" dirty="0">
                          <a:solidFill>
                            <a:schemeClr val="tx1"/>
                          </a:solidFill>
                        </a:rPr>
                        <a:t>8-Puzzle</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Misplaced Tiles</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h₁(n) = number of misplaced tiles</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Simpler estimate</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buNone/>
                      </a:pPr>
                      <a:r>
                        <a:rPr lang="en-US" sz="1600" dirty="0">
                          <a:solidFill>
                            <a:schemeClr val="tx1"/>
                          </a:solidFill>
                        </a:rPr>
                        <a:t>8-Puzzle</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1600" b="1" dirty="0">
                          <a:solidFill>
                            <a:schemeClr val="tx1"/>
                          </a:solidFill>
                        </a:rPr>
                        <a:t>Manhattan Distance</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h₂(n) = Σᵢ (|xᵢ − xᵢ*| + |yᵢ − yᵢ*|)</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More informed</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buNone/>
                      </a:pPr>
                      <a:r>
                        <a:rPr lang="en-US" sz="1600" dirty="0">
                          <a:solidFill>
                            <a:schemeClr val="tx1"/>
                          </a:solidFill>
                        </a:rPr>
                        <a:t>8-Queens</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Conflict Count</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h(n) = number of attacking pairs</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Lower is better; 0 = solution</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buNone/>
                      </a:pPr>
                      <a:r>
                        <a:rPr lang="en-US" sz="1600" dirty="0">
                          <a:solidFill>
                            <a:schemeClr val="tx1"/>
                          </a:solidFill>
                        </a:rPr>
                        <a:t>Tic-Tac-Toe</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1600" b="1" dirty="0">
                          <a:solidFill>
                            <a:schemeClr val="tx1"/>
                          </a:solidFill>
                        </a:rPr>
                        <a:t>Evaluation Function</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H(s) = 100(X₃ − O₃) + 10(X₂ − O₂) + (X₁ − O₁)</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Positive = favorable to AI</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58368">
                <a:tc>
                  <a:txBody>
                    <a:bodyPr/>
                    <a:lstStyle/>
                    <a:p>
                      <a:pPr marL="0" indent="0">
                        <a:buNone/>
                      </a:pPr>
                      <a:r>
                        <a:rPr lang="en-US" sz="1600" dirty="0">
                          <a:solidFill>
                            <a:schemeClr val="tx1"/>
                          </a:solidFill>
                        </a:rPr>
                        <a:t>Route Finding</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Straight-Line Distance</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h(n) = √((x₁ − x₂)² + (y₁ − y₂)²)</a:t>
                      </a:r>
                      <a:endParaRPr lang="en-US" sz="18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Estimated remaining distance</a:t>
                      </a:r>
                      <a:endParaRPr lang="en-US" sz="1600" dirty="0"/>
                    </a:p>
                  </a:txBody>
                  <a:tcPr marL="101600" marR="101600" marT="38100" marB="38100" anchor="ctr">
                    <a:lnL w="9525" cap="flat" cmpd="sng" algn="ctr">
                      <a:solidFill>
                        <a:srgbClr val="BCD0D6"/>
                      </a:solidFill>
                      <a:prstDash val="solid"/>
                      <a:round/>
                      <a:headEnd type="none" w="med" len="med"/>
                      <a:tailEnd type="none" w="med" len="med"/>
                    </a:lnL>
                    <a:lnR w="9525" cap="flat" cmpd="sng" algn="ctr">
                      <a:solidFill>
                        <a:srgbClr val="BCD0D6"/>
                      </a:solidFill>
                      <a:prstDash val="solid"/>
                      <a:round/>
                      <a:headEnd type="none" w="med" len="med"/>
                      <a:tailEnd type="none" w="med" len="med"/>
                    </a:lnR>
                    <a:lnT w="9525" cap="flat" cmpd="sng" algn="ctr">
                      <a:solidFill>
                        <a:srgbClr val="BCD0D6"/>
                      </a:solidFill>
                      <a:prstDash val="solid"/>
                      <a:round/>
                      <a:headEnd type="none" w="med" len="med"/>
                      <a:tailEnd type="none" w="med" len="med"/>
                    </a:lnT>
                    <a:lnB w="9525" cap="flat" cmpd="sng" algn="ctr">
                      <a:solidFill>
                        <a:srgbClr val="BCD0D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212080"/>
            <a:ext cx="7315200" cy="365760"/>
          </a:xfrm>
          <a:prstGeom prst="rect">
            <a:avLst/>
          </a:prstGeom>
          <a:noFill/>
          <a:ln/>
        </p:spPr>
        <p:txBody>
          <a:bodyPr wrap="square" lIns="0" tIns="0" rIns="0" bIns="0" rtlCol="0" anchor="t"/>
          <a:lstStyle/>
          <a:p>
            <a:pPr marL="0" indent="0">
              <a:buNone/>
            </a:pPr>
            <a:r>
              <a:rPr lang="en-US" sz="2200" b="1" dirty="0">
                <a:solidFill>
                  <a:schemeClr val="accent1"/>
                </a:solidFill>
              </a:rPr>
              <a:t>A good heuristic should ideally be:</a:t>
            </a:r>
            <a:endParaRPr lang="en-US" sz="2200" dirty="0"/>
          </a:p>
        </p:txBody>
      </p:sp>
      <p:sp>
        <p:nvSpPr>
          <p:cNvPr id="5" name="Pill"/>
          <p:cNvSpPr txBox="1"/>
          <p:nvPr/>
        </p:nvSpPr>
        <p:spPr>
          <a:xfrm>
            <a:off x="548640" y="5669280"/>
            <a:ext cx="2194560" cy="548640"/>
          </a:xfrm>
          <a:prstGeom prst="roundRect">
            <a:avLst>
              <a:gd name="adj" fmla="val 16667"/>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Informative</a:t>
            </a:r>
            <a:endParaRPr lang="en-US" sz="1800" dirty="0"/>
          </a:p>
        </p:txBody>
      </p:sp>
      <p:sp>
        <p:nvSpPr>
          <p:cNvPr id="6" name="Pill"/>
          <p:cNvSpPr txBox="1"/>
          <p:nvPr/>
        </p:nvSpPr>
        <p:spPr>
          <a:xfrm>
            <a:off x="2871216" y="5669280"/>
            <a:ext cx="3200400" cy="548640"/>
          </a:xfrm>
          <a:prstGeom prst="roundRect">
            <a:avLst>
              <a:gd name="adj" fmla="val 16667"/>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Admissible (if optimal)</a:t>
            </a:r>
            <a:endParaRPr lang="en-US" sz="1800" dirty="0"/>
          </a:p>
        </p:txBody>
      </p:sp>
      <p:sp>
        <p:nvSpPr>
          <p:cNvPr id="7" name="Pill"/>
          <p:cNvSpPr txBox="1"/>
          <p:nvPr/>
        </p:nvSpPr>
        <p:spPr>
          <a:xfrm>
            <a:off x="6199632" y="5669280"/>
            <a:ext cx="2194560" cy="548640"/>
          </a:xfrm>
          <a:prstGeom prst="roundRect">
            <a:avLst>
              <a:gd name="adj" fmla="val 16667"/>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Consistent</a:t>
            </a:r>
            <a:endParaRPr lang="en-US" sz="1800" dirty="0"/>
          </a:p>
        </p:txBody>
      </p:sp>
      <p:sp>
        <p:nvSpPr>
          <p:cNvPr id="8" name="Pill"/>
          <p:cNvSpPr txBox="1"/>
          <p:nvPr/>
        </p:nvSpPr>
        <p:spPr>
          <a:xfrm>
            <a:off x="8522208" y="5669280"/>
            <a:ext cx="3108960" cy="548640"/>
          </a:xfrm>
          <a:prstGeom prst="roundRect">
            <a:avLst>
              <a:gd name="adj" fmla="val 16667"/>
            </a:avLst>
          </a:prstGeom>
          <a:solidFill>
            <a:schemeClr val="accent1"/>
          </a:solidFill>
          <a:ln/>
        </p:spPr>
        <p:txBody>
          <a:bodyPr wrap="square" lIns="38100" tIns="38100" rIns="38100" bIns="38100" rtlCol="0" anchor="ctr"/>
          <a:lstStyle/>
          <a:p>
            <a:pPr marL="0" indent="0" algn="ctr">
              <a:buNone/>
            </a:pPr>
            <a:r>
              <a:rPr lang="en-US" sz="1800" b="1" dirty="0">
                <a:solidFill>
                  <a:schemeClr val="bg1"/>
                </a:solidFill>
              </a:rPr>
              <a:t>Computationally efficient</a:t>
            </a:r>
            <a:endParaRPr lang="en-US" sz="1800" dirty="0"/>
          </a:p>
        </p:txBody>
      </p:sp>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1672" cy="822960"/>
          </a:xfrm>
          <a:prstGeom prst="rect">
            <a:avLst/>
          </a:prstGeom>
          <a:noFill/>
          <a:ln/>
        </p:spPr>
        <p:txBody>
          <a:bodyPr wrap="square" lIns="0" tIns="0" rIns="0" bIns="0" rtlCol="0" anchor="ctr"/>
          <a:lstStyle/>
          <a:p>
            <a:pPr marL="0" indent="0">
              <a:buNone/>
            </a:pPr>
            <a:r>
              <a:rPr lang="en-US" sz="3400" b="1" dirty="0">
                <a:solidFill>
                  <a:schemeClr val="bg1"/>
                </a:solidFill>
              </a:rPr>
              <a:t>Key Takeaways</a:t>
            </a:r>
            <a:endParaRPr lang="en-US" sz="3400" dirty="0"/>
          </a:p>
        </p:txBody>
      </p:sp>
      <p:sp>
        <p:nvSpPr>
          <p:cNvPr id="3" name="Takeaway 1"/>
          <p:cNvSpPr/>
          <p:nvPr/>
        </p:nvSpPr>
        <p:spPr>
          <a:xfrm>
            <a:off x="548640" y="1371600"/>
            <a:ext cx="11091672" cy="850392"/>
          </a:xfrm>
          <a:prstGeom prst="roundRect">
            <a:avLst>
              <a:gd name="adj" fmla="val 10753"/>
            </a:avLst>
          </a:prstGeom>
          <a:solidFill>
            <a:schemeClr val="bg1">
              <a:alpha val="10000"/>
            </a:schemeClr>
          </a:solidFill>
          <a:ln/>
        </p:spPr>
      </p:sp>
      <p:sp>
        <p:nvSpPr>
          <p:cNvPr id="4" name="Node 1"/>
          <p:cNvSpPr txBox="1"/>
          <p:nvPr/>
        </p:nvSpPr>
        <p:spPr>
          <a:xfrm>
            <a:off x="731520" y="1522476"/>
            <a:ext cx="548640" cy="548640"/>
          </a:xfrm>
          <a:prstGeom prst="ellipse">
            <a:avLst/>
          </a:prstGeom>
          <a:solidFill>
            <a:schemeClr val="accent2"/>
          </a:solidFill>
          <a:ln w="28575">
            <a:solidFill>
              <a:schemeClr val="accent2"/>
            </a:solid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5" name="Text 3"/>
          <p:cNvSpPr txBox="1"/>
          <p:nvPr/>
        </p:nvSpPr>
        <p:spPr>
          <a:xfrm>
            <a:off x="1508760" y="1371600"/>
            <a:ext cx="3017520" cy="850392"/>
          </a:xfrm>
          <a:prstGeom prst="rect">
            <a:avLst/>
          </a:prstGeom>
          <a:noFill/>
          <a:ln/>
        </p:spPr>
        <p:txBody>
          <a:bodyPr wrap="square" lIns="0" tIns="0" rIns="0" bIns="0" rtlCol="0" anchor="ctr"/>
          <a:lstStyle/>
          <a:p>
            <a:pPr marL="0" indent="0">
              <a:buNone/>
            </a:pPr>
            <a:r>
              <a:rPr lang="en-US" sz="2000" b="1" dirty="0">
                <a:solidFill>
                  <a:schemeClr val="bg1"/>
                </a:solidFill>
              </a:rPr>
              <a:t>What is a heuristic?</a:t>
            </a:r>
            <a:endParaRPr lang="en-US" sz="2000" dirty="0"/>
          </a:p>
        </p:txBody>
      </p:sp>
      <p:sp>
        <p:nvSpPr>
          <p:cNvPr id="6" name="Text 4"/>
          <p:cNvSpPr txBox="1"/>
          <p:nvPr/>
        </p:nvSpPr>
        <p:spPr>
          <a:xfrm>
            <a:off x="4663440" y="1371600"/>
            <a:ext cx="6766560" cy="850392"/>
          </a:xfrm>
          <a:prstGeom prst="rect">
            <a:avLst/>
          </a:prstGeom>
          <a:noFill/>
          <a:ln/>
        </p:spPr>
        <p:txBody>
          <a:bodyPr wrap="square" lIns="0" tIns="0" rIns="0" bIns="0" rtlCol="0" anchor="ctr"/>
          <a:lstStyle/>
          <a:p>
            <a:pPr marL="0" indent="0">
              <a:buNone/>
            </a:pPr>
            <a:r>
              <a:rPr lang="en-US" sz="1800" dirty="0">
                <a:solidFill>
                  <a:schemeClr val="bg1"/>
                </a:solidFill>
              </a:rPr>
              <a:t>A rule of thumb that uses problem knowledge to guess which option looks most promising.</a:t>
            </a:r>
            <a:endParaRPr lang="en-US" sz="1800" dirty="0"/>
          </a:p>
        </p:txBody>
      </p:sp>
      <p:sp>
        <p:nvSpPr>
          <p:cNvPr id="7" name="Takeaway 2"/>
          <p:cNvSpPr/>
          <p:nvPr/>
        </p:nvSpPr>
        <p:spPr>
          <a:xfrm>
            <a:off x="548640" y="2331720"/>
            <a:ext cx="11091672" cy="850392"/>
          </a:xfrm>
          <a:prstGeom prst="roundRect">
            <a:avLst>
              <a:gd name="adj" fmla="val 10753"/>
            </a:avLst>
          </a:prstGeom>
          <a:solidFill>
            <a:schemeClr val="bg1">
              <a:alpha val="10000"/>
            </a:schemeClr>
          </a:solidFill>
          <a:ln/>
        </p:spPr>
      </p:sp>
      <p:sp>
        <p:nvSpPr>
          <p:cNvPr id="8" name="Node 2"/>
          <p:cNvSpPr txBox="1"/>
          <p:nvPr/>
        </p:nvSpPr>
        <p:spPr>
          <a:xfrm>
            <a:off x="731520" y="2482596"/>
            <a:ext cx="548640" cy="548640"/>
          </a:xfrm>
          <a:prstGeom prst="ellipse">
            <a:avLst/>
          </a:prstGeom>
          <a:solidFill>
            <a:schemeClr val="accent2"/>
          </a:solidFill>
          <a:ln w="28575">
            <a:solidFill>
              <a:schemeClr val="accent2"/>
            </a:solid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9" name="Text 7"/>
          <p:cNvSpPr txBox="1"/>
          <p:nvPr/>
        </p:nvSpPr>
        <p:spPr>
          <a:xfrm>
            <a:off x="1508760" y="2331720"/>
            <a:ext cx="3017520" cy="850392"/>
          </a:xfrm>
          <a:prstGeom prst="rect">
            <a:avLst/>
          </a:prstGeom>
          <a:noFill/>
          <a:ln/>
        </p:spPr>
        <p:txBody>
          <a:bodyPr wrap="square" lIns="0" tIns="0" rIns="0" bIns="0" rtlCol="0" anchor="ctr"/>
          <a:lstStyle/>
          <a:p>
            <a:pPr marL="0" indent="0">
              <a:buNone/>
            </a:pPr>
            <a:r>
              <a:rPr lang="en-US" sz="2000" b="1" dirty="0">
                <a:solidFill>
                  <a:schemeClr val="bg1"/>
                </a:solidFill>
              </a:rPr>
              <a:t>What does h(n) represent?</a:t>
            </a:r>
            <a:endParaRPr lang="en-US" sz="2000" dirty="0"/>
          </a:p>
        </p:txBody>
      </p:sp>
      <p:sp>
        <p:nvSpPr>
          <p:cNvPr id="10" name="Text 8"/>
          <p:cNvSpPr txBox="1"/>
          <p:nvPr/>
        </p:nvSpPr>
        <p:spPr>
          <a:xfrm>
            <a:off x="4663440" y="2331720"/>
            <a:ext cx="6766560" cy="850392"/>
          </a:xfrm>
          <a:prstGeom prst="rect">
            <a:avLst/>
          </a:prstGeom>
          <a:noFill/>
          <a:ln/>
        </p:spPr>
        <p:txBody>
          <a:bodyPr wrap="square" lIns="0" tIns="0" rIns="0" bIns="0" rtlCol="0" anchor="ctr"/>
          <a:lstStyle/>
          <a:p>
            <a:pPr marL="0" indent="0">
              <a:buNone/>
            </a:pPr>
            <a:r>
              <a:rPr lang="en-US" sz="1800" dirty="0">
                <a:solidFill>
                  <a:schemeClr val="bg1"/>
                </a:solidFill>
              </a:rPr>
              <a:t>The estimated cost from node n to the goal, with h(goal) = 0. It is not g(n), the cost already paid.</a:t>
            </a:r>
            <a:endParaRPr lang="en-US" sz="1800" dirty="0"/>
          </a:p>
        </p:txBody>
      </p:sp>
      <p:sp>
        <p:nvSpPr>
          <p:cNvPr id="11" name="Takeaway 3"/>
          <p:cNvSpPr/>
          <p:nvPr/>
        </p:nvSpPr>
        <p:spPr>
          <a:xfrm>
            <a:off x="548640" y="3291840"/>
            <a:ext cx="11091672" cy="850392"/>
          </a:xfrm>
          <a:prstGeom prst="roundRect">
            <a:avLst>
              <a:gd name="adj" fmla="val 10753"/>
            </a:avLst>
          </a:prstGeom>
          <a:solidFill>
            <a:schemeClr val="bg1">
              <a:alpha val="10000"/>
            </a:schemeClr>
          </a:solidFill>
          <a:ln/>
        </p:spPr>
      </p:sp>
      <p:sp>
        <p:nvSpPr>
          <p:cNvPr id="12" name="Node 3"/>
          <p:cNvSpPr txBox="1"/>
          <p:nvPr/>
        </p:nvSpPr>
        <p:spPr>
          <a:xfrm>
            <a:off x="731520" y="3442716"/>
            <a:ext cx="548640" cy="548640"/>
          </a:xfrm>
          <a:prstGeom prst="ellipse">
            <a:avLst/>
          </a:prstGeom>
          <a:solidFill>
            <a:schemeClr val="accent2"/>
          </a:solidFill>
          <a:ln w="28575">
            <a:solidFill>
              <a:schemeClr val="accent2"/>
            </a:solid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3" name="Text 11"/>
          <p:cNvSpPr txBox="1"/>
          <p:nvPr/>
        </p:nvSpPr>
        <p:spPr>
          <a:xfrm>
            <a:off x="1508760" y="3291840"/>
            <a:ext cx="3017520" cy="850392"/>
          </a:xfrm>
          <a:prstGeom prst="rect">
            <a:avLst/>
          </a:prstGeom>
          <a:noFill/>
          <a:ln/>
        </p:spPr>
        <p:txBody>
          <a:bodyPr wrap="square" lIns="0" tIns="0" rIns="0" bIns="0" rtlCol="0" anchor="ctr"/>
          <a:lstStyle/>
          <a:p>
            <a:pPr marL="0" indent="0">
              <a:buNone/>
            </a:pPr>
            <a:r>
              <a:rPr lang="en-US" sz="2000" b="1" dirty="0">
                <a:solidFill>
                  <a:schemeClr val="bg1"/>
                </a:solidFill>
              </a:rPr>
              <a:t>Three evaluation parameters</a:t>
            </a:r>
            <a:endParaRPr lang="en-US" sz="2000" dirty="0"/>
          </a:p>
        </p:txBody>
      </p:sp>
      <p:sp>
        <p:nvSpPr>
          <p:cNvPr id="14" name="Text 12"/>
          <p:cNvSpPr txBox="1"/>
          <p:nvPr/>
        </p:nvSpPr>
        <p:spPr>
          <a:xfrm>
            <a:off x="4663440" y="3291840"/>
            <a:ext cx="6766560" cy="850392"/>
          </a:xfrm>
          <a:prstGeom prst="rect">
            <a:avLst/>
          </a:prstGeom>
          <a:noFill/>
          <a:ln/>
        </p:spPr>
        <p:txBody>
          <a:bodyPr wrap="square" lIns="0" tIns="0" rIns="0" bIns="0" rtlCol="0" anchor="ctr"/>
          <a:lstStyle/>
          <a:p>
            <a:pPr marL="0" indent="0">
              <a:buNone/>
            </a:pPr>
            <a:r>
              <a:rPr lang="en-US" sz="1800" dirty="0">
                <a:solidFill>
                  <a:schemeClr val="bg1"/>
                </a:solidFill>
              </a:rPr>
              <a:t>Admissibility h(n) ≤ h*(n); consistency h(n) ≤ c(n,n′) + h(n′); computational efficiency.</a:t>
            </a:r>
            <a:endParaRPr lang="en-US" sz="1800" dirty="0"/>
          </a:p>
        </p:txBody>
      </p:sp>
      <p:sp>
        <p:nvSpPr>
          <p:cNvPr id="15" name="Takeaway 4"/>
          <p:cNvSpPr/>
          <p:nvPr/>
        </p:nvSpPr>
        <p:spPr>
          <a:xfrm>
            <a:off x="548640" y="4251960"/>
            <a:ext cx="11091672" cy="850392"/>
          </a:xfrm>
          <a:prstGeom prst="roundRect">
            <a:avLst>
              <a:gd name="adj" fmla="val 10753"/>
            </a:avLst>
          </a:prstGeom>
          <a:solidFill>
            <a:schemeClr val="bg1">
              <a:alpha val="10000"/>
            </a:schemeClr>
          </a:solidFill>
          <a:ln/>
        </p:spPr>
      </p:sp>
      <p:sp>
        <p:nvSpPr>
          <p:cNvPr id="16" name="Node 4"/>
          <p:cNvSpPr txBox="1"/>
          <p:nvPr/>
        </p:nvSpPr>
        <p:spPr>
          <a:xfrm>
            <a:off x="731520" y="4402836"/>
            <a:ext cx="548640" cy="548640"/>
          </a:xfrm>
          <a:prstGeom prst="ellipse">
            <a:avLst/>
          </a:prstGeom>
          <a:solidFill>
            <a:schemeClr val="accent2"/>
          </a:solidFill>
          <a:ln w="28575">
            <a:solidFill>
              <a:schemeClr val="accent2"/>
            </a:solid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7" name="Text 15"/>
          <p:cNvSpPr txBox="1"/>
          <p:nvPr/>
        </p:nvSpPr>
        <p:spPr>
          <a:xfrm>
            <a:off x="1508760" y="4251960"/>
            <a:ext cx="3017520" cy="850392"/>
          </a:xfrm>
          <a:prstGeom prst="rect">
            <a:avLst/>
          </a:prstGeom>
          <a:noFill/>
          <a:ln/>
        </p:spPr>
        <p:txBody>
          <a:bodyPr wrap="square" lIns="0" tIns="0" rIns="0" bIns="0" rtlCol="0" anchor="ctr"/>
          <a:lstStyle/>
          <a:p>
            <a:pPr marL="0" indent="0">
              <a:buNone/>
            </a:pPr>
            <a:r>
              <a:rPr lang="en-US" sz="2000" b="1" dirty="0">
                <a:solidFill>
                  <a:schemeClr val="bg1"/>
                </a:solidFill>
              </a:rPr>
              <a:t>Examples of heuristic functions</a:t>
            </a:r>
            <a:endParaRPr lang="en-US" sz="2000" dirty="0"/>
          </a:p>
        </p:txBody>
      </p:sp>
      <p:sp>
        <p:nvSpPr>
          <p:cNvPr id="18" name="Text 16"/>
          <p:cNvSpPr txBox="1"/>
          <p:nvPr/>
        </p:nvSpPr>
        <p:spPr>
          <a:xfrm>
            <a:off x="4663440" y="4251960"/>
            <a:ext cx="6766560" cy="850392"/>
          </a:xfrm>
          <a:prstGeom prst="rect">
            <a:avLst/>
          </a:prstGeom>
          <a:noFill/>
          <a:ln/>
        </p:spPr>
        <p:txBody>
          <a:bodyPr wrap="square" lIns="0" tIns="0" rIns="0" bIns="0" rtlCol="0" anchor="ctr"/>
          <a:lstStyle/>
          <a:p>
            <a:pPr marL="0" indent="0">
              <a:buNone/>
            </a:pPr>
            <a:r>
              <a:rPr lang="en-US" sz="1800" dirty="0">
                <a:solidFill>
                  <a:schemeClr val="bg1"/>
                </a:solidFill>
              </a:rPr>
              <a:t>8-puzzle: misplaced tiles, Manhattan distance · 8-queens: attacking pairs · Tic-Tac-Toe: weighted line counts · routes: straight-line distance</a:t>
            </a:r>
            <a:endParaRPr lang="en-US" sz="1800" dirty="0"/>
          </a:p>
        </p:txBody>
      </p:sp>
      <p:sp>
        <p:nvSpPr>
          <p:cNvPr id="19" name="Takeaway 5"/>
          <p:cNvSpPr/>
          <p:nvPr/>
        </p:nvSpPr>
        <p:spPr>
          <a:xfrm>
            <a:off x="548640" y="5212080"/>
            <a:ext cx="11091672" cy="850392"/>
          </a:xfrm>
          <a:prstGeom prst="roundRect">
            <a:avLst>
              <a:gd name="adj" fmla="val 10753"/>
            </a:avLst>
          </a:prstGeom>
          <a:solidFill>
            <a:schemeClr val="bg1">
              <a:alpha val="10000"/>
            </a:schemeClr>
          </a:solidFill>
          <a:ln/>
        </p:spPr>
      </p:sp>
      <p:sp>
        <p:nvSpPr>
          <p:cNvPr id="20" name="Node 5"/>
          <p:cNvSpPr txBox="1"/>
          <p:nvPr/>
        </p:nvSpPr>
        <p:spPr>
          <a:xfrm>
            <a:off x="731520" y="5362956"/>
            <a:ext cx="548640" cy="548640"/>
          </a:xfrm>
          <a:prstGeom prst="ellipse">
            <a:avLst/>
          </a:prstGeom>
          <a:solidFill>
            <a:schemeClr val="accent2"/>
          </a:solidFill>
          <a:ln w="28575">
            <a:solidFill>
              <a:schemeClr val="accent2"/>
            </a:solid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1" name="Text 19"/>
          <p:cNvSpPr txBox="1"/>
          <p:nvPr/>
        </p:nvSpPr>
        <p:spPr>
          <a:xfrm>
            <a:off x="1508760" y="5212080"/>
            <a:ext cx="3017520" cy="850392"/>
          </a:xfrm>
          <a:prstGeom prst="rect">
            <a:avLst/>
          </a:prstGeom>
          <a:noFill/>
          <a:ln/>
        </p:spPr>
        <p:txBody>
          <a:bodyPr wrap="square" lIns="0" tIns="0" rIns="0" bIns="0" rtlCol="0" anchor="ctr"/>
          <a:lstStyle/>
          <a:p>
            <a:pPr marL="0" indent="0">
              <a:buNone/>
            </a:pPr>
            <a:r>
              <a:rPr lang="en-US" sz="2000" b="1" dirty="0">
                <a:solidFill>
                  <a:schemeClr val="bg1"/>
                </a:solidFill>
              </a:rPr>
              <a:t>Why a good heuristic matters</a:t>
            </a:r>
            <a:endParaRPr lang="en-US" sz="2000" dirty="0"/>
          </a:p>
        </p:txBody>
      </p:sp>
      <p:sp>
        <p:nvSpPr>
          <p:cNvPr id="22" name="Text 20"/>
          <p:cNvSpPr txBox="1"/>
          <p:nvPr/>
        </p:nvSpPr>
        <p:spPr>
          <a:xfrm>
            <a:off x="4663440" y="5212080"/>
            <a:ext cx="6766560" cy="850392"/>
          </a:xfrm>
          <a:prstGeom prst="rect">
            <a:avLst/>
          </a:prstGeom>
          <a:noFill/>
          <a:ln/>
        </p:spPr>
        <p:txBody>
          <a:bodyPr wrap="square" lIns="0" tIns="0" rIns="0" bIns="0" rtlCol="0" anchor="ctr"/>
          <a:lstStyle/>
          <a:p>
            <a:pPr marL="0" indent="0">
              <a:buNone/>
            </a:pPr>
            <a:r>
              <a:rPr lang="en-US" sz="1800" dirty="0">
                <a:solidFill>
                  <a:schemeClr val="bg1"/>
                </a:solidFill>
              </a:rPr>
              <a:t>It ranks nodes so the search expands far fewer of them: the same answer with much less time and memory.</a:t>
            </a:r>
            <a:endParaRPr lang="en-US" sz="1800" dirty="0"/>
          </a:p>
        </p:txBody>
      </p:sp>
      <p:sp>
        <p:nvSpPr>
          <p:cNvPr id="25" name="Slide Number Placeholder 0"/>
          <p:cNvSpPr>
            <a:spLocks noGrp="1"/>
          </p:cNvSpPr>
          <p:nvPr>
            <p:ph type="sldNum" sz="quarter" idx="4294967295"/>
          </p:nvPr>
        </p:nvSpPr>
        <p:spPr>
          <a:xfrm>
            <a:off x="11109960" y="6355080"/>
            <a:ext cx="548640" cy="36576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6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2. INFORMED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Our Running Example — A Delivery Network</a:t>
            </a:r>
            <a:endParaRPr lang="en-US" sz="4700" dirty="0"/>
          </a:p>
        </p:txBody>
      </p:sp>
      <p:sp>
        <p:nvSpPr>
          <p:cNvPr id="4" name="Text 2"/>
          <p:cNvSpPr/>
          <p:nvPr/>
        </p:nvSpPr>
        <p:spPr>
          <a:xfrm>
            <a:off x="548640" y="2331720"/>
            <a:ext cx="11094415" cy="457200"/>
          </a:xfrm>
          <a:prstGeom prst="rect">
            <a:avLst/>
          </a:prstGeom>
          <a:noFill/>
          <a:ln/>
        </p:spPr>
        <p:txBody>
          <a:bodyPr wrap="square" rtlCol="0" anchor="ctr"/>
          <a:lstStyle/>
          <a:p>
            <a:pPr marL="0" indent="0">
              <a:buNone/>
            </a:pPr>
            <a:r>
              <a:rPr lang="en-US" sz="2200" i="1" dirty="0">
                <a:solidFill>
                  <a:srgbClr val="6B7686"/>
                </a:solidFill>
                <a:latin typeface="Calibri" pitchFamily="34" charset="0"/>
                <a:ea typeface="Calibri" pitchFamily="34" charset="-122"/>
                <a:cs typeface="Calibri" pitchFamily="34" charset="-120"/>
              </a:rPr>
              <a:t>One small weighted graph, reused all lecture: a delivery robot navigating hubs S (start) to G (goal).</a:t>
            </a:r>
            <a:endParaRPr lang="en-US" sz="2200" dirty="0"/>
          </a:p>
        </p:txBody>
      </p:sp>
      <p:pic>
        <p:nvPicPr>
          <p:cNvPr id="5" name="Image 0" descr="/mnt/user-data/working/lecture4/assets/graph_plain.png"/>
          <p:cNvPicPr>
            <a:picLocks noChangeAspect="1"/>
          </p:cNvPicPr>
          <p:nvPr/>
        </p:nvPicPr>
        <p:blipFill>
          <a:blip r:embed="rId3"/>
          <a:stretch>
            <a:fillRect/>
          </a:stretch>
        </p:blipFill>
        <p:spPr>
          <a:xfrm>
            <a:off x="640080" y="2834640"/>
            <a:ext cx="4846320" cy="3429000"/>
          </a:xfrm>
          <a:prstGeom prst="rect">
            <a:avLst/>
          </a:prstGeom>
        </p:spPr>
      </p:pic>
      <p:sp>
        <p:nvSpPr>
          <p:cNvPr id="6" name="Shape 3"/>
          <p:cNvSpPr/>
          <p:nvPr/>
        </p:nvSpPr>
        <p:spPr>
          <a:xfrm>
            <a:off x="5943600" y="2834640"/>
            <a:ext cx="5715000" cy="3429000"/>
          </a:xfrm>
          <a:prstGeom prst="roundRect">
            <a:avLst>
              <a:gd name="adj" fmla="val 1867"/>
            </a:avLst>
          </a:prstGeom>
          <a:solidFill>
            <a:srgbClr val="F3F5F8"/>
          </a:solidFill>
          <a:ln w="12700">
            <a:solidFill>
              <a:srgbClr val="D8DCE3"/>
            </a:solidFill>
            <a:prstDash val="solid"/>
          </a:ln>
        </p:spPr>
      </p:sp>
      <p:sp>
        <p:nvSpPr>
          <p:cNvPr id="7" name="Text 4"/>
          <p:cNvSpPr/>
          <p:nvPr/>
        </p:nvSpPr>
        <p:spPr>
          <a:xfrm>
            <a:off x="6217920" y="2962656"/>
            <a:ext cx="516636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Numerical calculation</a:t>
            </a:r>
            <a:endParaRPr lang="en-US" sz="2600" dirty="0"/>
          </a:p>
        </p:txBody>
      </p:sp>
      <p:sp>
        <p:nvSpPr>
          <p:cNvPr id="8" name="Text 5"/>
          <p:cNvSpPr/>
          <p:nvPr/>
        </p:nvSpPr>
        <p:spPr>
          <a:xfrm>
            <a:off x="6217920" y="3246120"/>
            <a:ext cx="5166360" cy="2880360"/>
          </a:xfrm>
          <a:prstGeom prst="rect">
            <a:avLst/>
          </a:prstGeom>
          <a:noFill/>
          <a:ln/>
        </p:spPr>
        <p:txBody>
          <a:bodyPr wrap="square" rtlCol="0" anchor="ctr"/>
          <a:lstStyle/>
          <a:p>
            <a:pPr marL="0" indent="0">
              <a:lnSpc>
                <a:spcPts val="2500"/>
              </a:lnSpc>
              <a:spcAft>
                <a:spcPts val="700"/>
              </a:spcAft>
              <a:buNone/>
            </a:pPr>
            <a:r>
              <a:rPr lang="en-US" sz="1950" b="1" dirty="0">
                <a:solidFill>
                  <a:srgbClr val="0B1E3D"/>
                </a:solidFill>
                <a:latin typeface="Calibri" pitchFamily="34" charset="0"/>
                <a:ea typeface="Calibri" pitchFamily="34" charset="-122"/>
                <a:cs typeface="Calibri" pitchFamily="34" charset="-120"/>
              </a:rPr>
              <a:t>True shortest cost to G (h*):</a:t>
            </a:r>
            <a:endParaRPr lang="en-US" sz="1950" dirty="0"/>
          </a:p>
          <a:p>
            <a:pPr marL="0" indent="0">
              <a:lnSpc>
                <a:spcPts val="2500"/>
              </a:lnSpc>
              <a:spcAft>
                <a:spcPts val="1500"/>
              </a:spcAft>
              <a:buNone/>
            </a:pPr>
            <a:r>
              <a:rPr lang="en-US" sz="1850" dirty="0">
                <a:solidFill>
                  <a:srgbClr val="1A1F2B"/>
                </a:solidFill>
                <a:latin typeface="Courier New" pitchFamily="34" charset="0"/>
                <a:ea typeface="Courier New" pitchFamily="34" charset="-122"/>
                <a:cs typeface="Courier New" pitchFamily="34" charset="-120"/>
              </a:rPr>
              <a:t>h*(D)=3, h*(C)=6, h*(E)=5, h*(B)=7, h*(A)=9, h*(S)=12</a:t>
            </a:r>
            <a:endParaRPr lang="en-US" sz="1950" dirty="0"/>
          </a:p>
          <a:p>
            <a:pPr marL="0" indent="0">
              <a:lnSpc>
                <a:spcPts val="2500"/>
              </a:lnSpc>
              <a:spcAft>
                <a:spcPts val="1500"/>
              </a:spcAft>
              <a:buNone/>
            </a:pPr>
            <a:r>
              <a:rPr lang="en-US" sz="1950" b="1" dirty="0">
                <a:solidFill>
                  <a:srgbClr val="2E7D5B"/>
                </a:solidFill>
                <a:latin typeface="Calibri" pitchFamily="34" charset="0"/>
                <a:ea typeface="Calibri" pitchFamily="34" charset="-122"/>
                <a:cs typeface="Calibri" pitchFamily="34" charset="-120"/>
              </a:rPr>
              <a:t>Optimal path:  S → B → D → G  (cost 12)</a:t>
            </a:r>
            <a:endParaRPr lang="en-US" sz="1950" dirty="0"/>
          </a:p>
          <a:p>
            <a:pPr marL="0" indent="0">
              <a:lnSpc>
                <a:spcPts val="2500"/>
              </a:lnSpc>
              <a:buNone/>
            </a:pPr>
            <a:r>
              <a:rPr lang="en-US" sz="1950" dirty="0">
                <a:solidFill>
                  <a:srgbClr val="1A1F2B"/>
                </a:solidFill>
                <a:latin typeface="Calibri" pitchFamily="34" charset="0"/>
                <a:ea typeface="Calibri" pitchFamily="34" charset="-122"/>
                <a:cs typeface="Calibri" pitchFamily="34" charset="-120"/>
              </a:rPr>
              <a:t>A heuristic must never exceed these h* values. Two candidates, h₁, h₂ appear throughout.</a:t>
            </a:r>
            <a:endParaRPr lang="en-US" sz="1950" dirty="0"/>
          </a:p>
        </p:txBody>
      </p:sp>
      <p:sp>
        <p:nvSpPr>
          <p:cNvPr id="9" name="Text 6"/>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2. Informed Search</a:t>
            </a:r>
            <a:endParaRPr lang="en-US" sz="1600" dirty="0"/>
          </a:p>
        </p:txBody>
      </p:sp>
      <p:sp>
        <p:nvSpPr>
          <p:cNvPr id="10" name="Text 7"/>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7 / 40</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2. INFORMED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From Heuristic Value to Search Behavior</a:t>
            </a:r>
            <a:endParaRPr lang="en-US" sz="4700" dirty="0"/>
          </a:p>
        </p:txBody>
      </p:sp>
      <p:sp>
        <p:nvSpPr>
          <p:cNvPr id="4" name="Text 2"/>
          <p:cNvSpPr/>
          <p:nvPr/>
        </p:nvSpPr>
        <p:spPr>
          <a:xfrm>
            <a:off x="548640" y="2331720"/>
            <a:ext cx="11094415" cy="868680"/>
          </a:xfrm>
          <a:prstGeom prst="rect">
            <a:avLst/>
          </a:prstGeom>
          <a:noFill/>
          <a:ln/>
        </p:spPr>
        <p:txBody>
          <a:bodyPr wrap="square" lIns="0" tIns="0" rIns="0" bIns="0" rtlCol="0" anchor="t"/>
          <a:lstStyle/>
          <a:p>
            <a:pPr marL="203200" indent="-203200">
              <a:spcAft>
                <a:spcPts val="700"/>
              </a:spcAft>
              <a:buSzPct val="100000"/>
              <a:buChar char="▪"/>
            </a:pPr>
            <a:r>
              <a:rPr lang="en-US" sz="2200" dirty="0">
                <a:solidFill>
                  <a:srgbClr val="1A1F2B"/>
                </a:solidFill>
                <a:latin typeface="Calibri" pitchFamily="34" charset="0"/>
                <a:ea typeface="Calibri" pitchFamily="34" charset="-122"/>
                <a:cs typeface="Calibri" pitchFamily="34" charset="-120"/>
              </a:rPr>
              <a:t>Every strategy here is a GENERIC BEST-FIRST SEARCH with a different f(n).</a:t>
            </a:r>
            <a:endParaRPr lang="en-US" sz="2200" dirty="0"/>
          </a:p>
          <a:p>
            <a:pPr marL="203200" indent="-203200">
              <a:spcAft>
                <a:spcPts val="700"/>
              </a:spcAft>
              <a:buSzPct val="100000"/>
              <a:buChar char="▪"/>
            </a:pPr>
            <a:r>
              <a:rPr lang="en-US" sz="2200" dirty="0">
                <a:solidFill>
                  <a:srgbClr val="1A1F2B"/>
                </a:solidFill>
                <a:latin typeface="Calibri" pitchFamily="34" charset="0"/>
                <a:ea typeface="Calibri" pitchFamily="34" charset="-122"/>
                <a:cs typeface="Calibri" pitchFamily="34" charset="-120"/>
              </a:rPr>
              <a:t>Changing f(n) only changes the ORDER the frontier is explored in.</a:t>
            </a:r>
            <a:endParaRPr lang="en-US" sz="2200" dirty="0"/>
          </a:p>
        </p:txBody>
      </p:sp>
      <p:sp>
        <p:nvSpPr>
          <p:cNvPr id="5" name="Shape 3"/>
          <p:cNvSpPr/>
          <p:nvPr/>
        </p:nvSpPr>
        <p:spPr>
          <a:xfrm>
            <a:off x="548640" y="3383280"/>
            <a:ext cx="11094415" cy="713232"/>
          </a:xfrm>
          <a:prstGeom prst="roundRect">
            <a:avLst>
              <a:gd name="adj" fmla="val 8974"/>
            </a:avLst>
          </a:prstGeom>
          <a:solidFill>
            <a:srgbClr val="F3F5F8"/>
          </a:solidFill>
          <a:ln w="9525">
            <a:solidFill>
              <a:srgbClr val="D8DCE3"/>
            </a:solidFill>
            <a:prstDash val="solid"/>
          </a:ln>
        </p:spPr>
      </p:sp>
      <p:sp>
        <p:nvSpPr>
          <p:cNvPr id="6" name="Text 4"/>
          <p:cNvSpPr/>
          <p:nvPr/>
        </p:nvSpPr>
        <p:spPr>
          <a:xfrm>
            <a:off x="777240" y="3383280"/>
            <a:ext cx="2606040" cy="713232"/>
          </a:xfrm>
          <a:prstGeom prst="rect">
            <a:avLst/>
          </a:prstGeom>
          <a:noFill/>
          <a:ln/>
        </p:spPr>
        <p:txBody>
          <a:bodyPr wrap="square" rtlCol="0" anchor="ctr"/>
          <a:lstStyle/>
          <a:p>
            <a:pPr marL="0" indent="0">
              <a:buNone/>
            </a:pPr>
            <a:r>
              <a:rPr lang="en-US" sz="2200" b="1" dirty="0">
                <a:solidFill>
                  <a:srgbClr val="0B1E3D"/>
                </a:solidFill>
                <a:latin typeface="Cambria" pitchFamily="34" charset="0"/>
                <a:ea typeface="Cambria" pitchFamily="34" charset="-122"/>
                <a:cs typeface="Cambria" pitchFamily="34" charset="-120"/>
              </a:rPr>
              <a:t>Uniform-Cost Search</a:t>
            </a:r>
            <a:endParaRPr lang="en-US" sz="2200" dirty="0"/>
          </a:p>
        </p:txBody>
      </p:sp>
      <p:sp>
        <p:nvSpPr>
          <p:cNvPr id="7" name="Text 5"/>
          <p:cNvSpPr/>
          <p:nvPr/>
        </p:nvSpPr>
        <p:spPr>
          <a:xfrm>
            <a:off x="3108960" y="3383280"/>
            <a:ext cx="2697480" cy="713232"/>
          </a:xfrm>
          <a:prstGeom prst="rect">
            <a:avLst/>
          </a:prstGeom>
          <a:noFill/>
          <a:ln/>
        </p:spPr>
        <p:txBody>
          <a:bodyPr wrap="square" rtlCol="0" anchor="ctr"/>
          <a:lstStyle/>
          <a:p>
            <a:pPr marL="0" indent="0">
              <a:buNone/>
            </a:pPr>
            <a:r>
              <a:rPr lang="en-US" sz="2100" b="1" dirty="0">
                <a:solidFill>
                  <a:srgbClr val="3B5578"/>
                </a:solidFill>
                <a:latin typeface="Courier New" pitchFamily="34" charset="0"/>
                <a:ea typeface="Courier New" pitchFamily="34" charset="-122"/>
                <a:cs typeface="Courier New" pitchFamily="34" charset="-120"/>
              </a:rPr>
              <a:t>f(n)=g(n)</a:t>
            </a:r>
            <a:endParaRPr lang="en-US" sz="2100" dirty="0"/>
          </a:p>
        </p:txBody>
      </p:sp>
      <p:sp>
        <p:nvSpPr>
          <p:cNvPr id="8" name="Text 6"/>
          <p:cNvSpPr/>
          <p:nvPr/>
        </p:nvSpPr>
        <p:spPr>
          <a:xfrm>
            <a:off x="5943600" y="3383280"/>
            <a:ext cx="5699455" cy="713232"/>
          </a:xfrm>
          <a:prstGeom prst="rect">
            <a:avLst/>
          </a:prstGeom>
          <a:noFill/>
          <a:ln/>
        </p:spPr>
        <p:txBody>
          <a:bodyPr wrap="square" rtlCol="0" anchor="ctr"/>
          <a:lstStyle/>
          <a:p>
            <a:pPr marL="0" indent="0">
              <a:buNone/>
            </a:pPr>
            <a:r>
              <a:rPr lang="en-US" sz="1950" dirty="0">
                <a:solidFill>
                  <a:srgbClr val="1A1F2B"/>
                </a:solidFill>
                <a:latin typeface="Calibri" pitchFamily="34" charset="0"/>
                <a:ea typeface="Calibri" pitchFamily="34" charset="-122"/>
                <a:cs typeface="Calibri" pitchFamily="34" charset="-120"/>
              </a:rPr>
              <a:t>Ignores h — purely cost-so-far.</a:t>
            </a:r>
            <a:endParaRPr lang="en-US" sz="1950" dirty="0"/>
          </a:p>
        </p:txBody>
      </p:sp>
      <p:sp>
        <p:nvSpPr>
          <p:cNvPr id="9" name="Shape 7"/>
          <p:cNvSpPr/>
          <p:nvPr/>
        </p:nvSpPr>
        <p:spPr>
          <a:xfrm>
            <a:off x="548640" y="4206240"/>
            <a:ext cx="11094415" cy="713232"/>
          </a:xfrm>
          <a:prstGeom prst="roundRect">
            <a:avLst>
              <a:gd name="adj" fmla="val 8974"/>
            </a:avLst>
          </a:prstGeom>
          <a:solidFill>
            <a:srgbClr val="F3F5F8"/>
          </a:solidFill>
          <a:ln w="9525">
            <a:solidFill>
              <a:srgbClr val="D8DCE3"/>
            </a:solidFill>
            <a:prstDash val="solid"/>
          </a:ln>
        </p:spPr>
      </p:sp>
      <p:sp>
        <p:nvSpPr>
          <p:cNvPr id="10" name="Text 8"/>
          <p:cNvSpPr/>
          <p:nvPr/>
        </p:nvSpPr>
        <p:spPr>
          <a:xfrm>
            <a:off x="777240" y="4206240"/>
            <a:ext cx="2606040" cy="713232"/>
          </a:xfrm>
          <a:prstGeom prst="rect">
            <a:avLst/>
          </a:prstGeom>
          <a:noFill/>
          <a:ln/>
        </p:spPr>
        <p:txBody>
          <a:bodyPr wrap="square" rtlCol="0" anchor="ctr"/>
          <a:lstStyle/>
          <a:p>
            <a:pPr marL="0" indent="0">
              <a:buNone/>
            </a:pPr>
            <a:r>
              <a:rPr lang="en-US" sz="2200" b="1" dirty="0">
                <a:solidFill>
                  <a:srgbClr val="0B1E3D"/>
                </a:solidFill>
                <a:latin typeface="Cambria" pitchFamily="34" charset="0"/>
                <a:ea typeface="Cambria" pitchFamily="34" charset="-122"/>
                <a:cs typeface="Cambria" pitchFamily="34" charset="-120"/>
              </a:rPr>
              <a:t>Greedy Best-First</a:t>
            </a:r>
            <a:endParaRPr lang="en-US" sz="2200" dirty="0"/>
          </a:p>
        </p:txBody>
      </p:sp>
      <p:sp>
        <p:nvSpPr>
          <p:cNvPr id="11" name="Text 9"/>
          <p:cNvSpPr/>
          <p:nvPr/>
        </p:nvSpPr>
        <p:spPr>
          <a:xfrm>
            <a:off x="3108960" y="4206240"/>
            <a:ext cx="2697480" cy="713232"/>
          </a:xfrm>
          <a:prstGeom prst="rect">
            <a:avLst/>
          </a:prstGeom>
          <a:noFill/>
          <a:ln/>
        </p:spPr>
        <p:txBody>
          <a:bodyPr wrap="square" rtlCol="0" anchor="ctr"/>
          <a:lstStyle/>
          <a:p>
            <a:pPr marL="0" indent="0">
              <a:buNone/>
            </a:pPr>
            <a:r>
              <a:rPr lang="en-US" sz="2100" b="1" dirty="0">
                <a:solidFill>
                  <a:srgbClr val="B08D57"/>
                </a:solidFill>
                <a:latin typeface="Courier New" pitchFamily="34" charset="0"/>
                <a:ea typeface="Courier New" pitchFamily="34" charset="-122"/>
                <a:cs typeface="Courier New" pitchFamily="34" charset="-120"/>
              </a:rPr>
              <a:t>f(n)=h(n)</a:t>
            </a:r>
            <a:endParaRPr lang="en-US" sz="2100" dirty="0"/>
          </a:p>
        </p:txBody>
      </p:sp>
      <p:sp>
        <p:nvSpPr>
          <p:cNvPr id="12" name="Text 10"/>
          <p:cNvSpPr/>
          <p:nvPr/>
        </p:nvSpPr>
        <p:spPr>
          <a:xfrm>
            <a:off x="5943600" y="4206240"/>
            <a:ext cx="5699455" cy="713232"/>
          </a:xfrm>
          <a:prstGeom prst="rect">
            <a:avLst/>
          </a:prstGeom>
          <a:noFill/>
          <a:ln/>
        </p:spPr>
        <p:txBody>
          <a:bodyPr wrap="square" rtlCol="0" anchor="ctr"/>
          <a:lstStyle/>
          <a:p>
            <a:pPr marL="0" indent="0">
              <a:buNone/>
            </a:pPr>
            <a:r>
              <a:rPr lang="en-US" sz="1950" dirty="0">
                <a:solidFill>
                  <a:srgbClr val="1A1F2B"/>
                </a:solidFill>
                <a:latin typeface="Calibri" pitchFamily="34" charset="0"/>
                <a:ea typeface="Calibri" pitchFamily="34" charset="-122"/>
                <a:cs typeface="Calibri" pitchFamily="34" charset="-120"/>
              </a:rPr>
              <a:t>Ignores g — purely estimated remaining cost.</a:t>
            </a:r>
            <a:endParaRPr lang="en-US" sz="1950" dirty="0"/>
          </a:p>
        </p:txBody>
      </p:sp>
      <p:sp>
        <p:nvSpPr>
          <p:cNvPr id="13" name="Shape 11"/>
          <p:cNvSpPr/>
          <p:nvPr/>
        </p:nvSpPr>
        <p:spPr>
          <a:xfrm>
            <a:off x="548640" y="5029200"/>
            <a:ext cx="11094415" cy="713232"/>
          </a:xfrm>
          <a:prstGeom prst="roundRect">
            <a:avLst>
              <a:gd name="adj" fmla="val 8974"/>
            </a:avLst>
          </a:prstGeom>
          <a:solidFill>
            <a:srgbClr val="F3F5F8"/>
          </a:solidFill>
          <a:ln w="9525">
            <a:solidFill>
              <a:srgbClr val="D8DCE3"/>
            </a:solidFill>
            <a:prstDash val="solid"/>
          </a:ln>
        </p:spPr>
      </p:sp>
      <p:sp>
        <p:nvSpPr>
          <p:cNvPr id="14" name="Text 12"/>
          <p:cNvSpPr/>
          <p:nvPr/>
        </p:nvSpPr>
        <p:spPr>
          <a:xfrm>
            <a:off x="777240" y="5029200"/>
            <a:ext cx="2606040" cy="713232"/>
          </a:xfrm>
          <a:prstGeom prst="rect">
            <a:avLst/>
          </a:prstGeom>
          <a:noFill/>
          <a:ln/>
        </p:spPr>
        <p:txBody>
          <a:bodyPr wrap="square" rtlCol="0" anchor="ctr"/>
          <a:lstStyle/>
          <a:p>
            <a:pPr marL="0" indent="0">
              <a:buNone/>
            </a:pPr>
            <a:r>
              <a:rPr lang="en-US" sz="2200" b="1" dirty="0">
                <a:solidFill>
                  <a:srgbClr val="0B1E3D"/>
                </a:solidFill>
                <a:latin typeface="Cambria" pitchFamily="34" charset="0"/>
                <a:ea typeface="Cambria" pitchFamily="34" charset="-122"/>
                <a:cs typeface="Cambria" pitchFamily="34" charset="-120"/>
              </a:rPr>
              <a:t>A* Search</a:t>
            </a:r>
            <a:endParaRPr lang="en-US" sz="2200" dirty="0"/>
          </a:p>
        </p:txBody>
      </p:sp>
      <p:sp>
        <p:nvSpPr>
          <p:cNvPr id="15" name="Text 13"/>
          <p:cNvSpPr/>
          <p:nvPr/>
        </p:nvSpPr>
        <p:spPr>
          <a:xfrm>
            <a:off x="3108960" y="5029200"/>
            <a:ext cx="2697480" cy="713232"/>
          </a:xfrm>
          <a:prstGeom prst="rect">
            <a:avLst/>
          </a:prstGeom>
          <a:noFill/>
          <a:ln/>
        </p:spPr>
        <p:txBody>
          <a:bodyPr wrap="square" rtlCol="0" anchor="ctr"/>
          <a:lstStyle/>
          <a:p>
            <a:pPr marL="0" indent="0">
              <a:buNone/>
            </a:pPr>
            <a:r>
              <a:rPr lang="en-US" sz="2100" b="1" dirty="0">
                <a:solidFill>
                  <a:srgbClr val="2E7D5B"/>
                </a:solidFill>
                <a:latin typeface="Courier New" pitchFamily="34" charset="0"/>
                <a:ea typeface="Courier New" pitchFamily="34" charset="-122"/>
                <a:cs typeface="Courier New" pitchFamily="34" charset="-120"/>
              </a:rPr>
              <a:t>f(n)=g(n)+h(n)</a:t>
            </a:r>
            <a:endParaRPr lang="en-US" sz="2100" dirty="0"/>
          </a:p>
        </p:txBody>
      </p:sp>
      <p:sp>
        <p:nvSpPr>
          <p:cNvPr id="16" name="Text 14"/>
          <p:cNvSpPr/>
          <p:nvPr/>
        </p:nvSpPr>
        <p:spPr>
          <a:xfrm>
            <a:off x="5943600" y="5029200"/>
            <a:ext cx="5699455" cy="713232"/>
          </a:xfrm>
          <a:prstGeom prst="rect">
            <a:avLst/>
          </a:prstGeom>
          <a:noFill/>
          <a:ln/>
        </p:spPr>
        <p:txBody>
          <a:bodyPr wrap="square" rtlCol="0" anchor="ctr"/>
          <a:lstStyle/>
          <a:p>
            <a:pPr marL="0" indent="0">
              <a:buNone/>
            </a:pPr>
            <a:r>
              <a:rPr lang="en-US" sz="1950" dirty="0">
                <a:solidFill>
                  <a:srgbClr val="1A1F2B"/>
                </a:solidFill>
                <a:latin typeface="Calibri" pitchFamily="34" charset="0"/>
                <a:ea typeface="Calibri" pitchFamily="34" charset="-122"/>
                <a:cs typeface="Calibri" pitchFamily="34" charset="-120"/>
              </a:rPr>
              <a:t>Balances both.</a:t>
            </a:r>
            <a:endParaRPr lang="en-US" sz="1950" dirty="0"/>
          </a:p>
        </p:txBody>
      </p:sp>
      <p:sp>
        <p:nvSpPr>
          <p:cNvPr id="17" name="Text 1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2. Informed Search</a:t>
            </a:r>
            <a:endParaRPr lang="en-US" sz="1600" dirty="0"/>
          </a:p>
        </p:txBody>
      </p:sp>
      <p:sp>
        <p:nvSpPr>
          <p:cNvPr id="18" name="Text 1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8 / 40</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3. GREEDY BEST-FIRST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Greedy Best-First Search</a:t>
            </a:r>
            <a:endParaRPr lang="en-US" sz="4700" dirty="0"/>
          </a:p>
        </p:txBody>
      </p:sp>
      <p:sp>
        <p:nvSpPr>
          <p:cNvPr id="4" name="Text 2"/>
          <p:cNvSpPr/>
          <p:nvPr/>
        </p:nvSpPr>
        <p:spPr>
          <a:xfrm>
            <a:off x="548640" y="2331720"/>
            <a:ext cx="11094415" cy="1554480"/>
          </a:xfrm>
          <a:prstGeom prst="rect">
            <a:avLst/>
          </a:prstGeom>
          <a:noFill/>
          <a:ln/>
        </p:spPr>
        <p:txBody>
          <a:bodyPr wrap="square" lIns="0" tIns="0" rIns="0" bIns="0" rtlCol="0" anchor="t"/>
          <a:lstStyle/>
          <a:p>
            <a:pPr marL="203200" indent="-203200">
              <a:buSzPct val="100000"/>
              <a:buChar char="▪"/>
            </a:pPr>
            <a:r>
              <a:rPr lang="en-US" sz="2200" b="1" dirty="0">
                <a:solidFill>
                  <a:srgbClr val="0B1E3D"/>
                </a:solidFill>
                <a:latin typeface="Calibri" pitchFamily="34" charset="0"/>
                <a:ea typeface="Calibri" pitchFamily="34" charset="-122"/>
                <a:cs typeface="Calibri" pitchFamily="34" charset="-120"/>
              </a:rPr>
              <a:t>Concept — </a:t>
            </a:r>
            <a:r>
              <a:rPr lang="en-US" sz="2200" dirty="0">
                <a:solidFill>
                  <a:srgbClr val="1A1F2B"/>
                </a:solidFill>
                <a:latin typeface="Calibri" pitchFamily="34" charset="0"/>
                <a:ea typeface="Calibri" pitchFamily="34" charset="-122"/>
                <a:cs typeface="Calibri" pitchFamily="34" charset="-120"/>
              </a:rPr>
              <a:t>Always expand the node that LOOKS closest to the goal right now.</a:t>
            </a:r>
            <a:endParaRPr lang="en-US" sz="2200" dirty="0"/>
          </a:p>
          <a:p>
            <a:pPr marL="203200" indent="-203200">
              <a:buSzPct val="100000"/>
              <a:buChar char="▪"/>
            </a:pPr>
            <a:r>
              <a:rPr lang="en-US" sz="2200" b="1" dirty="0">
                <a:solidFill>
                  <a:srgbClr val="0B1E3D"/>
                </a:solidFill>
                <a:latin typeface="Calibri" pitchFamily="34" charset="0"/>
                <a:ea typeface="Calibri" pitchFamily="34" charset="-122"/>
                <a:cs typeface="Calibri" pitchFamily="34" charset="-120"/>
              </a:rPr>
              <a:t>Formal definition — </a:t>
            </a:r>
            <a:r>
              <a:rPr lang="en-US" sz="2200" dirty="0">
                <a:solidFill>
                  <a:srgbClr val="1A1F2B"/>
                </a:solidFill>
                <a:latin typeface="Calibri" pitchFamily="34" charset="0"/>
                <a:ea typeface="Calibri" pitchFamily="34" charset="-122"/>
                <a:cs typeface="Calibri" pitchFamily="34" charset="-120"/>
              </a:rPr>
              <a:t>f(n) = h(n). Frontier is a priority queue ordered by h(n).</a:t>
            </a:r>
            <a:endParaRPr lang="en-US" sz="2200" dirty="0"/>
          </a:p>
          <a:p>
            <a:pPr marL="203200" indent="-203200">
              <a:buSzPct val="100000"/>
              <a:buChar char="▪"/>
            </a:pPr>
            <a:r>
              <a:rPr lang="en-US" sz="2200" b="1" dirty="0">
                <a:solidFill>
                  <a:srgbClr val="0B1E3D"/>
                </a:solidFill>
                <a:latin typeface="Calibri" pitchFamily="34" charset="0"/>
                <a:ea typeface="Calibri" pitchFamily="34" charset="-122"/>
                <a:cs typeface="Calibri" pitchFamily="34" charset="-120"/>
              </a:rPr>
              <a:t>Consequence — </a:t>
            </a:r>
            <a:r>
              <a:rPr lang="en-US" sz="2200" dirty="0">
                <a:solidFill>
                  <a:srgbClr val="1A1F2B"/>
                </a:solidFill>
                <a:latin typeface="Calibri" pitchFamily="34" charset="0"/>
                <a:ea typeface="Calibri" pitchFamily="34" charset="-122"/>
                <a:cs typeface="Calibri" pitchFamily="34" charset="-120"/>
              </a:rPr>
              <a:t>No safeguard against a path that only LOOKS good early on.</a:t>
            </a:r>
            <a:endParaRPr lang="en-US" sz="2200" dirty="0"/>
          </a:p>
        </p:txBody>
      </p:sp>
      <p:sp>
        <p:nvSpPr>
          <p:cNvPr id="5" name="Shape 3"/>
          <p:cNvSpPr/>
          <p:nvPr/>
        </p:nvSpPr>
        <p:spPr>
          <a:xfrm>
            <a:off x="548640" y="4023360"/>
            <a:ext cx="5349240" cy="1554480"/>
          </a:xfrm>
          <a:prstGeom prst="roundRect">
            <a:avLst>
              <a:gd name="adj" fmla="val 5294"/>
            </a:avLst>
          </a:prstGeom>
          <a:solidFill>
            <a:srgbClr val="0B1E3D"/>
          </a:solidFill>
          <a:ln/>
        </p:spPr>
      </p:sp>
      <p:sp>
        <p:nvSpPr>
          <p:cNvPr id="6" name="Text 4"/>
          <p:cNvSpPr/>
          <p:nvPr/>
        </p:nvSpPr>
        <p:spPr>
          <a:xfrm>
            <a:off x="548640" y="4160520"/>
            <a:ext cx="5349240" cy="731520"/>
          </a:xfrm>
          <a:prstGeom prst="rect">
            <a:avLst/>
          </a:prstGeom>
          <a:noFill/>
          <a:ln/>
        </p:spPr>
        <p:txBody>
          <a:bodyPr wrap="square" rtlCol="0" anchor="ctr"/>
          <a:lstStyle/>
          <a:p>
            <a:pPr marL="0" indent="0" algn="ctr">
              <a:buNone/>
            </a:pPr>
            <a:r>
              <a:rPr lang="en-US" sz="4050" b="1" dirty="0">
                <a:solidFill>
                  <a:srgbClr val="B08D57"/>
                </a:solidFill>
                <a:latin typeface="Courier New" pitchFamily="34" charset="0"/>
                <a:ea typeface="Courier New" pitchFamily="34" charset="-122"/>
                <a:cs typeface="Courier New" pitchFamily="34" charset="-120"/>
              </a:rPr>
              <a:t>f(n) = h(n)</a:t>
            </a:r>
            <a:endParaRPr lang="en-US" sz="4050" dirty="0"/>
          </a:p>
        </p:txBody>
      </p:sp>
      <p:sp>
        <p:nvSpPr>
          <p:cNvPr id="7" name="Text 5"/>
          <p:cNvSpPr/>
          <p:nvPr/>
        </p:nvSpPr>
        <p:spPr>
          <a:xfrm>
            <a:off x="548640" y="4892040"/>
            <a:ext cx="5349240" cy="457200"/>
          </a:xfrm>
          <a:prstGeom prst="rect">
            <a:avLst/>
          </a:prstGeom>
          <a:noFill/>
          <a:ln/>
        </p:spPr>
        <p:txBody>
          <a:bodyPr wrap="square" rtlCol="0" anchor="ctr"/>
          <a:lstStyle/>
          <a:p>
            <a:pPr marL="0" indent="0" algn="ctr">
              <a:buNone/>
            </a:pPr>
            <a:r>
              <a:rPr lang="en-US" sz="1850" i="1" dirty="0">
                <a:solidFill>
                  <a:srgbClr val="C9D3E3"/>
                </a:solidFill>
                <a:latin typeface="Calibri" pitchFamily="34" charset="0"/>
                <a:ea typeface="Calibri" pitchFamily="34" charset="-122"/>
                <a:cs typeface="Calibri" pitchFamily="34" charset="-120"/>
              </a:rPr>
              <a:t>Priority queue key: h(n) only</a:t>
            </a:r>
            <a:endParaRPr lang="en-US" sz="1850" dirty="0"/>
          </a:p>
        </p:txBody>
      </p:sp>
      <p:sp>
        <p:nvSpPr>
          <p:cNvPr id="8" name="Shape 6"/>
          <p:cNvSpPr/>
          <p:nvPr/>
        </p:nvSpPr>
        <p:spPr>
          <a:xfrm>
            <a:off x="6172200" y="4023360"/>
            <a:ext cx="5486400" cy="1554480"/>
          </a:xfrm>
          <a:prstGeom prst="roundRect">
            <a:avLst>
              <a:gd name="adj" fmla="val 4118"/>
            </a:avLst>
          </a:prstGeom>
          <a:solidFill>
            <a:srgbClr val="F3F5F8"/>
          </a:solidFill>
          <a:ln w="12700">
            <a:solidFill>
              <a:srgbClr val="D8DCE3"/>
            </a:solidFill>
            <a:prstDash val="solid"/>
          </a:ln>
        </p:spPr>
      </p:sp>
      <p:sp>
        <p:nvSpPr>
          <p:cNvPr id="9" name="Text 7"/>
          <p:cNvSpPr/>
          <p:nvPr/>
        </p:nvSpPr>
        <p:spPr>
          <a:xfrm>
            <a:off x="6446520" y="4151376"/>
            <a:ext cx="493776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Classroom question</a:t>
            </a:r>
            <a:endParaRPr lang="en-US" sz="2600" dirty="0"/>
          </a:p>
        </p:txBody>
      </p:sp>
      <p:sp>
        <p:nvSpPr>
          <p:cNvPr id="10" name="Text 8"/>
          <p:cNvSpPr/>
          <p:nvPr/>
        </p:nvSpPr>
        <p:spPr>
          <a:xfrm>
            <a:off x="6400800" y="4434840"/>
            <a:ext cx="5029200" cy="1005840"/>
          </a:xfrm>
          <a:prstGeom prst="rect">
            <a:avLst/>
          </a:prstGeom>
          <a:noFill/>
          <a:ln/>
        </p:spPr>
        <p:txBody>
          <a:bodyPr wrap="square" rtlCol="0" anchor="ctr"/>
          <a:lstStyle/>
          <a:p>
            <a:pPr marL="0" indent="0">
              <a:lnSpc>
                <a:spcPts val="2500"/>
              </a:lnSpc>
              <a:buNone/>
            </a:pPr>
            <a:r>
              <a:rPr lang="en-US" sz="1950" i="1" dirty="0">
                <a:solidFill>
                  <a:srgbClr val="1A1F2B"/>
                </a:solidFill>
                <a:latin typeface="Calibri" pitchFamily="34" charset="0"/>
                <a:ea typeface="Calibri" pitchFamily="34" charset="-122"/>
                <a:cs typeface="Calibri" pitchFamily="34" charset="-120"/>
              </a:rPr>
              <a:t>Two frontier nodes tie on h(n) — what tie-break rule would you propose?</a:t>
            </a:r>
            <a:endParaRPr lang="en-US" sz="1950" dirty="0"/>
          </a:p>
        </p:txBody>
      </p:sp>
      <p:sp>
        <p:nvSpPr>
          <p:cNvPr id="11" name="Text 9"/>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3. Greedy Best-First Search</a:t>
            </a:r>
            <a:endParaRPr lang="en-US" sz="1600" dirty="0"/>
          </a:p>
        </p:txBody>
      </p:sp>
      <p:sp>
        <p:nvSpPr>
          <p:cNvPr id="12" name="Text 10"/>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9 / 40</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3. GREEDY BEST-FIRST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FFFFFF"/>
                </a:solidFill>
                <a:latin typeface="Cambria" pitchFamily="34" charset="0"/>
                <a:ea typeface="Cambria" pitchFamily="34" charset="-122"/>
                <a:cs typeface="Cambria" pitchFamily="34" charset="-120"/>
              </a:rPr>
              <a:t>Greedy Best-First — Algorithm</a:t>
            </a:r>
            <a:endParaRPr lang="en-US" sz="4700" dirty="0"/>
          </a:p>
        </p:txBody>
      </p:sp>
      <p:sp>
        <p:nvSpPr>
          <p:cNvPr id="4" name="Shape 2"/>
          <p:cNvSpPr/>
          <p:nvPr/>
        </p:nvSpPr>
        <p:spPr>
          <a:xfrm>
            <a:off x="548640" y="2331720"/>
            <a:ext cx="11094415" cy="2651760"/>
          </a:xfrm>
          <a:prstGeom prst="roundRect">
            <a:avLst>
              <a:gd name="adj" fmla="val 2759"/>
            </a:avLst>
          </a:prstGeom>
          <a:solidFill>
            <a:srgbClr val="071527"/>
          </a:solidFill>
          <a:ln w="12700">
            <a:solidFill>
              <a:srgbClr val="13294B"/>
            </a:solidFill>
            <a:prstDash val="solid"/>
          </a:ln>
        </p:spPr>
      </p:sp>
      <p:sp>
        <p:nvSpPr>
          <p:cNvPr id="5" name="Text 3"/>
          <p:cNvSpPr/>
          <p:nvPr/>
        </p:nvSpPr>
        <p:spPr>
          <a:xfrm>
            <a:off x="822960" y="2478024"/>
            <a:ext cx="10545775" cy="2377440"/>
          </a:xfrm>
          <a:prstGeom prst="rect">
            <a:avLst/>
          </a:prstGeom>
          <a:noFill/>
          <a:ln/>
        </p:spPr>
        <p:txBody>
          <a:bodyPr wrap="square" rtlCol="0" anchor="ctr"/>
          <a:lstStyle/>
          <a:p>
            <a:pPr marL="0" indent="0">
              <a:lnSpc>
                <a:spcPts val="2500"/>
              </a:lnSpc>
              <a:buNone/>
            </a:pPr>
            <a:r>
              <a:rPr lang="en-US" sz="1950" dirty="0">
                <a:solidFill>
                  <a:srgbClr val="D7E2F4"/>
                </a:solidFill>
                <a:latin typeface="Courier New" pitchFamily="34" charset="0"/>
                <a:ea typeface="Courier New" pitchFamily="34" charset="-122"/>
                <a:cs typeface="Courier New" pitchFamily="34" charset="-120"/>
              </a:rPr>
              <a:t>function GREEDY-BEST-FIRST(problem, h):</a:t>
            </a:r>
            <a:endParaRPr lang="en-US" sz="1950" dirty="0"/>
          </a:p>
          <a:p>
            <a:pPr marL="0" indent="0">
              <a:lnSpc>
                <a:spcPts val="2500"/>
              </a:lnSpc>
              <a:buNone/>
            </a:pPr>
            <a:r>
              <a:rPr lang="en-US" sz="1950" dirty="0">
                <a:solidFill>
                  <a:srgbClr val="D7E2F4"/>
                </a:solidFill>
                <a:latin typeface="Courier New" pitchFamily="34" charset="0"/>
                <a:ea typeface="Courier New" pitchFamily="34" charset="-122"/>
                <a:cs typeface="Courier New" pitchFamily="34" charset="-120"/>
              </a:rPr>
              <a:t>  frontier &lt;- queue ordered by h(n); start in frontier</a:t>
            </a:r>
            <a:endParaRPr lang="en-US" sz="1950" dirty="0"/>
          </a:p>
          <a:p>
            <a:pPr marL="0" indent="0">
              <a:lnSpc>
                <a:spcPts val="2500"/>
              </a:lnSpc>
              <a:buNone/>
            </a:pPr>
            <a:r>
              <a:rPr lang="en-US" sz="1950" dirty="0">
                <a:solidFill>
                  <a:srgbClr val="D7E2F4"/>
                </a:solidFill>
                <a:latin typeface="Courier New" pitchFamily="34" charset="0"/>
                <a:ea typeface="Courier New" pitchFamily="34" charset="-122"/>
                <a:cs typeface="Courier New" pitchFamily="34" charset="-120"/>
              </a:rPr>
              <a:t>  explored &lt;- {}</a:t>
            </a:r>
            <a:endParaRPr lang="en-US" sz="1950" dirty="0"/>
          </a:p>
          <a:p>
            <a:pPr marL="0" indent="0">
              <a:lnSpc>
                <a:spcPts val="2500"/>
              </a:lnSpc>
              <a:buNone/>
            </a:pPr>
            <a:r>
              <a:rPr lang="en-US" sz="1950" dirty="0">
                <a:solidFill>
                  <a:srgbClr val="D7E2F4"/>
                </a:solidFill>
                <a:latin typeface="Courier New" pitchFamily="34" charset="0"/>
                <a:ea typeface="Courier New" pitchFamily="34" charset="-122"/>
                <a:cs typeface="Courier New" pitchFamily="34" charset="-120"/>
              </a:rPr>
              <a:t>  loop: if frontier empty: return FAILURE</a:t>
            </a:r>
            <a:endParaRPr lang="en-US" sz="1950" dirty="0"/>
          </a:p>
          <a:p>
            <a:pPr marL="0" indent="0">
              <a:lnSpc>
                <a:spcPts val="2500"/>
              </a:lnSpc>
              <a:buNone/>
            </a:pPr>
            <a:r>
              <a:rPr lang="en-US" sz="1950" dirty="0">
                <a:solidFill>
                  <a:srgbClr val="D7E2F4"/>
                </a:solidFill>
                <a:latin typeface="Courier New" pitchFamily="34" charset="0"/>
                <a:ea typeface="Courier New" pitchFamily="34" charset="-122"/>
                <a:cs typeface="Courier New" pitchFamily="34" charset="-120"/>
              </a:rPr>
              <a:t>    node &lt;- pop lowest h(n)</a:t>
            </a:r>
            <a:endParaRPr lang="en-US" sz="1950" dirty="0"/>
          </a:p>
          <a:p>
            <a:pPr marL="0" indent="0">
              <a:lnSpc>
                <a:spcPts val="2500"/>
              </a:lnSpc>
              <a:buNone/>
            </a:pPr>
            <a:r>
              <a:rPr lang="en-US" sz="1950" dirty="0">
                <a:solidFill>
                  <a:srgbClr val="D7E2F4"/>
                </a:solidFill>
                <a:latin typeface="Courier New" pitchFamily="34" charset="0"/>
                <a:ea typeface="Courier New" pitchFamily="34" charset="-122"/>
                <a:cs typeface="Courier New" pitchFamily="34" charset="-120"/>
              </a:rPr>
              <a:t>    if node is GOAL: return SOLUTION(node)</a:t>
            </a:r>
            <a:endParaRPr lang="en-US" sz="1950" dirty="0"/>
          </a:p>
          <a:p>
            <a:pPr marL="0" indent="0">
              <a:lnSpc>
                <a:spcPts val="2500"/>
              </a:lnSpc>
              <a:buNone/>
            </a:pPr>
            <a:r>
              <a:rPr lang="en-US" sz="1950" dirty="0">
                <a:solidFill>
                  <a:srgbClr val="D7E2F4"/>
                </a:solidFill>
                <a:latin typeface="Courier New" pitchFamily="34" charset="0"/>
                <a:ea typeface="Courier New" pitchFamily="34" charset="-122"/>
                <a:cs typeface="Courier New" pitchFamily="34" charset="-120"/>
              </a:rPr>
              <a:t>    add node to explored</a:t>
            </a:r>
            <a:endParaRPr lang="en-US" sz="1950" dirty="0"/>
          </a:p>
          <a:p>
            <a:pPr marL="0" indent="0">
              <a:lnSpc>
                <a:spcPts val="2500"/>
              </a:lnSpc>
              <a:buNone/>
            </a:pPr>
            <a:r>
              <a:rPr lang="en-US" sz="1950" dirty="0">
                <a:solidFill>
                  <a:srgbClr val="D7E2F4"/>
                </a:solidFill>
                <a:latin typeface="Courier New" pitchFamily="34" charset="0"/>
                <a:ea typeface="Courier New" pitchFamily="34" charset="-122"/>
                <a:cs typeface="Courier New" pitchFamily="34" charset="-120"/>
              </a:rPr>
              <a:t>    for child of node: if unseen, add to frontier</a:t>
            </a:r>
            <a:endParaRPr lang="en-US" sz="1950" dirty="0"/>
          </a:p>
        </p:txBody>
      </p:sp>
      <p:sp>
        <p:nvSpPr>
          <p:cNvPr id="6" name="Shape 4"/>
          <p:cNvSpPr/>
          <p:nvPr/>
        </p:nvSpPr>
        <p:spPr>
          <a:xfrm>
            <a:off x="548640" y="5120640"/>
            <a:ext cx="11094415" cy="960120"/>
          </a:xfrm>
          <a:prstGeom prst="roundRect">
            <a:avLst>
              <a:gd name="adj" fmla="val 6667"/>
            </a:avLst>
          </a:prstGeom>
          <a:solidFill>
            <a:srgbClr val="13294B"/>
          </a:solidFill>
          <a:ln/>
        </p:spPr>
      </p:sp>
      <p:sp>
        <p:nvSpPr>
          <p:cNvPr id="7" name="Text 5"/>
          <p:cNvSpPr/>
          <p:nvPr/>
        </p:nvSpPr>
        <p:spPr>
          <a:xfrm>
            <a:off x="822960" y="524865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Notes</a:t>
            </a:r>
            <a:endParaRPr lang="en-US" sz="2600" dirty="0"/>
          </a:p>
        </p:txBody>
      </p:sp>
      <p:sp>
        <p:nvSpPr>
          <p:cNvPr id="8" name="Text 6"/>
          <p:cNvSpPr/>
          <p:nvPr/>
        </p:nvSpPr>
        <p:spPr>
          <a:xfrm>
            <a:off x="822960" y="5577840"/>
            <a:ext cx="10545775" cy="502920"/>
          </a:xfrm>
          <a:prstGeom prst="rect">
            <a:avLst/>
          </a:prstGeom>
          <a:noFill/>
          <a:ln/>
        </p:spPr>
        <p:txBody>
          <a:bodyPr wrap="square" lIns="0" tIns="0" rIns="0" bIns="0" rtlCol="0" anchor="t"/>
          <a:lstStyle/>
          <a:p>
            <a:pPr marL="203200" indent="-203200">
              <a:spcAft>
                <a:spcPts val="500"/>
              </a:spcAft>
              <a:buSzPct val="100000"/>
              <a:buChar char="▪"/>
            </a:pPr>
            <a:r>
              <a:rPr lang="en-US" sz="1750" dirty="0">
                <a:solidFill>
                  <a:srgbClr val="E7EBF3"/>
                </a:solidFill>
                <a:latin typeface="Calibri" pitchFamily="34" charset="0"/>
                <a:ea typeface="Calibri" pitchFamily="34" charset="-122"/>
                <a:cs typeface="Calibri" pitchFamily="34" charset="-120"/>
              </a:rPr>
              <a:t>Same skeleton as UCS and A* — only the priority key differs</a:t>
            </a:r>
            <a:endParaRPr lang="en-US" sz="1750" dirty="0"/>
          </a:p>
          <a:p>
            <a:pPr marL="203200" indent="-203200">
              <a:spcAft>
                <a:spcPts val="500"/>
              </a:spcAft>
              <a:buSzPct val="100000"/>
              <a:buChar char="▪"/>
            </a:pPr>
            <a:r>
              <a:rPr lang="en-US" sz="1750" dirty="0">
                <a:solidFill>
                  <a:srgbClr val="E7EBF3"/>
                </a:solidFill>
                <a:latin typeface="Calibri" pitchFamily="34" charset="0"/>
                <a:ea typeface="Calibri" pitchFamily="34" charset="-122"/>
                <a:cs typeface="Calibri" pitchFamily="34" charset="-120"/>
              </a:rPr>
              <a:t>No mechanism ever reconsiders a choice — root of Greedy's weakness</a:t>
            </a:r>
            <a:endParaRPr lang="en-US" sz="1750" dirty="0"/>
          </a:p>
        </p:txBody>
      </p:sp>
      <p:sp>
        <p:nvSpPr>
          <p:cNvPr id="9" name="Text 7"/>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3. Greedy Best-First Search</a:t>
            </a:r>
            <a:endParaRPr lang="en-US" sz="1600" dirty="0"/>
          </a:p>
        </p:txBody>
      </p:sp>
      <p:sp>
        <p:nvSpPr>
          <p:cNvPr id="10" name="Text 8"/>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10 / 40</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3. GREEDY BEST-FIRST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Worked Example — Greedy Trace</a:t>
            </a:r>
            <a:endParaRPr lang="en-US" sz="4700" dirty="0"/>
          </a:p>
        </p:txBody>
      </p:sp>
      <p:pic>
        <p:nvPicPr>
          <p:cNvPr id="4" name="Image 0" descr="/mnt/user-data/working/lecture4/assets/graph_h1_greedy.png"/>
          <p:cNvPicPr>
            <a:picLocks noChangeAspect="1"/>
          </p:cNvPicPr>
          <p:nvPr/>
        </p:nvPicPr>
        <p:blipFill>
          <a:blip r:embed="rId3"/>
          <a:stretch>
            <a:fillRect/>
          </a:stretch>
        </p:blipFill>
        <p:spPr>
          <a:xfrm>
            <a:off x="457200" y="2331720"/>
            <a:ext cx="4572000" cy="3246120"/>
          </a:xfrm>
          <a:prstGeom prst="rect">
            <a:avLst/>
          </a:prstGeom>
        </p:spPr>
      </p:pic>
      <p:sp>
        <p:nvSpPr>
          <p:cNvPr id="5" name="Text 2"/>
          <p:cNvSpPr/>
          <p:nvPr/>
        </p:nvSpPr>
        <p:spPr>
          <a:xfrm>
            <a:off x="457200" y="5623560"/>
            <a:ext cx="4572000" cy="365760"/>
          </a:xfrm>
          <a:prstGeom prst="rect">
            <a:avLst/>
          </a:prstGeom>
          <a:noFill/>
          <a:ln/>
        </p:spPr>
        <p:txBody>
          <a:bodyPr wrap="square" rtlCol="0" anchor="ctr"/>
          <a:lstStyle/>
          <a:p>
            <a:pPr marL="0" indent="0" algn="ctr">
              <a:buNone/>
            </a:pPr>
            <a:r>
              <a:rPr lang="en-US" sz="1750" i="1" dirty="0">
                <a:solidFill>
                  <a:srgbClr val="6B7686"/>
                </a:solidFill>
                <a:latin typeface="Calibri" pitchFamily="34" charset="0"/>
                <a:ea typeface="Calibri" pitchFamily="34" charset="-122"/>
                <a:cs typeface="Calibri" pitchFamily="34" charset="-120"/>
              </a:rPr>
              <a:t>h₁ shown at each node — admissible but misleading at A</a:t>
            </a:r>
            <a:endParaRPr lang="en-US" sz="1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49240" y="2331720"/>
          <a:ext cx="6309360" cy="2286000"/>
        </p:xfrm>
        <a:graphic>
          <a:graphicData uri="http://schemas.openxmlformats.org/drawingml/2006/table">
            <a:tbl>
              <a:tblPr/>
              <a:tblGrid>
                <a:gridCol w="10058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57200">
                <a:tc>
                  <a:txBody>
                    <a:bodyPr/>
                    <a:lstStyle/>
                    <a:p>
                      <a:pPr marL="0" indent="0" algn="ctr">
                        <a:buNone/>
                      </a:pPr>
                      <a:r>
                        <a:rPr lang="en-US" sz="2100" b="1" dirty="0">
                          <a:solidFill>
                            <a:srgbClr val="FFFFFF"/>
                          </a:solidFill>
                        </a:rPr>
                        <a:t>Step</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Expand</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g(n)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h(n)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f(n)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extLst>
                  <a:ext uri="{0D108BD9-81ED-4DB2-BD59-A6C34878D82A}">
                    <a16:rowId xmlns:a16="http://schemas.microsoft.com/office/drawing/2014/main" val="10000"/>
                  </a:ext>
                </a:extLst>
              </a:tr>
              <a:tr h="457200">
                <a:tc>
                  <a:txBody>
                    <a:bodyPr/>
                    <a:lstStyle/>
                    <a:p>
                      <a:pPr marL="0" indent="0" algn="ctr">
                        <a:buNone/>
                      </a:pPr>
                      <a:r>
                        <a:rPr lang="en-US" sz="2100" dirty="0">
                          <a:solidFill>
                            <a:srgbClr val="1A1F2B"/>
                          </a:solidFill>
                        </a:rPr>
                        <a:t>1</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b="1" dirty="0">
                          <a:solidFill>
                            <a:srgbClr val="1A1F2B"/>
                          </a:solidFill>
                        </a:rPr>
                        <a:t>S</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0</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10</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10</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2100" dirty="0">
                          <a:solidFill>
                            <a:srgbClr val="1A1F2B"/>
                          </a:solidFill>
                        </a:rPr>
                        <a:t>2</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b="1" dirty="0">
                          <a:solidFill>
                            <a:srgbClr val="1A1F2B"/>
                          </a:solidFill>
                        </a:rPr>
                        <a:t>A</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4</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3</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3</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2100" dirty="0">
                          <a:solidFill>
                            <a:srgbClr val="1A1F2B"/>
                          </a:solidFill>
                        </a:rPr>
                        <a:t>3</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b="1" dirty="0">
                          <a:solidFill>
                            <a:srgbClr val="1A1F2B"/>
                          </a:solidFill>
                        </a:rPr>
                        <a:t>D</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11</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2</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2</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2100" dirty="0">
                          <a:solidFill>
                            <a:srgbClr val="1A1F2B"/>
                          </a:solidFill>
                        </a:rPr>
                        <a:t>4</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b="1" dirty="0">
                          <a:solidFill>
                            <a:srgbClr val="2E7D5B"/>
                          </a:solidFill>
                        </a:rPr>
                        <a:t>G (goal)</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14</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0</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0</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3"/>
          <p:cNvSpPr/>
          <p:nvPr/>
        </p:nvSpPr>
        <p:spPr>
          <a:xfrm>
            <a:off x="5349240" y="4846320"/>
            <a:ext cx="6309360" cy="1691640"/>
          </a:xfrm>
          <a:prstGeom prst="roundRect">
            <a:avLst>
              <a:gd name="adj" fmla="val 3784"/>
            </a:avLst>
          </a:prstGeom>
          <a:solidFill>
            <a:srgbClr val="F3F5F8"/>
          </a:solidFill>
          <a:ln w="12700">
            <a:solidFill>
              <a:srgbClr val="D8DCE3"/>
            </a:solidFill>
            <a:prstDash val="solid"/>
          </a:ln>
        </p:spPr>
      </p:sp>
      <p:sp>
        <p:nvSpPr>
          <p:cNvPr id="8" name="Text 4"/>
          <p:cNvSpPr/>
          <p:nvPr/>
        </p:nvSpPr>
        <p:spPr>
          <a:xfrm>
            <a:off x="5623560" y="4974336"/>
            <a:ext cx="576072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Result</a:t>
            </a:r>
            <a:endParaRPr lang="en-US" sz="2600" dirty="0"/>
          </a:p>
        </p:txBody>
      </p:sp>
      <p:sp>
        <p:nvSpPr>
          <p:cNvPr id="9" name="Text 5"/>
          <p:cNvSpPr/>
          <p:nvPr/>
        </p:nvSpPr>
        <p:spPr>
          <a:xfrm>
            <a:off x="5577840" y="5486400"/>
            <a:ext cx="5852160" cy="1005840"/>
          </a:xfrm>
          <a:prstGeom prst="rect">
            <a:avLst/>
          </a:prstGeom>
          <a:noFill/>
          <a:ln/>
        </p:spPr>
        <p:txBody>
          <a:bodyPr wrap="square" rtlCol="0" anchor="ctr"/>
          <a:lstStyle/>
          <a:p>
            <a:pPr marL="0" indent="0">
              <a:lnSpc>
                <a:spcPts val="2700"/>
              </a:lnSpc>
              <a:buNone/>
            </a:pPr>
            <a:r>
              <a:rPr lang="en-US" sz="2000" dirty="0">
                <a:solidFill>
                  <a:srgbClr val="000000"/>
                </a:solidFill>
                <a:latin typeface="Calibri" pitchFamily="34" charset="0"/>
                <a:ea typeface="Calibri" pitchFamily="34" charset="-122"/>
                <a:cs typeface="Calibri" pitchFamily="34" charset="-120"/>
              </a:rPr>
              <a:t>Greedy picks A (h=3 looks best) and never revisits that choice.Path: S→A→D→G, cost = </a:t>
            </a:r>
            <a:r>
              <a:rPr lang="en-US" sz="2000" b="1" dirty="0">
                <a:solidFill>
                  <a:srgbClr val="9B3A3A"/>
                </a:solidFill>
                <a:latin typeface="Calibri" pitchFamily="34" charset="0"/>
                <a:ea typeface="Calibri" pitchFamily="34" charset="-122"/>
                <a:cs typeface="Calibri" pitchFamily="34" charset="-120"/>
              </a:rPr>
              <a:t>14</a:t>
            </a:r>
            <a:r>
              <a:rPr lang="en-US" sz="2000" dirty="0">
                <a:solidFill>
                  <a:srgbClr val="000000"/>
                </a:solidFill>
                <a:latin typeface="Calibri" pitchFamily="34" charset="0"/>
                <a:ea typeface="Calibri" pitchFamily="34" charset="-122"/>
                <a:cs typeface="Calibri" pitchFamily="34" charset="-120"/>
              </a:rPr>
              <a:t>.  True optimum is 12 — Greedy is complete here but </a:t>
            </a:r>
            <a:r>
              <a:rPr lang="en-US" sz="2000" b="1" dirty="0">
                <a:solidFill>
                  <a:srgbClr val="9B3A3A"/>
                </a:solidFill>
                <a:latin typeface="Calibri" pitchFamily="34" charset="0"/>
                <a:ea typeface="Calibri" pitchFamily="34" charset="-122"/>
                <a:cs typeface="Calibri" pitchFamily="34" charset="-120"/>
              </a:rPr>
              <a:t>not optimal</a:t>
            </a: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0" name="Text 6"/>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3. Greedy Best-First Search</a:t>
            </a:r>
            <a:endParaRPr lang="en-US" sz="1600" dirty="0"/>
          </a:p>
        </p:txBody>
      </p:sp>
      <p:sp>
        <p:nvSpPr>
          <p:cNvPr id="11" name="Text 7"/>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11 / 40</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3. GREEDY BEST-FIRST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Greedy — Strengths and Limitations</a:t>
            </a:r>
            <a:endParaRPr lang="en-US" sz="4700" dirty="0"/>
          </a:p>
        </p:txBody>
      </p:sp>
      <p:sp>
        <p:nvSpPr>
          <p:cNvPr id="4" name="Shape 2"/>
          <p:cNvSpPr/>
          <p:nvPr/>
        </p:nvSpPr>
        <p:spPr>
          <a:xfrm>
            <a:off x="548640" y="2697480"/>
            <a:ext cx="11094415" cy="1783080"/>
          </a:xfrm>
          <a:prstGeom prst="roundRect">
            <a:avLst>
              <a:gd name="adj" fmla="val 3590"/>
            </a:avLst>
          </a:prstGeom>
          <a:solidFill>
            <a:srgbClr val="F3F5F8"/>
          </a:solidFill>
          <a:ln w="12700">
            <a:solidFill>
              <a:srgbClr val="D8DCE3"/>
            </a:solidFill>
            <a:prstDash val="solid"/>
          </a:ln>
        </p:spPr>
      </p:sp>
      <p:sp>
        <p:nvSpPr>
          <p:cNvPr id="5" name="Text 3"/>
          <p:cNvSpPr/>
          <p:nvPr/>
        </p:nvSpPr>
        <p:spPr>
          <a:xfrm>
            <a:off x="822960" y="2825496"/>
            <a:ext cx="10545775" cy="457200"/>
          </a:xfrm>
          <a:prstGeom prst="rect">
            <a:avLst/>
          </a:prstGeom>
          <a:noFill/>
          <a:ln/>
        </p:spPr>
        <p:txBody>
          <a:bodyPr wrap="square" rtlCol="0" anchor="ctr"/>
          <a:lstStyle/>
          <a:p>
            <a:pPr marL="0" indent="0">
              <a:buNone/>
            </a:pPr>
            <a:r>
              <a:rPr lang="en-US" sz="2600" b="1" dirty="0">
                <a:solidFill>
                  <a:srgbClr val="2E7D5B"/>
                </a:solidFill>
                <a:latin typeface="Cambria" pitchFamily="34" charset="0"/>
                <a:ea typeface="Cambria" pitchFamily="34" charset="-122"/>
                <a:cs typeface="Cambria" pitchFamily="34" charset="-120"/>
              </a:rPr>
              <a:t>Strengths</a:t>
            </a:r>
            <a:endParaRPr lang="en-US" sz="2600" dirty="0"/>
          </a:p>
        </p:txBody>
      </p:sp>
      <p:sp>
        <p:nvSpPr>
          <p:cNvPr id="6" name="Text 4"/>
          <p:cNvSpPr/>
          <p:nvPr/>
        </p:nvSpPr>
        <p:spPr>
          <a:xfrm>
            <a:off x="822960" y="3200400"/>
            <a:ext cx="10545775" cy="1188720"/>
          </a:xfrm>
          <a:prstGeom prst="rect">
            <a:avLst/>
          </a:prstGeom>
          <a:noFill/>
          <a:ln/>
        </p:spPr>
        <p:txBody>
          <a:bodyPr wrap="square" lIns="0" tIns="0" rIns="0" bIns="0" rtlCol="0" anchor="t"/>
          <a:lstStyle/>
          <a:p>
            <a:pPr marL="203200" indent="-203200">
              <a:spcAft>
                <a:spcPts val="700"/>
              </a:spcAft>
              <a:buSzPct val="100000"/>
              <a:buChar char="▪"/>
            </a:pPr>
            <a:r>
              <a:rPr lang="en-US" sz="2150" dirty="0">
                <a:solidFill>
                  <a:srgbClr val="1A1F2B"/>
                </a:solidFill>
                <a:latin typeface="Calibri" pitchFamily="34" charset="0"/>
                <a:ea typeface="Calibri" pitchFamily="34" charset="-122"/>
                <a:cs typeface="Calibri" pitchFamily="34" charset="-120"/>
              </a:rPr>
              <a:t>Often expands far fewer nodes when h is reliable</a:t>
            </a:r>
            <a:endParaRPr lang="en-US" sz="2150" dirty="0"/>
          </a:p>
          <a:p>
            <a:pPr marL="203200" indent="-203200">
              <a:spcAft>
                <a:spcPts val="700"/>
              </a:spcAft>
              <a:buSzPct val="100000"/>
              <a:buChar char="▪"/>
            </a:pPr>
            <a:r>
              <a:rPr lang="en-US" sz="2150" dirty="0">
                <a:solidFill>
                  <a:srgbClr val="1A1F2B"/>
                </a:solidFill>
                <a:latin typeface="Calibri" pitchFamily="34" charset="0"/>
                <a:ea typeface="Calibri" pitchFamily="34" charset="-122"/>
                <a:cs typeface="Calibri" pitchFamily="34" charset="-120"/>
              </a:rPr>
              <a:t>Low overhead — no accumulated cost to track</a:t>
            </a:r>
            <a:endParaRPr lang="en-US" sz="2150" dirty="0"/>
          </a:p>
          <a:p>
            <a:pPr marL="203200" indent="-203200">
              <a:spcAft>
                <a:spcPts val="700"/>
              </a:spcAft>
              <a:buSzPct val="100000"/>
              <a:buChar char="▪"/>
            </a:pPr>
            <a:r>
              <a:rPr lang="en-US" sz="2150" dirty="0">
                <a:solidFill>
                  <a:srgbClr val="1A1F2B"/>
                </a:solidFill>
                <a:latin typeface="Calibri" pitchFamily="34" charset="0"/>
                <a:ea typeface="Calibri" pitchFamily="34" charset="-122"/>
                <a:cs typeface="Calibri" pitchFamily="34" charset="-120"/>
              </a:rPr>
              <a:t>Simple to implement and reason about</a:t>
            </a:r>
            <a:endParaRPr lang="en-US" sz="2150" dirty="0"/>
          </a:p>
        </p:txBody>
      </p:sp>
      <p:sp>
        <p:nvSpPr>
          <p:cNvPr id="7" name="Shape 5"/>
          <p:cNvSpPr/>
          <p:nvPr/>
        </p:nvSpPr>
        <p:spPr>
          <a:xfrm>
            <a:off x="548640" y="4617720"/>
            <a:ext cx="11094415" cy="1783080"/>
          </a:xfrm>
          <a:prstGeom prst="roundRect">
            <a:avLst>
              <a:gd name="adj" fmla="val 3590"/>
            </a:avLst>
          </a:prstGeom>
          <a:solidFill>
            <a:srgbClr val="0B1E3D"/>
          </a:solidFill>
          <a:ln/>
        </p:spPr>
      </p:sp>
      <p:sp>
        <p:nvSpPr>
          <p:cNvPr id="8" name="Text 6"/>
          <p:cNvSpPr/>
          <p:nvPr/>
        </p:nvSpPr>
        <p:spPr>
          <a:xfrm>
            <a:off x="822960" y="4745736"/>
            <a:ext cx="10545775" cy="457200"/>
          </a:xfrm>
          <a:prstGeom prst="rect">
            <a:avLst/>
          </a:prstGeom>
          <a:noFill/>
          <a:ln/>
        </p:spPr>
        <p:txBody>
          <a:bodyPr wrap="square" rtlCol="0" anchor="ctr"/>
          <a:lstStyle/>
          <a:p>
            <a:pPr marL="0" indent="0">
              <a:buNone/>
            </a:pPr>
            <a:r>
              <a:rPr lang="en-US" sz="2600" b="1" dirty="0">
                <a:solidFill>
                  <a:srgbClr val="E08E8E"/>
                </a:solidFill>
                <a:latin typeface="Cambria" pitchFamily="34" charset="0"/>
                <a:ea typeface="Cambria" pitchFamily="34" charset="-122"/>
                <a:cs typeface="Cambria" pitchFamily="34" charset="-120"/>
              </a:rPr>
              <a:t>Limitations</a:t>
            </a:r>
            <a:endParaRPr lang="en-US" sz="2600" dirty="0"/>
          </a:p>
        </p:txBody>
      </p:sp>
      <p:sp>
        <p:nvSpPr>
          <p:cNvPr id="9" name="Text 7"/>
          <p:cNvSpPr/>
          <p:nvPr/>
        </p:nvSpPr>
        <p:spPr>
          <a:xfrm>
            <a:off x="822960" y="5120640"/>
            <a:ext cx="10545775" cy="1188720"/>
          </a:xfrm>
          <a:prstGeom prst="rect">
            <a:avLst/>
          </a:prstGeom>
          <a:noFill/>
          <a:ln/>
        </p:spPr>
        <p:txBody>
          <a:bodyPr wrap="square" lIns="0" tIns="0" rIns="0" bIns="0" rtlCol="0" anchor="t"/>
          <a:lstStyle/>
          <a:p>
            <a:pPr marL="203200" indent="-203200">
              <a:spcAft>
                <a:spcPts val="700"/>
              </a:spcAft>
              <a:buSzPct val="100000"/>
              <a:buChar char="▪"/>
            </a:pPr>
            <a:r>
              <a:rPr lang="en-US" sz="2150" dirty="0">
                <a:solidFill>
                  <a:srgbClr val="E7EBF3"/>
                </a:solidFill>
                <a:latin typeface="Calibri" pitchFamily="34" charset="0"/>
                <a:ea typeface="Calibri" pitchFamily="34" charset="-122"/>
                <a:cs typeface="Calibri" pitchFamily="34" charset="-120"/>
              </a:rPr>
              <a:t>Not optimal in general — as our trace just showed</a:t>
            </a:r>
            <a:endParaRPr lang="en-US" sz="2150" dirty="0"/>
          </a:p>
          <a:p>
            <a:pPr marL="203200" indent="-203200">
              <a:spcAft>
                <a:spcPts val="700"/>
              </a:spcAft>
              <a:buSzPct val="100000"/>
              <a:buChar char="▪"/>
            </a:pPr>
            <a:r>
              <a:rPr lang="en-US" sz="2150" dirty="0">
                <a:solidFill>
                  <a:srgbClr val="E7EBF3"/>
                </a:solidFill>
                <a:latin typeface="Calibri" pitchFamily="34" charset="0"/>
                <a:ea typeface="Calibri" pitchFamily="34" charset="-122"/>
                <a:cs typeface="Calibri" pitchFamily="34" charset="-120"/>
              </a:rPr>
              <a:t>Not complete in general without a repeated-state check</a:t>
            </a:r>
            <a:endParaRPr lang="en-US" sz="2150" dirty="0"/>
          </a:p>
          <a:p>
            <a:pPr marL="203200" indent="-203200">
              <a:spcAft>
                <a:spcPts val="700"/>
              </a:spcAft>
              <a:buSzPct val="100000"/>
              <a:buChar char="▪"/>
            </a:pPr>
            <a:r>
              <a:rPr lang="en-US" sz="2150" dirty="0">
                <a:solidFill>
                  <a:srgbClr val="E7EBF3"/>
                </a:solidFill>
                <a:latin typeface="Calibri" pitchFamily="34" charset="0"/>
                <a:ea typeface="Calibri" pitchFamily="34" charset="-122"/>
                <a:cs typeface="Calibri" pitchFamily="34" charset="-120"/>
              </a:rPr>
              <a:t>A misleading h(n) can make it worse than blind search</a:t>
            </a:r>
            <a:endParaRPr lang="en-US" sz="2150" dirty="0"/>
          </a:p>
        </p:txBody>
      </p:sp>
      <p:sp>
        <p:nvSpPr>
          <p:cNvPr id="10" name="Text 8"/>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3. Greedy Best-First Search</a:t>
            </a:r>
            <a:endParaRPr lang="en-US" sz="1600" dirty="0"/>
          </a:p>
        </p:txBody>
      </p:sp>
      <p:sp>
        <p:nvSpPr>
          <p:cNvPr id="11" name="Text 9"/>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12 / 40</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3. GREEDY BEST-FIRST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Two Extremes: UCS vs. Greedy</a:t>
            </a:r>
            <a:endParaRPr lang="en-US" sz="4700" dirty="0"/>
          </a:p>
        </p:txBody>
      </p:sp>
      <p:sp>
        <p:nvSpPr>
          <p:cNvPr id="4" name="Shape 2"/>
          <p:cNvSpPr/>
          <p:nvPr/>
        </p:nvSpPr>
        <p:spPr>
          <a:xfrm>
            <a:off x="548640" y="2331720"/>
            <a:ext cx="11094415" cy="1508760"/>
          </a:xfrm>
          <a:prstGeom prst="roundRect">
            <a:avLst>
              <a:gd name="adj" fmla="val 4242"/>
            </a:avLst>
          </a:prstGeom>
          <a:solidFill>
            <a:srgbClr val="F3F5F8"/>
          </a:solidFill>
          <a:ln w="12700">
            <a:solidFill>
              <a:srgbClr val="D8DCE3"/>
            </a:solidFill>
            <a:prstDash val="solid"/>
          </a:ln>
        </p:spPr>
      </p:sp>
      <p:sp>
        <p:nvSpPr>
          <p:cNvPr id="5" name="Text 3"/>
          <p:cNvSpPr/>
          <p:nvPr/>
        </p:nvSpPr>
        <p:spPr>
          <a:xfrm>
            <a:off x="822960" y="2459736"/>
            <a:ext cx="10545775"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Uniform-Cost Search   —   f(n) = g(n)</a:t>
            </a:r>
            <a:endParaRPr lang="en-US" sz="2600" dirty="0"/>
          </a:p>
        </p:txBody>
      </p:sp>
      <p:sp>
        <p:nvSpPr>
          <p:cNvPr id="6" name="Text 4"/>
          <p:cNvSpPr/>
          <p:nvPr/>
        </p:nvSpPr>
        <p:spPr>
          <a:xfrm>
            <a:off x="822960" y="2834640"/>
            <a:ext cx="10545775" cy="914400"/>
          </a:xfrm>
          <a:prstGeom prst="rect">
            <a:avLst/>
          </a:prstGeom>
          <a:noFill/>
          <a:ln/>
        </p:spPr>
        <p:txBody>
          <a:bodyPr wrap="square" lIns="0" tIns="0" rIns="0" bIns="0" rtlCol="0" anchor="t"/>
          <a:lstStyle/>
          <a:p>
            <a:pPr marL="203200" indent="-203200">
              <a:spcAft>
                <a:spcPts val="700"/>
              </a:spcAft>
              <a:buSzPct val="100000"/>
              <a:buChar char="▪"/>
            </a:pPr>
            <a:r>
              <a:rPr lang="en-US" sz="2000" dirty="0">
                <a:solidFill>
                  <a:srgbClr val="1A1F2B"/>
                </a:solidFill>
                <a:latin typeface="Calibri" pitchFamily="34" charset="0"/>
                <a:ea typeface="Calibri" pitchFamily="34" charset="-122"/>
                <a:cs typeface="Calibri" pitchFamily="34" charset="-120"/>
              </a:rPr>
              <a:t>Blind to the goal's location — explores outward like ripples</a:t>
            </a:r>
            <a:endParaRPr lang="en-US" sz="2000" dirty="0"/>
          </a:p>
          <a:p>
            <a:pPr marL="203200" indent="-203200">
              <a:spcAft>
                <a:spcPts val="700"/>
              </a:spcAft>
              <a:buSzPct val="100000"/>
              <a:buChar char="▪"/>
            </a:pPr>
            <a:r>
              <a:rPr lang="en-US" sz="2000" dirty="0">
                <a:solidFill>
                  <a:srgbClr val="1A1F2B"/>
                </a:solidFill>
                <a:latin typeface="Calibri" pitchFamily="34" charset="0"/>
                <a:ea typeface="Calibri" pitchFamily="34" charset="-122"/>
                <a:cs typeface="Calibri" pitchFamily="34" charset="-120"/>
              </a:rPr>
              <a:t>Guaranteed optimal, but can explore many irrelevant nodes</a:t>
            </a:r>
            <a:endParaRPr lang="en-US" sz="2000" dirty="0"/>
          </a:p>
        </p:txBody>
      </p:sp>
      <p:sp>
        <p:nvSpPr>
          <p:cNvPr id="7" name="Shape 5"/>
          <p:cNvSpPr/>
          <p:nvPr/>
        </p:nvSpPr>
        <p:spPr>
          <a:xfrm>
            <a:off x="548640" y="4023360"/>
            <a:ext cx="11094415" cy="1508760"/>
          </a:xfrm>
          <a:prstGeom prst="roundRect">
            <a:avLst>
              <a:gd name="adj" fmla="val 4242"/>
            </a:avLst>
          </a:prstGeom>
          <a:solidFill>
            <a:srgbClr val="0B1E3D"/>
          </a:solidFill>
          <a:ln/>
        </p:spPr>
      </p:sp>
      <p:sp>
        <p:nvSpPr>
          <p:cNvPr id="8" name="Text 6"/>
          <p:cNvSpPr/>
          <p:nvPr/>
        </p:nvSpPr>
        <p:spPr>
          <a:xfrm>
            <a:off x="822960" y="415137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Greedy Best-First Search   —   f(n) = h(n)</a:t>
            </a:r>
            <a:endParaRPr lang="en-US" sz="2600" dirty="0"/>
          </a:p>
        </p:txBody>
      </p:sp>
      <p:sp>
        <p:nvSpPr>
          <p:cNvPr id="9" name="Text 7"/>
          <p:cNvSpPr/>
          <p:nvPr/>
        </p:nvSpPr>
        <p:spPr>
          <a:xfrm>
            <a:off x="822960" y="4526280"/>
            <a:ext cx="10545775" cy="914400"/>
          </a:xfrm>
          <a:prstGeom prst="rect">
            <a:avLst/>
          </a:prstGeom>
          <a:noFill/>
          <a:ln/>
        </p:spPr>
        <p:txBody>
          <a:bodyPr wrap="square" lIns="0" tIns="0" rIns="0" bIns="0" rtlCol="0" anchor="t"/>
          <a:lstStyle/>
          <a:p>
            <a:pPr marL="203200" indent="-203200">
              <a:spcAft>
                <a:spcPts val="700"/>
              </a:spcAft>
              <a:buSzPct val="100000"/>
              <a:buChar char="▪"/>
            </a:pPr>
            <a:r>
              <a:rPr lang="en-US" sz="2000" dirty="0">
                <a:solidFill>
                  <a:srgbClr val="E7EBF3"/>
                </a:solidFill>
                <a:latin typeface="Calibri" pitchFamily="34" charset="0"/>
                <a:ea typeface="Calibri" pitchFamily="34" charset="-122"/>
                <a:cs typeface="Calibri" pitchFamily="34" charset="-120"/>
              </a:rPr>
              <a:t>Blind to cost already paid — can be lured by early appearances</a:t>
            </a:r>
            <a:endParaRPr lang="en-US" sz="2000" dirty="0"/>
          </a:p>
          <a:p>
            <a:pPr marL="203200" indent="-203200">
              <a:spcAft>
                <a:spcPts val="700"/>
              </a:spcAft>
              <a:buSzPct val="100000"/>
              <a:buChar char="▪"/>
            </a:pPr>
            <a:r>
              <a:rPr lang="en-US" sz="2000" dirty="0">
                <a:solidFill>
                  <a:srgbClr val="E7EBF3"/>
                </a:solidFill>
                <a:latin typeface="Calibri" pitchFamily="34" charset="0"/>
                <a:ea typeface="Calibri" pitchFamily="34" charset="-122"/>
                <a:cs typeface="Calibri" pitchFamily="34" charset="-120"/>
              </a:rPr>
              <a:t>Often fast, but not guaranteed optimal</a:t>
            </a:r>
            <a:endParaRPr lang="en-US" sz="2000" dirty="0"/>
          </a:p>
        </p:txBody>
      </p:sp>
      <p:sp>
        <p:nvSpPr>
          <p:cNvPr id="10" name="Text 8"/>
          <p:cNvSpPr/>
          <p:nvPr/>
        </p:nvSpPr>
        <p:spPr>
          <a:xfrm>
            <a:off x="548640" y="5715000"/>
            <a:ext cx="11094415" cy="365760"/>
          </a:xfrm>
          <a:prstGeom prst="rect">
            <a:avLst/>
          </a:prstGeom>
          <a:noFill/>
          <a:ln/>
        </p:spPr>
        <p:txBody>
          <a:bodyPr wrap="square" rtlCol="0" anchor="ctr"/>
          <a:lstStyle/>
          <a:p>
            <a:pPr marL="0" indent="0" algn="ctr">
              <a:buNone/>
            </a:pPr>
            <a:r>
              <a:rPr lang="en-US" sz="2250" b="1" dirty="0">
                <a:solidFill>
                  <a:srgbClr val="0B1E3D"/>
                </a:solidFill>
                <a:latin typeface="Cambria" pitchFamily="34" charset="0"/>
                <a:ea typeface="Cambria" pitchFamily="34" charset="-122"/>
                <a:cs typeface="Cambria" pitchFamily="34" charset="-120"/>
              </a:rPr>
              <a:t>The natural question: </a:t>
            </a:r>
            <a:r>
              <a:rPr lang="en-US" sz="2250" i="1" dirty="0">
                <a:solidFill>
                  <a:srgbClr val="0B1E3D"/>
                </a:solidFill>
                <a:latin typeface="Cambria" pitchFamily="34" charset="0"/>
                <a:ea typeface="Cambria" pitchFamily="34" charset="-122"/>
                <a:cs typeface="Cambria" pitchFamily="34" charset="-120"/>
              </a:rPr>
              <a:t>what if f(n) used BOTH terms at once?</a:t>
            </a:r>
            <a:endParaRPr lang="en-US" sz="2250" dirty="0"/>
          </a:p>
        </p:txBody>
      </p:sp>
      <p:sp>
        <p:nvSpPr>
          <p:cNvPr id="11" name="Text 9"/>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3. Greedy Best-First Search</a:t>
            </a:r>
            <a:endParaRPr lang="en-US" sz="1600" dirty="0"/>
          </a:p>
        </p:txBody>
      </p:sp>
      <p:sp>
        <p:nvSpPr>
          <p:cNvPr id="12" name="Text 10"/>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13 / 40</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FFFFFF"/>
                </a:solidFill>
                <a:latin typeface="Cambria" pitchFamily="34" charset="0"/>
                <a:ea typeface="Cambria" pitchFamily="34" charset="-122"/>
                <a:cs typeface="Cambria" pitchFamily="34" charset="-120"/>
              </a:rPr>
              <a:t>A* Search: Motivation</a:t>
            </a:r>
            <a:endParaRPr lang="en-US" sz="5050" dirty="0"/>
          </a:p>
        </p:txBody>
      </p:sp>
      <p:sp>
        <p:nvSpPr>
          <p:cNvPr id="4" name="Text 2"/>
          <p:cNvSpPr/>
          <p:nvPr/>
        </p:nvSpPr>
        <p:spPr>
          <a:xfrm>
            <a:off x="548640" y="2331720"/>
            <a:ext cx="11094415" cy="548640"/>
          </a:xfrm>
          <a:prstGeom prst="rect">
            <a:avLst/>
          </a:prstGeom>
          <a:noFill/>
          <a:ln/>
        </p:spPr>
        <p:txBody>
          <a:bodyPr wrap="square" rtlCol="0" anchor="ctr"/>
          <a:lstStyle/>
          <a:p>
            <a:pPr marL="0" indent="0">
              <a:buNone/>
            </a:pPr>
            <a:r>
              <a:rPr lang="en-US" sz="2450" i="1" dirty="0">
                <a:solidFill>
                  <a:srgbClr val="E7EBF3"/>
                </a:solidFill>
                <a:latin typeface="Calibri" pitchFamily="34" charset="0"/>
                <a:ea typeface="Calibri" pitchFamily="34" charset="-122"/>
                <a:cs typeface="Calibri" pitchFamily="34" charset="-120"/>
              </a:rPr>
              <a:t>A* was designed to combine UCS's optimality with Greedy's goal-directed efficiency.</a:t>
            </a:r>
            <a:endParaRPr lang="en-US" sz="2450" dirty="0"/>
          </a:p>
        </p:txBody>
      </p:sp>
      <p:sp>
        <p:nvSpPr>
          <p:cNvPr id="5" name="Shape 3"/>
          <p:cNvSpPr/>
          <p:nvPr/>
        </p:nvSpPr>
        <p:spPr>
          <a:xfrm>
            <a:off x="548640" y="3017520"/>
            <a:ext cx="11094415" cy="868680"/>
          </a:xfrm>
          <a:prstGeom prst="roundRect">
            <a:avLst>
              <a:gd name="adj" fmla="val 7368"/>
            </a:avLst>
          </a:prstGeom>
          <a:solidFill>
            <a:srgbClr val="13294B"/>
          </a:solidFill>
          <a:ln/>
        </p:spPr>
      </p:sp>
      <p:sp>
        <p:nvSpPr>
          <p:cNvPr id="6" name="Text 4"/>
          <p:cNvSpPr/>
          <p:nvPr/>
        </p:nvSpPr>
        <p:spPr>
          <a:xfrm>
            <a:off x="822960" y="3017520"/>
            <a:ext cx="3931920" cy="868680"/>
          </a:xfrm>
          <a:prstGeom prst="rect">
            <a:avLst/>
          </a:prstGeom>
          <a:noFill/>
          <a:ln/>
        </p:spPr>
        <p:txBody>
          <a:bodyPr wrap="square" rtlCol="0" anchor="ctr"/>
          <a:lstStyle/>
          <a:p>
            <a:pPr marL="0" indent="0">
              <a:lnSpc>
                <a:spcPts val="2700"/>
              </a:lnSpc>
              <a:buNone/>
            </a:pPr>
            <a:r>
              <a:rPr lang="en-US" sz="2200" b="1" dirty="0">
                <a:solidFill>
                  <a:srgbClr val="B08D57"/>
                </a:solidFill>
                <a:latin typeface="Cambria" pitchFamily="34" charset="0"/>
                <a:ea typeface="Cambria" pitchFamily="34" charset="-122"/>
                <a:cs typeface="Cambria" pitchFamily="34" charset="-120"/>
              </a:rPr>
              <a:t>Hart, Nilsson, Raphael (1968)</a:t>
            </a:r>
            <a:endParaRPr lang="en-US" sz="2200" dirty="0"/>
          </a:p>
        </p:txBody>
      </p:sp>
      <p:sp>
        <p:nvSpPr>
          <p:cNvPr id="7" name="Text 5"/>
          <p:cNvSpPr/>
          <p:nvPr/>
        </p:nvSpPr>
        <p:spPr>
          <a:xfrm>
            <a:off x="4480560" y="3017520"/>
            <a:ext cx="6339535" cy="868680"/>
          </a:xfrm>
          <a:prstGeom prst="rect">
            <a:avLst/>
          </a:prstGeom>
          <a:noFill/>
          <a:ln/>
        </p:spPr>
        <p:txBody>
          <a:bodyPr wrap="square" rtlCol="0" anchor="ctr"/>
          <a:lstStyle/>
          <a:p>
            <a:pPr marL="0" indent="0">
              <a:lnSpc>
                <a:spcPts val="2500"/>
              </a:lnSpc>
              <a:buNone/>
            </a:pPr>
            <a:r>
              <a:rPr lang="en-US" sz="2000" dirty="0">
                <a:solidFill>
                  <a:srgbClr val="E7EBF3"/>
                </a:solidFill>
                <a:latin typeface="Calibri" pitchFamily="34" charset="0"/>
                <a:ea typeface="Calibri" pitchFamily="34" charset="-122"/>
                <a:cs typeface="Calibri" pitchFamily="34" charset="-120"/>
              </a:rPr>
              <a:t>First published at Stanford Research Institute for robotics planning.</a:t>
            </a:r>
            <a:endParaRPr lang="en-US" sz="2000" dirty="0"/>
          </a:p>
        </p:txBody>
      </p:sp>
      <p:sp>
        <p:nvSpPr>
          <p:cNvPr id="8" name="Shape 6"/>
          <p:cNvSpPr/>
          <p:nvPr/>
        </p:nvSpPr>
        <p:spPr>
          <a:xfrm>
            <a:off x="548640" y="4023360"/>
            <a:ext cx="11094415" cy="868680"/>
          </a:xfrm>
          <a:prstGeom prst="roundRect">
            <a:avLst>
              <a:gd name="adj" fmla="val 7368"/>
            </a:avLst>
          </a:prstGeom>
          <a:solidFill>
            <a:srgbClr val="13294B"/>
          </a:solidFill>
          <a:ln/>
        </p:spPr>
      </p:sp>
      <p:sp>
        <p:nvSpPr>
          <p:cNvPr id="9" name="Text 7"/>
          <p:cNvSpPr/>
          <p:nvPr/>
        </p:nvSpPr>
        <p:spPr>
          <a:xfrm>
            <a:off x="822960" y="4023360"/>
            <a:ext cx="3931920" cy="868680"/>
          </a:xfrm>
          <a:prstGeom prst="rect">
            <a:avLst/>
          </a:prstGeom>
          <a:noFill/>
          <a:ln/>
        </p:spPr>
        <p:txBody>
          <a:bodyPr wrap="square" rtlCol="0" anchor="ctr"/>
          <a:lstStyle/>
          <a:p>
            <a:pPr marL="0" indent="0">
              <a:lnSpc>
                <a:spcPts val="2700"/>
              </a:lnSpc>
              <a:buNone/>
            </a:pPr>
            <a:r>
              <a:rPr lang="en-US" sz="2200" b="1" dirty="0">
                <a:solidFill>
                  <a:srgbClr val="B08D57"/>
                </a:solidFill>
                <a:latin typeface="Cambria" pitchFamily="34" charset="0"/>
                <a:ea typeface="Cambria" pitchFamily="34" charset="-122"/>
                <a:cs typeface="Cambria" pitchFamily="34" charset="-120"/>
              </a:rPr>
              <a:t>Still the default today</a:t>
            </a:r>
            <a:endParaRPr lang="en-US" sz="2200" dirty="0"/>
          </a:p>
        </p:txBody>
      </p:sp>
      <p:sp>
        <p:nvSpPr>
          <p:cNvPr id="10" name="Text 8"/>
          <p:cNvSpPr/>
          <p:nvPr/>
        </p:nvSpPr>
        <p:spPr>
          <a:xfrm>
            <a:off x="4480560" y="4023360"/>
            <a:ext cx="6339535" cy="868680"/>
          </a:xfrm>
          <a:prstGeom prst="rect">
            <a:avLst/>
          </a:prstGeom>
          <a:noFill/>
          <a:ln/>
        </p:spPr>
        <p:txBody>
          <a:bodyPr wrap="square" rtlCol="0" anchor="ctr"/>
          <a:lstStyle/>
          <a:p>
            <a:pPr marL="0" indent="0">
              <a:lnSpc>
                <a:spcPts val="2500"/>
              </a:lnSpc>
              <a:buNone/>
            </a:pPr>
            <a:r>
              <a:rPr lang="en-US" sz="2000" dirty="0">
                <a:solidFill>
                  <a:srgbClr val="E7EBF3"/>
                </a:solidFill>
                <a:latin typeface="Calibri" pitchFamily="34" charset="0"/>
                <a:ea typeface="Calibri" pitchFamily="34" charset="-122"/>
                <a:cs typeface="Calibri" pitchFamily="34" charset="-120"/>
              </a:rPr>
              <a:t>GPS navigation, game pathfinding, robotics, logistics.</a:t>
            </a:r>
            <a:endParaRPr lang="en-US" sz="2000" dirty="0"/>
          </a:p>
        </p:txBody>
      </p:sp>
      <p:sp>
        <p:nvSpPr>
          <p:cNvPr id="11" name="Shape 9"/>
          <p:cNvSpPr/>
          <p:nvPr/>
        </p:nvSpPr>
        <p:spPr>
          <a:xfrm>
            <a:off x="548640" y="5029200"/>
            <a:ext cx="11094415" cy="868680"/>
          </a:xfrm>
          <a:prstGeom prst="roundRect">
            <a:avLst>
              <a:gd name="adj" fmla="val 7368"/>
            </a:avLst>
          </a:prstGeom>
          <a:solidFill>
            <a:srgbClr val="13294B"/>
          </a:solidFill>
          <a:ln/>
        </p:spPr>
      </p:sp>
      <p:sp>
        <p:nvSpPr>
          <p:cNvPr id="12" name="Text 10"/>
          <p:cNvSpPr/>
          <p:nvPr/>
        </p:nvSpPr>
        <p:spPr>
          <a:xfrm>
            <a:off x="822960" y="5029200"/>
            <a:ext cx="3931920" cy="868680"/>
          </a:xfrm>
          <a:prstGeom prst="rect">
            <a:avLst/>
          </a:prstGeom>
          <a:noFill/>
          <a:ln/>
        </p:spPr>
        <p:txBody>
          <a:bodyPr wrap="square" rtlCol="0" anchor="ctr"/>
          <a:lstStyle/>
          <a:p>
            <a:pPr marL="0" indent="0">
              <a:lnSpc>
                <a:spcPts val="2700"/>
              </a:lnSpc>
              <a:buNone/>
            </a:pPr>
            <a:r>
              <a:rPr lang="en-US" sz="2200" b="1" dirty="0">
                <a:solidFill>
                  <a:srgbClr val="B08D57"/>
                </a:solidFill>
                <a:latin typeface="Cambria" pitchFamily="34" charset="0"/>
                <a:ea typeface="Cambria" pitchFamily="34" charset="-122"/>
                <a:cs typeface="Cambria" pitchFamily="34" charset="-120"/>
              </a:rPr>
              <a:t>One elegant idea</a:t>
            </a:r>
            <a:endParaRPr lang="en-US" sz="2200" dirty="0"/>
          </a:p>
        </p:txBody>
      </p:sp>
      <p:sp>
        <p:nvSpPr>
          <p:cNvPr id="13" name="Text 11"/>
          <p:cNvSpPr/>
          <p:nvPr/>
        </p:nvSpPr>
        <p:spPr>
          <a:xfrm>
            <a:off x="4480560" y="5029200"/>
            <a:ext cx="6339535" cy="868680"/>
          </a:xfrm>
          <a:prstGeom prst="rect">
            <a:avLst/>
          </a:prstGeom>
          <a:noFill/>
          <a:ln/>
        </p:spPr>
        <p:txBody>
          <a:bodyPr wrap="square" rtlCol="0" anchor="ctr"/>
          <a:lstStyle/>
          <a:p>
            <a:pPr marL="0" indent="0">
              <a:lnSpc>
                <a:spcPts val="2500"/>
              </a:lnSpc>
              <a:buNone/>
            </a:pPr>
            <a:r>
              <a:rPr lang="en-US" sz="2000" dirty="0">
                <a:solidFill>
                  <a:srgbClr val="E7EBF3"/>
                </a:solidFill>
                <a:latin typeface="Calibri" pitchFamily="34" charset="0"/>
                <a:ea typeface="Calibri" pitchFamily="34" charset="-122"/>
                <a:cs typeface="Calibri" pitchFamily="34" charset="-120"/>
              </a:rPr>
              <a:t>Never discard cost paid — combine it with the estimate remaining.</a:t>
            </a:r>
            <a:endParaRPr lang="en-US" sz="2000" dirty="0"/>
          </a:p>
        </p:txBody>
      </p:sp>
      <p:sp>
        <p:nvSpPr>
          <p:cNvPr id="14" name="Text 12"/>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4. A* Search</a:t>
            </a:r>
            <a:endParaRPr lang="en-US" sz="1600" dirty="0"/>
          </a:p>
        </p:txBody>
      </p:sp>
      <p:sp>
        <p:nvSpPr>
          <p:cNvPr id="15" name="Text 13"/>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14 / 40</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The A* Evaluation Function</a:t>
            </a:r>
            <a:endParaRPr lang="en-US" sz="5050" dirty="0"/>
          </a:p>
        </p:txBody>
      </p:sp>
      <p:sp>
        <p:nvSpPr>
          <p:cNvPr id="4" name="Shape 2"/>
          <p:cNvSpPr/>
          <p:nvPr/>
        </p:nvSpPr>
        <p:spPr>
          <a:xfrm>
            <a:off x="548640" y="2331720"/>
            <a:ext cx="11094415" cy="1097280"/>
          </a:xfrm>
          <a:prstGeom prst="roundRect">
            <a:avLst>
              <a:gd name="adj" fmla="val 6667"/>
            </a:avLst>
          </a:prstGeom>
          <a:solidFill>
            <a:srgbClr val="0B1E3D"/>
          </a:solidFill>
          <a:ln/>
        </p:spPr>
      </p:sp>
      <p:sp>
        <p:nvSpPr>
          <p:cNvPr id="5" name="Text 3"/>
          <p:cNvSpPr/>
          <p:nvPr/>
        </p:nvSpPr>
        <p:spPr>
          <a:xfrm>
            <a:off x="548640" y="2331720"/>
            <a:ext cx="11094415" cy="1097280"/>
          </a:xfrm>
          <a:prstGeom prst="rect">
            <a:avLst/>
          </a:prstGeom>
          <a:noFill/>
          <a:ln/>
        </p:spPr>
        <p:txBody>
          <a:bodyPr wrap="square" rtlCol="0" anchor="ctr"/>
          <a:lstStyle/>
          <a:p>
            <a:pPr marL="0" indent="0" algn="ctr">
              <a:buNone/>
            </a:pPr>
            <a:r>
              <a:rPr lang="en-US" sz="4700" b="1" dirty="0">
                <a:solidFill>
                  <a:srgbClr val="B08D57"/>
                </a:solidFill>
                <a:latin typeface="Courier New" pitchFamily="34" charset="0"/>
                <a:ea typeface="Courier New" pitchFamily="34" charset="-122"/>
                <a:cs typeface="Courier New" pitchFamily="34" charset="-120"/>
              </a:rPr>
              <a:t>f(n) = g(n) + h(n)</a:t>
            </a:r>
            <a:endParaRPr lang="en-US" sz="4700" dirty="0"/>
          </a:p>
        </p:txBody>
      </p:sp>
      <p:sp>
        <p:nvSpPr>
          <p:cNvPr id="6" name="Text 4"/>
          <p:cNvSpPr/>
          <p:nvPr/>
        </p:nvSpPr>
        <p:spPr>
          <a:xfrm>
            <a:off x="548640" y="3611880"/>
            <a:ext cx="11094415" cy="1554480"/>
          </a:xfrm>
          <a:prstGeom prst="rect">
            <a:avLst/>
          </a:prstGeom>
          <a:noFill/>
          <a:ln/>
        </p:spPr>
        <p:txBody>
          <a:bodyPr wrap="square" lIns="0" tIns="0" rIns="0" bIns="0" rtlCol="0" anchor="t"/>
          <a:lstStyle/>
          <a:p>
            <a:pPr marL="203200" indent="-203200">
              <a:buSzPct val="100000"/>
              <a:buChar char="▪"/>
            </a:pPr>
            <a:r>
              <a:rPr lang="en-US" sz="2200" b="1" dirty="0">
                <a:solidFill>
                  <a:srgbClr val="0B1E3D"/>
                </a:solidFill>
                <a:latin typeface="Calibri" pitchFamily="34" charset="0"/>
                <a:ea typeface="Calibri" pitchFamily="34" charset="-122"/>
                <a:cs typeface="Calibri" pitchFamily="34" charset="-120"/>
              </a:rPr>
              <a:t>Concept — </a:t>
            </a:r>
            <a:r>
              <a:rPr lang="en-US" sz="2200" dirty="0">
                <a:solidFill>
                  <a:srgbClr val="1A1F2B"/>
                </a:solidFill>
                <a:latin typeface="Calibri" pitchFamily="34" charset="0"/>
                <a:ea typeface="Calibri" pitchFamily="34" charset="-122"/>
                <a:cs typeface="Calibri" pitchFamily="34" charset="-120"/>
              </a:rPr>
              <a:t>A*'s best guess of total path cost through node n.</a:t>
            </a:r>
            <a:endParaRPr lang="en-US" sz="2200" dirty="0"/>
          </a:p>
          <a:p>
            <a:pPr marL="203200" indent="-203200">
              <a:buSzPct val="100000"/>
              <a:buChar char="▪"/>
            </a:pPr>
            <a:r>
              <a:rPr lang="en-US" sz="2200" b="1" dirty="0">
                <a:solidFill>
                  <a:srgbClr val="0B1E3D"/>
                </a:solidFill>
                <a:latin typeface="Calibri" pitchFamily="34" charset="0"/>
                <a:ea typeface="Calibri" pitchFamily="34" charset="-122"/>
                <a:cs typeface="Calibri" pitchFamily="34" charset="-120"/>
              </a:rPr>
              <a:t>Formal definition — </a:t>
            </a:r>
            <a:r>
              <a:rPr lang="en-US" sz="2200" dirty="0">
                <a:solidFill>
                  <a:srgbClr val="1A1F2B"/>
                </a:solidFill>
                <a:latin typeface="Calibri" pitchFamily="34" charset="0"/>
                <a:ea typeface="Calibri" pitchFamily="34" charset="-122"/>
                <a:cs typeface="Calibri" pitchFamily="34" charset="-120"/>
              </a:rPr>
              <a:t>g(n): exact cost so far.  h(n): estimated cost remaining.</a:t>
            </a:r>
            <a:endParaRPr lang="en-US" sz="2200" dirty="0"/>
          </a:p>
          <a:p>
            <a:pPr marL="203200" indent="-203200">
              <a:buSzPct val="100000"/>
              <a:buChar char="▪"/>
            </a:pPr>
            <a:r>
              <a:rPr lang="en-US" sz="2200" b="1" dirty="0">
                <a:solidFill>
                  <a:srgbClr val="0B1E3D"/>
                </a:solidFill>
                <a:latin typeface="Calibri" pitchFamily="34" charset="0"/>
                <a:ea typeface="Calibri" pitchFamily="34" charset="-122"/>
                <a:cs typeface="Calibri" pitchFamily="34" charset="-120"/>
              </a:rPr>
              <a:t>At the goal — </a:t>
            </a:r>
            <a:r>
              <a:rPr lang="en-US" sz="2200" dirty="0">
                <a:solidFill>
                  <a:srgbClr val="1A1F2B"/>
                </a:solidFill>
                <a:latin typeface="Calibri" pitchFamily="34" charset="0"/>
                <a:ea typeface="Calibri" pitchFamily="34" charset="-122"/>
                <a:cs typeface="Calibri" pitchFamily="34" charset="-120"/>
              </a:rPr>
              <a:t>h(goal)=0, so f(goal)=g(goal) — the estimate becomes exact.</a:t>
            </a:r>
            <a:endParaRPr lang="en-US" sz="2200" dirty="0"/>
          </a:p>
        </p:txBody>
      </p:sp>
      <p:sp>
        <p:nvSpPr>
          <p:cNvPr id="7"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4. A* Search</a:t>
            </a:r>
            <a:endParaRPr lang="en-US" sz="1600" dirty="0"/>
          </a:p>
        </p:txBody>
      </p:sp>
      <p:sp>
        <p:nvSpPr>
          <p:cNvPr id="8"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15 / 40</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Why Combining g and h Works</a:t>
            </a:r>
            <a:endParaRPr lang="en-US" sz="4700" dirty="0"/>
          </a:p>
        </p:txBody>
      </p:sp>
      <p:sp>
        <p:nvSpPr>
          <p:cNvPr id="4" name="Text 2"/>
          <p:cNvSpPr/>
          <p:nvPr/>
        </p:nvSpPr>
        <p:spPr>
          <a:xfrm>
            <a:off x="548640" y="2697480"/>
            <a:ext cx="11094415" cy="1554480"/>
          </a:xfrm>
          <a:prstGeom prst="rect">
            <a:avLst/>
          </a:prstGeom>
          <a:noFill/>
          <a:ln/>
        </p:spPr>
        <p:txBody>
          <a:bodyPr wrap="square" lIns="0" tIns="0" rIns="0" bIns="0" rtlCol="0" anchor="t"/>
          <a:lstStyle/>
          <a:p>
            <a:pPr marL="203200" indent="-203200">
              <a:spcAft>
                <a:spcPts val="1300"/>
              </a:spcAft>
              <a:buSzPct val="100000"/>
              <a:buChar char="▪"/>
            </a:pPr>
            <a:r>
              <a:rPr lang="en-US" sz="2250" dirty="0">
                <a:solidFill>
                  <a:srgbClr val="1A1F2B"/>
                </a:solidFill>
                <a:latin typeface="Calibri" pitchFamily="34" charset="0"/>
                <a:ea typeface="Calibri" pitchFamily="34" charset="-122"/>
                <a:cs typeface="Calibri" pitchFamily="34" charset="-120"/>
              </a:rPr>
              <a:t>f(n) splits the journey into a KNOWN half (g) and an ESTIMATED half (h)</a:t>
            </a:r>
            <a:endParaRPr lang="en-US" sz="2250" dirty="0"/>
          </a:p>
          <a:p>
            <a:pPr marL="203200" indent="-203200">
              <a:spcAft>
                <a:spcPts val="1300"/>
              </a:spcAft>
              <a:buSzPct val="100000"/>
              <a:buChar char="▪"/>
            </a:pPr>
            <a:r>
              <a:rPr lang="en-US" sz="2250" dirty="0">
                <a:solidFill>
                  <a:srgbClr val="1A1F2B"/>
                </a:solidFill>
                <a:latin typeface="Calibri" pitchFamily="34" charset="0"/>
                <a:ea typeface="Calibri" pitchFamily="34" charset="-122"/>
                <a:cs typeface="Calibri" pitchFamily="34" charset="-120"/>
              </a:rPr>
              <a:t>Low f(n) means cheap so far AND likely cheap to finish</a:t>
            </a:r>
            <a:endParaRPr lang="en-US" sz="2250" dirty="0"/>
          </a:p>
          <a:p>
            <a:pPr marL="203200" indent="-203200">
              <a:spcAft>
                <a:spcPts val="1300"/>
              </a:spcAft>
              <a:buSzPct val="100000"/>
              <a:buChar char="▪"/>
            </a:pPr>
            <a:r>
              <a:rPr lang="en-US" sz="2250" dirty="0">
                <a:solidFill>
                  <a:srgbClr val="1A1F2B"/>
                </a:solidFill>
                <a:latin typeface="Calibri" pitchFamily="34" charset="0"/>
                <a:ea typeface="Calibri" pitchFamily="34" charset="-122"/>
                <a:cs typeface="Calibri" pitchFamily="34" charset="-120"/>
              </a:rPr>
              <a:t>A* neither wanders blindly (like UCS) nor is fooled by first looks (like Greedy)</a:t>
            </a:r>
            <a:endParaRPr lang="en-US" sz="2250" dirty="0"/>
          </a:p>
        </p:txBody>
      </p:sp>
      <p:sp>
        <p:nvSpPr>
          <p:cNvPr id="5" name="Shape 3"/>
          <p:cNvSpPr/>
          <p:nvPr/>
        </p:nvSpPr>
        <p:spPr>
          <a:xfrm>
            <a:off x="548640" y="4389120"/>
            <a:ext cx="11094415" cy="1920240"/>
          </a:xfrm>
          <a:prstGeom prst="roundRect">
            <a:avLst>
              <a:gd name="adj" fmla="val 3333"/>
            </a:avLst>
          </a:prstGeom>
          <a:solidFill>
            <a:srgbClr val="F3F5F8"/>
          </a:solidFill>
          <a:ln w="12700">
            <a:solidFill>
              <a:srgbClr val="D8DCE3"/>
            </a:solidFill>
            <a:prstDash val="solid"/>
          </a:ln>
        </p:spPr>
      </p:sp>
      <p:sp>
        <p:nvSpPr>
          <p:cNvPr id="6" name="Text 4"/>
          <p:cNvSpPr/>
          <p:nvPr/>
        </p:nvSpPr>
        <p:spPr>
          <a:xfrm>
            <a:off x="822960" y="4517136"/>
            <a:ext cx="10545775"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Classroom question</a:t>
            </a:r>
            <a:endParaRPr lang="en-US" sz="2600" dirty="0"/>
          </a:p>
        </p:txBody>
      </p:sp>
      <p:sp>
        <p:nvSpPr>
          <p:cNvPr id="7" name="Text 5"/>
          <p:cNvSpPr/>
          <p:nvPr/>
        </p:nvSpPr>
        <p:spPr>
          <a:xfrm>
            <a:off x="822960" y="4846320"/>
            <a:ext cx="10545775" cy="548640"/>
          </a:xfrm>
          <a:prstGeom prst="rect">
            <a:avLst/>
          </a:prstGeom>
          <a:noFill/>
          <a:ln/>
        </p:spPr>
        <p:txBody>
          <a:bodyPr wrap="square" rtlCol="0" anchor="ctr"/>
          <a:lstStyle/>
          <a:p>
            <a:pPr marL="0" indent="0">
              <a:buNone/>
            </a:pPr>
            <a:r>
              <a:rPr lang="en-US" sz="2100" i="1" dirty="0">
                <a:solidFill>
                  <a:srgbClr val="1A1F2B"/>
                </a:solidFill>
                <a:latin typeface="Calibri" pitchFamily="34" charset="0"/>
                <a:ea typeface="Calibri" pitchFamily="34" charset="-122"/>
                <a:cs typeface="Calibri" pitchFamily="34" charset="-120"/>
              </a:rPr>
              <a:t>If h(n)=0 everywhere, what algorithm results? If h(n)=h*(n) exactly, what happens?</a:t>
            </a:r>
            <a:endParaRPr lang="en-US" sz="2100" dirty="0"/>
          </a:p>
        </p:txBody>
      </p:sp>
      <p:sp>
        <p:nvSpPr>
          <p:cNvPr id="8" name="Text 6"/>
          <p:cNvSpPr/>
          <p:nvPr/>
        </p:nvSpPr>
        <p:spPr>
          <a:xfrm>
            <a:off x="822960" y="5394960"/>
            <a:ext cx="10545775" cy="822960"/>
          </a:xfrm>
          <a:prstGeom prst="rect">
            <a:avLst/>
          </a:prstGeom>
          <a:noFill/>
          <a:ln/>
        </p:spPr>
        <p:txBody>
          <a:bodyPr wrap="square" rtlCol="0" anchor="ctr"/>
          <a:lstStyle/>
          <a:p>
            <a:pPr marL="0" indent="0">
              <a:lnSpc>
                <a:spcPts val="2500"/>
              </a:lnSpc>
              <a:buNone/>
            </a:pPr>
            <a:r>
              <a:rPr lang="en-US" sz="1950" b="1" dirty="0">
                <a:solidFill>
                  <a:srgbClr val="0B1E3D"/>
                </a:solidFill>
                <a:latin typeface="Calibri" pitchFamily="34" charset="0"/>
                <a:ea typeface="Calibri" pitchFamily="34" charset="-122"/>
                <a:cs typeface="Calibri" pitchFamily="34" charset="-120"/>
              </a:rPr>
              <a:t>Answers:  </a:t>
            </a:r>
            <a:r>
              <a:rPr lang="en-US" sz="1950" dirty="0">
                <a:solidFill>
                  <a:srgbClr val="6B7686"/>
                </a:solidFill>
                <a:latin typeface="Calibri" pitchFamily="34" charset="0"/>
                <a:ea typeface="Calibri" pitchFamily="34" charset="-122"/>
                <a:cs typeface="Calibri" pitchFamily="34" charset="-120"/>
              </a:rPr>
              <a:t>h≡0 reduces f(n) to g(n) — exactly UCS. h=h*(n) exactly gives zero wasted expansions — the theoretical ideal, never available in practice.</a:t>
            </a:r>
            <a:endParaRPr lang="en-US" sz="1950" dirty="0"/>
          </a:p>
        </p:txBody>
      </p:sp>
      <p:sp>
        <p:nvSpPr>
          <p:cNvPr id="9" name="Text 7"/>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4. A* Search</a:t>
            </a:r>
            <a:endParaRPr lang="en-US" sz="1600" dirty="0"/>
          </a:p>
        </p:txBody>
      </p:sp>
      <p:sp>
        <p:nvSpPr>
          <p:cNvPr id="10" name="Text 8"/>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16 / 40</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7">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FFFFFF"/>
                </a:solidFill>
                <a:latin typeface="Cambria" pitchFamily="34" charset="0"/>
                <a:ea typeface="Cambria" pitchFamily="34" charset="-122"/>
                <a:cs typeface="Cambria" pitchFamily="34" charset="-120"/>
              </a:rPr>
              <a:t>A* Search — Algorithm</a:t>
            </a:r>
            <a:endParaRPr lang="en-US" sz="4700" dirty="0"/>
          </a:p>
        </p:txBody>
      </p:sp>
      <p:sp>
        <p:nvSpPr>
          <p:cNvPr id="4" name="Shape 2"/>
          <p:cNvSpPr/>
          <p:nvPr/>
        </p:nvSpPr>
        <p:spPr>
          <a:xfrm>
            <a:off x="548640" y="2331720"/>
            <a:ext cx="11094415" cy="2743200"/>
          </a:xfrm>
          <a:prstGeom prst="roundRect">
            <a:avLst>
              <a:gd name="adj" fmla="val 2667"/>
            </a:avLst>
          </a:prstGeom>
          <a:solidFill>
            <a:srgbClr val="071527"/>
          </a:solidFill>
          <a:ln w="12700">
            <a:solidFill>
              <a:srgbClr val="13294B"/>
            </a:solidFill>
            <a:prstDash val="solid"/>
          </a:ln>
        </p:spPr>
      </p:sp>
      <p:sp>
        <p:nvSpPr>
          <p:cNvPr id="5" name="Text 3"/>
          <p:cNvSpPr/>
          <p:nvPr/>
        </p:nvSpPr>
        <p:spPr>
          <a:xfrm>
            <a:off x="822960" y="2459736"/>
            <a:ext cx="10545775" cy="2514600"/>
          </a:xfrm>
          <a:prstGeom prst="rect">
            <a:avLst/>
          </a:prstGeom>
          <a:noFill/>
          <a:ln/>
        </p:spPr>
        <p:txBody>
          <a:bodyPr wrap="square" rtlCol="0" anchor="ctr"/>
          <a:lstStyle/>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function A-STAR(problem, h):</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g[start] &lt;- 0; frontier &lt;- queue by f(n)=g(n)+h(n)</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explored &lt;- {}</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loop: if frontier empty: return FAILURE</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node &lt;- pop lowest f(n)</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if node is GOAL: return SOLUTION(node)  // safe here</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add node to explored</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for child via action a:</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g_new &lt;- g(node)+COST(node,a,child)</a:t>
            </a:r>
            <a:endParaRPr lang="en-US" sz="1750" dirty="0"/>
          </a:p>
          <a:p>
            <a:pPr marL="0" indent="0">
              <a:lnSpc>
                <a:spcPts val="1900"/>
              </a:lnSpc>
              <a:buNone/>
            </a:pPr>
            <a:r>
              <a:rPr lang="en-US" sz="1750" dirty="0">
                <a:solidFill>
                  <a:srgbClr val="D7E2F4"/>
                </a:solidFill>
                <a:latin typeface="Courier New" pitchFamily="34" charset="0"/>
                <a:ea typeface="Courier New" pitchFamily="34" charset="-122"/>
                <a:cs typeface="Courier New" pitchFamily="34" charset="-120"/>
              </a:rPr>
              <a:t>      if unseen or g_new &lt; g(child): update g,f; requeue</a:t>
            </a:r>
            <a:endParaRPr lang="en-US" sz="1750" dirty="0"/>
          </a:p>
        </p:txBody>
      </p:sp>
      <p:sp>
        <p:nvSpPr>
          <p:cNvPr id="6" name="Shape 4"/>
          <p:cNvSpPr/>
          <p:nvPr/>
        </p:nvSpPr>
        <p:spPr>
          <a:xfrm>
            <a:off x="548640" y="5166360"/>
            <a:ext cx="11094415" cy="960120"/>
          </a:xfrm>
          <a:prstGeom prst="roundRect">
            <a:avLst>
              <a:gd name="adj" fmla="val 6667"/>
            </a:avLst>
          </a:prstGeom>
          <a:solidFill>
            <a:srgbClr val="13294B"/>
          </a:solidFill>
          <a:ln/>
        </p:spPr>
      </p:sp>
      <p:sp>
        <p:nvSpPr>
          <p:cNvPr id="7" name="Text 5"/>
          <p:cNvSpPr/>
          <p:nvPr/>
        </p:nvSpPr>
        <p:spPr>
          <a:xfrm>
            <a:off x="822960" y="529437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Why test the goal on pop, not on generation</a:t>
            </a:r>
            <a:endParaRPr lang="en-US" sz="2600" dirty="0"/>
          </a:p>
        </p:txBody>
      </p:sp>
      <p:sp>
        <p:nvSpPr>
          <p:cNvPr id="8" name="Text 6"/>
          <p:cNvSpPr/>
          <p:nvPr/>
        </p:nvSpPr>
        <p:spPr>
          <a:xfrm>
            <a:off x="822960" y="5806440"/>
            <a:ext cx="10545775" cy="274320"/>
          </a:xfrm>
          <a:prstGeom prst="rect">
            <a:avLst/>
          </a:prstGeom>
          <a:noFill/>
          <a:ln/>
        </p:spPr>
        <p:txBody>
          <a:bodyPr wrap="square" rtlCol="0" anchor="ctr"/>
          <a:lstStyle/>
          <a:p>
            <a:pPr marL="0" indent="0">
              <a:lnSpc>
                <a:spcPts val="2200"/>
              </a:lnSpc>
              <a:buNone/>
            </a:pPr>
            <a:r>
              <a:rPr lang="en-US" sz="1750" dirty="0">
                <a:solidFill>
                  <a:srgbClr val="E7EBF3"/>
                </a:solidFill>
                <a:latin typeface="Calibri" pitchFamily="34" charset="0"/>
                <a:ea typeface="Calibri" pitchFamily="34" charset="-122"/>
                <a:cs typeface="Calibri" pitchFamily="34" charset="-120"/>
              </a:rPr>
              <a:t>A goal found via an expensive path could have a high g(n); testing only when POPPED guarantees optimality.</a:t>
            </a:r>
            <a:endParaRPr lang="en-US" sz="1750" dirty="0"/>
          </a:p>
        </p:txBody>
      </p:sp>
      <p:sp>
        <p:nvSpPr>
          <p:cNvPr id="9" name="Text 7"/>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4. A* Search</a:t>
            </a:r>
            <a:endParaRPr lang="en-US" sz="1600" dirty="0"/>
          </a:p>
        </p:txBody>
      </p:sp>
      <p:sp>
        <p:nvSpPr>
          <p:cNvPr id="10" name="Text 8"/>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17 / 40</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Worked Example — Setting Up A*</a:t>
            </a:r>
            <a:endParaRPr lang="en-US" sz="4700" dirty="0"/>
          </a:p>
        </p:txBody>
      </p:sp>
      <p:sp>
        <p:nvSpPr>
          <p:cNvPr id="4" name="Text 2"/>
          <p:cNvSpPr/>
          <p:nvPr/>
        </p:nvSpPr>
        <p:spPr>
          <a:xfrm>
            <a:off x="548640" y="2331720"/>
            <a:ext cx="11094415" cy="457200"/>
          </a:xfrm>
          <a:prstGeom prst="rect">
            <a:avLst/>
          </a:prstGeom>
          <a:noFill/>
          <a:ln/>
        </p:spPr>
        <p:txBody>
          <a:bodyPr wrap="square" rtlCol="0" anchor="ctr"/>
          <a:lstStyle/>
          <a:p>
            <a:pPr marL="0" indent="0">
              <a:buNone/>
            </a:pPr>
            <a:r>
              <a:rPr lang="en-US" sz="2200" i="1" dirty="0">
                <a:solidFill>
                  <a:srgbClr val="6B7686"/>
                </a:solidFill>
                <a:latin typeface="Calibri" pitchFamily="34" charset="0"/>
                <a:ea typeface="Calibri" pitchFamily="34" charset="-122"/>
                <a:cs typeface="Calibri" pitchFamily="34" charset="-120"/>
              </a:rPr>
              <a:t>Same graph, now with h₂ — identical to h₁ except h₂(A)=7 instead of 3.</a:t>
            </a:r>
            <a:endParaRPr lang="en-US" sz="2200" dirty="0"/>
          </a:p>
        </p:txBody>
      </p:sp>
      <p:pic>
        <p:nvPicPr>
          <p:cNvPr id="5" name="Image 0" descr="/mnt/user-data/working/lecture4/assets/graph_h2_astar.png"/>
          <p:cNvPicPr>
            <a:picLocks noChangeAspect="1"/>
          </p:cNvPicPr>
          <p:nvPr/>
        </p:nvPicPr>
        <p:blipFill>
          <a:blip r:embed="rId3"/>
          <a:stretch>
            <a:fillRect/>
          </a:stretch>
        </p:blipFill>
        <p:spPr>
          <a:xfrm>
            <a:off x="640080" y="2834640"/>
            <a:ext cx="4754880" cy="3429000"/>
          </a:xfrm>
          <a:prstGeom prst="rect">
            <a:avLst/>
          </a:prstGeom>
        </p:spPr>
      </p:pic>
      <p:sp>
        <p:nvSpPr>
          <p:cNvPr id="6" name="Shape 3"/>
          <p:cNvSpPr/>
          <p:nvPr/>
        </p:nvSpPr>
        <p:spPr>
          <a:xfrm>
            <a:off x="5669280" y="2834640"/>
            <a:ext cx="5989320" cy="3429000"/>
          </a:xfrm>
          <a:prstGeom prst="roundRect">
            <a:avLst>
              <a:gd name="adj" fmla="val 1867"/>
            </a:avLst>
          </a:prstGeom>
          <a:solidFill>
            <a:srgbClr val="F3F5F8"/>
          </a:solidFill>
          <a:ln w="12700">
            <a:solidFill>
              <a:srgbClr val="D8DCE3"/>
            </a:solidFill>
            <a:prstDash val="solid"/>
          </a:ln>
        </p:spPr>
      </p:sp>
      <p:sp>
        <p:nvSpPr>
          <p:cNvPr id="7" name="Text 4"/>
          <p:cNvSpPr/>
          <p:nvPr/>
        </p:nvSpPr>
        <p:spPr>
          <a:xfrm>
            <a:off x="5943600" y="2962656"/>
            <a:ext cx="544068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Why change h(A) from 3 to 7?</a:t>
            </a:r>
            <a:endParaRPr lang="en-US" sz="2600" dirty="0"/>
          </a:p>
        </p:txBody>
      </p:sp>
      <p:sp>
        <p:nvSpPr>
          <p:cNvPr id="8" name="Text 5"/>
          <p:cNvSpPr/>
          <p:nvPr/>
        </p:nvSpPr>
        <p:spPr>
          <a:xfrm>
            <a:off x="5943600" y="3337560"/>
            <a:ext cx="5440680" cy="2788920"/>
          </a:xfrm>
          <a:prstGeom prst="rect">
            <a:avLst/>
          </a:prstGeom>
          <a:noFill/>
          <a:ln/>
        </p:spPr>
        <p:txBody>
          <a:bodyPr wrap="square" lIns="0" tIns="0" rIns="0" bIns="0" rtlCol="0" anchor="t"/>
          <a:lstStyle/>
          <a:p>
            <a:pPr marL="203200" indent="-2032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h₁(A)=3 was admissible but badly underestimated h*(A)=9</a:t>
            </a:r>
            <a:endParaRPr lang="en-US" sz="2000" dirty="0"/>
          </a:p>
          <a:p>
            <a:pPr marL="203200" indent="-2032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h₂(A)=7 is closer to truth, still admissible — stronger heuristic</a:t>
            </a:r>
            <a:endParaRPr lang="en-US" sz="2000" dirty="0"/>
          </a:p>
          <a:p>
            <a:pPr marL="203200" indent="-2032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h₂ is also consistent; h₁ is not (verified in Section 7)</a:t>
            </a:r>
            <a:endParaRPr lang="en-US" sz="2000" dirty="0"/>
          </a:p>
          <a:p>
            <a:pPr marL="203200" indent="-203200">
              <a:spcAft>
                <a:spcPts val="1200"/>
              </a:spcAft>
              <a:buSzPct val="100000"/>
              <a:buChar char="▪"/>
            </a:pPr>
            <a:r>
              <a:rPr lang="en-US" sz="2000" dirty="0">
                <a:solidFill>
                  <a:srgbClr val="1A1F2B"/>
                </a:solidFill>
                <a:latin typeface="Calibri" pitchFamily="34" charset="0"/>
                <a:ea typeface="Calibri" pitchFamily="34" charset="-122"/>
                <a:cs typeface="Calibri" pitchFamily="34" charset="-120"/>
              </a:rPr>
              <a:t>A* reaches the OPTIMAL path with either — quality affects efficiency, not correctness</a:t>
            </a:r>
            <a:endParaRPr lang="en-US" sz="2000" dirty="0"/>
          </a:p>
        </p:txBody>
      </p:sp>
      <p:sp>
        <p:nvSpPr>
          <p:cNvPr id="9" name="Text 6"/>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4. A* Search</a:t>
            </a:r>
            <a:endParaRPr lang="en-US" sz="1600" dirty="0"/>
          </a:p>
        </p:txBody>
      </p:sp>
      <p:sp>
        <p:nvSpPr>
          <p:cNvPr id="10" name="Text 7"/>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18 / 40</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4700"/>
              </a:lnSpc>
              <a:buNone/>
            </a:pPr>
            <a:r>
              <a:rPr lang="en-US" sz="4400" b="1" dirty="0">
                <a:solidFill>
                  <a:srgbClr val="0B1E3D"/>
                </a:solidFill>
                <a:latin typeface="Cambria" pitchFamily="34" charset="0"/>
                <a:ea typeface="Cambria" pitchFamily="34" charset="-122"/>
                <a:cs typeface="Cambria" pitchFamily="34" charset="-120"/>
              </a:rPr>
              <a:t>A* Step-by-Step Trace (Part 1 of 2)</a:t>
            </a:r>
            <a:endParaRPr lang="en-US" sz="4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1672" cy="1901952"/>
        </p:xfrm>
        <a:graphic>
          <a:graphicData uri="http://schemas.openxmlformats.org/drawingml/2006/table">
            <a:tbl>
              <a:tblPr/>
              <a:tblGrid>
                <a:gridCol w="868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6153912">
                  <a:extLst>
                    <a:ext uri="{9D8B030D-6E8A-4147-A177-3AD203B41FA5}">
                      <a16:colId xmlns:a16="http://schemas.microsoft.com/office/drawing/2014/main" val="20005"/>
                    </a:ext>
                  </a:extLst>
                </a:gridCol>
              </a:tblGrid>
              <a:tr h="475488">
                <a:tc>
                  <a:txBody>
                    <a:bodyPr/>
                    <a:lstStyle/>
                    <a:p>
                      <a:pPr marL="0" indent="0" algn="ctr">
                        <a:buNone/>
                      </a:pPr>
                      <a:r>
                        <a:rPr lang="en-US" sz="2100" b="1" dirty="0">
                          <a:solidFill>
                            <a:srgbClr val="FFFFFF"/>
                          </a:solidFill>
                        </a:rPr>
                        <a:t>Step</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Node</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g(n)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h(n)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f(n)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Status</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extLst>
                  <a:ext uri="{0D108BD9-81ED-4DB2-BD59-A6C34878D82A}">
                    <a16:rowId xmlns:a16="http://schemas.microsoft.com/office/drawing/2014/main" val="10000"/>
                  </a:ext>
                </a:extLst>
              </a:tr>
              <a:tr h="475488">
                <a:tc>
                  <a:txBody>
                    <a:bodyPr/>
                    <a:lstStyle/>
                    <a:p>
                      <a:pPr marL="0" indent="0" algn="ctr">
                        <a:buNone/>
                      </a:pPr>
                      <a:r>
                        <a:rPr lang="en-US" sz="2000" dirty="0">
                          <a:solidFill>
                            <a:srgbClr val="1A1F2B"/>
                          </a:solidFill>
                        </a:rPr>
                        <a:t>1</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F2B"/>
                          </a:solidFill>
                        </a:rPr>
                        <a:t>S</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0</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10</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10</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l">
                        <a:buNone/>
                      </a:pPr>
                      <a:r>
                        <a:rPr lang="en-US" sz="2000" dirty="0">
                          <a:solidFill>
                            <a:srgbClr val="1A1F2B"/>
                          </a:solidFill>
                        </a:rPr>
                        <a:t>Expanded (start)</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ctr">
                        <a:buNone/>
                      </a:pPr>
                      <a:r>
                        <a:rPr lang="en-US" sz="2000" dirty="0">
                          <a:solidFill>
                            <a:srgbClr val="1A1F2B"/>
                          </a:solidFill>
                        </a:rPr>
                        <a:t>2</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F2B"/>
                          </a:solidFill>
                        </a:rPr>
                        <a:t>B</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5</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6</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11</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l">
                        <a:buNone/>
                      </a:pPr>
                      <a:r>
                        <a:rPr lang="en-US" sz="2000" dirty="0">
                          <a:solidFill>
                            <a:srgbClr val="1A1F2B"/>
                          </a:solidFill>
                        </a:rPr>
                        <a:t>Beats A: tie on f=11, lower h wins</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ctr">
                        <a:buNone/>
                      </a:pPr>
                      <a:r>
                        <a:rPr lang="en-US" sz="2000" dirty="0">
                          <a:solidFill>
                            <a:srgbClr val="1A1F2B"/>
                          </a:solidFill>
                        </a:rPr>
                        <a:t>3</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F2B"/>
                          </a:solidFill>
                        </a:rPr>
                        <a:t>D</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9</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2</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F2B"/>
                          </a:solidFill>
                        </a:rPr>
                        <a:t>11</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l">
                        <a:buNone/>
                      </a:pPr>
                      <a:r>
                        <a:rPr lang="en-US" sz="2000" dirty="0">
                          <a:solidFill>
                            <a:srgbClr val="1A1F2B"/>
                          </a:solidFill>
                        </a:rPr>
                        <a:t>Beats A: tie on f=11, lower h wins</a:t>
                      </a:r>
                      <a:endParaRPr lang="en-US" sz="20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754880"/>
            <a:ext cx="11094415" cy="1234440"/>
          </a:xfrm>
          <a:prstGeom prst="roundRect">
            <a:avLst>
              <a:gd name="adj" fmla="val 5185"/>
            </a:avLst>
          </a:prstGeom>
          <a:solidFill>
            <a:srgbClr val="F3F5F8"/>
          </a:solidFill>
          <a:ln w="12700">
            <a:solidFill>
              <a:srgbClr val="D8DCE3"/>
            </a:solidFill>
            <a:prstDash val="solid"/>
          </a:ln>
        </p:spPr>
      </p:sp>
      <p:sp>
        <p:nvSpPr>
          <p:cNvPr id="6" name="Text 3"/>
          <p:cNvSpPr/>
          <p:nvPr/>
        </p:nvSpPr>
        <p:spPr>
          <a:xfrm>
            <a:off x="822960" y="4882896"/>
            <a:ext cx="10545775"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Frontier evolution</a:t>
            </a:r>
            <a:endParaRPr lang="en-US" sz="2600" dirty="0"/>
          </a:p>
        </p:txBody>
      </p:sp>
      <p:sp>
        <p:nvSpPr>
          <p:cNvPr id="7" name="Text 4"/>
          <p:cNvSpPr/>
          <p:nvPr/>
        </p:nvSpPr>
        <p:spPr>
          <a:xfrm>
            <a:off x="822960" y="5239512"/>
            <a:ext cx="10545775" cy="731520"/>
          </a:xfrm>
          <a:prstGeom prst="rect">
            <a:avLst/>
          </a:prstGeom>
          <a:noFill/>
          <a:ln/>
        </p:spPr>
        <p:txBody>
          <a:bodyPr wrap="square" rtlCol="0" anchor="ctr"/>
          <a:lstStyle/>
          <a:p>
            <a:pPr marL="0" indent="0">
              <a:lnSpc>
                <a:spcPts val="2000"/>
              </a:lnSpc>
              <a:buNone/>
            </a:pPr>
            <a:r>
              <a:rPr lang="en-US" sz="1750" dirty="0">
                <a:solidFill>
                  <a:srgbClr val="000000"/>
                </a:solidFill>
                <a:latin typeface="Courier New" pitchFamily="34" charset="0"/>
                <a:ea typeface="Courier New" pitchFamily="34" charset="-122"/>
                <a:cs typeface="Courier New" pitchFamily="34" charset="-120"/>
              </a:rPr>
              <a:t>After S:  A(f=11), B(f=11)</a:t>
            </a:r>
            <a:endParaRPr lang="en-US" sz="1750" dirty="0"/>
          </a:p>
          <a:p>
            <a:pPr marL="0" indent="0">
              <a:lnSpc>
                <a:spcPts val="2000"/>
              </a:lnSpc>
              <a:buNone/>
            </a:pPr>
            <a:r>
              <a:rPr lang="en-US" sz="1750" dirty="0">
                <a:solidFill>
                  <a:srgbClr val="000000"/>
                </a:solidFill>
                <a:latin typeface="Courier New" pitchFamily="34" charset="0"/>
                <a:ea typeface="Courier New" pitchFamily="34" charset="-122"/>
                <a:cs typeface="Courier New" pitchFamily="34" charset="-120"/>
              </a:rPr>
              <a:t>After B:  A(f=11), D(f=11), E(f=15)</a:t>
            </a:r>
            <a:endParaRPr lang="en-US" sz="1750" dirty="0"/>
          </a:p>
          <a:p>
            <a:pPr marL="0" indent="0">
              <a:lnSpc>
                <a:spcPts val="2000"/>
              </a:lnSpc>
              <a:buNone/>
            </a:pPr>
            <a:r>
              <a:rPr lang="en-US" sz="1750" dirty="0">
                <a:solidFill>
                  <a:srgbClr val="000000"/>
                </a:solidFill>
                <a:latin typeface="Courier New" pitchFamily="34" charset="0"/>
                <a:ea typeface="Courier New" pitchFamily="34" charset="-122"/>
                <a:cs typeface="Courier New" pitchFamily="34" charset="-120"/>
              </a:rPr>
              <a:t>After D:  A(f=11), G(f=12), E(f=15)</a:t>
            </a:r>
            <a:endParaRPr lang="en-US" sz="1750" dirty="0"/>
          </a:p>
        </p:txBody>
      </p:sp>
      <p:sp>
        <p:nvSpPr>
          <p:cNvPr id="8"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4. A* Search</a:t>
            </a:r>
            <a:endParaRPr lang="en-US" sz="1600" dirty="0"/>
          </a:p>
        </p:txBody>
      </p:sp>
      <p:sp>
        <p:nvSpPr>
          <p:cNvPr id="9"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19 / 40</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4700"/>
              </a:lnSpc>
              <a:buNone/>
            </a:pPr>
            <a:r>
              <a:rPr lang="en-US" sz="4400" b="1" dirty="0">
                <a:solidFill>
                  <a:srgbClr val="0B1E3D"/>
                </a:solidFill>
                <a:latin typeface="Cambria" pitchFamily="34" charset="0"/>
                <a:ea typeface="Cambria" pitchFamily="34" charset="-122"/>
                <a:cs typeface="Cambria" pitchFamily="34" charset="-120"/>
              </a:rPr>
              <a:t>A* Step-by-Step Trace (Part 2 of 2)</a:t>
            </a:r>
            <a:endParaRPr lang="en-US" sz="4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1672" cy="1371600"/>
        </p:xfrm>
        <a:graphic>
          <a:graphicData uri="http://schemas.openxmlformats.org/drawingml/2006/table">
            <a:tbl>
              <a:tblPr/>
              <a:tblGrid>
                <a:gridCol w="868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6153912">
                  <a:extLst>
                    <a:ext uri="{9D8B030D-6E8A-4147-A177-3AD203B41FA5}">
                      <a16:colId xmlns:a16="http://schemas.microsoft.com/office/drawing/2014/main" val="20005"/>
                    </a:ext>
                  </a:extLst>
                </a:gridCol>
              </a:tblGrid>
              <a:tr h="457200">
                <a:tc>
                  <a:txBody>
                    <a:bodyPr/>
                    <a:lstStyle/>
                    <a:p>
                      <a:pPr marL="0" indent="0" algn="ctr">
                        <a:buNone/>
                      </a:pPr>
                      <a:r>
                        <a:rPr lang="en-US" sz="2100" b="1" dirty="0">
                          <a:solidFill>
                            <a:srgbClr val="FFFFFF"/>
                          </a:solidFill>
                        </a:rPr>
                        <a:t>Step</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Node</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g(n)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h(n)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f(n)</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tc>
                  <a:txBody>
                    <a:bodyPr/>
                    <a:lstStyle/>
                    <a:p>
                      <a:pPr marL="0" indent="0" algn="ctr">
                        <a:buNone/>
                      </a:pPr>
                      <a:r>
                        <a:rPr lang="en-US" sz="2100" b="1" dirty="0">
                          <a:solidFill>
                            <a:srgbClr val="FFFFFF"/>
                          </a:solidFill>
                        </a:rPr>
                        <a:t>Status</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0B1E3D"/>
                    </a:solidFill>
                  </a:tcPr>
                </a:tc>
                <a:extLst>
                  <a:ext uri="{0D108BD9-81ED-4DB2-BD59-A6C34878D82A}">
                    <a16:rowId xmlns:a16="http://schemas.microsoft.com/office/drawing/2014/main" val="10000"/>
                  </a:ext>
                </a:extLst>
              </a:tr>
              <a:tr h="457200">
                <a:tc>
                  <a:txBody>
                    <a:bodyPr/>
                    <a:lstStyle/>
                    <a:p>
                      <a:pPr marL="0" indent="0" algn="ctr">
                        <a:buNone/>
                      </a:pPr>
                      <a:r>
                        <a:rPr lang="en-US" sz="2100" dirty="0">
                          <a:solidFill>
                            <a:srgbClr val="1A1F2B"/>
                          </a:solidFill>
                        </a:rPr>
                        <a:t>4</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b="1" dirty="0">
                          <a:solidFill>
                            <a:srgbClr val="1A1F2B"/>
                          </a:solidFill>
                        </a:rPr>
                        <a:t>A</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4</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7</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2100" dirty="0">
                          <a:solidFill>
                            <a:srgbClr val="1A1F2B"/>
                          </a:solidFill>
                        </a:rPr>
                        <a:t>11</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l">
                        <a:buNone/>
                      </a:pPr>
                      <a:r>
                        <a:rPr lang="en-US" sz="2100" dirty="0">
                          <a:solidFill>
                            <a:srgbClr val="1A1F2B"/>
                          </a:solidFill>
                        </a:rPr>
                        <a:t>Its turn — no longer tied</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2100" b="1" dirty="0">
                          <a:solidFill>
                            <a:srgbClr val="2E7D5B"/>
                          </a:solidFill>
                        </a:rPr>
                        <a:t>5</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EAF2ED"/>
                    </a:solidFill>
                  </a:tcPr>
                </a:tc>
                <a:tc>
                  <a:txBody>
                    <a:bodyPr/>
                    <a:lstStyle/>
                    <a:p>
                      <a:pPr marL="0" indent="0" algn="ctr">
                        <a:buNone/>
                      </a:pPr>
                      <a:r>
                        <a:rPr lang="en-US" sz="2100" b="1" dirty="0">
                          <a:solidFill>
                            <a:srgbClr val="2E7D5B"/>
                          </a:solidFill>
                        </a:rPr>
                        <a:t>G</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EAF2ED"/>
                    </a:solidFill>
                  </a:tcPr>
                </a:tc>
                <a:tc>
                  <a:txBody>
                    <a:bodyPr/>
                    <a:lstStyle/>
                    <a:p>
                      <a:pPr marL="0" indent="0" algn="ctr">
                        <a:buNone/>
                      </a:pPr>
                      <a:r>
                        <a:rPr lang="en-US" sz="2100" b="1" dirty="0">
                          <a:solidFill>
                            <a:srgbClr val="2E7D5B"/>
                          </a:solidFill>
                        </a:rPr>
                        <a:t>12</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EAF2ED"/>
                    </a:solidFill>
                  </a:tcPr>
                </a:tc>
                <a:tc>
                  <a:txBody>
                    <a:bodyPr/>
                    <a:lstStyle/>
                    <a:p>
                      <a:pPr marL="0" indent="0" algn="ctr">
                        <a:buNone/>
                      </a:pPr>
                      <a:r>
                        <a:rPr lang="en-US" sz="2100" b="1" dirty="0">
                          <a:solidFill>
                            <a:srgbClr val="2E7D5B"/>
                          </a:solidFill>
                        </a:rPr>
                        <a:t>0</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EAF2ED"/>
                    </a:solidFill>
                  </a:tcPr>
                </a:tc>
                <a:tc>
                  <a:txBody>
                    <a:bodyPr/>
                    <a:lstStyle/>
                    <a:p>
                      <a:pPr marL="0" indent="0" algn="ctr">
                        <a:buNone/>
                      </a:pPr>
                      <a:r>
                        <a:rPr lang="en-US" sz="2100" b="1" dirty="0">
                          <a:solidFill>
                            <a:srgbClr val="2E7D5B"/>
                          </a:solidFill>
                        </a:rPr>
                        <a:t>12</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EAF2ED"/>
                    </a:solidFill>
                  </a:tcPr>
                </a:tc>
                <a:tc>
                  <a:txBody>
                    <a:bodyPr/>
                    <a:lstStyle/>
                    <a:p>
                      <a:pPr marL="0" indent="0" algn="l">
                        <a:buNone/>
                      </a:pPr>
                      <a:r>
                        <a:rPr lang="en-US" sz="2100" b="1" dirty="0">
                          <a:solidFill>
                            <a:srgbClr val="1A1F2B"/>
                          </a:solidFill>
                        </a:rPr>
                        <a:t>GOAL selected — terminate</a:t>
                      </a:r>
                      <a:endParaRPr lang="en-US" sz="21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EAF2ED"/>
                    </a:solidFill>
                  </a:tcPr>
                </a:tc>
                <a:extLst>
                  <a:ext uri="{0D108BD9-81ED-4DB2-BD59-A6C34878D82A}">
                    <a16:rowId xmlns:a16="http://schemas.microsoft.com/office/drawing/2014/main" val="10002"/>
                  </a:ext>
                </a:extLst>
              </a:tr>
            </a:tbl>
          </a:graphicData>
        </a:graphic>
      </p:graphicFrame>
      <p:sp>
        <p:nvSpPr>
          <p:cNvPr id="5" name="Shape 2"/>
          <p:cNvSpPr/>
          <p:nvPr/>
        </p:nvSpPr>
        <p:spPr>
          <a:xfrm>
            <a:off x="548640" y="4206240"/>
            <a:ext cx="5806440" cy="1874520"/>
          </a:xfrm>
          <a:prstGeom prst="roundRect">
            <a:avLst>
              <a:gd name="adj" fmla="val 3415"/>
            </a:avLst>
          </a:prstGeom>
          <a:solidFill>
            <a:srgbClr val="0B1E3D"/>
          </a:solidFill>
          <a:ln/>
        </p:spPr>
      </p:sp>
      <p:sp>
        <p:nvSpPr>
          <p:cNvPr id="6" name="Text 3"/>
          <p:cNvSpPr/>
          <p:nvPr/>
        </p:nvSpPr>
        <p:spPr>
          <a:xfrm>
            <a:off x="822960" y="4334256"/>
            <a:ext cx="5257800"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Why stopping here is safe</a:t>
            </a:r>
            <a:endParaRPr lang="en-US" sz="2600" dirty="0"/>
          </a:p>
        </p:txBody>
      </p:sp>
      <p:sp>
        <p:nvSpPr>
          <p:cNvPr id="7" name="Text 4"/>
          <p:cNvSpPr/>
          <p:nvPr/>
        </p:nvSpPr>
        <p:spPr>
          <a:xfrm>
            <a:off x="822960" y="4709160"/>
            <a:ext cx="5257800" cy="1280160"/>
          </a:xfrm>
          <a:prstGeom prst="rect">
            <a:avLst/>
          </a:prstGeom>
          <a:noFill/>
          <a:ln/>
        </p:spPr>
        <p:txBody>
          <a:bodyPr wrap="square" lIns="0" tIns="0" rIns="0" bIns="0" rtlCol="0" anchor="t"/>
          <a:lstStyle/>
          <a:p>
            <a:pPr marL="203200" indent="-203200">
              <a:spcAft>
                <a:spcPts val="800"/>
              </a:spcAft>
              <a:buSzPct val="100000"/>
              <a:buChar char="▪"/>
            </a:pPr>
            <a:r>
              <a:rPr lang="en-US" sz="1850" dirty="0">
                <a:solidFill>
                  <a:srgbClr val="E7EBF3"/>
                </a:solidFill>
                <a:latin typeface="Calibri" pitchFamily="34" charset="0"/>
                <a:ea typeface="Calibri" pitchFamily="34" charset="-122"/>
                <a:cs typeface="Calibri" pitchFamily="34" charset="-120"/>
              </a:rPr>
              <a:t>C (f=12) also ties with G — G wins (h=0 &lt; 5)</a:t>
            </a:r>
            <a:endParaRPr lang="en-US" sz="1850" dirty="0"/>
          </a:p>
          <a:p>
            <a:pPr marL="203200" indent="-203200">
              <a:spcAft>
                <a:spcPts val="800"/>
              </a:spcAft>
              <a:buSzPct val="100000"/>
              <a:buChar char="▪"/>
            </a:pPr>
            <a:r>
              <a:rPr lang="en-US" sz="1850" dirty="0">
                <a:solidFill>
                  <a:srgbClr val="E7EBF3"/>
                </a:solidFill>
                <a:latin typeface="Calibri" pitchFamily="34" charset="0"/>
                <a:ea typeface="Calibri" pitchFamily="34" charset="-122"/>
                <a:cs typeface="Calibri" pitchFamily="34" charset="-120"/>
              </a:rPr>
              <a:t>h₂ consistent ⇒ f(n) never decreases</a:t>
            </a:r>
            <a:endParaRPr lang="en-US" sz="1850" dirty="0"/>
          </a:p>
          <a:p>
            <a:pPr marL="203200" indent="-203200">
              <a:spcAft>
                <a:spcPts val="800"/>
              </a:spcAft>
              <a:buSzPct val="100000"/>
              <a:buChar char="▪"/>
            </a:pPr>
            <a:r>
              <a:rPr lang="en-US" sz="1850" dirty="0">
                <a:solidFill>
                  <a:srgbClr val="E7EBF3"/>
                </a:solidFill>
                <a:latin typeface="Calibri" pitchFamily="34" charset="0"/>
                <a:ea typeface="Calibri" pitchFamily="34" charset="-122"/>
                <a:cs typeface="Calibri" pitchFamily="34" charset="-120"/>
              </a:rPr>
              <a:t>So no undiscovered node can beat G</a:t>
            </a:r>
            <a:endParaRPr lang="en-US" sz="1850" dirty="0"/>
          </a:p>
        </p:txBody>
      </p:sp>
      <p:sp>
        <p:nvSpPr>
          <p:cNvPr id="8" name="Shape 5"/>
          <p:cNvSpPr/>
          <p:nvPr/>
        </p:nvSpPr>
        <p:spPr>
          <a:xfrm>
            <a:off x="6446520" y="4206240"/>
            <a:ext cx="5212080" cy="1874520"/>
          </a:xfrm>
          <a:prstGeom prst="roundRect">
            <a:avLst>
              <a:gd name="adj" fmla="val 3415"/>
            </a:avLst>
          </a:prstGeom>
          <a:solidFill>
            <a:srgbClr val="F3F5F8"/>
          </a:solidFill>
          <a:ln w="12700">
            <a:solidFill>
              <a:srgbClr val="D8DCE3"/>
            </a:solidFill>
            <a:prstDash val="solid"/>
          </a:ln>
        </p:spPr>
      </p:sp>
      <p:sp>
        <p:nvSpPr>
          <p:cNvPr id="9" name="Text 6"/>
          <p:cNvSpPr/>
          <p:nvPr/>
        </p:nvSpPr>
        <p:spPr>
          <a:xfrm>
            <a:off x="6720840" y="4334256"/>
            <a:ext cx="466344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Final result</a:t>
            </a:r>
            <a:endParaRPr lang="en-US" sz="2600" dirty="0"/>
          </a:p>
        </p:txBody>
      </p:sp>
      <p:sp>
        <p:nvSpPr>
          <p:cNvPr id="10" name="Text 7"/>
          <p:cNvSpPr/>
          <p:nvPr/>
        </p:nvSpPr>
        <p:spPr>
          <a:xfrm>
            <a:off x="6675120" y="4709160"/>
            <a:ext cx="4754880" cy="1280160"/>
          </a:xfrm>
          <a:prstGeom prst="rect">
            <a:avLst/>
          </a:prstGeom>
          <a:noFill/>
          <a:ln/>
        </p:spPr>
        <p:txBody>
          <a:bodyPr wrap="square" rtlCol="0" anchor="ctr"/>
          <a:lstStyle/>
          <a:p>
            <a:pPr marL="0" indent="0">
              <a:lnSpc>
                <a:spcPts val="2400"/>
              </a:lnSpc>
              <a:spcAft>
                <a:spcPts val="800"/>
              </a:spcAft>
              <a:buNone/>
            </a:pPr>
            <a:r>
              <a:rPr lang="en-US" sz="2200" b="1" dirty="0">
                <a:solidFill>
                  <a:srgbClr val="2E7D5B"/>
                </a:solidFill>
                <a:latin typeface="Courier New" pitchFamily="34" charset="0"/>
                <a:ea typeface="Courier New" pitchFamily="34" charset="-122"/>
                <a:cs typeface="Courier New" pitchFamily="34" charset="-120"/>
              </a:rPr>
              <a:t>Path:  S → B → D → G</a:t>
            </a:r>
            <a:endParaRPr lang="en-US" sz="2200" dirty="0"/>
          </a:p>
          <a:p>
            <a:pPr marL="0" indent="0">
              <a:lnSpc>
                <a:spcPts val="2400"/>
              </a:lnSpc>
              <a:spcAft>
                <a:spcPts val="800"/>
              </a:spcAft>
              <a:buNone/>
            </a:pPr>
            <a:r>
              <a:rPr lang="en-US" sz="2250" b="1" dirty="0">
                <a:solidFill>
                  <a:srgbClr val="2E7D5B"/>
                </a:solidFill>
                <a:latin typeface="Calibri" pitchFamily="34" charset="0"/>
                <a:ea typeface="Calibri" pitchFamily="34" charset="-122"/>
                <a:cs typeface="Calibri" pitchFamily="34" charset="-120"/>
              </a:rPr>
              <a:t>Cost:  5+4+3 = 12</a:t>
            </a:r>
            <a:endParaRPr lang="en-US" sz="2200" dirty="0"/>
          </a:p>
          <a:p>
            <a:pPr marL="0" indent="0">
              <a:lnSpc>
                <a:spcPts val="2400"/>
              </a:lnSpc>
              <a:buNone/>
            </a:pPr>
            <a:r>
              <a:rPr lang="en-US" sz="1750" dirty="0">
                <a:solidFill>
                  <a:srgbClr val="1A1F2B"/>
                </a:solidFill>
                <a:latin typeface="Calibri" pitchFamily="34" charset="0"/>
                <a:ea typeface="Calibri" pitchFamily="34" charset="-122"/>
                <a:cs typeface="Calibri" pitchFamily="34" charset="-120"/>
              </a:rPr>
              <a:t>5 expansions vs. Greedy's 14 — same optimum.</a:t>
            </a:r>
            <a:endParaRPr lang="en-US" sz="2200" dirty="0"/>
          </a:p>
        </p:txBody>
      </p:sp>
      <p:sp>
        <p:nvSpPr>
          <p:cNvPr id="11" name="Text 8"/>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4. A* Search</a:t>
            </a:r>
            <a:endParaRPr lang="en-US" sz="1600" dirty="0"/>
          </a:p>
        </p:txBody>
      </p:sp>
      <p:sp>
        <p:nvSpPr>
          <p:cNvPr id="12" name="Text 9"/>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20 / 40</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Visualizing the A* Search Tree</a:t>
            </a:r>
            <a:endParaRPr lang="en-US" sz="4700" dirty="0"/>
          </a:p>
        </p:txBody>
      </p:sp>
      <p:pic>
        <p:nvPicPr>
          <p:cNvPr id="4" name="Image 0" descr="/mnt/user-data/working/lecture4/assets/search_tree_astar.png"/>
          <p:cNvPicPr>
            <a:picLocks noChangeAspect="1"/>
          </p:cNvPicPr>
          <p:nvPr/>
        </p:nvPicPr>
        <p:blipFill>
          <a:blip r:embed="rId3"/>
          <a:stretch>
            <a:fillRect/>
          </a:stretch>
        </p:blipFill>
        <p:spPr>
          <a:xfrm>
            <a:off x="365760" y="2331720"/>
            <a:ext cx="6720840" cy="4114800"/>
          </a:xfrm>
          <a:prstGeom prst="rect">
            <a:avLst/>
          </a:prstGeom>
        </p:spPr>
      </p:pic>
      <p:sp>
        <p:nvSpPr>
          <p:cNvPr id="5" name="Shape 2"/>
          <p:cNvSpPr/>
          <p:nvPr/>
        </p:nvSpPr>
        <p:spPr>
          <a:xfrm>
            <a:off x="7315200" y="2331720"/>
            <a:ext cx="4343400" cy="4114800"/>
          </a:xfrm>
          <a:prstGeom prst="roundRect">
            <a:avLst>
              <a:gd name="adj" fmla="val 1556"/>
            </a:avLst>
          </a:prstGeom>
          <a:solidFill>
            <a:srgbClr val="F3F5F8"/>
          </a:solidFill>
          <a:ln w="12700">
            <a:solidFill>
              <a:srgbClr val="D8DCE3"/>
            </a:solidFill>
            <a:prstDash val="solid"/>
          </a:ln>
        </p:spPr>
      </p:sp>
      <p:sp>
        <p:nvSpPr>
          <p:cNvPr id="6" name="Text 3"/>
          <p:cNvSpPr/>
          <p:nvPr/>
        </p:nvSpPr>
        <p:spPr>
          <a:xfrm>
            <a:off x="7589520" y="2459736"/>
            <a:ext cx="379476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Reading the tree</a:t>
            </a:r>
            <a:endParaRPr lang="en-US" sz="2600" dirty="0"/>
          </a:p>
        </p:txBody>
      </p:sp>
      <p:sp>
        <p:nvSpPr>
          <p:cNvPr id="7" name="Text 4"/>
          <p:cNvSpPr/>
          <p:nvPr/>
        </p:nvSpPr>
        <p:spPr>
          <a:xfrm>
            <a:off x="7589520" y="2834640"/>
            <a:ext cx="3794760" cy="3520440"/>
          </a:xfrm>
          <a:prstGeom prst="rect">
            <a:avLst/>
          </a:prstGeom>
          <a:noFill/>
          <a:ln/>
        </p:spPr>
        <p:txBody>
          <a:bodyPr wrap="square" lIns="0" tIns="0" rIns="0" bIns="0" rtlCol="0" anchor="t"/>
          <a:lstStyle/>
          <a:p>
            <a:pPr marL="203200" indent="-203200">
              <a:spcAft>
                <a:spcPts val="1300"/>
              </a:spcAft>
              <a:buSzPct val="100000"/>
              <a:buChar char="▪"/>
            </a:pPr>
            <a:r>
              <a:rPr lang="en-US" sz="1950" dirty="0">
                <a:solidFill>
                  <a:srgbClr val="1A1F2B"/>
                </a:solidFill>
                <a:latin typeface="Calibri" pitchFamily="34" charset="0"/>
                <a:ea typeface="Calibri" pitchFamily="34" charset="-122"/>
                <a:cs typeface="Calibri" pitchFamily="34" charset="-120"/>
              </a:rPr>
              <a:t>Each box shows f(n) at the moment of expansion</a:t>
            </a:r>
            <a:endParaRPr lang="en-US" sz="1950" dirty="0"/>
          </a:p>
          <a:p>
            <a:pPr marL="203200" indent="-203200">
              <a:spcAft>
                <a:spcPts val="1300"/>
              </a:spcAft>
              <a:buSzPct val="100000"/>
              <a:buChar char="▪"/>
            </a:pPr>
            <a:r>
              <a:rPr lang="en-US" sz="1950" dirty="0">
                <a:solidFill>
                  <a:srgbClr val="1A1F2B"/>
                </a:solidFill>
                <a:latin typeface="Calibri" pitchFamily="34" charset="0"/>
                <a:ea typeface="Calibri" pitchFamily="34" charset="-122"/>
                <a:cs typeface="Calibri" pitchFamily="34" charset="-120"/>
              </a:rPr>
              <a:t>Numbered circles show expansion ORDER (1–5), by increasing f(n)</a:t>
            </a:r>
            <a:endParaRPr lang="en-US" sz="1950" dirty="0"/>
          </a:p>
          <a:p>
            <a:pPr marL="203200" indent="-203200">
              <a:spcAft>
                <a:spcPts val="1300"/>
              </a:spcAft>
              <a:buSzPct val="100000"/>
              <a:buChar char="▪"/>
            </a:pPr>
            <a:r>
              <a:rPr lang="en-US" sz="1950" dirty="0">
                <a:solidFill>
                  <a:srgbClr val="1A1F2B"/>
                </a:solidFill>
                <a:latin typeface="Calibri" pitchFamily="34" charset="0"/>
                <a:ea typeface="Calibri" pitchFamily="34" charset="-122"/>
                <a:cs typeface="Calibri" pitchFamily="34" charset="-120"/>
              </a:rPr>
              <a:t>C and E were generated but never needed expanding</a:t>
            </a:r>
            <a:endParaRPr lang="en-US" sz="1950" dirty="0"/>
          </a:p>
        </p:txBody>
      </p:sp>
      <p:sp>
        <p:nvSpPr>
          <p:cNvPr id="8"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4. A* Search</a:t>
            </a:r>
            <a:endParaRPr lang="en-US" sz="1600" dirty="0"/>
          </a:p>
        </p:txBody>
      </p:sp>
      <p:sp>
        <p:nvSpPr>
          <p:cNvPr id="9"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21 / 40</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2">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4. A*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4900"/>
              </a:lnSpc>
              <a:buNone/>
            </a:pPr>
            <a:r>
              <a:rPr lang="en-US" sz="4550" b="1" dirty="0">
                <a:solidFill>
                  <a:srgbClr val="FFFFFF"/>
                </a:solidFill>
                <a:latin typeface="Cambria" pitchFamily="34" charset="0"/>
                <a:ea typeface="Cambria" pitchFamily="34" charset="-122"/>
                <a:cs typeface="Cambria" pitchFamily="34" charset="-120"/>
              </a:rPr>
              <a:t>Section Recap: Same Graph, Three Outcomes</a:t>
            </a:r>
            <a:endParaRPr lang="en-US" sz="45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1672" cy="2926080"/>
        </p:xfrm>
        <a:graphic>
          <a:graphicData uri="http://schemas.openxmlformats.org/drawingml/2006/table">
            <a:tbl>
              <a:tblPr/>
              <a:tblGrid>
                <a:gridCol w="22860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4462272">
                  <a:extLst>
                    <a:ext uri="{9D8B030D-6E8A-4147-A177-3AD203B41FA5}">
                      <a16:colId xmlns:a16="http://schemas.microsoft.com/office/drawing/2014/main" val="20004"/>
                    </a:ext>
                  </a:extLst>
                </a:gridCol>
              </a:tblGrid>
              <a:tr h="731520">
                <a:tc>
                  <a:txBody>
                    <a:bodyPr/>
                    <a:lstStyle/>
                    <a:p>
                      <a:pPr marL="0" indent="0" algn="ctr">
                        <a:buNone/>
                      </a:pPr>
                      <a:r>
                        <a:rPr lang="en-US" sz="2200" b="1" dirty="0">
                          <a:solidFill>
                            <a:srgbClr val="FFFFFF"/>
                          </a:solidFill>
                        </a:rPr>
                        <a:t>Algorithm</a:t>
                      </a:r>
                      <a:endParaRPr lang="en-US" sz="22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2200" b="1" dirty="0">
                          <a:solidFill>
                            <a:srgbClr val="FFFFFF"/>
                          </a:solidFill>
                        </a:rPr>
                        <a:t>f(n)</a:t>
                      </a:r>
                      <a:endParaRPr lang="en-US" sz="22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2200" b="1" dirty="0">
                          <a:solidFill>
                            <a:srgbClr val="FFFFFF"/>
                          </a:solidFill>
                        </a:rPr>
                        <a:t>Path</a:t>
                      </a:r>
                      <a:endParaRPr lang="en-US" sz="22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2200" b="1" dirty="0">
                          <a:solidFill>
                            <a:srgbClr val="FFFFFF"/>
                          </a:solidFill>
                        </a:rPr>
                        <a:t>Cost</a:t>
                      </a:r>
                      <a:endParaRPr lang="en-US" sz="22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2200" b="1" dirty="0">
                          <a:solidFill>
                            <a:srgbClr val="FFFFFF"/>
                          </a:solidFill>
                        </a:rPr>
                        <a:t>Outcome</a:t>
                      </a:r>
                      <a:endParaRPr lang="en-US" sz="22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731520">
                <a:tc>
                  <a:txBody>
                    <a:bodyPr/>
                    <a:lstStyle/>
                    <a:p>
                      <a:pPr marL="0" indent="0" algn="ctr">
                        <a:buNone/>
                      </a:pPr>
                      <a:r>
                        <a:rPr lang="en-US" sz="2000" b="1" dirty="0">
                          <a:solidFill>
                            <a:srgbClr val="E7EBF3"/>
                          </a:solidFill>
                        </a:rPr>
                        <a:t>Uniform-Cost Search</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b="1" dirty="0">
                          <a:solidFill>
                            <a:srgbClr val="E7EBF3"/>
                          </a:solidFill>
                        </a:rPr>
                        <a:t>f(n)=g(n)</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dirty="0">
                          <a:solidFill>
                            <a:srgbClr val="E7EBF3"/>
                          </a:solidFill>
                        </a:rPr>
                        <a:t>S→B→D→G</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dirty="0">
                          <a:solidFill>
                            <a:srgbClr val="E7EBF3"/>
                          </a:solidFill>
                        </a:rPr>
                        <a:t>12</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2000" dirty="0">
                          <a:solidFill>
                            <a:srgbClr val="E7EBF3"/>
                          </a:solidFill>
                        </a:rPr>
                        <a:t>Optimal, broader search</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extLst>
                  <a:ext uri="{0D108BD9-81ED-4DB2-BD59-A6C34878D82A}">
                    <a16:rowId xmlns:a16="http://schemas.microsoft.com/office/drawing/2014/main" val="10001"/>
                  </a:ext>
                </a:extLst>
              </a:tr>
              <a:tr h="731520">
                <a:tc>
                  <a:txBody>
                    <a:bodyPr/>
                    <a:lstStyle/>
                    <a:p>
                      <a:pPr marL="0" indent="0" algn="ctr">
                        <a:buNone/>
                      </a:pPr>
                      <a:r>
                        <a:rPr lang="en-US" sz="2000" b="1" dirty="0">
                          <a:solidFill>
                            <a:srgbClr val="E7EBF3"/>
                          </a:solidFill>
                        </a:rPr>
                        <a:t>Greedy Best-First</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b="1" dirty="0">
                          <a:solidFill>
                            <a:srgbClr val="E7EBF3"/>
                          </a:solidFill>
                        </a:rPr>
                        <a:t>f(n)=h(n)</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dirty="0">
                          <a:solidFill>
                            <a:srgbClr val="E7EBF3"/>
                          </a:solidFill>
                        </a:rPr>
                        <a:t>S→A→D→G</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dirty="0">
                          <a:solidFill>
                            <a:srgbClr val="E7EBF3"/>
                          </a:solidFill>
                        </a:rPr>
                        <a:t>14</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2000" dirty="0">
                          <a:solidFill>
                            <a:srgbClr val="E7EBF3"/>
                          </a:solidFill>
                        </a:rPr>
                        <a:t>Fast, misled by h₁(A) — not optimal</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extLst>
                  <a:ext uri="{0D108BD9-81ED-4DB2-BD59-A6C34878D82A}">
                    <a16:rowId xmlns:a16="http://schemas.microsoft.com/office/drawing/2014/main" val="10002"/>
                  </a:ext>
                </a:extLst>
              </a:tr>
              <a:tr h="731520">
                <a:tc>
                  <a:txBody>
                    <a:bodyPr/>
                    <a:lstStyle/>
                    <a:p>
                      <a:pPr marL="0" indent="0" algn="ctr">
                        <a:buNone/>
                      </a:pPr>
                      <a:r>
                        <a:rPr lang="en-US" sz="2000" b="1" dirty="0">
                          <a:solidFill>
                            <a:srgbClr val="B08D57"/>
                          </a:solidFill>
                        </a:rPr>
                        <a:t>A* Search</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b="1" dirty="0">
                          <a:solidFill>
                            <a:srgbClr val="B08D57"/>
                          </a:solidFill>
                        </a:rPr>
                        <a:t>f(n)=g(n)+h(n)</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b="1" dirty="0">
                          <a:solidFill>
                            <a:srgbClr val="B08D57"/>
                          </a:solidFill>
                        </a:rPr>
                        <a:t>S→B→D→G</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ctr">
                        <a:buNone/>
                      </a:pPr>
                      <a:r>
                        <a:rPr lang="en-US" sz="2000" b="1" dirty="0">
                          <a:solidFill>
                            <a:srgbClr val="B08D57"/>
                          </a:solidFill>
                        </a:rPr>
                        <a:t>12</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2000" b="1" dirty="0">
                          <a:solidFill>
                            <a:srgbClr val="B08D57"/>
                          </a:solidFill>
                        </a:rPr>
                        <a:t>Optimal AND goal-directed</a:t>
                      </a:r>
                      <a:endParaRPr lang="en-US" sz="2000" dirty="0"/>
                    </a:p>
                  </a:txBody>
                  <a:tcP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extLst>
                  <a:ext uri="{0D108BD9-81ED-4DB2-BD59-A6C34878D82A}">
                    <a16:rowId xmlns:a16="http://schemas.microsoft.com/office/drawing/2014/main" val="10003"/>
                  </a:ext>
                </a:extLst>
              </a:tr>
            </a:tbl>
          </a:graphicData>
        </a:graphic>
      </p:graphicFrame>
      <p:sp>
        <p:nvSpPr>
          <p:cNvPr id="5" name="Text 2"/>
          <p:cNvSpPr/>
          <p:nvPr/>
        </p:nvSpPr>
        <p:spPr>
          <a:xfrm>
            <a:off x="548640" y="5760720"/>
            <a:ext cx="11094415" cy="365760"/>
          </a:xfrm>
          <a:prstGeom prst="rect">
            <a:avLst/>
          </a:prstGeom>
          <a:noFill/>
          <a:ln/>
        </p:spPr>
        <p:txBody>
          <a:bodyPr wrap="square" rtlCol="0" anchor="ctr"/>
          <a:lstStyle/>
          <a:p>
            <a:pPr marL="0" indent="0">
              <a:lnSpc>
                <a:spcPts val="2400"/>
              </a:lnSpc>
              <a:buNone/>
            </a:pPr>
            <a:r>
              <a:rPr lang="en-US" sz="1950" b="1" dirty="0">
                <a:solidFill>
                  <a:srgbClr val="B08D57"/>
                </a:solidFill>
                <a:latin typeface="Calibri" pitchFamily="34" charset="0"/>
                <a:ea typeface="Calibri" pitchFamily="34" charset="-122"/>
                <a:cs typeface="Calibri" pitchFamily="34" charset="-120"/>
              </a:rPr>
              <a:t>Misconception check:  </a:t>
            </a:r>
            <a:r>
              <a:rPr lang="en-US" sz="1950" dirty="0">
                <a:solidFill>
                  <a:srgbClr val="E7EBF3"/>
                </a:solidFill>
                <a:latin typeface="Calibri" pitchFamily="34" charset="0"/>
                <a:ea typeface="Calibri" pitchFamily="34" charset="-122"/>
                <a:cs typeface="Calibri" pitchFamily="34" charset="-120"/>
              </a:rPr>
              <a:t>“UCS is unrelated to A*” is FALSE — UCS is A* with h(n)=0 everywhere.</a:t>
            </a:r>
            <a:endParaRPr lang="en-US" sz="1950" dirty="0"/>
          </a:p>
        </p:txBody>
      </p:sp>
      <p:sp>
        <p:nvSpPr>
          <p:cNvPr id="6" name="Text 3"/>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4. A* Search</a:t>
            </a:r>
            <a:endParaRPr lang="en-US" sz="1600" dirty="0"/>
          </a:p>
        </p:txBody>
      </p:sp>
      <p:sp>
        <p:nvSpPr>
          <p:cNvPr id="7" name="Text 4"/>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22 / 40</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5. HEURISTIC QUALITY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What Makes a Heuristic “Good”?</a:t>
            </a:r>
            <a:endParaRPr lang="en-US" sz="4700" dirty="0"/>
          </a:p>
        </p:txBody>
      </p:sp>
      <p:sp>
        <p:nvSpPr>
          <p:cNvPr id="4" name="Text 2"/>
          <p:cNvSpPr/>
          <p:nvPr/>
        </p:nvSpPr>
        <p:spPr>
          <a:xfrm>
            <a:off x="548640" y="2331720"/>
            <a:ext cx="11094415" cy="1005840"/>
          </a:xfrm>
          <a:prstGeom prst="rect">
            <a:avLst/>
          </a:prstGeom>
          <a:noFill/>
          <a:ln/>
        </p:spPr>
        <p:txBody>
          <a:bodyPr wrap="square" lIns="0" tIns="0" rIns="0" bIns="0" rtlCol="0" anchor="t"/>
          <a:lstStyle/>
          <a:p>
            <a:pPr marL="203200" indent="-203200">
              <a:buSzPct val="100000"/>
              <a:buChar char="▪"/>
            </a:pPr>
            <a:r>
              <a:rPr lang="en-US" sz="2200" b="1" dirty="0">
                <a:solidFill>
                  <a:srgbClr val="0B1E3D"/>
                </a:solidFill>
                <a:latin typeface="Calibri" pitchFamily="34" charset="0"/>
                <a:ea typeface="Calibri" pitchFamily="34" charset="-122"/>
                <a:cs typeface="Calibri" pitchFamily="34" charset="-120"/>
              </a:rPr>
              <a:t>Concept — </a:t>
            </a:r>
            <a:r>
              <a:rPr lang="en-US" sz="2200" dirty="0">
                <a:solidFill>
                  <a:srgbClr val="1A1F2B"/>
                </a:solidFill>
                <a:latin typeface="Calibri" pitchFamily="34" charset="0"/>
                <a:ea typeface="Calibri" pitchFamily="34" charset="-122"/>
                <a:cs typeface="Calibri" pitchFamily="34" charset="-120"/>
              </a:rPr>
              <a:t>“Good” is a matter of DEGREE among admissible heuristics, not yes/no.</a:t>
            </a:r>
            <a:endParaRPr lang="en-US" sz="2200" dirty="0"/>
          </a:p>
          <a:p>
            <a:pPr marL="203200" indent="-203200">
              <a:buSzPct val="100000"/>
              <a:buChar char="▪"/>
            </a:pPr>
            <a:r>
              <a:rPr lang="en-US" sz="2200" b="1" dirty="0">
                <a:solidFill>
                  <a:srgbClr val="0B1E3D"/>
                </a:solidFill>
                <a:latin typeface="Calibri" pitchFamily="34" charset="0"/>
                <a:ea typeface="Calibri" pitchFamily="34" charset="-122"/>
                <a:cs typeface="Calibri" pitchFamily="34" charset="-120"/>
              </a:rPr>
              <a:t>Formal criterion — </a:t>
            </a:r>
            <a:r>
              <a:rPr lang="en-US" sz="2200" dirty="0">
                <a:solidFill>
                  <a:srgbClr val="1A1F2B"/>
                </a:solidFill>
                <a:latin typeface="Calibri" pitchFamily="34" charset="0"/>
                <a:ea typeface="Calibri" pitchFamily="34" charset="-122"/>
                <a:cs typeface="Calibri" pitchFamily="34" charset="-120"/>
              </a:rPr>
              <a:t>Larger values (closer to h*, never exceeding it) prune more search.</a:t>
            </a:r>
            <a:endParaRPr lang="en-US" sz="2200" dirty="0"/>
          </a:p>
        </p:txBody>
      </p:sp>
      <p:sp>
        <p:nvSpPr>
          <p:cNvPr id="5" name="Shape 3"/>
          <p:cNvSpPr/>
          <p:nvPr/>
        </p:nvSpPr>
        <p:spPr>
          <a:xfrm>
            <a:off x="548640" y="3474720"/>
            <a:ext cx="11094415" cy="1874520"/>
          </a:xfrm>
          <a:prstGeom prst="roundRect">
            <a:avLst>
              <a:gd name="adj" fmla="val 3415"/>
            </a:avLst>
          </a:prstGeom>
          <a:solidFill>
            <a:srgbClr val="0B1E3D"/>
          </a:solidFill>
          <a:ln/>
        </p:spPr>
      </p:sp>
      <p:sp>
        <p:nvSpPr>
          <p:cNvPr id="6" name="Text 4"/>
          <p:cNvSpPr/>
          <p:nvPr/>
        </p:nvSpPr>
        <p:spPr>
          <a:xfrm>
            <a:off x="822960" y="360273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The trade-off to remember</a:t>
            </a:r>
            <a:endParaRPr lang="en-US" sz="2600" dirty="0"/>
          </a:p>
        </p:txBody>
      </p:sp>
      <p:sp>
        <p:nvSpPr>
          <p:cNvPr id="7" name="Text 5"/>
          <p:cNvSpPr/>
          <p:nvPr/>
        </p:nvSpPr>
        <p:spPr>
          <a:xfrm>
            <a:off x="822960" y="3977640"/>
            <a:ext cx="10545775" cy="1280160"/>
          </a:xfrm>
          <a:prstGeom prst="rect">
            <a:avLst/>
          </a:prstGeom>
          <a:noFill/>
          <a:ln/>
        </p:spPr>
        <p:txBody>
          <a:bodyPr wrap="square" lIns="0" tIns="0" rIns="0" bIns="0" rtlCol="0" anchor="t"/>
          <a:lstStyle/>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A more informative heuristic can be more expensive to COMPUTE</a:t>
            </a:r>
            <a:endParaRPr lang="en-US" sz="2000" dirty="0"/>
          </a:p>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Balance: how much it narrows search vs. its per-node cost</a:t>
            </a:r>
            <a:endParaRPr lang="en-US" sz="2000" dirty="0"/>
          </a:p>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Engineers often accept a weaker, cheaper h evaluated millions of times/sec</a:t>
            </a:r>
            <a:endParaRPr lang="en-US" sz="2000" dirty="0"/>
          </a:p>
        </p:txBody>
      </p:sp>
      <p:sp>
        <p:nvSpPr>
          <p:cNvPr id="8" name="Text 6"/>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5. Heuristic Quality</a:t>
            </a:r>
            <a:endParaRPr lang="en-US" sz="1600" dirty="0"/>
          </a:p>
        </p:txBody>
      </p:sp>
      <p:sp>
        <p:nvSpPr>
          <p:cNvPr id="9" name="Text 7"/>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23 / 40</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5. HEURISTIC QUALITY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4900"/>
              </a:lnSpc>
              <a:buNone/>
            </a:pPr>
            <a:r>
              <a:rPr lang="en-US" sz="4550" b="1" dirty="0">
                <a:solidFill>
                  <a:srgbClr val="0B1E3D"/>
                </a:solidFill>
                <a:latin typeface="Cambria" pitchFamily="34" charset="0"/>
                <a:ea typeface="Cambria" pitchFamily="34" charset="-122"/>
                <a:cs typeface="Cambria" pitchFamily="34" charset="-120"/>
              </a:rPr>
              <a:t>Weak vs. Strong Heuristics — h₁ and h₂</a:t>
            </a:r>
            <a:endParaRPr lang="en-US" sz="4550" dirty="0"/>
          </a:p>
        </p:txBody>
      </p:sp>
      <p:pic>
        <p:nvPicPr>
          <p:cNvPr id="4" name="Image 0" descr="/mnt/user-data/working/lecture4/assets/heuristic_quality_bars.png"/>
          <p:cNvPicPr>
            <a:picLocks noChangeAspect="1"/>
          </p:cNvPicPr>
          <p:nvPr/>
        </p:nvPicPr>
        <p:blipFill>
          <a:blip r:embed="rId3"/>
          <a:stretch>
            <a:fillRect/>
          </a:stretch>
        </p:blipFill>
        <p:spPr>
          <a:xfrm>
            <a:off x="457200" y="2331720"/>
            <a:ext cx="7040880" cy="3977640"/>
          </a:xfrm>
          <a:prstGeom prst="rect">
            <a:avLst/>
          </a:prstGeom>
        </p:spPr>
      </p:pic>
      <p:sp>
        <p:nvSpPr>
          <p:cNvPr id="5" name="Shape 2"/>
          <p:cNvSpPr/>
          <p:nvPr/>
        </p:nvSpPr>
        <p:spPr>
          <a:xfrm>
            <a:off x="7635240" y="2331720"/>
            <a:ext cx="4023360" cy="3977640"/>
          </a:xfrm>
          <a:prstGeom prst="roundRect">
            <a:avLst>
              <a:gd name="adj" fmla="val 1609"/>
            </a:avLst>
          </a:prstGeom>
          <a:solidFill>
            <a:srgbClr val="F3F5F8"/>
          </a:solidFill>
          <a:ln w="12700">
            <a:solidFill>
              <a:srgbClr val="D8DCE3"/>
            </a:solidFill>
            <a:prstDash val="solid"/>
          </a:ln>
        </p:spPr>
      </p:sp>
      <p:sp>
        <p:nvSpPr>
          <p:cNvPr id="6" name="Text 3"/>
          <p:cNvSpPr/>
          <p:nvPr/>
        </p:nvSpPr>
        <p:spPr>
          <a:xfrm>
            <a:off x="7909560" y="2459736"/>
            <a:ext cx="347472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Reading this chart</a:t>
            </a:r>
            <a:endParaRPr lang="en-US" sz="2600" dirty="0"/>
          </a:p>
        </p:txBody>
      </p:sp>
      <p:sp>
        <p:nvSpPr>
          <p:cNvPr id="7" name="Text 4"/>
          <p:cNvSpPr/>
          <p:nvPr/>
        </p:nvSpPr>
        <p:spPr>
          <a:xfrm>
            <a:off x="7863840" y="2834640"/>
            <a:ext cx="3566160" cy="3291840"/>
          </a:xfrm>
          <a:prstGeom prst="rect">
            <a:avLst/>
          </a:prstGeom>
          <a:noFill/>
          <a:ln/>
        </p:spPr>
        <p:txBody>
          <a:bodyPr wrap="square" lIns="0" tIns="0" rIns="0" bIns="0" rtlCol="0" anchor="t"/>
          <a:lstStyle/>
          <a:p>
            <a:pPr marL="203200" indent="-203200">
              <a:spcAft>
                <a:spcPts val="1200"/>
              </a:spcAft>
              <a:buSzPct val="100000"/>
              <a:buChar char="▪"/>
            </a:pPr>
            <a:r>
              <a:rPr lang="en-US" sz="1900" dirty="0">
                <a:solidFill>
                  <a:srgbClr val="1A1F2B"/>
                </a:solidFill>
                <a:latin typeface="Calibri" pitchFamily="34" charset="0"/>
                <a:ea typeface="Calibri" pitchFamily="34" charset="-122"/>
                <a:cs typeface="Calibri" pitchFamily="34" charset="-120"/>
              </a:rPr>
              <a:t>h₁ and h₂ agree everywhere except at A</a:t>
            </a:r>
            <a:endParaRPr lang="en-US" sz="1900" dirty="0"/>
          </a:p>
          <a:p>
            <a:pPr marL="203200" indent="-203200">
              <a:spcAft>
                <a:spcPts val="1200"/>
              </a:spcAft>
              <a:buSzPct val="100000"/>
              <a:buChar char="▪"/>
            </a:pPr>
            <a:r>
              <a:rPr lang="en-US" sz="1900" dirty="0">
                <a:solidFill>
                  <a:srgbClr val="1A1F2B"/>
                </a:solidFill>
                <a:latin typeface="Calibri" pitchFamily="34" charset="0"/>
                <a:ea typeface="Calibri" pitchFamily="34" charset="-122"/>
                <a:cs typeface="Calibri" pitchFamily="34" charset="-120"/>
              </a:rPr>
              <a:t>h₂(A)=7 sits much closer to h*(A)=9 than h₁(A)=3</a:t>
            </a:r>
            <a:endParaRPr lang="en-US" sz="1900" dirty="0"/>
          </a:p>
          <a:p>
            <a:pPr marL="203200" indent="-203200">
              <a:spcAft>
                <a:spcPts val="1200"/>
              </a:spcAft>
              <a:buSzPct val="100000"/>
              <a:buChar char="▪"/>
            </a:pPr>
            <a:r>
              <a:rPr lang="en-US" sz="1900" dirty="0">
                <a:solidFill>
                  <a:srgbClr val="1A1F2B"/>
                </a:solidFill>
                <a:latin typeface="Calibri" pitchFamily="34" charset="0"/>
                <a:ea typeface="Calibri" pitchFamily="34" charset="-122"/>
                <a:cs typeface="Calibri" pitchFamily="34" charset="-120"/>
              </a:rPr>
              <a:t>Both stay admissible — neither bar exceeds h*</a:t>
            </a:r>
            <a:endParaRPr lang="en-US" sz="1900" dirty="0"/>
          </a:p>
          <a:p>
            <a:pPr marL="203200" indent="-203200">
              <a:spcAft>
                <a:spcPts val="1200"/>
              </a:spcAft>
              <a:buSzPct val="100000"/>
              <a:buChar char="▪"/>
            </a:pPr>
            <a:r>
              <a:rPr lang="en-US" sz="1900" dirty="0">
                <a:solidFill>
                  <a:srgbClr val="1A1F2B"/>
                </a:solidFill>
                <a:latin typeface="Calibri" pitchFamily="34" charset="0"/>
                <a:ea typeface="Calibri" pitchFamily="34" charset="-122"/>
                <a:cs typeface="Calibri" pitchFamily="34" charset="-120"/>
              </a:rPr>
              <a:t>A* handled either correctly — quality affects EFFICIENCY, not correctness</a:t>
            </a:r>
            <a:endParaRPr lang="en-US" sz="1900" dirty="0"/>
          </a:p>
        </p:txBody>
      </p:sp>
      <p:sp>
        <p:nvSpPr>
          <p:cNvPr id="8"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5. Heuristic Quality</a:t>
            </a:r>
            <a:endParaRPr lang="en-US" sz="1600" dirty="0"/>
          </a:p>
        </p:txBody>
      </p:sp>
      <p:sp>
        <p:nvSpPr>
          <p:cNvPr id="9"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24 / 40</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5. HEURISTIC QUALITY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Heuristic Dominance</a:t>
            </a:r>
            <a:endParaRPr lang="en-US" sz="5050" dirty="0"/>
          </a:p>
        </p:txBody>
      </p:sp>
      <p:sp>
        <p:nvSpPr>
          <p:cNvPr id="4" name="Shape 2"/>
          <p:cNvSpPr/>
          <p:nvPr/>
        </p:nvSpPr>
        <p:spPr>
          <a:xfrm>
            <a:off x="548640" y="2331720"/>
            <a:ext cx="11094415" cy="960120"/>
          </a:xfrm>
          <a:prstGeom prst="roundRect">
            <a:avLst>
              <a:gd name="adj" fmla="val 7619"/>
            </a:avLst>
          </a:prstGeom>
          <a:solidFill>
            <a:srgbClr val="0B1E3D"/>
          </a:solidFill>
          <a:ln/>
        </p:spPr>
      </p:sp>
      <p:sp>
        <p:nvSpPr>
          <p:cNvPr id="5" name="Text 3"/>
          <p:cNvSpPr/>
          <p:nvPr/>
        </p:nvSpPr>
        <p:spPr>
          <a:xfrm>
            <a:off x="822960" y="2404872"/>
            <a:ext cx="10545775" cy="822960"/>
          </a:xfrm>
          <a:prstGeom prst="rect">
            <a:avLst/>
          </a:prstGeom>
          <a:noFill/>
          <a:ln/>
        </p:spPr>
        <p:txBody>
          <a:bodyPr wrap="square" rtlCol="0" anchor="ctr"/>
          <a:lstStyle/>
          <a:p>
            <a:pPr marL="0" indent="0">
              <a:lnSpc>
                <a:spcPts val="2700"/>
              </a:lnSpc>
              <a:buNone/>
            </a:pPr>
            <a:r>
              <a:rPr lang="en-US" sz="2200" b="1" dirty="0">
                <a:solidFill>
                  <a:srgbClr val="B08D57"/>
                </a:solidFill>
              </a:rPr>
              <a:t>Definition:  </a:t>
            </a:r>
            <a:r>
              <a:rPr lang="en-US" sz="2100" dirty="0">
                <a:solidFill>
                  <a:srgbClr val="E7EBF3"/>
                </a:solidFill>
              </a:rPr>
              <a:t>If h₂(n) ≥ h₁(n) everywhere and both are admissible, h₂ </a:t>
            </a:r>
            <a:r>
              <a:rPr lang="en-US" sz="2100" b="1" i="1" dirty="0">
                <a:solidFill>
                  <a:srgbClr val="FFFFFF"/>
                </a:solidFill>
              </a:rPr>
              <a:t>dominates</a:t>
            </a:r>
            <a:r>
              <a:rPr lang="en-US" sz="2100" dirty="0">
                <a:solidFill>
                  <a:srgbClr val="E7EBF3"/>
                </a:solidFill>
              </a:rPr>
              <a:t> h₁ — A* with h₂ never expands more nodes.</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9262872" cy="1371600"/>
        </p:xfrm>
        <a:graphic>
          <a:graphicData uri="http://schemas.openxmlformats.org/drawingml/2006/table">
            <a:tbl>
              <a:tblPr/>
              <a:tblGrid>
                <a:gridCol w="2834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1627632">
                  <a:extLst>
                    <a:ext uri="{9D8B030D-6E8A-4147-A177-3AD203B41FA5}">
                      <a16:colId xmlns:a16="http://schemas.microsoft.com/office/drawing/2014/main" val="20006"/>
                    </a:ext>
                  </a:extLst>
                </a:gridCol>
              </a:tblGrid>
              <a:tr h="457200">
                <a:tc>
                  <a:txBody>
                    <a:bodyPr/>
                    <a:lstStyle/>
                    <a:p>
                      <a:pPr marL="0" indent="0" algn="ctr">
                        <a:buNone/>
                      </a:pPr>
                      <a:r>
                        <a:rPr lang="en-US" sz="1850" b="1" dirty="0">
                          <a:solidFill>
                            <a:srgbClr val="FFFFFF"/>
                          </a:solidFill>
                        </a:rPr>
                        <a:t>Expansion order</a:t>
                      </a:r>
                      <a:endParaRPr lang="en-US" sz="18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tc>
                  <a:txBody>
                    <a:bodyPr/>
                    <a:lstStyle/>
                    <a:p>
                      <a:pPr marL="0" indent="0" algn="ctr">
                        <a:buNone/>
                      </a:pPr>
                      <a:r>
                        <a:rPr lang="en-US" sz="1850" b="1" dirty="0">
                          <a:solidFill>
                            <a:srgbClr val="FFFFFF"/>
                          </a:solidFill>
                        </a:rPr>
                        <a:t>1st</a:t>
                      </a:r>
                      <a:endParaRPr lang="en-US" sz="18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tc>
                  <a:txBody>
                    <a:bodyPr/>
                    <a:lstStyle/>
                    <a:p>
                      <a:pPr marL="0" indent="0" algn="ctr">
                        <a:buNone/>
                      </a:pPr>
                      <a:r>
                        <a:rPr lang="en-US" sz="1850" b="1" dirty="0">
                          <a:solidFill>
                            <a:srgbClr val="FFFFFF"/>
                          </a:solidFill>
                        </a:rPr>
                        <a:t>2nd</a:t>
                      </a:r>
                      <a:endParaRPr lang="en-US" sz="18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tc>
                  <a:txBody>
                    <a:bodyPr/>
                    <a:lstStyle/>
                    <a:p>
                      <a:pPr marL="0" indent="0" algn="ctr">
                        <a:buNone/>
                      </a:pPr>
                      <a:r>
                        <a:rPr lang="en-US" sz="1850" b="1" dirty="0">
                          <a:solidFill>
                            <a:srgbClr val="FFFFFF"/>
                          </a:solidFill>
                        </a:rPr>
                        <a:t>3rd</a:t>
                      </a:r>
                      <a:endParaRPr lang="en-US" sz="18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tc>
                  <a:txBody>
                    <a:bodyPr/>
                    <a:lstStyle/>
                    <a:p>
                      <a:pPr marL="0" indent="0" algn="ctr">
                        <a:buNone/>
                      </a:pPr>
                      <a:r>
                        <a:rPr lang="en-US" sz="1850" b="1" dirty="0">
                          <a:solidFill>
                            <a:srgbClr val="FFFFFF"/>
                          </a:solidFill>
                        </a:rPr>
                        <a:t>4th</a:t>
                      </a:r>
                      <a:endParaRPr lang="en-US" sz="18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tc>
                  <a:txBody>
                    <a:bodyPr/>
                    <a:lstStyle/>
                    <a:p>
                      <a:pPr marL="0" indent="0" algn="ctr">
                        <a:buNone/>
                      </a:pPr>
                      <a:r>
                        <a:rPr lang="en-US" sz="1850" b="1" dirty="0">
                          <a:solidFill>
                            <a:srgbClr val="FFFFFF"/>
                          </a:solidFill>
                        </a:rPr>
                        <a:t>5th</a:t>
                      </a:r>
                      <a:endParaRPr lang="en-US" sz="18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tc>
                  <a:txBody>
                    <a:bodyPr/>
                    <a:lstStyle/>
                    <a:p>
                      <a:pPr marL="0" indent="0" algn="ctr">
                        <a:buNone/>
                      </a:pPr>
                      <a:r>
                        <a:rPr lang="en-US" sz="1850" b="1" dirty="0">
                          <a:solidFill>
                            <a:srgbClr val="FFFFFF"/>
                          </a:solidFill>
                        </a:rPr>
                        <a:t>Total</a:t>
                      </a:r>
                      <a:endParaRPr lang="en-US" sz="18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57200">
                <a:tc>
                  <a:txBody>
                    <a:bodyPr/>
                    <a:lstStyle/>
                    <a:p>
                      <a:pPr marL="0" indent="0" algn="ctr">
                        <a:buNone/>
                      </a:pPr>
                      <a:r>
                        <a:rPr lang="en-US" sz="1950" b="1" dirty="0">
                          <a:solidFill>
                            <a:srgbClr val="1A1F2B"/>
                          </a:solidFill>
                        </a:rPr>
                        <a:t>A* using h₁ (dominated)</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S</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A</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B</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D</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G</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5</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950" b="1" dirty="0">
                          <a:solidFill>
                            <a:srgbClr val="1A1F2B"/>
                          </a:solidFill>
                        </a:rPr>
                        <a:t>A* using h₂ (dominant)</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S</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B</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D</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A</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G</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950" dirty="0">
                          <a:solidFill>
                            <a:srgbClr val="1A1F2B"/>
                          </a:solidFill>
                        </a:rPr>
                        <a:t>5</a:t>
                      </a:r>
                      <a:endParaRPr lang="en-US" sz="19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Shape 4"/>
          <p:cNvSpPr/>
          <p:nvPr/>
        </p:nvSpPr>
        <p:spPr>
          <a:xfrm>
            <a:off x="548640" y="4937760"/>
            <a:ext cx="11094415" cy="1143000"/>
          </a:xfrm>
          <a:prstGeom prst="roundRect">
            <a:avLst>
              <a:gd name="adj" fmla="val 5600"/>
            </a:avLst>
          </a:prstGeom>
          <a:solidFill>
            <a:srgbClr val="F3F5F8"/>
          </a:solidFill>
          <a:ln w="12700">
            <a:solidFill>
              <a:srgbClr val="D8DCE3"/>
            </a:solidFill>
            <a:prstDash val="solid"/>
          </a:ln>
        </p:spPr>
      </p:sp>
      <p:sp>
        <p:nvSpPr>
          <p:cNvPr id="8" name="Text 5"/>
          <p:cNvSpPr/>
          <p:nvPr/>
        </p:nvSpPr>
        <p:spPr>
          <a:xfrm>
            <a:off x="822960" y="5065776"/>
            <a:ext cx="10545775"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Honest reading</a:t>
            </a:r>
            <a:endParaRPr lang="en-US" sz="2600" dirty="0"/>
          </a:p>
        </p:txBody>
      </p:sp>
      <p:sp>
        <p:nvSpPr>
          <p:cNvPr id="9" name="Text 6"/>
          <p:cNvSpPr/>
          <p:nvPr/>
        </p:nvSpPr>
        <p:spPr>
          <a:xfrm>
            <a:off x="822960" y="5605272"/>
            <a:ext cx="10545775" cy="411480"/>
          </a:xfrm>
          <a:prstGeom prst="rect">
            <a:avLst/>
          </a:prstGeom>
          <a:noFill/>
          <a:ln/>
        </p:spPr>
        <p:txBody>
          <a:bodyPr wrap="square" rtlCol="0" anchor="ctr"/>
          <a:lstStyle/>
          <a:p>
            <a:pPr marL="0" indent="0">
              <a:lnSpc>
                <a:spcPts val="2400"/>
              </a:lnSpc>
              <a:buNone/>
            </a:pPr>
            <a:r>
              <a:rPr lang="en-US" sz="1900" dirty="0">
                <a:solidFill>
                  <a:srgbClr val="000000"/>
                </a:solidFill>
                <a:latin typeface="Calibri" pitchFamily="34" charset="0"/>
                <a:ea typeface="Calibri" pitchFamily="34" charset="-122"/>
                <a:cs typeface="Calibri" pitchFamily="34" charset="-120"/>
              </a:rPr>
              <a:t>Both need 5 expansions — dominance means never MORE, not always fewer. h₂ deprioritizes A (4th); h₁ wastes a slot on it early (2nd).</a:t>
            </a:r>
            <a:endParaRPr lang="en-US" sz="1900" dirty="0"/>
          </a:p>
        </p:txBody>
      </p:sp>
      <p:sp>
        <p:nvSpPr>
          <p:cNvPr id="10" name="Text 7"/>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5. Heuristic Quality</a:t>
            </a:r>
            <a:endParaRPr lang="en-US" sz="1600" dirty="0"/>
          </a:p>
        </p:txBody>
      </p:sp>
      <p:sp>
        <p:nvSpPr>
          <p:cNvPr id="11" name="Text 8"/>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25 / 40</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5. HEURISTIC QUALITY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4900"/>
              </a:lnSpc>
              <a:buNone/>
            </a:pPr>
            <a:r>
              <a:rPr lang="en-US" sz="4550" b="1" dirty="0">
                <a:solidFill>
                  <a:srgbClr val="0B1E3D"/>
                </a:solidFill>
                <a:latin typeface="Cambria" pitchFamily="34" charset="0"/>
                <a:ea typeface="Cambria" pitchFamily="34" charset="-122"/>
                <a:cs typeface="Cambria" pitchFamily="34" charset="-120"/>
              </a:rPr>
              <a:t>A Second Example: Manhattan vs. Euclidean</a:t>
            </a:r>
            <a:endParaRPr lang="en-US" sz="4550" dirty="0"/>
          </a:p>
        </p:txBody>
      </p:sp>
      <p:sp>
        <p:nvSpPr>
          <p:cNvPr id="4" name="Text 2"/>
          <p:cNvSpPr/>
          <p:nvPr/>
        </p:nvSpPr>
        <p:spPr>
          <a:xfrm>
            <a:off x="548640" y="2331720"/>
            <a:ext cx="11094415" cy="457200"/>
          </a:xfrm>
          <a:prstGeom prst="rect">
            <a:avLst/>
          </a:prstGeom>
          <a:noFill/>
          <a:ln/>
        </p:spPr>
        <p:txBody>
          <a:bodyPr wrap="square" rtlCol="0" anchor="ctr"/>
          <a:lstStyle/>
          <a:p>
            <a:pPr marL="0" indent="0">
              <a:buNone/>
            </a:pPr>
            <a:r>
              <a:rPr lang="en-US" sz="2200" i="1" dirty="0">
                <a:solidFill>
                  <a:srgbClr val="6B7686"/>
                </a:solidFill>
                <a:latin typeface="Calibri" pitchFamily="34" charset="0"/>
                <a:ea typeface="Calibri" pitchFamily="34" charset="-122"/>
                <a:cs typeface="Calibri" pitchFamily="34" charset="-120"/>
              </a:rPr>
              <a:t>Grid robot, 4-directional unit moves. Robot at (0,0), goal at (3,4).</a:t>
            </a:r>
            <a:endParaRPr lang="en-US" sz="2200" dirty="0"/>
          </a:p>
        </p:txBody>
      </p:sp>
      <p:sp>
        <p:nvSpPr>
          <p:cNvPr id="5" name="Shape 3"/>
          <p:cNvSpPr/>
          <p:nvPr/>
        </p:nvSpPr>
        <p:spPr>
          <a:xfrm>
            <a:off x="548640" y="2834640"/>
            <a:ext cx="5364328" cy="2606040"/>
          </a:xfrm>
          <a:prstGeom prst="roundRect">
            <a:avLst>
              <a:gd name="adj" fmla="val 2807"/>
            </a:avLst>
          </a:prstGeom>
          <a:solidFill>
            <a:srgbClr val="F3F5F8"/>
          </a:solidFill>
          <a:ln w="12700">
            <a:solidFill>
              <a:srgbClr val="D8DCE3"/>
            </a:solidFill>
            <a:prstDash val="solid"/>
          </a:ln>
        </p:spPr>
      </p:sp>
      <p:sp>
        <p:nvSpPr>
          <p:cNvPr id="6" name="Text 4"/>
          <p:cNvSpPr/>
          <p:nvPr/>
        </p:nvSpPr>
        <p:spPr>
          <a:xfrm>
            <a:off x="822960" y="3017520"/>
            <a:ext cx="4815688" cy="411480"/>
          </a:xfrm>
          <a:prstGeom prst="rect">
            <a:avLst/>
          </a:prstGeom>
          <a:noFill/>
          <a:ln/>
        </p:spPr>
        <p:txBody>
          <a:bodyPr wrap="square" rtlCol="0" anchor="ctr"/>
          <a:lstStyle/>
          <a:p>
            <a:pPr marL="0" indent="0">
              <a:buNone/>
            </a:pPr>
            <a:r>
              <a:rPr lang="en-US" sz="2550" b="1" dirty="0">
                <a:solidFill>
                  <a:srgbClr val="0B1E3D"/>
                </a:solidFill>
                <a:latin typeface="Cambria" pitchFamily="34" charset="0"/>
                <a:ea typeface="Cambria" pitchFamily="34" charset="-122"/>
                <a:cs typeface="Cambria" pitchFamily="34" charset="-120"/>
              </a:rPr>
              <a:t>Euclidean distance</a:t>
            </a:r>
            <a:endParaRPr lang="en-US" sz="2550" dirty="0"/>
          </a:p>
        </p:txBody>
      </p:sp>
      <p:sp>
        <p:nvSpPr>
          <p:cNvPr id="7" name="Text 5"/>
          <p:cNvSpPr/>
          <p:nvPr/>
        </p:nvSpPr>
        <p:spPr>
          <a:xfrm>
            <a:off x="822960" y="3474720"/>
            <a:ext cx="4815688" cy="548640"/>
          </a:xfrm>
          <a:prstGeom prst="rect">
            <a:avLst/>
          </a:prstGeom>
          <a:noFill/>
          <a:ln/>
        </p:spPr>
        <p:txBody>
          <a:bodyPr wrap="square" rtlCol="0" anchor="ctr"/>
          <a:lstStyle/>
          <a:p>
            <a:pPr marL="0" indent="0">
              <a:buNone/>
            </a:pPr>
            <a:r>
              <a:rPr lang="en-US" sz="2850" b="1" dirty="0">
                <a:solidFill>
                  <a:srgbClr val="3B5578"/>
                </a:solidFill>
                <a:latin typeface="Courier New" pitchFamily="34" charset="0"/>
                <a:ea typeface="Courier New" pitchFamily="34" charset="-122"/>
                <a:cs typeface="Courier New" pitchFamily="34" charset="-120"/>
              </a:rPr>
              <a:t>√(3²+4²) = 5</a:t>
            </a:r>
            <a:endParaRPr lang="en-US" sz="2850" dirty="0"/>
          </a:p>
        </p:txBody>
      </p:sp>
      <p:sp>
        <p:nvSpPr>
          <p:cNvPr id="8" name="Text 6"/>
          <p:cNvSpPr/>
          <p:nvPr/>
        </p:nvSpPr>
        <p:spPr>
          <a:xfrm>
            <a:off x="822960" y="4114800"/>
            <a:ext cx="4815688" cy="1188720"/>
          </a:xfrm>
          <a:prstGeom prst="rect">
            <a:avLst/>
          </a:prstGeom>
          <a:noFill/>
          <a:ln/>
        </p:spPr>
        <p:txBody>
          <a:bodyPr wrap="square" rtlCol="0" anchor="ctr"/>
          <a:lstStyle/>
          <a:p>
            <a:pPr marL="0" indent="0">
              <a:lnSpc>
                <a:spcPts val="2700"/>
              </a:lnSpc>
              <a:buNone/>
            </a:pPr>
            <a:r>
              <a:rPr lang="en-US" sz="2000" dirty="0">
                <a:solidFill>
                  <a:srgbClr val="1A1F2B"/>
                </a:solidFill>
                <a:latin typeface="Calibri" pitchFamily="34" charset="0"/>
                <a:ea typeface="Calibri" pitchFamily="34" charset="-122"/>
                <a:cs typeface="Calibri" pitchFamily="34" charset="-120"/>
              </a:rPr>
              <a:t>5 ≤ 7 — admissible but LOOSE (assumes diagonal shortcuts)</a:t>
            </a:r>
            <a:endParaRPr lang="en-US" sz="2000" dirty="0"/>
          </a:p>
        </p:txBody>
      </p:sp>
      <p:sp>
        <p:nvSpPr>
          <p:cNvPr id="9" name="Shape 7"/>
          <p:cNvSpPr/>
          <p:nvPr/>
        </p:nvSpPr>
        <p:spPr>
          <a:xfrm>
            <a:off x="6278728" y="2834640"/>
            <a:ext cx="5364328" cy="2606040"/>
          </a:xfrm>
          <a:prstGeom prst="roundRect">
            <a:avLst>
              <a:gd name="adj" fmla="val 2807"/>
            </a:avLst>
          </a:prstGeom>
          <a:solidFill>
            <a:srgbClr val="F3F5F8"/>
          </a:solidFill>
          <a:ln w="12700">
            <a:solidFill>
              <a:srgbClr val="D8DCE3"/>
            </a:solidFill>
            <a:prstDash val="solid"/>
          </a:ln>
        </p:spPr>
      </p:sp>
      <p:sp>
        <p:nvSpPr>
          <p:cNvPr id="10" name="Text 8"/>
          <p:cNvSpPr/>
          <p:nvPr/>
        </p:nvSpPr>
        <p:spPr>
          <a:xfrm>
            <a:off x="6553048" y="3017520"/>
            <a:ext cx="4815688" cy="411480"/>
          </a:xfrm>
          <a:prstGeom prst="rect">
            <a:avLst/>
          </a:prstGeom>
          <a:noFill/>
          <a:ln/>
        </p:spPr>
        <p:txBody>
          <a:bodyPr wrap="square" rtlCol="0" anchor="ctr"/>
          <a:lstStyle/>
          <a:p>
            <a:pPr marL="0" indent="0">
              <a:buNone/>
            </a:pPr>
            <a:r>
              <a:rPr lang="en-US" sz="2550" b="1" dirty="0">
                <a:solidFill>
                  <a:srgbClr val="0B1E3D"/>
                </a:solidFill>
                <a:latin typeface="Cambria" pitchFamily="34" charset="0"/>
                <a:ea typeface="Cambria" pitchFamily="34" charset="-122"/>
                <a:cs typeface="Cambria" pitchFamily="34" charset="-120"/>
              </a:rPr>
              <a:t>Manhattan distance</a:t>
            </a:r>
            <a:endParaRPr lang="en-US" sz="2550" dirty="0"/>
          </a:p>
        </p:txBody>
      </p:sp>
      <p:sp>
        <p:nvSpPr>
          <p:cNvPr id="11" name="Text 9"/>
          <p:cNvSpPr/>
          <p:nvPr/>
        </p:nvSpPr>
        <p:spPr>
          <a:xfrm>
            <a:off x="6553048" y="3474720"/>
            <a:ext cx="4815688" cy="548640"/>
          </a:xfrm>
          <a:prstGeom prst="rect">
            <a:avLst/>
          </a:prstGeom>
          <a:noFill/>
          <a:ln/>
        </p:spPr>
        <p:txBody>
          <a:bodyPr wrap="square" rtlCol="0" anchor="ctr"/>
          <a:lstStyle/>
          <a:p>
            <a:pPr marL="0" indent="0">
              <a:buNone/>
            </a:pPr>
            <a:r>
              <a:rPr lang="en-US" sz="2850" b="1" dirty="0">
                <a:solidFill>
                  <a:srgbClr val="B08D57"/>
                </a:solidFill>
                <a:latin typeface="Courier New" pitchFamily="34" charset="0"/>
                <a:ea typeface="Courier New" pitchFamily="34" charset="-122"/>
                <a:cs typeface="Courier New" pitchFamily="34" charset="-120"/>
              </a:rPr>
              <a:t>|3|+|4| = 7</a:t>
            </a:r>
            <a:endParaRPr lang="en-US" sz="2850" dirty="0"/>
          </a:p>
        </p:txBody>
      </p:sp>
      <p:sp>
        <p:nvSpPr>
          <p:cNvPr id="12" name="Text 10"/>
          <p:cNvSpPr/>
          <p:nvPr/>
        </p:nvSpPr>
        <p:spPr>
          <a:xfrm>
            <a:off x="6553048" y="4114800"/>
            <a:ext cx="4815688" cy="1188720"/>
          </a:xfrm>
          <a:prstGeom prst="rect">
            <a:avLst/>
          </a:prstGeom>
          <a:noFill/>
          <a:ln/>
        </p:spPr>
        <p:txBody>
          <a:bodyPr wrap="square" rtlCol="0" anchor="ctr"/>
          <a:lstStyle/>
          <a:p>
            <a:pPr marL="0" indent="0">
              <a:lnSpc>
                <a:spcPts val="2700"/>
              </a:lnSpc>
              <a:buNone/>
            </a:pPr>
            <a:r>
              <a:rPr lang="en-US" sz="2000" dirty="0">
                <a:solidFill>
                  <a:srgbClr val="1A1F2B"/>
                </a:solidFill>
                <a:latin typeface="Calibri" pitchFamily="34" charset="0"/>
                <a:ea typeface="Calibri" pitchFamily="34" charset="-122"/>
                <a:cs typeface="Calibri" pitchFamily="34" charset="-120"/>
              </a:rPr>
              <a:t>7 = h* — admissible AND exact for this movement model</a:t>
            </a:r>
            <a:endParaRPr lang="en-US" sz="2000" dirty="0"/>
          </a:p>
        </p:txBody>
      </p:sp>
      <p:sp>
        <p:nvSpPr>
          <p:cNvPr id="13" name="Text 11"/>
          <p:cNvSpPr/>
          <p:nvPr/>
        </p:nvSpPr>
        <p:spPr>
          <a:xfrm>
            <a:off x="548640" y="5623560"/>
            <a:ext cx="11094415" cy="685800"/>
          </a:xfrm>
          <a:prstGeom prst="rect">
            <a:avLst/>
          </a:prstGeom>
          <a:noFill/>
          <a:ln/>
        </p:spPr>
        <p:txBody>
          <a:bodyPr wrap="square" rtlCol="0" anchor="ctr"/>
          <a:lstStyle/>
          <a:p>
            <a:pPr marL="0" indent="0">
              <a:lnSpc>
                <a:spcPts val="2700"/>
              </a:lnSpc>
              <a:buNone/>
            </a:pPr>
            <a:r>
              <a:rPr lang="en-US" sz="2100" b="1" dirty="0">
                <a:solidFill>
                  <a:srgbClr val="0B1E3D"/>
                </a:solidFill>
                <a:latin typeface="Calibri" pitchFamily="34" charset="0"/>
                <a:ea typeface="Calibri" pitchFamily="34" charset="-122"/>
                <a:cs typeface="Calibri" pitchFamily="34" charset="-120"/>
              </a:rPr>
              <a:t>The lesson: </a:t>
            </a:r>
            <a:r>
              <a:rPr lang="en-US" sz="2100" dirty="0">
                <a:solidFill>
                  <a:srgbClr val="000000"/>
                </a:solidFill>
                <a:latin typeface="Calibri" pitchFamily="34" charset="0"/>
                <a:ea typeface="Calibri" pitchFamily="34" charset="-122"/>
                <a:cs typeface="Calibri" pitchFamily="34" charset="-120"/>
              </a:rPr>
              <a:t>the best heuristic depends on the ACTION MODEL — allow diagonal moves and Manhattan could even become inadmissible.</a:t>
            </a:r>
            <a:endParaRPr lang="en-US" sz="2100" dirty="0"/>
          </a:p>
        </p:txBody>
      </p:sp>
      <p:sp>
        <p:nvSpPr>
          <p:cNvPr id="14" name="Text 12"/>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5. Heuristic Quality</a:t>
            </a:r>
            <a:endParaRPr lang="en-US" sz="1600" dirty="0"/>
          </a:p>
        </p:txBody>
      </p:sp>
      <p:sp>
        <p:nvSpPr>
          <p:cNvPr id="15" name="Text 13"/>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26 / 40</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6. ADMISSIBILITY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800"/>
              </a:lnSpc>
              <a:buNone/>
            </a:pPr>
            <a:r>
              <a:rPr lang="en-US" sz="5400" b="1" dirty="0">
                <a:solidFill>
                  <a:srgbClr val="0B1E3D"/>
                </a:solidFill>
                <a:latin typeface="Cambria" pitchFamily="34" charset="0"/>
                <a:ea typeface="Cambria" pitchFamily="34" charset="-122"/>
                <a:cs typeface="Cambria" pitchFamily="34" charset="-120"/>
              </a:rPr>
              <a:t>Admissibility</a:t>
            </a:r>
            <a:endParaRPr lang="en-US" sz="5400" dirty="0"/>
          </a:p>
        </p:txBody>
      </p:sp>
      <p:sp>
        <p:nvSpPr>
          <p:cNvPr id="4" name="Shape 2"/>
          <p:cNvSpPr/>
          <p:nvPr/>
        </p:nvSpPr>
        <p:spPr>
          <a:xfrm>
            <a:off x="548640" y="2331720"/>
            <a:ext cx="11094415" cy="868680"/>
          </a:xfrm>
          <a:prstGeom prst="roundRect">
            <a:avLst>
              <a:gd name="adj" fmla="val 8421"/>
            </a:avLst>
          </a:prstGeom>
          <a:solidFill>
            <a:srgbClr val="0B1E3D"/>
          </a:solidFill>
          <a:ln/>
        </p:spPr>
      </p:sp>
      <p:sp>
        <p:nvSpPr>
          <p:cNvPr id="5" name="Text 3"/>
          <p:cNvSpPr/>
          <p:nvPr/>
        </p:nvSpPr>
        <p:spPr>
          <a:xfrm>
            <a:off x="548640" y="2331720"/>
            <a:ext cx="11094415" cy="868680"/>
          </a:xfrm>
          <a:prstGeom prst="rect">
            <a:avLst/>
          </a:prstGeom>
          <a:noFill/>
          <a:ln/>
        </p:spPr>
        <p:txBody>
          <a:bodyPr wrap="square" rtlCol="0" anchor="ctr"/>
          <a:lstStyle/>
          <a:p>
            <a:pPr marL="0" indent="0" algn="ctr">
              <a:buNone/>
            </a:pPr>
            <a:r>
              <a:rPr lang="en-US" sz="3700" b="1" dirty="0">
                <a:solidFill>
                  <a:srgbClr val="B08D57"/>
                </a:solidFill>
                <a:latin typeface="Courier New" pitchFamily="34" charset="0"/>
                <a:ea typeface="Courier New" pitchFamily="34" charset="-122"/>
                <a:cs typeface="Courier New" pitchFamily="34" charset="-120"/>
              </a:rPr>
              <a:t>h(n)  ≤  h*(n)     for every node n</a:t>
            </a:r>
            <a:endParaRPr lang="en-US" sz="3700" dirty="0"/>
          </a:p>
        </p:txBody>
      </p:sp>
      <p:sp>
        <p:nvSpPr>
          <p:cNvPr id="6" name="Text 4"/>
          <p:cNvSpPr/>
          <p:nvPr/>
        </p:nvSpPr>
        <p:spPr>
          <a:xfrm>
            <a:off x="548640" y="3383280"/>
            <a:ext cx="11094415" cy="1645920"/>
          </a:xfrm>
          <a:prstGeom prst="rect">
            <a:avLst/>
          </a:prstGeom>
          <a:noFill/>
          <a:ln/>
        </p:spPr>
        <p:txBody>
          <a:bodyPr wrap="square" lIns="0" tIns="0" rIns="0" bIns="0" rtlCol="0" anchor="t"/>
          <a:lstStyle/>
          <a:p>
            <a:pPr marL="203200" indent="-203200">
              <a:buSzPct val="100000"/>
              <a:buChar char="▪"/>
            </a:pPr>
            <a:r>
              <a:rPr lang="en-US" sz="2250" b="1" dirty="0">
                <a:solidFill>
                  <a:srgbClr val="0B1E3D"/>
                </a:solidFill>
                <a:latin typeface="Calibri" pitchFamily="34" charset="0"/>
                <a:ea typeface="Calibri" pitchFamily="34" charset="-122"/>
                <a:cs typeface="Calibri" pitchFamily="34" charset="-120"/>
              </a:rPr>
              <a:t>Formal definition — </a:t>
            </a:r>
            <a:r>
              <a:rPr lang="en-US" sz="2250" dirty="0">
                <a:solidFill>
                  <a:srgbClr val="1A1F2B"/>
                </a:solidFill>
                <a:latin typeface="Calibri" pitchFamily="34" charset="0"/>
                <a:ea typeface="Calibri" pitchFamily="34" charset="-122"/>
                <a:cs typeface="Calibri" pitchFamily="34" charset="-120"/>
              </a:rPr>
              <a:t>Never overestimates the true cost to the nearest goal.</a:t>
            </a:r>
            <a:endParaRPr lang="en-US" sz="2250" dirty="0"/>
          </a:p>
          <a:p>
            <a:pPr marL="203200" indent="-203200">
              <a:buSzPct val="100000"/>
              <a:buChar char="▪"/>
            </a:pPr>
            <a:r>
              <a:rPr lang="en-US" sz="2250" b="1" dirty="0">
                <a:solidFill>
                  <a:srgbClr val="0B1E3D"/>
                </a:solidFill>
                <a:latin typeface="Calibri" pitchFamily="34" charset="0"/>
                <a:ea typeface="Calibri" pitchFamily="34" charset="-122"/>
                <a:cs typeface="Calibri" pitchFamily="34" charset="-120"/>
              </a:rPr>
              <a:t>Theorem — </a:t>
            </a:r>
            <a:r>
              <a:rPr lang="en-US" sz="2250" dirty="0">
                <a:solidFill>
                  <a:srgbClr val="1A1F2B"/>
                </a:solidFill>
                <a:latin typeface="Calibri" pitchFamily="34" charset="0"/>
                <a:ea typeface="Calibri" pitchFamily="34" charset="-122"/>
                <a:cs typeface="Calibri" pitchFamily="34" charset="-120"/>
              </a:rPr>
              <a:t>Admissible h ⇒ A* with TREE SEARCH is guaranteed optimal.</a:t>
            </a:r>
            <a:endParaRPr lang="en-US" sz="2250" dirty="0"/>
          </a:p>
          <a:p>
            <a:pPr marL="203200" indent="-203200">
              <a:buSzPct val="100000"/>
              <a:buChar char="▪"/>
            </a:pPr>
            <a:r>
              <a:rPr lang="en-US" sz="2250" b="1" dirty="0">
                <a:solidFill>
                  <a:srgbClr val="0B1E3D"/>
                </a:solidFill>
                <a:latin typeface="Calibri" pitchFamily="34" charset="0"/>
                <a:ea typeface="Calibri" pitchFamily="34" charset="-122"/>
                <a:cs typeface="Calibri" pitchFamily="34" charset="-120"/>
              </a:rPr>
              <a:t>Why it works — </a:t>
            </a:r>
            <a:r>
              <a:rPr lang="en-US" sz="2250" dirty="0">
                <a:solidFill>
                  <a:srgbClr val="1A1F2B"/>
                </a:solidFill>
                <a:latin typeface="Calibri" pitchFamily="34" charset="0"/>
                <a:ea typeface="Calibri" pitchFamily="34" charset="-122"/>
                <a:cs typeface="Calibri" pitchFamily="34" charset="-120"/>
              </a:rPr>
              <a:t>h never overpromises, so A* never dismisses a path too early.</a:t>
            </a:r>
            <a:endParaRPr lang="en-US" sz="2250" dirty="0"/>
          </a:p>
        </p:txBody>
      </p:sp>
      <p:sp>
        <p:nvSpPr>
          <p:cNvPr id="7"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6. Admissibility</a:t>
            </a:r>
            <a:endParaRPr lang="en-US" sz="1600" dirty="0"/>
          </a:p>
        </p:txBody>
      </p:sp>
      <p:sp>
        <p:nvSpPr>
          <p:cNvPr id="8"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27 / 40</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6. ADMISSIBILITY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Admissibility — Numerical Example</a:t>
            </a:r>
            <a:endParaRPr lang="en-US" sz="4700" dirty="0"/>
          </a:p>
        </p:txBody>
      </p:sp>
      <p:pic>
        <p:nvPicPr>
          <p:cNvPr id="4" name="Image 0" descr="/mnt/user-data/working/lecture4/assets/admissibility_diagram.png"/>
          <p:cNvPicPr>
            <a:picLocks noChangeAspect="1"/>
          </p:cNvPicPr>
          <p:nvPr/>
        </p:nvPicPr>
        <p:blipFill>
          <a:blip r:embed="rId3"/>
          <a:stretch>
            <a:fillRect/>
          </a:stretch>
        </p:blipFill>
        <p:spPr>
          <a:xfrm>
            <a:off x="1280160" y="2331720"/>
            <a:ext cx="6309360" cy="2743200"/>
          </a:xfrm>
          <a:prstGeom prst="rect">
            <a:avLst/>
          </a:prstGeom>
        </p:spPr>
      </p:pic>
      <p:sp>
        <p:nvSpPr>
          <p:cNvPr id="5" name="Shape 2"/>
          <p:cNvSpPr/>
          <p:nvPr/>
        </p:nvSpPr>
        <p:spPr>
          <a:xfrm>
            <a:off x="548640" y="5120640"/>
            <a:ext cx="11094415" cy="1005840"/>
          </a:xfrm>
          <a:prstGeom prst="roundRect">
            <a:avLst>
              <a:gd name="adj" fmla="val 6364"/>
            </a:avLst>
          </a:prstGeom>
          <a:solidFill>
            <a:srgbClr val="F3F5F8"/>
          </a:solidFill>
          <a:ln w="12700">
            <a:solidFill>
              <a:srgbClr val="D8DCE3"/>
            </a:solidFill>
            <a:prstDash val="solid"/>
          </a:ln>
        </p:spPr>
      </p:sp>
      <p:sp>
        <p:nvSpPr>
          <p:cNvPr id="6" name="Text 3"/>
          <p:cNvSpPr/>
          <p:nvPr/>
        </p:nvSpPr>
        <p:spPr>
          <a:xfrm>
            <a:off x="822960" y="5248656"/>
            <a:ext cx="10545775"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Both heuristics pass</a:t>
            </a:r>
            <a:endParaRPr lang="en-US" sz="2600" dirty="0"/>
          </a:p>
        </p:txBody>
      </p:sp>
      <p:sp>
        <p:nvSpPr>
          <p:cNvPr id="7" name="Text 4"/>
          <p:cNvSpPr/>
          <p:nvPr/>
        </p:nvSpPr>
        <p:spPr>
          <a:xfrm>
            <a:off x="822960" y="5733288"/>
            <a:ext cx="10545775" cy="365760"/>
          </a:xfrm>
          <a:prstGeom prst="rect">
            <a:avLst/>
          </a:prstGeom>
          <a:noFill/>
          <a:ln/>
        </p:spPr>
        <p:txBody>
          <a:bodyPr wrap="square" rtlCol="0" anchor="ctr"/>
          <a:lstStyle/>
          <a:p>
            <a:pPr marL="0" indent="0">
              <a:lnSpc>
                <a:spcPts val="2500"/>
              </a:lnSpc>
              <a:buNone/>
            </a:pPr>
            <a:r>
              <a:rPr lang="en-US" sz="1950" b="1" dirty="0">
                <a:solidFill>
                  <a:srgbClr val="000000"/>
                </a:solidFill>
                <a:latin typeface="Courier New" pitchFamily="34" charset="0"/>
                <a:ea typeface="Courier New" pitchFamily="34" charset="-122"/>
                <a:cs typeface="Courier New" pitchFamily="34" charset="-120"/>
              </a:rPr>
              <a:t>h₁(A)=3 ≤ 9   and   h₂(A)=7 ≤ 9.  </a:t>
            </a:r>
            <a:r>
              <a:rPr lang="en-US" sz="1950" dirty="0">
                <a:solidFill>
                  <a:srgbClr val="000000"/>
                </a:solidFill>
                <a:latin typeface="Calibri" pitchFamily="34" charset="0"/>
                <a:ea typeface="Calibri" pitchFamily="34" charset="-122"/>
                <a:cs typeface="Calibri" pitchFamily="34" charset="-120"/>
              </a:rPr>
              <a:t>Both admissible — they differ only in tightness, not correctness.</a:t>
            </a:r>
            <a:endParaRPr lang="en-US" sz="1950" dirty="0"/>
          </a:p>
        </p:txBody>
      </p:sp>
      <p:sp>
        <p:nvSpPr>
          <p:cNvPr id="8"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6. Admissibility</a:t>
            </a:r>
            <a:endParaRPr lang="en-US" sz="1600" dirty="0"/>
          </a:p>
        </p:txBody>
      </p:sp>
      <p:sp>
        <p:nvSpPr>
          <p:cNvPr id="9"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28 / 40</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7. CONSISTENCY (MONOTONICITY)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800"/>
              </a:lnSpc>
              <a:buNone/>
            </a:pPr>
            <a:r>
              <a:rPr lang="en-US" sz="5400" b="1" dirty="0">
                <a:solidFill>
                  <a:srgbClr val="0B1E3D"/>
                </a:solidFill>
                <a:latin typeface="Cambria" pitchFamily="34" charset="0"/>
                <a:ea typeface="Cambria" pitchFamily="34" charset="-122"/>
                <a:cs typeface="Cambria" pitchFamily="34" charset="-120"/>
              </a:rPr>
              <a:t>Consistency</a:t>
            </a:r>
            <a:endParaRPr lang="en-US" sz="5400" dirty="0"/>
          </a:p>
        </p:txBody>
      </p:sp>
      <p:sp>
        <p:nvSpPr>
          <p:cNvPr id="4" name="Shape 2"/>
          <p:cNvSpPr/>
          <p:nvPr/>
        </p:nvSpPr>
        <p:spPr>
          <a:xfrm>
            <a:off x="548640" y="2331720"/>
            <a:ext cx="11094415" cy="914400"/>
          </a:xfrm>
          <a:prstGeom prst="roundRect">
            <a:avLst>
              <a:gd name="adj" fmla="val 8000"/>
            </a:avLst>
          </a:prstGeom>
          <a:solidFill>
            <a:srgbClr val="0B1E3D"/>
          </a:solidFill>
          <a:ln/>
        </p:spPr>
      </p:sp>
      <p:sp>
        <p:nvSpPr>
          <p:cNvPr id="5" name="Text 3"/>
          <p:cNvSpPr/>
          <p:nvPr/>
        </p:nvSpPr>
        <p:spPr>
          <a:xfrm>
            <a:off x="548640" y="2331720"/>
            <a:ext cx="11094415" cy="914400"/>
          </a:xfrm>
          <a:prstGeom prst="rect">
            <a:avLst/>
          </a:prstGeom>
          <a:noFill/>
          <a:ln/>
        </p:spPr>
        <p:txBody>
          <a:bodyPr wrap="square" rtlCol="0" anchor="ctr"/>
          <a:lstStyle/>
          <a:p>
            <a:pPr marL="0" indent="0" algn="ctr">
              <a:buNone/>
            </a:pPr>
            <a:r>
              <a:rPr lang="en-US" sz="2850" b="1" dirty="0">
                <a:solidFill>
                  <a:srgbClr val="B08D57"/>
                </a:solidFill>
                <a:latin typeface="Courier New" pitchFamily="34" charset="0"/>
                <a:ea typeface="Courier New" pitchFamily="34" charset="-122"/>
                <a:cs typeface="Courier New" pitchFamily="34" charset="-120"/>
              </a:rPr>
              <a:t>h(n) ≤ c(n,n′) + h(n′)   for every edge n → n′</a:t>
            </a:r>
            <a:endParaRPr lang="en-US" sz="2850" dirty="0"/>
          </a:p>
        </p:txBody>
      </p:sp>
      <p:sp>
        <p:nvSpPr>
          <p:cNvPr id="6" name="Text 4"/>
          <p:cNvSpPr/>
          <p:nvPr/>
        </p:nvSpPr>
        <p:spPr>
          <a:xfrm>
            <a:off x="548640" y="3429000"/>
            <a:ext cx="11094415" cy="1691640"/>
          </a:xfrm>
          <a:prstGeom prst="rect">
            <a:avLst/>
          </a:prstGeom>
          <a:noFill/>
          <a:ln/>
        </p:spPr>
        <p:txBody>
          <a:bodyPr wrap="square" lIns="0" tIns="0" rIns="0" bIns="0" rtlCol="0" anchor="t"/>
          <a:lstStyle/>
          <a:p>
            <a:pPr marL="203200" indent="-203200">
              <a:buSzPct val="100000"/>
              <a:buChar char="▪"/>
            </a:pPr>
            <a:r>
              <a:rPr lang="en-US" sz="2250" b="1" dirty="0">
                <a:solidFill>
                  <a:srgbClr val="0B1E3D"/>
                </a:solidFill>
                <a:latin typeface="Calibri" pitchFamily="34" charset="0"/>
                <a:ea typeface="Calibri" pitchFamily="34" charset="-122"/>
                <a:cs typeface="Calibri" pitchFamily="34" charset="-120"/>
              </a:rPr>
              <a:t>Formal definition — </a:t>
            </a:r>
            <a:r>
              <a:rPr lang="en-US" sz="2250" dirty="0">
                <a:solidFill>
                  <a:srgbClr val="1A1F2B"/>
                </a:solidFill>
                <a:latin typeface="Calibri" pitchFamily="34" charset="0"/>
                <a:ea typeface="Calibri" pitchFamily="34" charset="-122"/>
                <a:cs typeface="Calibri" pitchFamily="34" charset="-120"/>
              </a:rPr>
              <a:t>The triangle inequality above, for every edge (also called monotonicity).</a:t>
            </a:r>
            <a:endParaRPr lang="en-US" sz="2250" dirty="0"/>
          </a:p>
          <a:p>
            <a:pPr marL="203200" indent="-203200">
              <a:buSzPct val="100000"/>
              <a:buChar char="▪"/>
            </a:pPr>
            <a:r>
              <a:rPr lang="en-US" sz="2250" b="1" dirty="0">
                <a:solidFill>
                  <a:srgbClr val="0B1E3D"/>
                </a:solidFill>
                <a:latin typeface="Calibri" pitchFamily="34" charset="0"/>
                <a:ea typeface="Calibri" pitchFamily="34" charset="-122"/>
                <a:cs typeface="Calibri" pitchFamily="34" charset="-120"/>
              </a:rPr>
              <a:t>Intuition — </a:t>
            </a:r>
            <a:r>
              <a:rPr lang="en-US" sz="2250" dirty="0">
                <a:solidFill>
                  <a:srgbClr val="1A1F2B"/>
                </a:solidFill>
                <a:latin typeface="Calibri" pitchFamily="34" charset="0"/>
                <a:ea typeface="Calibri" pitchFamily="34" charset="-122"/>
                <a:cs typeface="Calibri" pitchFamily="34" charset="-120"/>
              </a:rPr>
              <a:t>h can never drop by more than the cost of the edge just crossed.</a:t>
            </a:r>
            <a:endParaRPr lang="en-US" sz="2250" dirty="0"/>
          </a:p>
          <a:p>
            <a:pPr marL="203200" indent="-203200">
              <a:buSzPct val="100000"/>
              <a:buChar char="▪"/>
            </a:pPr>
            <a:r>
              <a:rPr lang="en-US" sz="2250" b="1" dirty="0">
                <a:solidFill>
                  <a:srgbClr val="0B1E3D"/>
                </a:solidFill>
                <a:latin typeface="Calibri" pitchFamily="34" charset="0"/>
                <a:ea typeface="Calibri" pitchFamily="34" charset="-122"/>
                <a:cs typeface="Calibri" pitchFamily="34" charset="-120"/>
              </a:rPr>
              <a:t>Consequence — </a:t>
            </a:r>
            <a:r>
              <a:rPr lang="en-US" sz="2250" dirty="0">
                <a:solidFill>
                  <a:srgbClr val="1A1F2B"/>
                </a:solidFill>
                <a:latin typeface="Calibri" pitchFamily="34" charset="0"/>
                <a:ea typeface="Calibri" pitchFamily="34" charset="-122"/>
                <a:cs typeface="Calibri" pitchFamily="34" charset="-120"/>
              </a:rPr>
              <a:t>f(n) is NON-DECREASING along every path A* explores.</a:t>
            </a:r>
            <a:endParaRPr lang="en-US" sz="2250" dirty="0"/>
          </a:p>
        </p:txBody>
      </p:sp>
      <p:sp>
        <p:nvSpPr>
          <p:cNvPr id="7"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7. Consistency (Monotonicity)</a:t>
            </a:r>
            <a:endParaRPr lang="en-US" sz="1600" dirty="0"/>
          </a:p>
        </p:txBody>
      </p:sp>
      <p:sp>
        <p:nvSpPr>
          <p:cNvPr id="8"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29 / 40</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0">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7. CONSISTENCY (MONOTONICITY)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FFFFFF"/>
                </a:solidFill>
                <a:latin typeface="Cambria" pitchFamily="34" charset="0"/>
                <a:ea typeface="Cambria" pitchFamily="34" charset="-122"/>
                <a:cs typeface="Cambria" pitchFamily="34" charset="-120"/>
              </a:rPr>
              <a:t>Admissibility vs. Consistency</a:t>
            </a:r>
            <a:endParaRPr lang="en-US" sz="5050" dirty="0"/>
          </a:p>
        </p:txBody>
      </p:sp>
      <p:sp>
        <p:nvSpPr>
          <p:cNvPr id="4" name="Shape 2"/>
          <p:cNvSpPr/>
          <p:nvPr/>
        </p:nvSpPr>
        <p:spPr>
          <a:xfrm>
            <a:off x="548640" y="2697480"/>
            <a:ext cx="11094415" cy="1051560"/>
          </a:xfrm>
          <a:prstGeom prst="roundRect">
            <a:avLst>
              <a:gd name="adj" fmla="val 26087"/>
            </a:avLst>
          </a:prstGeom>
          <a:solidFill>
            <a:srgbClr val="13294B"/>
          </a:solidFill>
          <a:ln/>
        </p:spPr>
      </p:sp>
      <p:sp>
        <p:nvSpPr>
          <p:cNvPr id="5" name="Text 3"/>
          <p:cNvSpPr/>
          <p:nvPr/>
        </p:nvSpPr>
        <p:spPr>
          <a:xfrm>
            <a:off x="548640" y="2697480"/>
            <a:ext cx="11094415" cy="1051560"/>
          </a:xfrm>
          <a:prstGeom prst="rect">
            <a:avLst/>
          </a:prstGeom>
          <a:noFill/>
          <a:ln/>
        </p:spPr>
        <p:txBody>
          <a:bodyPr wrap="square" rtlCol="0" anchor="ctr"/>
          <a:lstStyle/>
          <a:p>
            <a:pPr marL="0" indent="0" algn="ctr">
              <a:buNone/>
            </a:pPr>
            <a:r>
              <a:rPr lang="en-US" sz="2700" b="1" dirty="0">
                <a:solidFill>
                  <a:srgbClr val="B08D57"/>
                </a:solidFill>
              </a:rPr>
              <a:t>Consistent  ⟶  always admissible</a:t>
            </a:r>
            <a:r>
              <a:rPr lang="en-US" sz="2100" i="1" dirty="0">
                <a:solidFill>
                  <a:srgbClr val="9FB0CC"/>
                </a:solidFill>
              </a:rPr>
              <a:t>   (the reverse is NOT guaranteed)</a:t>
            </a:r>
            <a:endParaRPr lang="en-US" sz="2700" dirty="0"/>
          </a:p>
        </p:txBody>
      </p:sp>
      <p:sp>
        <p:nvSpPr>
          <p:cNvPr id="6" name="Text 4"/>
          <p:cNvSpPr/>
          <p:nvPr/>
        </p:nvSpPr>
        <p:spPr>
          <a:xfrm>
            <a:off x="548640" y="3886200"/>
            <a:ext cx="11094415" cy="2788920"/>
          </a:xfrm>
          <a:prstGeom prst="rect">
            <a:avLst/>
          </a:prstGeom>
          <a:noFill/>
          <a:ln/>
        </p:spPr>
        <p:txBody>
          <a:bodyPr wrap="square" lIns="0" tIns="0" rIns="0" bIns="0" rtlCol="0" anchor="t"/>
          <a:lstStyle/>
          <a:p>
            <a:pPr marL="203200" indent="-203200">
              <a:spcAft>
                <a:spcPts val="1500"/>
              </a:spcAft>
              <a:buSzPct val="100000"/>
              <a:buChar char="▪"/>
            </a:pPr>
            <a:r>
              <a:rPr lang="en-US" sz="2200" dirty="0">
                <a:solidFill>
                  <a:srgbClr val="E7EBF3"/>
                </a:solidFill>
                <a:latin typeface="Calibri" pitchFamily="34" charset="0"/>
                <a:ea typeface="Calibri" pitchFamily="34" charset="-122"/>
                <a:cs typeface="Calibri" pitchFamily="34" charset="-120"/>
              </a:rPr>
              <a:t>Consistency is STRICTER: every consistent h is admissible, not the reverse</a:t>
            </a:r>
            <a:endParaRPr lang="en-US" sz="2200" dirty="0"/>
          </a:p>
          <a:p>
            <a:pPr marL="203200" indent="-203200">
              <a:spcAft>
                <a:spcPts val="1500"/>
              </a:spcAft>
              <a:buSzPct val="100000"/>
              <a:buChar char="▪"/>
            </a:pPr>
            <a:r>
              <a:rPr lang="en-US" sz="2200" dirty="0">
                <a:solidFill>
                  <a:srgbClr val="E7EBF3"/>
                </a:solidFill>
                <a:latin typeface="Calibri" pitchFamily="34" charset="0"/>
                <a:ea typeface="Calibri" pitchFamily="34" charset="-122"/>
                <a:cs typeface="Calibri" pitchFamily="34" charset="-120"/>
              </a:rPr>
              <a:t>h₂ is admissible AND consistent; h₁ is admissible but NOT consistent (fails on edge S–A)</a:t>
            </a:r>
            <a:endParaRPr lang="en-US" sz="2200" dirty="0"/>
          </a:p>
          <a:p>
            <a:pPr marL="203200" indent="-203200">
              <a:spcAft>
                <a:spcPts val="1500"/>
              </a:spcAft>
              <a:buSzPct val="100000"/>
              <a:buChar char="▪"/>
            </a:pPr>
            <a:r>
              <a:rPr lang="en-US" sz="2200" dirty="0">
                <a:solidFill>
                  <a:srgbClr val="E7EBF3"/>
                </a:solidFill>
                <a:latin typeface="Calibri" pitchFamily="34" charset="0"/>
                <a:ea typeface="Calibri" pitchFamily="34" charset="-122"/>
                <a:cs typeface="Calibri" pitchFamily="34" charset="-120"/>
              </a:rPr>
              <a:t>Practical stake: an inconsistent h may force graph-search A* to reopen an explored node when a cheaper path turns up later</a:t>
            </a:r>
            <a:endParaRPr lang="en-US" sz="2200" dirty="0"/>
          </a:p>
        </p:txBody>
      </p:sp>
      <p:sp>
        <p:nvSpPr>
          <p:cNvPr id="7"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7. Consistency (Monotonicity)</a:t>
            </a:r>
            <a:endParaRPr lang="en-US" sz="1600" dirty="0"/>
          </a:p>
        </p:txBody>
      </p:sp>
      <p:sp>
        <p:nvSpPr>
          <p:cNvPr id="8"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30 / 40</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7. CONSISTENCY (MONOTONICITY)</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Consistency — Numerical Example</a:t>
            </a:r>
            <a:endParaRPr lang="en-US" sz="4700" dirty="0"/>
          </a:p>
        </p:txBody>
      </p:sp>
      <p:pic>
        <p:nvPicPr>
          <p:cNvPr id="4" name="Image 0" descr="/mnt/user-data/working/lecture4/assets/consistency_diagram.png"/>
          <p:cNvPicPr>
            <a:picLocks noChangeAspect="1"/>
          </p:cNvPicPr>
          <p:nvPr/>
        </p:nvPicPr>
        <p:blipFill>
          <a:blip r:embed="rId3"/>
          <a:stretch>
            <a:fillRect/>
          </a:stretch>
        </p:blipFill>
        <p:spPr>
          <a:xfrm>
            <a:off x="640080" y="2331720"/>
            <a:ext cx="9966960" cy="2606040"/>
          </a:xfrm>
          <a:prstGeom prst="rect">
            <a:avLst/>
          </a:prstGeom>
        </p:spPr>
      </p:pic>
      <p:sp>
        <p:nvSpPr>
          <p:cNvPr id="5" name="Shape 2"/>
          <p:cNvSpPr/>
          <p:nvPr/>
        </p:nvSpPr>
        <p:spPr>
          <a:xfrm>
            <a:off x="548640" y="5074920"/>
            <a:ext cx="11094415" cy="1051560"/>
          </a:xfrm>
          <a:prstGeom prst="roundRect">
            <a:avLst>
              <a:gd name="adj" fmla="val 6087"/>
            </a:avLst>
          </a:prstGeom>
          <a:solidFill>
            <a:srgbClr val="F3F5F8"/>
          </a:solidFill>
          <a:ln w="12700">
            <a:solidFill>
              <a:srgbClr val="D8DCE3"/>
            </a:solidFill>
            <a:prstDash val="solid"/>
          </a:ln>
        </p:spPr>
      </p:sp>
      <p:sp>
        <p:nvSpPr>
          <p:cNvPr id="6" name="Text 3"/>
          <p:cNvSpPr/>
          <p:nvPr/>
        </p:nvSpPr>
        <p:spPr>
          <a:xfrm>
            <a:off x="822960" y="5202936"/>
            <a:ext cx="10545775"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Classroom question</a:t>
            </a:r>
            <a:endParaRPr lang="en-US" sz="2600" dirty="0"/>
          </a:p>
        </p:txBody>
      </p:sp>
      <p:sp>
        <p:nvSpPr>
          <p:cNvPr id="7" name="Text 4"/>
          <p:cNvSpPr/>
          <p:nvPr/>
        </p:nvSpPr>
        <p:spPr>
          <a:xfrm>
            <a:off x="822960" y="5696712"/>
            <a:ext cx="10545775" cy="365760"/>
          </a:xfrm>
          <a:prstGeom prst="rect">
            <a:avLst/>
          </a:prstGeom>
          <a:noFill/>
          <a:ln/>
        </p:spPr>
        <p:txBody>
          <a:bodyPr wrap="square" rtlCol="0" anchor="ctr"/>
          <a:lstStyle/>
          <a:p>
            <a:pPr marL="0" indent="0">
              <a:lnSpc>
                <a:spcPts val="2400"/>
              </a:lnSpc>
              <a:buNone/>
            </a:pPr>
            <a:r>
              <a:rPr lang="en-US" sz="1950" i="1" dirty="0">
                <a:solidFill>
                  <a:srgbClr val="000000"/>
                </a:solidFill>
                <a:latin typeface="Calibri" pitchFamily="34" charset="0"/>
                <a:ea typeface="Calibri" pitchFamily="34" charset="-122"/>
                <a:cs typeface="Calibri" pitchFamily="34" charset="-120"/>
              </a:rPr>
              <a:t>h₁ is admissible yet fails consistency on edge S–A. Do the other eight edges violate it too? (No — S–A is the only one.)</a:t>
            </a:r>
            <a:endParaRPr lang="en-US" sz="1950" dirty="0"/>
          </a:p>
        </p:txBody>
      </p:sp>
      <p:sp>
        <p:nvSpPr>
          <p:cNvPr id="8"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7. Consistency (Monotonicity)</a:t>
            </a:r>
            <a:endParaRPr lang="en-US" sz="1600" dirty="0"/>
          </a:p>
        </p:txBody>
      </p:sp>
      <p:sp>
        <p:nvSpPr>
          <p:cNvPr id="9"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31 / 40</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8. A* PROPERTIES</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When Is A* Guaranteed Optimal?</a:t>
            </a:r>
            <a:endParaRPr lang="en-US" sz="4700" dirty="0"/>
          </a:p>
        </p:txBody>
      </p:sp>
      <p:sp>
        <p:nvSpPr>
          <p:cNvPr id="4" name="Shape 2"/>
          <p:cNvSpPr/>
          <p:nvPr/>
        </p:nvSpPr>
        <p:spPr>
          <a:xfrm>
            <a:off x="548640" y="2331720"/>
            <a:ext cx="11094415" cy="1371600"/>
          </a:xfrm>
          <a:prstGeom prst="roundRect">
            <a:avLst>
              <a:gd name="adj" fmla="val 4667"/>
            </a:avLst>
          </a:prstGeom>
          <a:solidFill>
            <a:srgbClr val="0B1E3D"/>
          </a:solidFill>
          <a:ln/>
        </p:spPr>
      </p:sp>
      <p:sp>
        <p:nvSpPr>
          <p:cNvPr id="5" name="Text 3"/>
          <p:cNvSpPr/>
          <p:nvPr/>
        </p:nvSpPr>
        <p:spPr>
          <a:xfrm>
            <a:off x="822960" y="245973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Tree search (no explored set)</a:t>
            </a:r>
            <a:endParaRPr lang="en-US" sz="2600" dirty="0"/>
          </a:p>
        </p:txBody>
      </p:sp>
      <p:sp>
        <p:nvSpPr>
          <p:cNvPr id="6" name="Text 4"/>
          <p:cNvSpPr/>
          <p:nvPr/>
        </p:nvSpPr>
        <p:spPr>
          <a:xfrm>
            <a:off x="822960" y="2834640"/>
            <a:ext cx="10545775" cy="822960"/>
          </a:xfrm>
          <a:prstGeom prst="rect">
            <a:avLst/>
          </a:prstGeom>
          <a:noFill/>
          <a:ln/>
        </p:spPr>
        <p:txBody>
          <a:bodyPr wrap="square" rtlCol="0" anchor="ctr"/>
          <a:lstStyle/>
          <a:p>
            <a:pPr marL="0" indent="0">
              <a:lnSpc>
                <a:spcPts val="2500"/>
              </a:lnSpc>
              <a:buNone/>
            </a:pPr>
            <a:r>
              <a:rPr lang="en-US" sz="2000" dirty="0">
                <a:solidFill>
                  <a:srgbClr val="E7EBF3"/>
                </a:solidFill>
                <a:latin typeface="Calibri" pitchFamily="34" charset="0"/>
                <a:ea typeface="Calibri" pitchFamily="34" charset="-122"/>
                <a:cs typeface="Calibri" pitchFamily="34" charset="-120"/>
              </a:rPr>
              <a:t>Admissible h is sufficient. Nodes may be revisited via different paths; can be wasteful on graphs with repeated states.</a:t>
            </a:r>
            <a:endParaRPr lang="en-US" sz="2000" dirty="0"/>
          </a:p>
        </p:txBody>
      </p:sp>
      <p:sp>
        <p:nvSpPr>
          <p:cNvPr id="7" name="Shape 5"/>
          <p:cNvSpPr/>
          <p:nvPr/>
        </p:nvSpPr>
        <p:spPr>
          <a:xfrm>
            <a:off x="548640" y="3840480"/>
            <a:ext cx="11094415" cy="1371600"/>
          </a:xfrm>
          <a:prstGeom prst="roundRect">
            <a:avLst>
              <a:gd name="adj" fmla="val 4667"/>
            </a:avLst>
          </a:prstGeom>
          <a:solidFill>
            <a:srgbClr val="13294B"/>
          </a:solidFill>
          <a:ln/>
        </p:spPr>
      </p:sp>
      <p:sp>
        <p:nvSpPr>
          <p:cNvPr id="8" name="Text 6"/>
          <p:cNvSpPr/>
          <p:nvPr/>
        </p:nvSpPr>
        <p:spPr>
          <a:xfrm>
            <a:off x="822960" y="396849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Graph search (with explored set)</a:t>
            </a:r>
            <a:endParaRPr lang="en-US" sz="2600" dirty="0"/>
          </a:p>
        </p:txBody>
      </p:sp>
      <p:sp>
        <p:nvSpPr>
          <p:cNvPr id="9" name="Text 7"/>
          <p:cNvSpPr/>
          <p:nvPr/>
        </p:nvSpPr>
        <p:spPr>
          <a:xfrm>
            <a:off x="822960" y="4343400"/>
            <a:ext cx="10545775" cy="822960"/>
          </a:xfrm>
          <a:prstGeom prst="rect">
            <a:avLst/>
          </a:prstGeom>
          <a:noFill/>
          <a:ln/>
        </p:spPr>
        <p:txBody>
          <a:bodyPr wrap="square" rtlCol="0" anchor="ctr"/>
          <a:lstStyle/>
          <a:p>
            <a:pPr marL="0" indent="0">
              <a:lnSpc>
                <a:spcPts val="2500"/>
              </a:lnSpc>
              <a:buNone/>
            </a:pPr>
            <a:r>
              <a:rPr lang="en-US" sz="2000" dirty="0">
                <a:solidFill>
                  <a:srgbClr val="E7EBF3"/>
                </a:solidFill>
                <a:latin typeface="Calibri" pitchFamily="34" charset="0"/>
                <a:ea typeface="Calibri" pitchFamily="34" charset="-122"/>
                <a:cs typeface="Calibri" pitchFamily="34" charset="-120"/>
              </a:rPr>
              <a:t>Consistent h is sufficient (standard in practice) — a node's g-value is already optimal the first time it is popped.</a:t>
            </a:r>
            <a:endParaRPr lang="en-US" sz="2000" dirty="0"/>
          </a:p>
        </p:txBody>
      </p:sp>
      <p:sp>
        <p:nvSpPr>
          <p:cNvPr id="10" name="Shape 8"/>
          <p:cNvSpPr/>
          <p:nvPr/>
        </p:nvSpPr>
        <p:spPr>
          <a:xfrm>
            <a:off x="548640" y="5349240"/>
            <a:ext cx="11094415" cy="685800"/>
          </a:xfrm>
          <a:prstGeom prst="roundRect">
            <a:avLst>
              <a:gd name="adj" fmla="val 9333"/>
            </a:avLst>
          </a:prstGeom>
          <a:solidFill>
            <a:srgbClr val="F3F5F8"/>
          </a:solidFill>
          <a:ln w="12700">
            <a:solidFill>
              <a:srgbClr val="D8DCE3"/>
            </a:solidFill>
            <a:prstDash val="solid"/>
          </a:ln>
        </p:spPr>
      </p:sp>
      <p:sp>
        <p:nvSpPr>
          <p:cNvPr id="11" name="Text 9"/>
          <p:cNvSpPr/>
          <p:nvPr/>
        </p:nvSpPr>
        <p:spPr>
          <a:xfrm>
            <a:off x="822960" y="5349240"/>
            <a:ext cx="10545775" cy="685800"/>
          </a:xfrm>
          <a:prstGeom prst="rect">
            <a:avLst/>
          </a:prstGeom>
          <a:noFill/>
          <a:ln/>
        </p:spPr>
        <p:txBody>
          <a:bodyPr wrap="square" rtlCol="0" anchor="ctr"/>
          <a:lstStyle/>
          <a:p>
            <a:pPr marL="0" indent="0">
              <a:lnSpc>
                <a:spcPts val="2400"/>
              </a:lnSpc>
              <a:buNone/>
            </a:pPr>
            <a:r>
              <a:rPr lang="en-US" sz="1900" b="1" dirty="0">
                <a:solidFill>
                  <a:srgbClr val="0B1E3D"/>
                </a:solidFill>
                <a:latin typeface="Calibri" pitchFamily="34" charset="0"/>
                <a:ea typeface="Calibri" pitchFamily="34" charset="-122"/>
                <a:cs typeface="Calibri" pitchFamily="34" charset="-120"/>
              </a:rPr>
              <a:t>Special case:  </a:t>
            </a:r>
            <a:r>
              <a:rPr lang="en-US" sz="1900" dirty="0">
                <a:solidFill>
                  <a:srgbClr val="000000"/>
                </a:solidFill>
                <a:latin typeface="Calibri" pitchFamily="34" charset="0"/>
                <a:ea typeface="Calibri" pitchFamily="34" charset="-122"/>
                <a:cs typeface="Calibri" pitchFamily="34" charset="-120"/>
              </a:rPr>
              <a:t>UCS is exactly A* with h(n)=0 — trivially consistent, so UCS is always optimal.</a:t>
            </a:r>
            <a:endParaRPr lang="en-US" sz="1900" dirty="0"/>
          </a:p>
        </p:txBody>
      </p:sp>
      <p:sp>
        <p:nvSpPr>
          <p:cNvPr id="12" name="Text 10"/>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8. A* Properties</a:t>
            </a:r>
            <a:endParaRPr lang="en-US" sz="1600" dirty="0"/>
          </a:p>
        </p:txBody>
      </p:sp>
      <p:sp>
        <p:nvSpPr>
          <p:cNvPr id="13" name="Text 11"/>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32 / 40</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3">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8. A* PROPERTIES</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4500"/>
              </a:lnSpc>
              <a:buNone/>
            </a:pPr>
            <a:r>
              <a:rPr lang="en-US" sz="4200" b="1" dirty="0">
                <a:solidFill>
                  <a:srgbClr val="FFFFFF"/>
                </a:solidFill>
                <a:latin typeface="Cambria" pitchFamily="34" charset="0"/>
                <a:ea typeface="Cambria" pitchFamily="34" charset="-122"/>
                <a:cs typeface="Cambria" pitchFamily="34" charset="-120"/>
              </a:rPr>
              <a:t>Comparing All Five Search Strategies</a:t>
            </a:r>
            <a:endParaRPr lang="en-US" sz="4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2523744"/>
        </p:xfrm>
        <a:graphic>
          <a:graphicData uri="http://schemas.openxmlformats.org/drawingml/2006/table">
            <a:tbl>
              <a:tblPr/>
              <a:tblGrid>
                <a:gridCol w="914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514600">
                  <a:extLst>
                    <a:ext uri="{9D8B030D-6E8A-4147-A177-3AD203B41FA5}">
                      <a16:colId xmlns:a16="http://schemas.microsoft.com/office/drawing/2014/main" val="20005"/>
                    </a:ext>
                  </a:extLst>
                </a:gridCol>
                <a:gridCol w="2727655">
                  <a:extLst>
                    <a:ext uri="{9D8B030D-6E8A-4147-A177-3AD203B41FA5}">
                      <a16:colId xmlns:a16="http://schemas.microsoft.com/office/drawing/2014/main" val="20006"/>
                    </a:ext>
                  </a:extLst>
                </a:gridCol>
              </a:tblGrid>
              <a:tr h="420624">
                <a:tc>
                  <a:txBody>
                    <a:bodyPr/>
                    <a:lstStyle/>
                    <a:p>
                      <a:pPr marL="0" indent="0" algn="ctr">
                        <a:buNone/>
                      </a:pPr>
                      <a:r>
                        <a:rPr lang="en-US" sz="1750" b="1" dirty="0">
                          <a:solidFill>
                            <a:srgbClr val="FFFFFF"/>
                          </a:solidFill>
                        </a:rPr>
                        <a:t>Algo</a:t>
                      </a:r>
                      <a:endParaRPr lang="en-US" sz="17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1750" b="1" dirty="0">
                          <a:solidFill>
                            <a:srgbClr val="FFFFFF"/>
                          </a:solidFill>
                        </a:rPr>
                        <a:t>Complete?</a:t>
                      </a:r>
                      <a:endParaRPr lang="en-US" sz="17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1750" b="1" dirty="0">
                          <a:solidFill>
                            <a:srgbClr val="FFFFFF"/>
                          </a:solidFill>
                        </a:rPr>
                        <a:t>Optimal?</a:t>
                      </a:r>
                      <a:endParaRPr lang="en-US" sz="17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1750" b="1" dirty="0">
                          <a:solidFill>
                            <a:srgbClr val="FFFFFF"/>
                          </a:solidFill>
                        </a:rPr>
                        <a:t>f(n)</a:t>
                      </a:r>
                      <a:endParaRPr lang="en-US" sz="17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1750" b="1" dirty="0">
                          <a:solidFill>
                            <a:srgbClr val="FFFFFF"/>
                          </a:solidFill>
                        </a:rPr>
                        <a:t>Structure</a:t>
                      </a:r>
                      <a:endParaRPr lang="en-US" sz="17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1750" b="1" dirty="0">
                          <a:solidFill>
                            <a:srgbClr val="FFFFFF"/>
                          </a:solidFill>
                        </a:rPr>
                        <a:t>Strength</a:t>
                      </a:r>
                      <a:endParaRPr lang="en-US" sz="17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tc>
                  <a:txBody>
                    <a:bodyPr/>
                    <a:lstStyle/>
                    <a:p>
                      <a:pPr marL="0" indent="0" algn="ctr">
                        <a:buNone/>
                      </a:pPr>
                      <a:r>
                        <a:rPr lang="en-US" sz="1750" b="1" dirty="0">
                          <a:solidFill>
                            <a:srgbClr val="FFFFFF"/>
                          </a:solidFill>
                        </a:rPr>
                        <a:t>Weakness</a:t>
                      </a:r>
                      <a:endParaRPr lang="en-US" sz="17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0624">
                <a:tc>
                  <a:txBody>
                    <a:bodyPr/>
                    <a:lstStyle/>
                    <a:p>
                      <a:pPr marL="0" indent="0" algn="ctr">
                        <a:buNone/>
                      </a:pPr>
                      <a:r>
                        <a:rPr lang="en-US" sz="1650" b="1" dirty="0">
                          <a:solidFill>
                            <a:srgbClr val="E7EBF3"/>
                          </a:solidFill>
                        </a:rPr>
                        <a:t>BFS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Yes*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Yes*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depth(n)</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FIFO queue</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Simple, shallowest</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Exponential memory</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extLst>
                  <a:ext uri="{0D108BD9-81ED-4DB2-BD59-A6C34878D82A}">
                    <a16:rowId xmlns:a16="http://schemas.microsoft.com/office/drawing/2014/main" val="10001"/>
                  </a:ext>
                </a:extLst>
              </a:tr>
              <a:tr h="420624">
                <a:tc>
                  <a:txBody>
                    <a:bodyPr/>
                    <a:lstStyle/>
                    <a:p>
                      <a:pPr marL="0" indent="0" algn="ctr">
                        <a:buNone/>
                      </a:pPr>
                      <a:r>
                        <a:rPr lang="en-US" sz="1650" b="1" dirty="0">
                          <a:solidFill>
                            <a:srgbClr val="E7EBF3"/>
                          </a:solidFill>
                        </a:rPr>
                        <a:t>DFS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Conditional*</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No</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LIFO stack</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Very low memory</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Long dead-end paths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extLst>
                  <a:ext uri="{0D108BD9-81ED-4DB2-BD59-A6C34878D82A}">
                    <a16:rowId xmlns:a16="http://schemas.microsoft.com/office/drawing/2014/main" val="10002"/>
                  </a:ext>
                </a:extLst>
              </a:tr>
              <a:tr h="420624">
                <a:tc>
                  <a:txBody>
                    <a:bodyPr/>
                    <a:lstStyle/>
                    <a:p>
                      <a:pPr marL="0" indent="0" algn="ctr">
                        <a:buNone/>
                      </a:pPr>
                      <a:r>
                        <a:rPr lang="en-US" sz="1650" b="1" dirty="0">
                          <a:solidFill>
                            <a:srgbClr val="E7EBF3"/>
                          </a:solidFill>
                        </a:rPr>
                        <a:t>UCS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Yes*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Yes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g(n)</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P-queue by g</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Optimal, weighted</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Blind to goal</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extLst>
                  <a:ext uri="{0D108BD9-81ED-4DB2-BD59-A6C34878D82A}">
                    <a16:rowId xmlns:a16="http://schemas.microsoft.com/office/drawing/2014/main" val="10003"/>
                  </a:ext>
                </a:extLst>
              </a:tr>
              <a:tr h="420624">
                <a:tc>
                  <a:txBody>
                    <a:bodyPr/>
                    <a:lstStyle/>
                    <a:p>
                      <a:pPr marL="0" indent="0" algn="ctr">
                        <a:buNone/>
                      </a:pPr>
                      <a:r>
                        <a:rPr lang="en-US" sz="1650" b="1" dirty="0">
                          <a:solidFill>
                            <a:srgbClr val="E7EBF3"/>
                          </a:solidFill>
                        </a:rPr>
                        <a:t>Greedy</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Conditional*</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No</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h(n)</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P-queue by h</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Often fast</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E7EBF3"/>
                          </a:solidFill>
                        </a:rPr>
                        <a:t>Can be misled</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extLst>
                  <a:ext uri="{0D108BD9-81ED-4DB2-BD59-A6C34878D82A}">
                    <a16:rowId xmlns:a16="http://schemas.microsoft.com/office/drawing/2014/main" val="10004"/>
                  </a:ext>
                </a:extLst>
              </a:tr>
              <a:tr h="420624">
                <a:tc>
                  <a:txBody>
                    <a:bodyPr/>
                    <a:lstStyle/>
                    <a:p>
                      <a:pPr marL="0" indent="0" algn="ctr">
                        <a:buNone/>
                      </a:pPr>
                      <a:r>
                        <a:rPr lang="en-US" sz="1650" b="1" dirty="0">
                          <a:solidFill>
                            <a:srgbClr val="B08D57"/>
                          </a:solidFill>
                        </a:rPr>
                        <a:t>A*</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B08D57"/>
                          </a:solidFill>
                        </a:rPr>
                        <a:t>Yes*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B08D57"/>
                          </a:solidFill>
                        </a:rPr>
                        <a:t>Yes*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B08D57"/>
                          </a:solidFill>
                        </a:rPr>
                        <a:t>g(n)+h(n)</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B08D57"/>
                          </a:solidFill>
                        </a:rPr>
                        <a:t>P-queue by f</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B08D57"/>
                          </a:solidFill>
                        </a:rPr>
                        <a:t>Optimal + efficient</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tc>
                  <a:txBody>
                    <a:bodyPr/>
                    <a:lstStyle/>
                    <a:p>
                      <a:pPr marL="0" indent="0" algn="l">
                        <a:buNone/>
                      </a:pPr>
                      <a:r>
                        <a:rPr lang="en-US" sz="1650" dirty="0">
                          <a:solidFill>
                            <a:srgbClr val="B08D57"/>
                          </a:solidFill>
                        </a:rPr>
                        <a:t>Frontier memory grows</a:t>
                      </a:r>
                      <a:endParaRPr lang="en-US" sz="1650" dirty="0"/>
                    </a:p>
                  </a:txBody>
                  <a:tcPr anchor="ctr">
                    <a:lnL w="9525" cap="flat" cmpd="sng" algn="ctr">
                      <a:solidFill>
                        <a:srgbClr val="13294B"/>
                      </a:solidFill>
                      <a:prstDash val="solid"/>
                      <a:round/>
                      <a:headEnd type="none" w="med" len="med"/>
                      <a:tailEnd type="none" w="med" len="med"/>
                    </a:lnL>
                    <a:lnR w="9525" cap="flat" cmpd="sng" algn="ctr">
                      <a:solidFill>
                        <a:srgbClr val="13294B"/>
                      </a:solidFill>
                      <a:prstDash val="solid"/>
                      <a:round/>
                      <a:headEnd type="none" w="med" len="med"/>
                      <a:tailEnd type="none" w="med" len="med"/>
                    </a:lnR>
                    <a:lnT w="9525" cap="flat" cmpd="sng" algn="ctr">
                      <a:solidFill>
                        <a:srgbClr val="13294B"/>
                      </a:solidFill>
                      <a:prstDash val="solid"/>
                      <a:round/>
                      <a:headEnd type="none" w="med" len="med"/>
                      <a:tailEnd type="none" w="med" len="med"/>
                    </a:lnT>
                    <a:lnB w="9525" cap="flat" cmpd="sng" algn="ctr">
                      <a:solidFill>
                        <a:srgbClr val="13294B"/>
                      </a:solidFill>
                      <a:prstDash val="solid"/>
                      <a:round/>
                      <a:headEnd type="none" w="med" len="med"/>
                      <a:tailEnd type="none" w="med" len="med"/>
                    </a:lnB>
                    <a:solidFill>
                      <a:srgbClr val="0F2340"/>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5212080"/>
            <a:ext cx="11094415" cy="502920"/>
          </a:xfrm>
          <a:prstGeom prst="rect">
            <a:avLst/>
          </a:prstGeom>
          <a:noFill/>
          <a:ln/>
        </p:spPr>
        <p:txBody>
          <a:bodyPr wrap="square" rtlCol="0" anchor="ctr"/>
          <a:lstStyle/>
          <a:p>
            <a:pPr marL="0" indent="0">
              <a:lnSpc>
                <a:spcPts val="2200"/>
              </a:lnSpc>
              <a:buNone/>
            </a:pPr>
            <a:r>
              <a:rPr lang="en-US" sz="1600" i="1" dirty="0">
                <a:solidFill>
                  <a:srgbClr val="9FB0CC"/>
                </a:solidFill>
                <a:latin typeface="Calibri" pitchFamily="34" charset="0"/>
                <a:ea typeface="Calibri" pitchFamily="34" charset="-122"/>
                <a:cs typeface="Calibri" pitchFamily="34" charset="-120"/>
              </a:rPr>
              <a:t>* BFS: equal step costs.  UCS: costs ≥ ε.  A*: admissible/consistent h.  DFS &amp; Greedy: complete only with a repeated-state / finite-space check.</a:t>
            </a:r>
            <a:endParaRPr lang="en-US" sz="1600" dirty="0"/>
          </a:p>
        </p:txBody>
      </p:sp>
      <p:sp>
        <p:nvSpPr>
          <p:cNvPr id="6" name="Text 3"/>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8. A* Properties</a:t>
            </a:r>
            <a:endParaRPr lang="en-US" sz="1600" dirty="0"/>
          </a:p>
        </p:txBody>
      </p:sp>
      <p:sp>
        <p:nvSpPr>
          <p:cNvPr id="7" name="Text 4"/>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33 / 40</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9. LOCAL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Introducing Local Search</a:t>
            </a:r>
            <a:endParaRPr lang="en-US" sz="5050" dirty="0"/>
          </a:p>
        </p:txBody>
      </p:sp>
      <p:sp>
        <p:nvSpPr>
          <p:cNvPr id="4" name="Text 2"/>
          <p:cNvSpPr/>
          <p:nvPr/>
        </p:nvSpPr>
        <p:spPr>
          <a:xfrm>
            <a:off x="548640" y="2697480"/>
            <a:ext cx="11094415" cy="1691640"/>
          </a:xfrm>
          <a:prstGeom prst="rect">
            <a:avLst/>
          </a:prstGeom>
          <a:noFill/>
          <a:ln/>
        </p:spPr>
        <p:txBody>
          <a:bodyPr wrap="square" lIns="0" tIns="0" rIns="0" bIns="0" rtlCol="0" anchor="t"/>
          <a:lstStyle/>
          <a:p>
            <a:pPr marL="203200" indent="-203200">
              <a:spcAft>
                <a:spcPts val="1200"/>
              </a:spcAft>
              <a:buSzPct val="100000"/>
              <a:buChar char="▪"/>
            </a:pPr>
            <a:r>
              <a:rPr lang="en-US" sz="2150" b="1" dirty="0">
                <a:solidFill>
                  <a:srgbClr val="0B1E3D"/>
                </a:solidFill>
                <a:latin typeface="Calibri" pitchFamily="34" charset="0"/>
                <a:ea typeface="Calibri" pitchFamily="34" charset="-122"/>
                <a:cs typeface="Calibri" pitchFamily="34" charset="-120"/>
              </a:rPr>
              <a:t>Motivation</a:t>
            </a:r>
            <a:endParaRPr lang="en-US" sz="2150" dirty="0"/>
          </a:p>
          <a:p>
            <a:pPr marL="203200" indent="-203200">
              <a:spcAft>
                <a:spcPts val="1200"/>
              </a:spcAft>
              <a:buSzPct val="100000"/>
              <a:buChar char="▪"/>
            </a:pPr>
            <a:r>
              <a:rPr lang="en-US" sz="2150" dirty="0">
                <a:solidFill>
                  <a:srgbClr val="1A1F2B"/>
                </a:solidFill>
                <a:latin typeface="Calibri" pitchFamily="34" charset="0"/>
                <a:ea typeface="Calibri" pitchFamily="34" charset="-122"/>
                <a:cs typeface="Calibri" pitchFamily="34" charset="-120"/>
              </a:rPr>
              <a:t>Some problems only care about the FINAL state, not the path (e.g., n-queens); some state spaces are too large to store a frontier at all.</a:t>
            </a:r>
            <a:endParaRPr lang="en-US" sz="2150" dirty="0"/>
          </a:p>
          <a:p>
            <a:pPr marL="203200" indent="-203200">
              <a:spcAft>
                <a:spcPts val="1200"/>
              </a:spcAft>
              <a:buSzPct val="100000"/>
              <a:buChar char="▪"/>
            </a:pPr>
            <a:r>
              <a:rPr lang="en-US" sz="2150" b="1" dirty="0">
                <a:solidFill>
                  <a:srgbClr val="0B1E3D"/>
                </a:solidFill>
                <a:latin typeface="Calibri" pitchFamily="34" charset="0"/>
                <a:ea typeface="Calibri" pitchFamily="34" charset="-122"/>
                <a:cs typeface="Calibri" pitchFamily="34" charset="-120"/>
              </a:rPr>
              <a:t>Definition</a:t>
            </a:r>
            <a:endParaRPr lang="en-US" sz="2150" dirty="0"/>
          </a:p>
          <a:p>
            <a:pPr marL="203200" indent="-203200">
              <a:spcAft>
                <a:spcPts val="1200"/>
              </a:spcAft>
              <a:buSzPct val="100000"/>
              <a:buChar char="▪"/>
            </a:pPr>
            <a:r>
              <a:rPr lang="en-US" sz="2150" dirty="0">
                <a:solidFill>
                  <a:srgbClr val="1A1F2B"/>
                </a:solidFill>
                <a:latin typeface="Calibri" pitchFamily="34" charset="0"/>
                <a:ea typeface="Calibri" pitchFamily="34" charset="-122"/>
                <a:cs typeface="Calibri" pitchFamily="34" charset="-120"/>
              </a:rPr>
              <a:t>Keeps ONE current state, moves to a neighbor, and retains no memory of the path taken.</a:t>
            </a:r>
            <a:endParaRPr lang="en-US" sz="2150" dirty="0"/>
          </a:p>
        </p:txBody>
      </p:sp>
      <p:sp>
        <p:nvSpPr>
          <p:cNvPr id="5" name="Shape 3"/>
          <p:cNvSpPr/>
          <p:nvPr/>
        </p:nvSpPr>
        <p:spPr>
          <a:xfrm>
            <a:off x="548640" y="4526280"/>
            <a:ext cx="11094415" cy="1691640"/>
          </a:xfrm>
          <a:prstGeom prst="roundRect">
            <a:avLst>
              <a:gd name="adj" fmla="val 3784"/>
            </a:avLst>
          </a:prstGeom>
          <a:solidFill>
            <a:srgbClr val="0B1E3D"/>
          </a:solidFill>
          <a:ln/>
        </p:spPr>
      </p:sp>
      <p:sp>
        <p:nvSpPr>
          <p:cNvPr id="6" name="Text 4"/>
          <p:cNvSpPr/>
          <p:nvPr/>
        </p:nvSpPr>
        <p:spPr>
          <a:xfrm>
            <a:off x="822960" y="465429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Systematic search vs. Local search</a:t>
            </a:r>
            <a:endParaRPr lang="en-US" sz="2600" dirty="0"/>
          </a:p>
        </p:txBody>
      </p:sp>
      <p:sp>
        <p:nvSpPr>
          <p:cNvPr id="7" name="Text 5"/>
          <p:cNvSpPr/>
          <p:nvPr/>
        </p:nvSpPr>
        <p:spPr>
          <a:xfrm>
            <a:off x="822960" y="5029200"/>
            <a:ext cx="10545775" cy="1097280"/>
          </a:xfrm>
          <a:prstGeom prst="rect">
            <a:avLst/>
          </a:prstGeom>
          <a:noFill/>
          <a:ln/>
        </p:spPr>
        <p:txBody>
          <a:bodyPr wrap="square" lIns="0" tIns="0" rIns="0" bIns="0" rtlCol="0" anchor="t"/>
          <a:lstStyle/>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Systematic (BFS…A*): explicit frontier + explored set; can backtrack; completeness/optimality guarantees</a:t>
            </a:r>
            <a:endParaRPr lang="en-US" sz="2000" dirty="0"/>
          </a:p>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Local (Hill Climbing): only the current state; O(1) memory; NO general guarantee</a:t>
            </a:r>
            <a:endParaRPr lang="en-US" sz="2000" dirty="0"/>
          </a:p>
        </p:txBody>
      </p:sp>
      <p:sp>
        <p:nvSpPr>
          <p:cNvPr id="8" name="Text 6"/>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9. Local Search</a:t>
            </a:r>
            <a:endParaRPr lang="en-US" sz="1600" dirty="0"/>
          </a:p>
        </p:txBody>
      </p:sp>
      <p:sp>
        <p:nvSpPr>
          <p:cNvPr id="9" name="Text 7"/>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34 / 40</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5">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9. LOCAL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4500"/>
              </a:lnSpc>
              <a:buNone/>
            </a:pPr>
            <a:r>
              <a:rPr lang="en-US" sz="4200" b="1" dirty="0">
                <a:solidFill>
                  <a:srgbClr val="FFFFFF"/>
                </a:solidFill>
                <a:latin typeface="Cambria" pitchFamily="34" charset="0"/>
                <a:ea typeface="Cambria" pitchFamily="34" charset="-122"/>
                <a:cs typeface="Cambria" pitchFamily="34" charset="-120"/>
              </a:rPr>
              <a:t>Hill Climbing — Definition and Algorithm</a:t>
            </a:r>
            <a:endParaRPr lang="en-US" sz="4200" dirty="0"/>
          </a:p>
        </p:txBody>
      </p:sp>
      <p:sp>
        <p:nvSpPr>
          <p:cNvPr id="4" name="Shape 2"/>
          <p:cNvSpPr/>
          <p:nvPr/>
        </p:nvSpPr>
        <p:spPr>
          <a:xfrm>
            <a:off x="548640" y="2331720"/>
            <a:ext cx="11094415" cy="1965960"/>
          </a:xfrm>
          <a:prstGeom prst="roundRect">
            <a:avLst>
              <a:gd name="adj" fmla="val 3721"/>
            </a:avLst>
          </a:prstGeom>
          <a:solidFill>
            <a:srgbClr val="071527"/>
          </a:solidFill>
          <a:ln w="12700">
            <a:solidFill>
              <a:srgbClr val="13294B"/>
            </a:solidFill>
            <a:prstDash val="solid"/>
          </a:ln>
        </p:spPr>
      </p:sp>
      <p:sp>
        <p:nvSpPr>
          <p:cNvPr id="5" name="Text 3"/>
          <p:cNvSpPr/>
          <p:nvPr/>
        </p:nvSpPr>
        <p:spPr>
          <a:xfrm>
            <a:off x="822960" y="2468880"/>
            <a:ext cx="10545775" cy="1737360"/>
          </a:xfrm>
          <a:prstGeom prst="rect">
            <a:avLst/>
          </a:prstGeom>
          <a:noFill/>
          <a:ln/>
        </p:spPr>
        <p:txBody>
          <a:bodyPr wrap="square" rtlCol="0" anchor="ctr"/>
          <a:lstStyle/>
          <a:p>
            <a:pPr marL="0" indent="0">
              <a:lnSpc>
                <a:spcPts val="2400"/>
              </a:lnSpc>
              <a:buNone/>
            </a:pPr>
            <a:r>
              <a:rPr lang="en-US" sz="1850" dirty="0">
                <a:solidFill>
                  <a:srgbClr val="D7E2F4"/>
                </a:solidFill>
                <a:latin typeface="Courier New" pitchFamily="34" charset="0"/>
                <a:ea typeface="Courier New" pitchFamily="34" charset="-122"/>
                <a:cs typeface="Courier New" pitchFamily="34" charset="-120"/>
              </a:rPr>
              <a:t>function HILL-CLIMBING(problem):</a:t>
            </a:r>
            <a:endParaRPr lang="en-US" sz="1850" dirty="0"/>
          </a:p>
          <a:p>
            <a:pPr marL="0" indent="0">
              <a:lnSpc>
                <a:spcPts val="2400"/>
              </a:lnSpc>
              <a:buNone/>
            </a:pPr>
            <a:r>
              <a:rPr lang="en-US" sz="1850" dirty="0">
                <a:solidFill>
                  <a:srgbClr val="D7E2F4"/>
                </a:solidFill>
                <a:latin typeface="Courier New" pitchFamily="34" charset="0"/>
                <a:ea typeface="Courier New" pitchFamily="34" charset="-122"/>
                <a:cs typeface="Courier New" pitchFamily="34" charset="-120"/>
              </a:rPr>
              <a:t>  current &lt;- problem.INITIAL-STATE</a:t>
            </a:r>
            <a:endParaRPr lang="en-US" sz="1850" dirty="0"/>
          </a:p>
          <a:p>
            <a:pPr marL="0" indent="0">
              <a:lnSpc>
                <a:spcPts val="2400"/>
              </a:lnSpc>
              <a:buNone/>
            </a:pPr>
            <a:r>
              <a:rPr lang="en-US" sz="1850" dirty="0">
                <a:solidFill>
                  <a:srgbClr val="D7E2F4"/>
                </a:solidFill>
                <a:latin typeface="Courier New" pitchFamily="34" charset="0"/>
                <a:ea typeface="Courier New" pitchFamily="34" charset="-122"/>
                <a:cs typeface="Courier New" pitchFamily="34" charset="-120"/>
              </a:rPr>
              <a:t>  loop:</a:t>
            </a:r>
            <a:endParaRPr lang="en-US" sz="1850" dirty="0"/>
          </a:p>
          <a:p>
            <a:pPr marL="0" indent="0">
              <a:lnSpc>
                <a:spcPts val="2400"/>
              </a:lnSpc>
              <a:buNone/>
            </a:pPr>
            <a:r>
              <a:rPr lang="en-US" sz="1850" dirty="0">
                <a:solidFill>
                  <a:srgbClr val="D7E2F4"/>
                </a:solidFill>
                <a:latin typeface="Courier New" pitchFamily="34" charset="0"/>
                <a:ea typeface="Courier New" pitchFamily="34" charset="-122"/>
                <a:cs typeface="Courier New" pitchFamily="34" charset="-120"/>
              </a:rPr>
              <a:t>    neighbor &lt;- highest-valued successor of current</a:t>
            </a:r>
            <a:endParaRPr lang="en-US" sz="1850" dirty="0"/>
          </a:p>
          <a:p>
            <a:pPr marL="0" indent="0">
              <a:lnSpc>
                <a:spcPts val="2400"/>
              </a:lnSpc>
              <a:buNone/>
            </a:pPr>
            <a:r>
              <a:rPr lang="en-US" sz="1850" dirty="0">
                <a:solidFill>
                  <a:srgbClr val="D7E2F4"/>
                </a:solidFill>
                <a:latin typeface="Courier New" pitchFamily="34" charset="0"/>
                <a:ea typeface="Courier New" pitchFamily="34" charset="-122"/>
                <a:cs typeface="Courier New" pitchFamily="34" charset="-120"/>
              </a:rPr>
              <a:t>    if VALUE(neighbor) &lt;= VALUE(current): return current</a:t>
            </a:r>
            <a:endParaRPr lang="en-US" sz="1850" dirty="0"/>
          </a:p>
          <a:p>
            <a:pPr marL="0" indent="0">
              <a:lnSpc>
                <a:spcPts val="2400"/>
              </a:lnSpc>
              <a:buNone/>
            </a:pPr>
            <a:r>
              <a:rPr lang="en-US" sz="1850" dirty="0">
                <a:solidFill>
                  <a:srgbClr val="D7E2F4"/>
                </a:solidFill>
                <a:latin typeface="Courier New" pitchFamily="34" charset="0"/>
                <a:ea typeface="Courier New" pitchFamily="34" charset="-122"/>
                <a:cs typeface="Courier New" pitchFamily="34" charset="-120"/>
              </a:rPr>
              <a:t>    current &lt;- neighbor</a:t>
            </a:r>
            <a:endParaRPr lang="en-US" sz="1850" dirty="0"/>
          </a:p>
        </p:txBody>
      </p:sp>
      <p:sp>
        <p:nvSpPr>
          <p:cNvPr id="6" name="Shape 4"/>
          <p:cNvSpPr/>
          <p:nvPr/>
        </p:nvSpPr>
        <p:spPr>
          <a:xfrm>
            <a:off x="548640" y="4434840"/>
            <a:ext cx="11094415" cy="1051560"/>
          </a:xfrm>
          <a:prstGeom prst="roundRect">
            <a:avLst>
              <a:gd name="adj" fmla="val 6087"/>
            </a:avLst>
          </a:prstGeom>
          <a:solidFill>
            <a:srgbClr val="13294B"/>
          </a:solidFill>
          <a:ln/>
        </p:spPr>
      </p:sp>
      <p:sp>
        <p:nvSpPr>
          <p:cNvPr id="7" name="Text 5"/>
          <p:cNvSpPr/>
          <p:nvPr/>
        </p:nvSpPr>
        <p:spPr>
          <a:xfrm>
            <a:off x="822960" y="4562856"/>
            <a:ext cx="10545775"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Reading this algorithm</a:t>
            </a:r>
            <a:endParaRPr lang="en-US" sz="2600" dirty="0"/>
          </a:p>
        </p:txBody>
      </p:sp>
      <p:sp>
        <p:nvSpPr>
          <p:cNvPr id="8" name="Text 6"/>
          <p:cNvSpPr/>
          <p:nvPr/>
        </p:nvSpPr>
        <p:spPr>
          <a:xfrm>
            <a:off x="822960" y="4910328"/>
            <a:ext cx="10545775" cy="548640"/>
          </a:xfrm>
          <a:prstGeom prst="rect">
            <a:avLst/>
          </a:prstGeom>
          <a:noFill/>
          <a:ln/>
        </p:spPr>
        <p:txBody>
          <a:bodyPr wrap="square" lIns="0" tIns="0" rIns="0" bIns="0" rtlCol="0" anchor="t"/>
          <a:lstStyle/>
          <a:p>
            <a:pPr marL="203200" indent="-203200">
              <a:spcAft>
                <a:spcPts val="700"/>
              </a:spcAft>
              <a:buSzPct val="100000"/>
              <a:buChar char="▪"/>
            </a:pPr>
            <a:r>
              <a:rPr lang="en-US" sz="1750" dirty="0">
                <a:solidFill>
                  <a:srgbClr val="E7EBF3"/>
                </a:solidFill>
                <a:latin typeface="Calibri" pitchFamily="34" charset="0"/>
                <a:ea typeface="Calibri" pitchFamily="34" charset="-122"/>
                <a:cs typeface="Calibri" pitchFamily="34" charset="-120"/>
              </a:rPr>
              <a:t>“Steepest-ascent”: among all neighbors, always take the single BEST one</a:t>
            </a:r>
            <a:endParaRPr lang="en-US" sz="1750" dirty="0"/>
          </a:p>
          <a:p>
            <a:pPr marL="203200" indent="-203200">
              <a:spcAft>
                <a:spcPts val="700"/>
              </a:spcAft>
              <a:buSzPct val="100000"/>
              <a:buChar char="▪"/>
            </a:pPr>
            <a:r>
              <a:rPr lang="en-US" sz="1750" dirty="0">
                <a:solidFill>
                  <a:srgbClr val="E7EBF3"/>
                </a:solidFill>
                <a:latin typeface="Calibri" pitchFamily="34" charset="0"/>
                <a:ea typeface="Calibri" pitchFamily="34" charset="-122"/>
                <a:cs typeface="Calibri" pitchFamily="34" charset="-120"/>
              </a:rPr>
              <a:t>Maximization framing (VALUE, higher = better) — mirrors minimizing h(n)</a:t>
            </a:r>
            <a:endParaRPr lang="en-US" sz="1750" dirty="0"/>
          </a:p>
        </p:txBody>
      </p:sp>
      <p:sp>
        <p:nvSpPr>
          <p:cNvPr id="9" name="Text 7"/>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9. Local Search</a:t>
            </a:r>
            <a:endParaRPr lang="en-US" sz="1600" dirty="0"/>
          </a:p>
        </p:txBody>
      </p:sp>
      <p:sp>
        <p:nvSpPr>
          <p:cNvPr id="10" name="Text 8"/>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35 / 40</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9. LOCAL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Local Maxima — Getting Trapped</a:t>
            </a:r>
            <a:endParaRPr lang="en-US" sz="5050" dirty="0"/>
          </a:p>
        </p:txBody>
      </p:sp>
      <p:pic>
        <p:nvPicPr>
          <p:cNvPr id="4" name="Image 0" descr="/mnt/user-data/working/lecture4/assets/hill_climbing_landscape.png"/>
          <p:cNvPicPr>
            <a:picLocks noChangeAspect="1"/>
          </p:cNvPicPr>
          <p:nvPr/>
        </p:nvPicPr>
        <p:blipFill>
          <a:blip r:embed="rId3"/>
          <a:stretch>
            <a:fillRect/>
          </a:stretch>
        </p:blipFill>
        <p:spPr>
          <a:xfrm>
            <a:off x="457200" y="2331720"/>
            <a:ext cx="6949440" cy="3474720"/>
          </a:xfrm>
          <a:prstGeom prst="rect">
            <a:avLst/>
          </a:prstGeom>
        </p:spPr>
      </p:pic>
      <p:sp>
        <p:nvSpPr>
          <p:cNvPr id="5" name="Shape 2"/>
          <p:cNvSpPr/>
          <p:nvPr/>
        </p:nvSpPr>
        <p:spPr>
          <a:xfrm>
            <a:off x="7589520" y="2331720"/>
            <a:ext cx="4069080" cy="3474720"/>
          </a:xfrm>
          <a:prstGeom prst="roundRect">
            <a:avLst>
              <a:gd name="adj" fmla="val 1842"/>
            </a:avLst>
          </a:prstGeom>
          <a:solidFill>
            <a:srgbClr val="F3F5F8"/>
          </a:solidFill>
          <a:ln w="12700">
            <a:solidFill>
              <a:srgbClr val="D8DCE3"/>
            </a:solidFill>
            <a:prstDash val="solid"/>
          </a:ln>
        </p:spPr>
      </p:sp>
      <p:sp>
        <p:nvSpPr>
          <p:cNvPr id="6" name="Text 3"/>
          <p:cNvSpPr/>
          <p:nvPr/>
        </p:nvSpPr>
        <p:spPr>
          <a:xfrm>
            <a:off x="7863840" y="2459736"/>
            <a:ext cx="352044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Global vs. Local</a:t>
            </a:r>
            <a:endParaRPr lang="en-US" sz="2600" dirty="0"/>
          </a:p>
        </p:txBody>
      </p:sp>
      <p:sp>
        <p:nvSpPr>
          <p:cNvPr id="7" name="Text 4"/>
          <p:cNvSpPr/>
          <p:nvPr/>
        </p:nvSpPr>
        <p:spPr>
          <a:xfrm>
            <a:off x="7863840" y="2834640"/>
            <a:ext cx="3566160" cy="2926080"/>
          </a:xfrm>
          <a:prstGeom prst="rect">
            <a:avLst/>
          </a:prstGeom>
          <a:noFill/>
          <a:ln/>
        </p:spPr>
        <p:txBody>
          <a:bodyPr wrap="square" lIns="0" tIns="0" rIns="0" bIns="0" rtlCol="0" anchor="t"/>
          <a:lstStyle/>
          <a:p>
            <a:pPr marL="203200" indent="-203200">
              <a:spcAft>
                <a:spcPts val="1300"/>
              </a:spcAft>
              <a:buSzPct val="100000"/>
              <a:buChar char="▪"/>
            </a:pPr>
            <a:r>
              <a:rPr lang="en-US" sz="1900" dirty="0">
                <a:solidFill>
                  <a:srgbClr val="1A1F2B"/>
                </a:solidFill>
                <a:latin typeface="Calibri" pitchFamily="34" charset="0"/>
                <a:ea typeface="Calibri" pitchFamily="34" charset="-122"/>
                <a:cs typeface="Calibri" pitchFamily="34" charset="-120"/>
              </a:rPr>
              <a:t>Local max: better than neighbors, not the whole landscape</a:t>
            </a:r>
            <a:endParaRPr lang="en-US" sz="1900" dirty="0"/>
          </a:p>
          <a:p>
            <a:pPr marL="203200" indent="-203200">
              <a:spcAft>
                <a:spcPts val="1300"/>
              </a:spcAft>
              <a:buSzPct val="100000"/>
              <a:buChar char="▪"/>
            </a:pPr>
            <a:r>
              <a:rPr lang="en-US" sz="1900" dirty="0">
                <a:solidFill>
                  <a:srgbClr val="1A1F2B"/>
                </a:solidFill>
                <a:latin typeface="Calibri" pitchFamily="34" charset="0"/>
                <a:ea typeface="Calibri" pitchFamily="34" charset="-122"/>
                <a:cs typeface="Calibri" pitchFamily="34" charset="-120"/>
              </a:rPr>
              <a:t>Global max: the true best point anywhere</a:t>
            </a:r>
            <a:endParaRPr lang="en-US" sz="1900" dirty="0"/>
          </a:p>
          <a:p>
            <a:pPr marL="203200" indent="-203200">
              <a:spcAft>
                <a:spcPts val="1300"/>
              </a:spcAft>
              <a:buSzPct val="100000"/>
              <a:buChar char="▪"/>
            </a:pPr>
            <a:r>
              <a:rPr lang="en-US" sz="1900" dirty="0">
                <a:solidFill>
                  <a:srgbClr val="1A1F2B"/>
                </a:solidFill>
                <a:latin typeface="Calibri" pitchFamily="34" charset="0"/>
                <a:ea typeface="Calibri" pitchFamily="34" charset="-122"/>
                <a:cs typeface="Calibri" pitchFamily="34" charset="-120"/>
              </a:rPr>
              <a:t>Hill Climbing can't tell the difference from where it stands</a:t>
            </a:r>
            <a:endParaRPr lang="en-US" sz="1900" dirty="0"/>
          </a:p>
        </p:txBody>
      </p:sp>
      <p:sp>
        <p:nvSpPr>
          <p:cNvPr id="8"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9. Local Search</a:t>
            </a:r>
            <a:endParaRPr lang="en-US" sz="1600" dirty="0"/>
          </a:p>
        </p:txBody>
      </p:sp>
      <p:sp>
        <p:nvSpPr>
          <p:cNvPr id="9"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36 / 40</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9. LOCAL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0B1E3D"/>
                </a:solidFill>
                <a:latin typeface="Cambria" pitchFamily="34" charset="0"/>
                <a:ea typeface="Cambria" pitchFamily="34" charset="-122"/>
                <a:cs typeface="Cambria" pitchFamily="34" charset="-120"/>
              </a:rPr>
              <a:t>Plateaus and Ridges</a:t>
            </a:r>
            <a:endParaRPr lang="en-US" sz="5050" dirty="0"/>
          </a:p>
        </p:txBody>
      </p:sp>
      <p:pic>
        <p:nvPicPr>
          <p:cNvPr id="4" name="Image 0" descr="/mnt/user-data/working/lecture4/assets/plateau_ridge.png"/>
          <p:cNvPicPr>
            <a:picLocks noChangeAspect="1"/>
          </p:cNvPicPr>
          <p:nvPr/>
        </p:nvPicPr>
        <p:blipFill>
          <a:blip r:embed="rId3"/>
          <a:stretch>
            <a:fillRect/>
          </a:stretch>
        </p:blipFill>
        <p:spPr>
          <a:xfrm>
            <a:off x="1353312" y="2331720"/>
            <a:ext cx="9491472" cy="2880360"/>
          </a:xfrm>
          <a:prstGeom prst="rect">
            <a:avLst/>
          </a:prstGeom>
        </p:spPr>
      </p:pic>
      <p:sp>
        <p:nvSpPr>
          <p:cNvPr id="5" name="Shape 2"/>
          <p:cNvSpPr/>
          <p:nvPr/>
        </p:nvSpPr>
        <p:spPr>
          <a:xfrm>
            <a:off x="548640" y="5349240"/>
            <a:ext cx="5349240" cy="685800"/>
          </a:xfrm>
          <a:prstGeom prst="roundRect">
            <a:avLst>
              <a:gd name="adj" fmla="val 9333"/>
            </a:avLst>
          </a:prstGeom>
          <a:solidFill>
            <a:srgbClr val="F3F5F8"/>
          </a:solidFill>
          <a:ln w="12700">
            <a:solidFill>
              <a:srgbClr val="D8DCE3"/>
            </a:solidFill>
            <a:prstDash val="solid"/>
          </a:ln>
        </p:spPr>
      </p:sp>
      <p:sp>
        <p:nvSpPr>
          <p:cNvPr id="6" name="Text 3"/>
          <p:cNvSpPr/>
          <p:nvPr/>
        </p:nvSpPr>
        <p:spPr>
          <a:xfrm>
            <a:off x="777240" y="5349240"/>
            <a:ext cx="4892040" cy="685800"/>
          </a:xfrm>
          <a:prstGeom prst="rect">
            <a:avLst/>
          </a:prstGeom>
          <a:noFill/>
          <a:ln/>
        </p:spPr>
        <p:txBody>
          <a:bodyPr wrap="square" rtlCol="0" anchor="ctr"/>
          <a:lstStyle/>
          <a:p>
            <a:pPr marL="0" indent="0">
              <a:lnSpc>
                <a:spcPts val="2200"/>
              </a:lnSpc>
              <a:buNone/>
            </a:pPr>
            <a:r>
              <a:rPr lang="en-US" sz="1750" b="1" dirty="0">
                <a:solidFill>
                  <a:srgbClr val="0B1E3D"/>
                </a:solidFill>
                <a:latin typeface="Calibri" pitchFamily="34" charset="0"/>
                <a:ea typeface="Calibri" pitchFamily="34" charset="-122"/>
                <a:cs typeface="Calibri" pitchFamily="34" charset="-120"/>
              </a:rPr>
              <a:t>Plateau: </a:t>
            </a:r>
            <a:r>
              <a:rPr lang="en-US" sz="1750" dirty="0">
                <a:solidFill>
                  <a:srgbClr val="000000"/>
                </a:solidFill>
                <a:latin typeface="Calibri" pitchFamily="34" charset="0"/>
                <a:ea typeface="Calibri" pitchFamily="34" charset="-122"/>
                <a:cs typeface="Calibri" pitchFamily="34" charset="-120"/>
              </a:rPr>
              <a:t>flat region, no signal — may wander or halt early.</a:t>
            </a:r>
            <a:endParaRPr lang="en-US" sz="1750" dirty="0"/>
          </a:p>
        </p:txBody>
      </p:sp>
      <p:sp>
        <p:nvSpPr>
          <p:cNvPr id="7" name="Shape 4"/>
          <p:cNvSpPr/>
          <p:nvPr/>
        </p:nvSpPr>
        <p:spPr>
          <a:xfrm>
            <a:off x="6355080" y="5349240"/>
            <a:ext cx="5303520" cy="685800"/>
          </a:xfrm>
          <a:prstGeom prst="roundRect">
            <a:avLst>
              <a:gd name="adj" fmla="val 9333"/>
            </a:avLst>
          </a:prstGeom>
          <a:solidFill>
            <a:srgbClr val="F3F5F8"/>
          </a:solidFill>
          <a:ln w="12700">
            <a:solidFill>
              <a:srgbClr val="D8DCE3"/>
            </a:solidFill>
            <a:prstDash val="solid"/>
          </a:ln>
        </p:spPr>
      </p:sp>
      <p:sp>
        <p:nvSpPr>
          <p:cNvPr id="8" name="Text 5"/>
          <p:cNvSpPr/>
          <p:nvPr/>
        </p:nvSpPr>
        <p:spPr>
          <a:xfrm>
            <a:off x="6583680" y="5349240"/>
            <a:ext cx="4846320" cy="685800"/>
          </a:xfrm>
          <a:prstGeom prst="rect">
            <a:avLst/>
          </a:prstGeom>
          <a:noFill/>
          <a:ln/>
        </p:spPr>
        <p:txBody>
          <a:bodyPr wrap="square" rtlCol="0" anchor="ctr"/>
          <a:lstStyle/>
          <a:p>
            <a:pPr marL="0" indent="0">
              <a:lnSpc>
                <a:spcPts val="2200"/>
              </a:lnSpc>
              <a:buNone/>
            </a:pPr>
            <a:r>
              <a:rPr lang="en-US" sz="1750" b="1" dirty="0">
                <a:solidFill>
                  <a:srgbClr val="0B1E3D"/>
                </a:solidFill>
                <a:latin typeface="Calibri" pitchFamily="34" charset="0"/>
                <a:ea typeface="Calibri" pitchFamily="34" charset="-122"/>
                <a:cs typeface="Calibri" pitchFamily="34" charset="-120"/>
              </a:rPr>
              <a:t>Ridge: </a:t>
            </a:r>
            <a:r>
              <a:rPr lang="en-US" sz="1750" dirty="0">
                <a:solidFill>
                  <a:srgbClr val="000000"/>
                </a:solidFill>
                <a:latin typeface="Calibri" pitchFamily="34" charset="0"/>
                <a:ea typeface="Calibri" pitchFamily="34" charset="-122"/>
                <a:cs typeface="Calibri" pitchFamily="34" charset="-120"/>
              </a:rPr>
              <a:t>crest misaligned with moves — steps overshoot, zig-zag.</a:t>
            </a:r>
            <a:endParaRPr lang="en-US" sz="1750" dirty="0"/>
          </a:p>
        </p:txBody>
      </p:sp>
      <p:sp>
        <p:nvSpPr>
          <p:cNvPr id="9" name="Text 6"/>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9. Local Search</a:t>
            </a:r>
            <a:endParaRPr lang="en-US" sz="1600" dirty="0"/>
          </a:p>
        </p:txBody>
      </p:sp>
      <p:sp>
        <p:nvSpPr>
          <p:cNvPr id="10" name="Text 7"/>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37 / 40</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9. LOCAL SEARCH</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4400"/>
              </a:lnSpc>
              <a:buNone/>
            </a:pPr>
            <a:r>
              <a:rPr lang="en-US" sz="4050" b="1" dirty="0">
                <a:solidFill>
                  <a:srgbClr val="0B1E3D"/>
                </a:solidFill>
                <a:latin typeface="Cambria" pitchFamily="34" charset="0"/>
                <a:ea typeface="Cambria" pitchFamily="34" charset="-122"/>
                <a:cs typeface="Cambria" pitchFamily="34" charset="-120"/>
              </a:rPr>
              <a:t>Hill Climbing — Strengths, Limitations, Fixes</a:t>
            </a:r>
            <a:endParaRPr lang="en-US" sz="4050" dirty="0"/>
          </a:p>
        </p:txBody>
      </p:sp>
      <p:sp>
        <p:nvSpPr>
          <p:cNvPr id="4" name="Shape 2"/>
          <p:cNvSpPr/>
          <p:nvPr/>
        </p:nvSpPr>
        <p:spPr>
          <a:xfrm>
            <a:off x="548640" y="2697480"/>
            <a:ext cx="5394960" cy="1600200"/>
          </a:xfrm>
          <a:prstGeom prst="roundRect">
            <a:avLst>
              <a:gd name="adj" fmla="val 4000"/>
            </a:avLst>
          </a:prstGeom>
          <a:solidFill>
            <a:srgbClr val="F3F5F8"/>
          </a:solidFill>
          <a:ln w="12700">
            <a:solidFill>
              <a:srgbClr val="D8DCE3"/>
            </a:solidFill>
            <a:prstDash val="solid"/>
          </a:ln>
        </p:spPr>
      </p:sp>
      <p:sp>
        <p:nvSpPr>
          <p:cNvPr id="5" name="Text 3"/>
          <p:cNvSpPr/>
          <p:nvPr/>
        </p:nvSpPr>
        <p:spPr>
          <a:xfrm>
            <a:off x="822960" y="2825496"/>
            <a:ext cx="4846320" cy="457200"/>
          </a:xfrm>
          <a:prstGeom prst="rect">
            <a:avLst/>
          </a:prstGeom>
          <a:noFill/>
          <a:ln/>
        </p:spPr>
        <p:txBody>
          <a:bodyPr wrap="square" rtlCol="0" anchor="ctr"/>
          <a:lstStyle/>
          <a:p>
            <a:pPr marL="0" indent="0">
              <a:buNone/>
            </a:pPr>
            <a:r>
              <a:rPr lang="en-US" sz="2600" b="1" dirty="0">
                <a:solidFill>
                  <a:srgbClr val="0B1E3D"/>
                </a:solidFill>
                <a:latin typeface="Cambria" pitchFamily="34" charset="0"/>
                <a:ea typeface="Cambria" pitchFamily="34" charset="-122"/>
                <a:cs typeface="Cambria" pitchFamily="34" charset="-120"/>
              </a:rPr>
              <a:t>Strengths</a:t>
            </a:r>
            <a:endParaRPr lang="en-US" sz="2600" dirty="0"/>
          </a:p>
        </p:txBody>
      </p:sp>
      <p:sp>
        <p:nvSpPr>
          <p:cNvPr id="6" name="Text 4"/>
          <p:cNvSpPr/>
          <p:nvPr/>
        </p:nvSpPr>
        <p:spPr>
          <a:xfrm>
            <a:off x="777240" y="3200400"/>
            <a:ext cx="4937760" cy="105156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1A1F2B"/>
                </a:solidFill>
                <a:latin typeface="Calibri" pitchFamily="34" charset="0"/>
                <a:ea typeface="Calibri" pitchFamily="34" charset="-122"/>
                <a:cs typeface="Calibri" pitchFamily="34" charset="-120"/>
              </a:rPr>
              <a:t>Constant memory, any state-space size</a:t>
            </a:r>
            <a:endParaRPr lang="en-US" sz="1750" dirty="0"/>
          </a:p>
          <a:p>
            <a:pPr marL="203200" indent="-203200">
              <a:spcAft>
                <a:spcPts val="800"/>
              </a:spcAft>
              <a:buSzPct val="100000"/>
              <a:buChar char="▪"/>
            </a:pPr>
            <a:r>
              <a:rPr lang="en-US" sz="1750" dirty="0">
                <a:solidFill>
                  <a:srgbClr val="1A1F2B"/>
                </a:solidFill>
                <a:latin typeface="Calibri" pitchFamily="34" charset="0"/>
                <a:ea typeface="Calibri" pitchFamily="34" charset="-122"/>
                <a:cs typeface="Calibri" pitchFamily="34" charset="-120"/>
              </a:rPr>
              <a:t>Simple to implement, often fast</a:t>
            </a:r>
            <a:endParaRPr lang="en-US" sz="1750" dirty="0"/>
          </a:p>
        </p:txBody>
      </p:sp>
      <p:sp>
        <p:nvSpPr>
          <p:cNvPr id="7" name="Shape 5"/>
          <p:cNvSpPr/>
          <p:nvPr/>
        </p:nvSpPr>
        <p:spPr>
          <a:xfrm>
            <a:off x="6492240" y="2697480"/>
            <a:ext cx="5120640" cy="1600200"/>
          </a:xfrm>
          <a:prstGeom prst="roundRect">
            <a:avLst>
              <a:gd name="adj" fmla="val 4000"/>
            </a:avLst>
          </a:prstGeom>
          <a:solidFill>
            <a:srgbClr val="0B1E3D"/>
          </a:solidFill>
          <a:ln/>
        </p:spPr>
      </p:sp>
      <p:sp>
        <p:nvSpPr>
          <p:cNvPr id="8" name="Text 6"/>
          <p:cNvSpPr/>
          <p:nvPr/>
        </p:nvSpPr>
        <p:spPr>
          <a:xfrm>
            <a:off x="6766560" y="2825496"/>
            <a:ext cx="4572000" cy="457200"/>
          </a:xfrm>
          <a:prstGeom prst="rect">
            <a:avLst/>
          </a:prstGeom>
          <a:noFill/>
          <a:ln/>
        </p:spPr>
        <p:txBody>
          <a:bodyPr wrap="square" rtlCol="0" anchor="ctr"/>
          <a:lstStyle/>
          <a:p>
            <a:pPr marL="0" indent="0">
              <a:buNone/>
            </a:pPr>
            <a:r>
              <a:rPr lang="en-US" sz="2600" b="1" dirty="0">
                <a:solidFill>
                  <a:srgbClr val="E08E8E"/>
                </a:solidFill>
                <a:latin typeface="Cambria" pitchFamily="34" charset="0"/>
                <a:ea typeface="Cambria" pitchFamily="34" charset="-122"/>
                <a:cs typeface="Cambria" pitchFamily="34" charset="-120"/>
              </a:rPr>
              <a:t>Limitations</a:t>
            </a:r>
            <a:endParaRPr lang="en-US" sz="2600" dirty="0"/>
          </a:p>
        </p:txBody>
      </p:sp>
      <p:sp>
        <p:nvSpPr>
          <p:cNvPr id="9" name="Text 7"/>
          <p:cNvSpPr/>
          <p:nvPr/>
        </p:nvSpPr>
        <p:spPr>
          <a:xfrm>
            <a:off x="6720840" y="3200400"/>
            <a:ext cx="4663440" cy="1051560"/>
          </a:xfrm>
          <a:prstGeom prst="rect">
            <a:avLst/>
          </a:prstGeom>
          <a:noFill/>
          <a:ln/>
        </p:spPr>
        <p:txBody>
          <a:bodyPr wrap="square" lIns="0" tIns="0" rIns="0" bIns="0" rtlCol="0" anchor="t"/>
          <a:lstStyle/>
          <a:p>
            <a:pPr marL="203200" indent="-203200">
              <a:spcAft>
                <a:spcPts val="800"/>
              </a:spcAft>
              <a:buSzPct val="100000"/>
              <a:buChar char="▪"/>
            </a:pPr>
            <a:r>
              <a:rPr lang="en-US" sz="1750" dirty="0">
                <a:solidFill>
                  <a:srgbClr val="E7EBF3"/>
                </a:solidFill>
                <a:latin typeface="Calibri" pitchFamily="34" charset="0"/>
                <a:ea typeface="Calibri" pitchFamily="34" charset="-122"/>
                <a:cs typeface="Calibri" pitchFamily="34" charset="-120"/>
              </a:rPr>
              <a:t>Vulnerable to maxima, plateaus, ridges</a:t>
            </a:r>
            <a:endParaRPr lang="en-US" sz="1750" dirty="0"/>
          </a:p>
          <a:p>
            <a:pPr marL="203200" indent="-203200">
              <a:spcAft>
                <a:spcPts val="800"/>
              </a:spcAft>
              <a:buSzPct val="100000"/>
              <a:buChar char="▪"/>
            </a:pPr>
            <a:r>
              <a:rPr lang="en-US" sz="1750" dirty="0">
                <a:solidFill>
                  <a:srgbClr val="E7EBF3"/>
                </a:solidFill>
                <a:latin typeface="Calibri" pitchFamily="34" charset="0"/>
                <a:ea typeface="Calibri" pitchFamily="34" charset="-122"/>
                <a:cs typeface="Calibri" pitchFamily="34" charset="-120"/>
              </a:rPr>
              <a:t>Fixes for later: restarts, annealing</a:t>
            </a:r>
            <a:endParaRPr lang="en-US" sz="17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91672" cy="1609344"/>
        </p:xfrm>
        <a:graphic>
          <a:graphicData uri="http://schemas.openxmlformats.org/drawingml/2006/table">
            <a:tbl>
              <a:tblPr/>
              <a:tblGrid>
                <a:gridCol w="19202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402336">
                <a:tc>
                  <a:txBody>
                    <a:bodyPr/>
                    <a:lstStyle/>
                    <a:p>
                      <a:pPr marL="0" indent="0" algn="ctr">
                        <a:buNone/>
                      </a:pPr>
                      <a:endParaRPr lang="en-US" sz="17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tc>
                  <a:txBody>
                    <a:bodyPr/>
                    <a:lstStyle/>
                    <a:p>
                      <a:pPr marL="0" indent="0" algn="ctr">
                        <a:buNone/>
                      </a:pPr>
                      <a:r>
                        <a:rPr lang="en-US" sz="1750" b="1" dirty="0">
                          <a:solidFill>
                            <a:srgbClr val="FFFFFF"/>
                          </a:solidFill>
                        </a:rPr>
                        <a:t>Systematic (BFS…A*)</a:t>
                      </a:r>
                      <a:endParaRPr lang="en-US" sz="17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tc>
                  <a:txBody>
                    <a:bodyPr/>
                    <a:lstStyle/>
                    <a:p>
                      <a:pPr marL="0" indent="0" algn="ctr">
                        <a:buNone/>
                      </a:pPr>
                      <a:r>
                        <a:rPr lang="en-US" sz="1750" b="1" dirty="0">
                          <a:solidFill>
                            <a:srgbClr val="FFFFFF"/>
                          </a:solidFill>
                        </a:rPr>
                        <a:t>Local (Hill Climbing)</a:t>
                      </a:r>
                      <a:endParaRPr lang="en-US" sz="175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02336">
                <a:tc>
                  <a:txBody>
                    <a:bodyPr/>
                    <a:lstStyle/>
                    <a:p>
                      <a:pPr marL="0" indent="0" algn="l">
                        <a:buNone/>
                      </a:pPr>
                      <a:r>
                        <a:rPr lang="en-US" sz="1700" b="1" dirty="0">
                          <a:solidFill>
                            <a:srgbClr val="1A1F2B"/>
                          </a:solidFill>
                        </a:rPr>
                        <a:t>Memory</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A1F2B"/>
                          </a:solidFill>
                        </a:rPr>
                        <a:t>Grows with frontier</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A1F2B"/>
                          </a:solidFill>
                        </a:rPr>
                        <a:t>Constant</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700" b="1" dirty="0">
                          <a:solidFill>
                            <a:srgbClr val="1A1F2B"/>
                          </a:solidFill>
                        </a:rPr>
                        <a:t>Path returned?</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A1F2B"/>
                          </a:solidFill>
                        </a:rPr>
                        <a:t>Yes, full path</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A1F2B"/>
                          </a:solidFill>
                        </a:rPr>
                        <a:t>No, final state only</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700" b="1" dirty="0">
                          <a:solidFill>
                            <a:srgbClr val="1A1F2B"/>
                          </a:solidFill>
                        </a:rPr>
                        <a:t>Guarantees</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A1F2B"/>
                          </a:solidFill>
                        </a:rPr>
                        <a:t>Under stated conditions</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A1F2B"/>
                          </a:solidFill>
                        </a:rPr>
                        <a:t>None, in general</a:t>
                      </a:r>
                      <a:endParaRPr lang="en-US" sz="1700" dirty="0"/>
                    </a:p>
                  </a:txBody>
                  <a:tcPr>
                    <a:lnL w="9525" cap="flat" cmpd="sng" algn="ctr">
                      <a:solidFill>
                        <a:srgbClr val="D8DCE3"/>
                      </a:solidFill>
                      <a:prstDash val="solid"/>
                      <a:round/>
                      <a:headEnd type="none" w="med" len="med"/>
                      <a:tailEnd type="none" w="med" len="med"/>
                    </a:lnL>
                    <a:lnR w="9525" cap="flat" cmpd="sng" algn="ctr">
                      <a:solidFill>
                        <a:srgbClr val="D8DCE3"/>
                      </a:solidFill>
                      <a:prstDash val="solid"/>
                      <a:round/>
                      <a:headEnd type="none" w="med" len="med"/>
                      <a:tailEnd type="none" w="med" len="med"/>
                    </a:lnR>
                    <a:lnT w="9525" cap="flat" cmpd="sng" algn="ctr">
                      <a:solidFill>
                        <a:srgbClr val="D8DCE3"/>
                      </a:solidFill>
                      <a:prstDash val="solid"/>
                      <a:round/>
                      <a:headEnd type="none" w="med" len="med"/>
                      <a:tailEnd type="none" w="med" len="med"/>
                    </a:lnT>
                    <a:lnB w="9525" cap="flat" cmpd="sng" algn="ctr">
                      <a:solidFill>
                        <a:srgbClr val="D8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Text 8"/>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9. Local Search</a:t>
            </a:r>
            <a:endParaRPr lang="en-US" sz="1600" dirty="0"/>
          </a:p>
        </p:txBody>
      </p:sp>
      <p:sp>
        <p:nvSpPr>
          <p:cNvPr id="12" name="Text 9"/>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38 / 40</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10. INTEGRATION</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100"/>
              </a:lnSpc>
              <a:buNone/>
            </a:pPr>
            <a:r>
              <a:rPr lang="en-US" sz="4700" b="1" dirty="0">
                <a:solidFill>
                  <a:srgbClr val="0B1E3D"/>
                </a:solidFill>
                <a:latin typeface="Cambria" pitchFamily="34" charset="0"/>
                <a:ea typeface="Cambria" pitchFamily="34" charset="-122"/>
                <a:cs typeface="Cambria" pitchFamily="34" charset="-120"/>
              </a:rPr>
              <a:t>Choosing the Right Search Strategy</a:t>
            </a:r>
            <a:endParaRPr lang="en-US" sz="4700" dirty="0"/>
          </a:p>
        </p:txBody>
      </p:sp>
      <p:pic>
        <p:nvPicPr>
          <p:cNvPr id="4" name="Image 0" descr="/mnt/user-data/working/lecture4/assets/decision_framework.png"/>
          <p:cNvPicPr>
            <a:picLocks noChangeAspect="1"/>
          </p:cNvPicPr>
          <p:nvPr/>
        </p:nvPicPr>
        <p:blipFill>
          <a:blip r:embed="rId3"/>
          <a:stretch>
            <a:fillRect/>
          </a:stretch>
        </p:blipFill>
        <p:spPr>
          <a:xfrm>
            <a:off x="320040" y="2331720"/>
            <a:ext cx="7223760" cy="4160520"/>
          </a:xfrm>
          <a:prstGeom prst="rect">
            <a:avLst/>
          </a:prstGeom>
        </p:spPr>
      </p:pic>
      <p:sp>
        <p:nvSpPr>
          <p:cNvPr id="5" name="Shape 2"/>
          <p:cNvSpPr/>
          <p:nvPr/>
        </p:nvSpPr>
        <p:spPr>
          <a:xfrm>
            <a:off x="7772400" y="2331720"/>
            <a:ext cx="3886200" cy="4160520"/>
          </a:xfrm>
          <a:prstGeom prst="roundRect">
            <a:avLst>
              <a:gd name="adj" fmla="val 1647"/>
            </a:avLst>
          </a:prstGeom>
          <a:solidFill>
            <a:srgbClr val="0B1E3D"/>
          </a:solidFill>
          <a:ln/>
        </p:spPr>
      </p:sp>
      <p:sp>
        <p:nvSpPr>
          <p:cNvPr id="6" name="Text 3"/>
          <p:cNvSpPr/>
          <p:nvPr/>
        </p:nvSpPr>
        <p:spPr>
          <a:xfrm>
            <a:off x="8046720" y="2459736"/>
            <a:ext cx="3337560"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In Industry Today</a:t>
            </a:r>
            <a:endParaRPr lang="en-US" sz="2600" dirty="0"/>
          </a:p>
        </p:txBody>
      </p:sp>
      <p:sp>
        <p:nvSpPr>
          <p:cNvPr id="7" name="Text 4"/>
          <p:cNvSpPr/>
          <p:nvPr/>
        </p:nvSpPr>
        <p:spPr>
          <a:xfrm>
            <a:off x="8001000" y="2926080"/>
            <a:ext cx="3429000" cy="3429000"/>
          </a:xfrm>
          <a:prstGeom prst="rect">
            <a:avLst/>
          </a:prstGeom>
          <a:noFill/>
          <a:ln/>
        </p:spPr>
        <p:txBody>
          <a:bodyPr wrap="square" lIns="0" tIns="0" rIns="0" bIns="0" rtlCol="0" anchor="t"/>
          <a:lstStyle/>
          <a:p>
            <a:pPr marL="203200" indent="-203200">
              <a:spcAft>
                <a:spcPts val="1300"/>
              </a:spcAft>
              <a:buSzPct val="100000"/>
              <a:buChar char="▪"/>
            </a:pPr>
            <a:r>
              <a:rPr lang="en-US" sz="1700" dirty="0">
                <a:solidFill>
                  <a:srgbClr val="E7EBF3"/>
                </a:solidFill>
                <a:latin typeface="Calibri" pitchFamily="34" charset="0"/>
                <a:ea typeface="Calibri" pitchFamily="34" charset="-122"/>
                <a:cs typeface="Calibri" pitchFamily="34" charset="-120"/>
              </a:rPr>
              <a:t>GPS routing — A*</a:t>
            </a:r>
            <a:endParaRPr lang="en-US" sz="1700" dirty="0"/>
          </a:p>
          <a:p>
            <a:pPr marL="203200" indent="-203200">
              <a:spcAft>
                <a:spcPts val="1300"/>
              </a:spcAft>
              <a:buSzPct val="100000"/>
              <a:buChar char="▪"/>
            </a:pPr>
            <a:r>
              <a:rPr lang="en-US" sz="1700" dirty="0">
                <a:solidFill>
                  <a:srgbClr val="E7EBF3"/>
                </a:solidFill>
                <a:latin typeface="Calibri" pitchFamily="34" charset="0"/>
                <a:ea typeface="Calibri" pitchFamily="34" charset="-122"/>
                <a:cs typeface="Calibri" pitchFamily="34" charset="-120"/>
              </a:rPr>
              <a:t>Robot/drone nav. — A* variants</a:t>
            </a:r>
            <a:endParaRPr lang="en-US" sz="1700" dirty="0"/>
          </a:p>
          <a:p>
            <a:pPr marL="203200" indent="-203200">
              <a:spcAft>
                <a:spcPts val="1300"/>
              </a:spcAft>
              <a:buSzPct val="100000"/>
              <a:buChar char="▪"/>
            </a:pPr>
            <a:r>
              <a:rPr lang="en-US" sz="1700" dirty="0">
                <a:solidFill>
                  <a:srgbClr val="E7EBF3"/>
                </a:solidFill>
                <a:latin typeface="Calibri" pitchFamily="34" charset="0"/>
                <a:ea typeface="Calibri" pitchFamily="34" charset="-122"/>
                <a:cs typeface="Calibri" pitchFamily="34" charset="-120"/>
              </a:rPr>
              <a:t>Game NPC pathfinding — A*</a:t>
            </a:r>
            <a:endParaRPr lang="en-US" sz="1700" dirty="0"/>
          </a:p>
          <a:p>
            <a:pPr marL="203200" indent="-203200">
              <a:spcAft>
                <a:spcPts val="1300"/>
              </a:spcAft>
              <a:buSzPct val="100000"/>
              <a:buChar char="▪"/>
            </a:pPr>
            <a:r>
              <a:rPr lang="en-US" sz="1700" dirty="0">
                <a:solidFill>
                  <a:srgbClr val="E7EBF3"/>
                </a:solidFill>
                <a:latin typeface="Calibri" pitchFamily="34" charset="0"/>
                <a:ea typeface="Calibri" pitchFamily="34" charset="-122"/>
                <a:cs typeface="Calibri" pitchFamily="34" charset="-120"/>
              </a:rPr>
              <a:t>Warehouse &amp; logistics — A* / Greedy</a:t>
            </a:r>
            <a:endParaRPr lang="en-US" sz="1700" dirty="0"/>
          </a:p>
          <a:p>
            <a:pPr marL="203200" indent="-203200">
              <a:spcAft>
                <a:spcPts val="1300"/>
              </a:spcAft>
              <a:buSzPct val="100000"/>
              <a:buChar char="▪"/>
            </a:pPr>
            <a:r>
              <a:rPr lang="en-US" sz="1700" dirty="0">
                <a:solidFill>
                  <a:srgbClr val="E7EBF3"/>
                </a:solidFill>
                <a:latin typeface="Calibri" pitchFamily="34" charset="0"/>
                <a:ea typeface="Calibri" pitchFamily="34" charset="-122"/>
                <a:cs typeface="Calibri" pitchFamily="34" charset="-120"/>
              </a:rPr>
              <a:t>Network routing — UCS / A*-style</a:t>
            </a:r>
            <a:endParaRPr lang="en-US" sz="1700" dirty="0"/>
          </a:p>
          <a:p>
            <a:pPr marL="203200" indent="-203200">
              <a:spcAft>
                <a:spcPts val="1300"/>
              </a:spcAft>
              <a:buSzPct val="100000"/>
              <a:buChar char="▪"/>
            </a:pPr>
            <a:r>
              <a:rPr lang="en-US" sz="1700" dirty="0">
                <a:solidFill>
                  <a:srgbClr val="E7EBF3"/>
                </a:solidFill>
                <a:latin typeface="Calibri" pitchFamily="34" charset="0"/>
                <a:ea typeface="Calibri" pitchFamily="34" charset="-122"/>
                <a:cs typeface="Calibri" pitchFamily="34" charset="-120"/>
              </a:rPr>
              <a:t>Puzzle solving — A* + Manhattan h</a:t>
            </a:r>
            <a:endParaRPr lang="en-US" sz="1700" dirty="0"/>
          </a:p>
          <a:p>
            <a:pPr marL="203200" indent="-203200">
              <a:spcAft>
                <a:spcPts val="1300"/>
              </a:spcAft>
              <a:buSzPct val="100000"/>
              <a:buChar char="▪"/>
            </a:pPr>
            <a:r>
              <a:rPr lang="en-US" sz="1700" dirty="0">
                <a:solidFill>
                  <a:srgbClr val="E7EBF3"/>
                </a:solidFill>
                <a:latin typeface="Calibri" pitchFamily="34" charset="0"/>
                <a:ea typeface="Calibri" pitchFamily="34" charset="-122"/>
                <a:cs typeface="Calibri" pitchFamily="34" charset="-120"/>
              </a:rPr>
              <a:t>Scheduling &amp; layout — local search</a:t>
            </a:r>
            <a:endParaRPr lang="en-US" sz="1700" dirty="0"/>
          </a:p>
        </p:txBody>
      </p:sp>
      <p:sp>
        <p:nvSpPr>
          <p:cNvPr id="8" name="Text 5"/>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6B7686"/>
                </a:solidFill>
                <a:latin typeface="Calibri" pitchFamily="34" charset="0"/>
                <a:ea typeface="Calibri" pitchFamily="34" charset="-122"/>
                <a:cs typeface="Calibri" pitchFamily="34" charset="-120"/>
              </a:rPr>
              <a:t>AI — Lecture 4  |  10. Integration</a:t>
            </a:r>
            <a:endParaRPr lang="en-US" sz="1600" dirty="0"/>
          </a:p>
        </p:txBody>
      </p:sp>
      <p:sp>
        <p:nvSpPr>
          <p:cNvPr id="9" name="Text 6"/>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6B7686"/>
                </a:solidFill>
                <a:latin typeface="Calibri" pitchFamily="34" charset="0"/>
                <a:ea typeface="Calibri" pitchFamily="34" charset="-122"/>
                <a:cs typeface="Calibri" pitchFamily="34" charset="-120"/>
              </a:rPr>
              <a:t>39 / 40</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0">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256032"/>
            <a:ext cx="11094415" cy="384048"/>
          </a:xfrm>
          <a:prstGeom prst="rect">
            <a:avLst/>
          </a:prstGeom>
          <a:noFill/>
          <a:ln/>
        </p:spPr>
        <p:txBody>
          <a:bodyPr wrap="square" rtlCol="0" anchor="ctr"/>
          <a:lstStyle/>
          <a:p>
            <a:pPr marL="0" indent="0">
              <a:buNone/>
            </a:pPr>
            <a:r>
              <a:rPr lang="en-US" sz="2200" b="1" kern="0" spc="150" dirty="0">
                <a:solidFill>
                  <a:srgbClr val="B08D57"/>
                </a:solidFill>
                <a:latin typeface="Calibri" pitchFamily="34" charset="0"/>
                <a:ea typeface="Calibri" pitchFamily="34" charset="-122"/>
                <a:cs typeface="Calibri" pitchFamily="34" charset="-120"/>
              </a:rPr>
              <a:t>10. INTEGRATION</a:t>
            </a:r>
            <a:endParaRPr lang="en-US" sz="2200" dirty="0"/>
          </a:p>
        </p:txBody>
      </p:sp>
      <p:sp>
        <p:nvSpPr>
          <p:cNvPr id="3" name="Text 1"/>
          <p:cNvSpPr txBox="1"/>
          <p:nvPr/>
        </p:nvSpPr>
        <p:spPr>
          <a:xfrm>
            <a:off x="548640" y="749808"/>
            <a:ext cx="11094415" cy="1737360"/>
          </a:xfrm>
          <a:prstGeom prst="rect">
            <a:avLst/>
          </a:prstGeom>
          <a:noFill/>
          <a:ln/>
        </p:spPr>
        <p:txBody>
          <a:bodyPr wrap="square" rtlCol="0" anchor="t"/>
          <a:lstStyle/>
          <a:p>
            <a:pPr marL="0" indent="0">
              <a:lnSpc>
                <a:spcPts val="5500"/>
              </a:lnSpc>
              <a:buNone/>
            </a:pPr>
            <a:r>
              <a:rPr lang="en-US" sz="5050" b="1" dirty="0">
                <a:solidFill>
                  <a:srgbClr val="FFFFFF"/>
                </a:solidFill>
                <a:latin typeface="Cambria" pitchFamily="34" charset="0"/>
                <a:ea typeface="Cambria" pitchFamily="34" charset="-122"/>
                <a:cs typeface="Cambria" pitchFamily="34" charset="-120"/>
              </a:rPr>
              <a:t>Summary and Final Challenge</a:t>
            </a:r>
            <a:endParaRPr lang="en-US" sz="5050" dirty="0"/>
          </a:p>
        </p:txBody>
      </p:sp>
      <p:sp>
        <p:nvSpPr>
          <p:cNvPr id="4" name="Shape 2"/>
          <p:cNvSpPr/>
          <p:nvPr/>
        </p:nvSpPr>
        <p:spPr>
          <a:xfrm>
            <a:off x="548640" y="2697480"/>
            <a:ext cx="6400800" cy="4160520"/>
          </a:xfrm>
          <a:prstGeom prst="roundRect">
            <a:avLst>
              <a:gd name="adj" fmla="val 1538"/>
            </a:avLst>
          </a:prstGeom>
          <a:solidFill>
            <a:srgbClr val="13294B"/>
          </a:solidFill>
          <a:ln/>
        </p:spPr>
      </p:sp>
      <p:sp>
        <p:nvSpPr>
          <p:cNvPr id="5" name="Text 3"/>
          <p:cNvSpPr/>
          <p:nvPr/>
        </p:nvSpPr>
        <p:spPr>
          <a:xfrm>
            <a:off x="822960" y="2825496"/>
            <a:ext cx="5852160" cy="457200"/>
          </a:xfrm>
          <a:prstGeom prst="rect">
            <a:avLst/>
          </a:prstGeom>
          <a:noFill/>
          <a:ln/>
        </p:spPr>
        <p:txBody>
          <a:bodyPr wrap="square" rtlCol="0" anchor="ctr"/>
          <a:lstStyle/>
          <a:p>
            <a:pPr marL="0" indent="0">
              <a:buNone/>
            </a:pPr>
            <a:r>
              <a:rPr lang="en-US" sz="2600" b="1" dirty="0">
                <a:solidFill>
                  <a:srgbClr val="B08D57"/>
                </a:solidFill>
                <a:latin typeface="Cambria" pitchFamily="34" charset="0"/>
                <a:ea typeface="Cambria" pitchFamily="34" charset="-122"/>
                <a:cs typeface="Cambria" pitchFamily="34" charset="-120"/>
              </a:rPr>
              <a:t>Key takeaways</a:t>
            </a:r>
            <a:endParaRPr lang="en-US" sz="2600" dirty="0"/>
          </a:p>
        </p:txBody>
      </p:sp>
      <p:sp>
        <p:nvSpPr>
          <p:cNvPr id="6" name="Text 4"/>
          <p:cNvSpPr/>
          <p:nvPr/>
        </p:nvSpPr>
        <p:spPr>
          <a:xfrm>
            <a:off x="822960" y="3200400"/>
            <a:ext cx="5852160" cy="3520440"/>
          </a:xfrm>
          <a:prstGeom prst="rect">
            <a:avLst/>
          </a:prstGeom>
          <a:noFill/>
          <a:ln/>
        </p:spPr>
        <p:txBody>
          <a:bodyPr wrap="square" lIns="0" tIns="0" rIns="0" bIns="0" rtlCol="0" anchor="t"/>
          <a:lstStyle/>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h(n) guides expansion toward the goal</a:t>
            </a:r>
            <a:endParaRPr lang="en-US" sz="2000" dirty="0"/>
          </a:p>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f=g is UCS; f=h is Greedy; f=g+h is A*</a:t>
            </a:r>
            <a:endParaRPr lang="en-US" sz="2000" dirty="0"/>
          </a:p>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A* is optimal when h is admissible (tree) or consistent (graph)</a:t>
            </a:r>
            <a:endParaRPr lang="en-US" sz="2000" dirty="0"/>
          </a:p>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Consistency ⇒ admissibility, not the reverse</a:t>
            </a:r>
            <a:endParaRPr lang="en-US" sz="2000" dirty="0"/>
          </a:p>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A dominant heuristic never expands more nodes</a:t>
            </a:r>
            <a:endParaRPr lang="en-US" sz="2000" dirty="0"/>
          </a:p>
          <a:p>
            <a:pPr marL="203200" indent="-203200">
              <a:spcAft>
                <a:spcPts val="1000"/>
              </a:spcAft>
              <a:buSzPct val="100000"/>
              <a:buChar char="▪"/>
            </a:pPr>
            <a:r>
              <a:rPr lang="en-US" sz="2000" dirty="0">
                <a:solidFill>
                  <a:srgbClr val="E7EBF3"/>
                </a:solidFill>
                <a:latin typeface="Calibri" pitchFamily="34" charset="0"/>
                <a:ea typeface="Calibri" pitchFamily="34" charset="-122"/>
                <a:cs typeface="Calibri" pitchFamily="34" charset="-120"/>
              </a:rPr>
              <a:t>Local search trades guarantees for constant memory</a:t>
            </a:r>
            <a:endParaRPr lang="en-US" sz="2000" dirty="0"/>
          </a:p>
        </p:txBody>
      </p:sp>
      <p:sp>
        <p:nvSpPr>
          <p:cNvPr id="7" name="Shape 5"/>
          <p:cNvSpPr/>
          <p:nvPr/>
        </p:nvSpPr>
        <p:spPr>
          <a:xfrm>
            <a:off x="7589520" y="2697480"/>
            <a:ext cx="4069080" cy="3429000"/>
          </a:xfrm>
          <a:prstGeom prst="roundRect">
            <a:avLst>
              <a:gd name="adj" fmla="val 2133"/>
            </a:avLst>
          </a:prstGeom>
          <a:solidFill>
            <a:srgbClr val="B08D57"/>
          </a:solidFill>
          <a:ln/>
        </p:spPr>
      </p:sp>
      <p:sp>
        <p:nvSpPr>
          <p:cNvPr id="8" name="Text 6"/>
          <p:cNvSpPr/>
          <p:nvPr/>
        </p:nvSpPr>
        <p:spPr>
          <a:xfrm>
            <a:off x="7818120" y="2862072"/>
            <a:ext cx="3611880" cy="411480"/>
          </a:xfrm>
          <a:prstGeom prst="rect">
            <a:avLst/>
          </a:prstGeom>
          <a:noFill/>
          <a:ln/>
        </p:spPr>
        <p:txBody>
          <a:bodyPr wrap="square" rtlCol="0" anchor="ctr"/>
          <a:lstStyle/>
          <a:p>
            <a:pPr marL="0" indent="0">
              <a:buNone/>
            </a:pPr>
            <a:r>
              <a:rPr lang="en-US" sz="2250" b="1" dirty="0">
                <a:solidFill>
                  <a:srgbClr val="0B1E3D"/>
                </a:solidFill>
                <a:latin typeface="Cambria" pitchFamily="34" charset="0"/>
                <a:ea typeface="Cambria" pitchFamily="34" charset="-122"/>
                <a:cs typeface="Cambria" pitchFamily="34" charset="-120"/>
              </a:rPr>
              <a:t>Final challenge question</a:t>
            </a:r>
            <a:endParaRPr lang="en-US" sz="2250" dirty="0"/>
          </a:p>
        </p:txBody>
      </p:sp>
      <p:sp>
        <p:nvSpPr>
          <p:cNvPr id="9" name="Text 7"/>
          <p:cNvSpPr/>
          <p:nvPr/>
        </p:nvSpPr>
        <p:spPr>
          <a:xfrm>
            <a:off x="7818120" y="3319272"/>
            <a:ext cx="3611880" cy="1874520"/>
          </a:xfrm>
          <a:prstGeom prst="rect">
            <a:avLst/>
          </a:prstGeom>
          <a:noFill/>
          <a:ln/>
        </p:spPr>
        <p:txBody>
          <a:bodyPr wrap="square" rtlCol="0" anchor="ctr"/>
          <a:lstStyle/>
          <a:p>
            <a:pPr marL="0" indent="0">
              <a:lnSpc>
                <a:spcPts val="2400"/>
              </a:lnSpc>
              <a:buNone/>
            </a:pPr>
            <a:r>
              <a:rPr lang="en-US" sz="1900" i="1" dirty="0">
                <a:solidFill>
                  <a:srgbClr val="0B1E3D"/>
                </a:solidFill>
                <a:latin typeface="Calibri" pitchFamily="34" charset="0"/>
                <a:ea typeface="Calibri" pitchFamily="34" charset="-122"/>
                <a:cs typeface="Calibri" pitchFamily="34" charset="-120"/>
              </a:rPr>
              <a:t>h(n) ≤ h*(n) everywhere, but fails consistency on one edge. With graph-search A*, is the result still optimal? What must the code handle?</a:t>
            </a:r>
            <a:endParaRPr lang="en-US" sz="1900" dirty="0"/>
          </a:p>
        </p:txBody>
      </p:sp>
      <p:sp>
        <p:nvSpPr>
          <p:cNvPr id="10" name="Text 8"/>
          <p:cNvSpPr/>
          <p:nvPr/>
        </p:nvSpPr>
        <p:spPr>
          <a:xfrm>
            <a:off x="7818120" y="5303520"/>
            <a:ext cx="3611880" cy="685800"/>
          </a:xfrm>
          <a:prstGeom prst="rect">
            <a:avLst/>
          </a:prstGeom>
          <a:noFill/>
          <a:ln/>
        </p:spPr>
        <p:txBody>
          <a:bodyPr wrap="square" rtlCol="0" anchor="ctr"/>
          <a:lstStyle/>
          <a:p>
            <a:pPr marL="0" indent="0">
              <a:lnSpc>
                <a:spcPts val="2300"/>
              </a:lnSpc>
              <a:buNone/>
            </a:pPr>
            <a:r>
              <a:rPr lang="en-US" sz="1850" b="1" dirty="0">
                <a:solidFill>
                  <a:srgbClr val="3A2E17"/>
                </a:solidFill>
                <a:latin typeface="Calibri" pitchFamily="34" charset="0"/>
                <a:ea typeface="Calibri" pitchFamily="34" charset="-122"/>
                <a:cs typeface="Calibri" pitchFamily="34" charset="-120"/>
              </a:rPr>
              <a:t>Bring your answer to Lecture 5 — we open with it.</a:t>
            </a:r>
            <a:endParaRPr lang="en-US" sz="1850" dirty="0"/>
          </a:p>
        </p:txBody>
      </p:sp>
      <p:sp>
        <p:nvSpPr>
          <p:cNvPr id="11" name="Text 9"/>
          <p:cNvSpPr/>
          <p:nvPr/>
        </p:nvSpPr>
        <p:spPr>
          <a:xfrm>
            <a:off x="548640" y="6400800"/>
            <a:ext cx="8229600" cy="384048"/>
          </a:xfrm>
          <a:prstGeom prst="rect">
            <a:avLst/>
          </a:prstGeom>
          <a:noFill/>
          <a:ln/>
        </p:spPr>
        <p:txBody>
          <a:bodyPr wrap="square" rtlCol="0" anchor="ctr"/>
          <a:lstStyle/>
          <a:p>
            <a:pPr marL="0" indent="0">
              <a:buNone/>
            </a:pPr>
            <a:r>
              <a:rPr lang="en-US" sz="1600" i="1" dirty="0">
                <a:solidFill>
                  <a:srgbClr val="8B96AC"/>
                </a:solidFill>
                <a:latin typeface="Calibri" pitchFamily="34" charset="0"/>
                <a:ea typeface="Calibri" pitchFamily="34" charset="-122"/>
                <a:cs typeface="Calibri" pitchFamily="34" charset="-120"/>
              </a:rPr>
              <a:t>AI — Lecture 4  |  10. Integration</a:t>
            </a:r>
            <a:endParaRPr lang="en-US" sz="1600" dirty="0"/>
          </a:p>
        </p:txBody>
      </p:sp>
      <p:sp>
        <p:nvSpPr>
          <p:cNvPr id="12" name="Text 10"/>
          <p:cNvSpPr/>
          <p:nvPr/>
        </p:nvSpPr>
        <p:spPr>
          <a:xfrm>
            <a:off x="10454335" y="6400800"/>
            <a:ext cx="1188720" cy="384048"/>
          </a:xfrm>
          <a:prstGeom prst="rect">
            <a:avLst/>
          </a:prstGeom>
          <a:noFill/>
          <a:ln/>
        </p:spPr>
        <p:txBody>
          <a:bodyPr wrap="square" rtlCol="0" anchor="ctr"/>
          <a:lstStyle/>
          <a:p>
            <a:pPr marL="0" indent="0" algn="r">
              <a:buNone/>
            </a:pPr>
            <a:r>
              <a:rPr lang="en-US" sz="1600" dirty="0">
                <a:solidFill>
                  <a:srgbClr val="8B96AC"/>
                </a:solidFill>
                <a:latin typeface="Calibri" pitchFamily="34" charset="0"/>
                <a:ea typeface="Calibri" pitchFamily="34" charset="-122"/>
                <a:cs typeface="Calibri" pitchFamily="34" charset="-120"/>
              </a:rPr>
              <a:t>40 / 40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12952</Words>
  <Application>Microsoft Macintosh PowerPoint</Application>
  <PresentationFormat>Widescreen</PresentationFormat>
  <Paragraphs>1023</Paragraphs>
  <Slides>52</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Calibri</vt:lpstr>
      <vt:lpstr>Calibri Light</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What is a Heuristic?</vt:lpstr>
      <vt:lpstr>Costs Compared and Algorithms That Use h(n)</vt:lpstr>
      <vt:lpstr>How Do We Evaluate a Heuristic?</vt:lpstr>
      <vt:lpstr>Heuristic Functions: g(n), h(n) and f(n)</vt:lpstr>
      <vt:lpstr>Good, Poor, Overestimating and Informed Heuristics</vt:lpstr>
      <vt:lpstr>8-Puzzle: Two Heuristic Functions</vt:lpstr>
      <vt:lpstr>8-Puzzle: Worked Calculation and Comparison</vt:lpstr>
      <vt:lpstr>8-Queens: Counting Attacking Pairs</vt:lpstr>
      <vt:lpstr>Tic-Tac-Toe: A Game Evaluation Function</vt:lpstr>
      <vt:lpstr>More Heuristic Examples</vt:lpstr>
      <vt:lpstr>Comparing Heuristics</vt:lpstr>
      <vt:lpstr>Key Takeaways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BS Computer Science — Artificial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Informed Search, Heuristics and A* Search</dc:title>
  <dc:subject>PptxGenJS Presentation</dc:subject>
  <dc:creator>Dr. Ghulam Ali</dc:creator>
  <cp:lastModifiedBy>Ali Huzaifah</cp:lastModifiedBy>
  <cp:revision>3</cp:revision>
  <dcterms:created xsi:type="dcterms:W3CDTF">2026-09-14T01:25:31Z</dcterms:created>
  <dcterms:modified xsi:type="dcterms:W3CDTF">2026-10-13T05:16:12Z</dcterms:modified>
</cp:coreProperties>
</file>