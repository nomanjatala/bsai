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69" r:id="rId18"/>
    <p:sldId id="270" r:id="rId19"/>
    <p:sldId id="271" r:id="rId20"/>
    <p:sldId id="272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security is not only about technology. We must also follow the law and behave ethically.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Something can be legal but unethical. Good professionals follow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skill is powerful. Law and ethics tell us how to use it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crime in most countries, including Pakistan under PECA 2016.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country has its own laws. Cyber crime often crosses borders, which makes enforcement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PECA was amended in 2025. Check the latest version for exact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GDPR, serious violations can be fined up to 20 million euros or 4% of global yearly turnover.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Respecting IP is both a legal and an ethical duty.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Piracy hurts developers and is also a common way malware spreads.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guide decisions when the law is silent.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permission is what separates ethical hacking from crime. Good intentions alone are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process is called penetration testing. Without step 1, it is a crime.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Breaking a professional code can cost you your certification and your job, even if no law is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Having access does not mean having permission to use it for any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Lesson: weak ethics and weak security both lead to legal trouble, fines and loss of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first. This bug type is called IDOR (Insecure Direct Object Reference).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quote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0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05840" cy="100584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99303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Legal &amp; Ethical Issues in Information Security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7863840" cy="951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0A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laws, rights and right behaviour in the digital world</a:t>
            </a:r>
            <a:endParaRPr lang="en-US" sz="1800" i="1" dirty="0">
              <a:solidFill>
                <a:srgbClr val="E0A0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E0A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by : Aqsa Farooq</a:t>
            </a:r>
            <a:endParaRPr lang="en-US" sz="1800" i="1" dirty="0">
              <a:solidFill>
                <a:srgbClr val="E0A0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0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Information Security  |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Law vs Ethics: What Is the Difference?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31545"/>
            <a:ext cx="4023360" cy="258889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33475"/>
            <a:ext cx="548640" cy="514985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96" y="1229131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073150"/>
            <a:ext cx="2743200" cy="517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04340"/>
            <a:ext cx="3611880" cy="1724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Law means official government rules that people must follow, and breaking them can result in legal punishment.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Laws are officially recorded in legal documents.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it = punishment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for everyone in a country.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863600"/>
            <a:ext cx="4023360" cy="2656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9350" y="959485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996" y="1126261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049020"/>
            <a:ext cx="27432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8E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ETHICS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556385"/>
            <a:ext cx="3611880" cy="1872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Ethics are ideas and principles that help us decide what is right and wrong and how we should behave with others.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Comes from society and conscience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it = loss of trust/respect</a:t>
            </a:r>
            <a:endParaRPr 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behavior: The student keeps the password private and does not access the account.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Unethical behavior: The student uses the password to read private messages or steal information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391414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Hacking a bank is illegal AND unethical. Reading your friend's open chat when they leave the room may not be illegal, but it is unethical.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Legal &amp; Ethical Issues Matter?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punishment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cyber laws can lead to fines or jail.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73552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463040"/>
            <a:ext cx="640080" cy="64008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6294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240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people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trust us with their personal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89904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18504" y="1463040"/>
            <a:ext cx="640080" cy="64008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5" y="16294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18504" y="2240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trust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18504" y="26060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that respect privacy keep customers.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4360" y="365760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security expert who knows how to break passwords must still decide to use that skill only with permission.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Types of Cyber Crime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258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Entering a system without permission, e.g. breaking into a school website.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3552" y="1143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3258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91" y="14566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96512" y="13258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56432" y="1920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email/SMS to steal passwords, e.g. "Your bank account is blocked, click here".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9904" y="11430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3258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43" y="14566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12864" y="13258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Theft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1920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someone's CNIC or card details to open accounts.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854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154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Locking files and asking for money to unlock them.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73552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56432" y="31546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191" y="32854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96512" y="3154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Cyberstalking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456432" y="37490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Repeatedly harassing or tracking someone online.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89904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72784" y="3154680"/>
            <a:ext cx="502920" cy="50292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543" y="32854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12864" y="3154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Fraud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272784" y="37490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online shops that take payment and send nothing.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Important Cyber Laws Around the World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143000"/>
          <a:ext cx="8229600" cy="3401568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45720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Country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Law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covers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4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Pakistan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06A1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PECA 2016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Prevention of Electronic Crimes Act — covers hacking, fraud, cyberstalking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USA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06A1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CFAA 1986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Computer Fraud and Abuse Act — unauthorized access to computers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UK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06A1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Computer Misuse Act 1990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Makes hacking and spreading malware a crime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European Union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06A1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GDPR 2018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Protects personal data and privacy of people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India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06A1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 Act 2000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B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Covers cyber crime and electronic records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PECA(</a:t>
            </a:r>
            <a:r>
              <a:rPr lang="en-US" alt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Prevention of Electronic Crimes Act)</a:t>
            </a: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2016 (Pakistan)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3555" y="1113155"/>
            <a:ext cx="4662805" cy="1356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600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PECA is a law enacted in Pakistan to deal with electronic crimes committed through computers, mobile phones, and the internet.</a:t>
            </a:r>
            <a:endParaRPr lang="en-US" sz="1600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Offences under PECA include: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3555" y="1974850"/>
            <a:ext cx="4662805" cy="1591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access to a system or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Damaging or interfering with data/systems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 fraud and forgery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Misuse of someone's identity information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Cyberstalking and online harassment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14300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1325880"/>
            <a:ext cx="548640" cy="54864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086" y="14685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06440" y="1965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to report?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331720"/>
            <a:ext cx="26974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crime complaints are handled by the national cybercrime agency (NCCIA, formerly the FIA Cyber Crime Wing).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84048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into your classmate's LMS account with a guessed password is unauthorized access under PECA, even "just for fun".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Privacy &amp; Data Protection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means a person controls who sees and uses their personal information (name, phone, CNIC, location, photos).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20628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560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before collecting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78308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920240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766" y="2062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51760" y="2560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data only for the stated reason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78308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49240" y="1920240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886" y="20628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560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data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only what is needed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66560" y="178308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52360" y="1920240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006" y="20628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0" y="2560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28803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data safe from leaks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374904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flashlight app that asks to read your contacts and messages is collecting more data than it needs.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Intellectual Property (IP)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80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5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Intellectual Property (IP) means something created by a person's mind that is legally protected and belongs to its creator or owner. like </a:t>
            </a:r>
            <a:r>
              <a:rPr lang="en-US" sz="15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software, music, logos, inventions.</a:t>
            </a:r>
            <a:endParaRPr lang="en-US" altLang="en-US" sz="15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2119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8013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Copyright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305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Copyright is a legal right that protects original creative work from unauthorized copying or use</a:t>
            </a: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Copying a paid course and selling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057400"/>
            <a:ext cx="594360" cy="59436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54" y="22119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18013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21305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patent is a legal right that protects a new invention or a new technical method.</a:t>
            </a:r>
            <a:endParaRPr lang="en-US" altLang="en-US" sz="12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A new type of fingerprint scanner.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38121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4015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Trademark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7307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trademark is a legal protection for a brand's name, logo, symbol, or slogan that helps people identify its products or services</a:t>
            </a:r>
            <a:r>
              <a:rPr lang="en-US" alt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altLang="en-US" sz="1200" i="1" dirty="0">
              <a:solidFill>
                <a:srgbClr val="A06A1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A fake shop using a famous brand logo.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2918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657600"/>
            <a:ext cx="594360" cy="59436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854" y="38121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623560" y="34015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 Secret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623560" y="37307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trade secret is valuable business information that is kept secret from competitors</a:t>
            </a:r>
            <a:endParaRPr lang="en-US" altLang="en-US" sz="12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An employee leaking a company's formula.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Software Piracy &amp; Licensing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4685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25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Piracy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39595"/>
            <a:ext cx="3611880" cy="154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en-US" sz="1400" dirty="0"/>
              <a:t>Software piracy means using, copying, sharing, or distributing software without proper permission or a valid license from the software owner.</a:t>
            </a:r>
            <a:endParaRPr lang="en-US" alt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en-US" sz="1400" dirty="0"/>
              <a:t>A person downloads a paid software for free from an unofficial website and uses it without buying a license.</a:t>
            </a:r>
            <a:endParaRPr lang="en-US" altLang="en-US" sz="1400" dirty="0"/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4685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325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8E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Legal Options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821815"/>
            <a:ext cx="3611880" cy="15614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en-US" sz="1400" dirty="0"/>
              <a:t>Legal options mean using software in a legal way instead of using cracked software.</a:t>
            </a:r>
            <a:endParaRPr lang="en-US" alt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en-US" sz="1400" dirty="0"/>
              <a:t>Purchase the software legally from the official seller.</a:t>
            </a:r>
            <a:endParaRPr lang="en-US" alt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altLang="en-US" sz="1400" dirty="0"/>
              <a:t>You need Microsoft Office, so you buy a valid Microsoft 365 license instead of downloading a cracked version</a:t>
            </a:r>
            <a:endParaRPr lang="en-US" alt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374904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Cracked software often hides malware. Piracy is illegal AND a security risk to your own computer.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0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Ethical Principles in InfoSec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13670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0700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270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the truth about risks and mistakes.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13670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20700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532120" y="15270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private data private.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" y="25557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3957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Harm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2715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skills to hurt others.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63440" y="237744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25557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3957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532120" y="2715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 your actions and their results.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" y="37444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5844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39044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 all users equally and with respect.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663440" y="3566160"/>
            <a:ext cx="685800" cy="68580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374446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32120" y="35844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5532120" y="39044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only what you are allowed 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Hackers: Who Is Ethical?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25880"/>
            <a:ext cx="777240" cy="77724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82" y="1527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8E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WHITE HAT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60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hacker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8036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300" dirty="0"/>
              <a:t>An ethical hacker has permission to test a system, find security weaknesses, and help fix them</a:t>
            </a:r>
            <a:endParaRPr lang="en-US" alt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1188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A bank hires a tester to check its app.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73552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87952" y="1325880"/>
            <a:ext cx="777240" cy="77724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0034" y="152796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1071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06A1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GREY HAT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10712" y="2560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In-between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56432" y="288036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300" dirty="0"/>
              <a:t>A grey hat hacker may have good intentions, but tests a system without permission.</a:t>
            </a:r>
            <a:endParaRPr lang="en-US" alt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56432" y="361188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Hacks a site and then tells the owner.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9904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04304" y="1325880"/>
            <a:ext cx="777240" cy="7772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6386" y="1527962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27064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BLACK HAT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27064" y="2560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Criminal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72784" y="288036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US" sz="1300" dirty="0"/>
              <a:t>A black hat hacker breaks into computer systems without permission to steal information, cause damage, or make money illegally</a:t>
            </a:r>
            <a:endParaRPr lang="en-US" alt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272530" y="3886835"/>
            <a:ext cx="2240280" cy="410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Steals card data and sells it online.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Rules of Ethical Hacking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685800" cy="68580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91640" y="1531620"/>
            <a:ext cx="1042416" cy="0"/>
          </a:xfrm>
          <a:prstGeom prst="line">
            <a:avLst/>
          </a:prstGeom>
          <a:noFill/>
          <a:ln w="19050">
            <a:solidFill>
              <a:srgbClr val="8D90A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Written Permission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approval from the system owner.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6896" y="1188720"/>
            <a:ext cx="685800" cy="68580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96896" y="1188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74136" y="1531620"/>
            <a:ext cx="1042416" cy="0"/>
          </a:xfrm>
          <a:prstGeom prst="line">
            <a:avLst/>
          </a:prstGeom>
          <a:noFill/>
          <a:ln w="19050">
            <a:solidFill>
              <a:srgbClr val="8D90A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39696" y="20116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 on Scope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85416" y="256032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only the systems listed.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1188720"/>
            <a:ext cx="685800" cy="68580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9392" y="1188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56632" y="1531620"/>
            <a:ext cx="1042416" cy="0"/>
          </a:xfrm>
          <a:prstGeom prst="line">
            <a:avLst/>
          </a:prstGeom>
          <a:noFill/>
          <a:ln w="19050">
            <a:solidFill>
              <a:srgbClr val="8D90A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22192" y="20116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 Damage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256032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delete, change or leak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1888" y="1188720"/>
            <a:ext cx="685800" cy="68580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1888" y="1188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739128" y="1531620"/>
            <a:ext cx="1042416" cy="0"/>
          </a:xfrm>
          <a:prstGeom prst="line">
            <a:avLst/>
          </a:prstGeom>
          <a:noFill/>
          <a:ln w="19050">
            <a:solidFill>
              <a:srgbClr val="8D90A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504688" y="20116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It Secret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50408" y="256032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are shared only with the client.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44384" y="1188720"/>
            <a:ext cx="685800" cy="685800"/>
          </a:xfrm>
          <a:prstGeom prst="ellipse">
            <a:avLst/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44384" y="1188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20116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Everything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32904" y="256032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a clear report with fixes.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657600"/>
            <a:ext cx="7955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tester allowed to test the website only should not also attack the company's email server. That is outside scope.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9065"/>
            <a:ext cx="8229600" cy="2433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Professional Codes of Ethics</a:t>
            </a:r>
            <a:endParaRPr lang="en-US" sz="3000" b="1" dirty="0">
              <a:solidFill>
                <a:srgbClr val="23243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Definition:</a:t>
            </a:r>
            <a:r>
              <a:rPr lang="en-US" altLang="en-US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endParaRPr lang="en-US" altLang="en-US" b="1" dirty="0">
              <a:solidFill>
                <a:srgbClr val="23243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Professional codes of ethics are rules and principles that guide people on how to behave honestly, responsibly, and professionally in their jobs</a:t>
            </a:r>
            <a:endParaRPr lang="en-US" altLang="en-US" dirty="0">
              <a:solidFill>
                <a:srgbClr val="23243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1485" y="2268855"/>
            <a:ext cx="8464550" cy="287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ACM(</a:t>
            </a:r>
            <a:r>
              <a:rPr lang="en-US" alt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Association for Computing Machinery)</a:t>
            </a:r>
            <a:r>
              <a:rPr lang="en-US" sz="16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600" b="1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sz="16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It is a professional organization related to computer science and computing technology.</a:t>
            </a:r>
            <a:endParaRPr lang="en-US" altLang="en-US" sz="16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 </a:t>
            </a:r>
            <a:endParaRPr lang="en-US" altLang="en-US" sz="1600" b="1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ACM Code of Ethics is a set of ethical principles that guides computing professionals on how to behave honestly, responsibly, and fairly while using their technical skills..</a:t>
            </a:r>
            <a:endParaRPr lang="en-US" alt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For computing professionals: avoid harm, be honest, respect privacy, honour confidentiality.</a:t>
            </a:r>
            <a:endParaRPr lang="en-US" sz="140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Example:</a:t>
            </a:r>
            <a:endParaRPr lang="en-US" sz="1600" b="1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25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software developer discovers a serious security problem in a university system. Instead of exploiting the weakness, they report it to the university so it can be fixed.</a:t>
            </a:r>
            <a:endParaRPr lang="en-US" altLang="en-US" sz="125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US" sz="125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Don't use your technical skills to cause unnecessary harm.</a:t>
            </a:r>
            <a:endParaRPr lang="en-US" altLang="en-US" sz="1250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Shape 6"/>
          <p:cNvSpPr/>
          <p:nvPr/>
        </p:nvSpPr>
        <p:spPr>
          <a:xfrm>
            <a:off x="457200" y="418465"/>
            <a:ext cx="8229600" cy="409638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pPr marL="0" indent="0">
              <a:buNone/>
            </a:pPr>
            <a:r>
              <a:rPr lang="en-US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(ISC)² Code of Ethics:</a:t>
            </a:r>
            <a:endParaRPr lang="en-US" b="1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(ISC)² stands for International Information System Security Certification Consortium</a:t>
            </a:r>
            <a:r>
              <a:rPr lang="en-US" altLang="en-US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.</a:t>
            </a:r>
            <a:endParaRPr lang="en-US" altLang="en-US" b="1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Definiition:</a:t>
            </a:r>
            <a:endParaRPr lang="en-US" altLang="en-US" b="1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The (ISC)² Code of Ethics is a set of ethical rules that certified cybersecurity professionals should follow when doing their jobs.it tells cybersecurity professionals how to use their skills honestly, responsibly, and safely.</a:t>
            </a:r>
            <a:endParaRPr lang="en-US" altLang="en-US" dirty="0">
              <a:solidFill>
                <a:srgbClr val="2324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Example:</a:t>
            </a:r>
            <a:endParaRPr lang="en-US" b="1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 CISSP professional reports a security weakness honestly so it can be fixed instead of misusing it.</a:t>
            </a:r>
            <a:endParaRPr lang="en-US" altLang="en-US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altLang="en-US" dirty="0">
              <a:solidFill>
                <a:srgbClr val="2A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Ethics Inside an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837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280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Acceptable Use Policy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6002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on how staff may use company computers, internet and email.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5837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2801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Monitoring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6002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Allowed if staff are told clearly. Secret spying is unethical.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29553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651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Insider Threats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29718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misusing their access, e.g. copying customer data before leaving.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788920"/>
            <a:ext cx="640080" cy="64008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29553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2651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Whistleblowing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29718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wrongdoing honestly through the proper channels.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4360" y="393192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database admin can see all salaries, but looking them up out of curiosity is a misuse of access.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87M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Facebook users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Cambridge Analytica (2018): user data was collected through a quiz app and used for political ads without proper consent.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Ethics / Privacy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56432" y="128016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147M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affected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42316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Equifax (2017): hackers used an unpatched software flaw. The company agreed to a settlement of up to $700M.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3977640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6432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Legal / Negligence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72784" y="128016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150+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05740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countries hit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242316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WannaCry (2017): ransomware locked hospital and business computers worldwide and demanded payment.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2784" y="3977640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2784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Crime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Ethical Dilemma: You Found a Bug!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4923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3258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4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situation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429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While using your university portal, you notice that changing a number in the URL shows another student's result card.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should you do?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0560" y="114300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3258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14566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3258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55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192024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others' results, share it on social media, or brag about 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480560" y="283464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4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3017520"/>
            <a:ext cx="502920" cy="502920"/>
          </a:xfrm>
          <a:prstGeom prst="ellipse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9" y="31482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03520" y="30175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8E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Stop, don't explore further, and report it privately to the IT department (responsible disclosure).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0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38912" cy="438912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257117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43000"/>
            <a:ext cx="7498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Law = official rules with punishment. Ethics = doing what is right.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764792"/>
            <a:ext cx="438912" cy="438912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878909"/>
            <a:ext cx="210678" cy="21067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764792"/>
            <a:ext cx="7498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 cyber laws like PECA 2016 (Pakistan) and GDPR (EU).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438912" cy="438912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2500701"/>
            <a:ext cx="210678" cy="21067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386584"/>
            <a:ext cx="7498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Respect privacy and intellectual property; avoid pirated software.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3122493"/>
            <a:ext cx="210678" cy="21067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008376"/>
            <a:ext cx="7498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 is the line between ethical hacking and cyber crime.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3630168"/>
            <a:ext cx="438912" cy="438912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3744285"/>
            <a:ext cx="210678" cy="21067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630168"/>
            <a:ext cx="7498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professional codes and report issues responsibly.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434340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A0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"Just because you CAN access it doesn't mean you SHOULD."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8831</Words>
  <Application>WPS Presentation</Application>
  <PresentationFormat>On-screen Show (16:9)</PresentationFormat>
  <Paragraphs>405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and Ethical Issues in Information Security</dc:title>
  <dc:creator>PptxGenJS</dc:creator>
  <dc:subject>PptxGenJS Presentation</dc:subject>
  <cp:lastModifiedBy>WPS_1777541724</cp:lastModifiedBy>
  <cp:revision>17</cp:revision>
  <dcterms:created xsi:type="dcterms:W3CDTF">2026-10-01T16:48:00Z</dcterms:created>
  <dcterms:modified xsi:type="dcterms:W3CDTF">2026-10-11T13:12:25Z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9D8E7B0304694025A2124C970D9B9203_12</vt:lpwstr>
  </property>
</Properties>
</file>