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Information Security Fundamentals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0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941560"/>
            <a:ext cx="9404723" cy="1195058"/>
          </a:xfrm>
        </p:spPr>
        <p:txBody>
          <a:bodyPr/>
          <a:lstStyle/>
          <a:p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Information Security?</a:t>
            </a:r>
            <a:endParaRPr lang="en-US" sz="44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Information Security  means protecting data and information from  unauthorized access , use ,change or destruction.</a:t>
            </a:r>
          </a:p>
          <a:p>
            <a:r>
              <a:rPr lang="en-US" dirty="0" smtClean="0"/>
              <a:t>It ensures that sensitive information remain safe , private and accurate.</a:t>
            </a:r>
          </a:p>
          <a:p>
            <a:r>
              <a:rPr lang="en-US" dirty="0"/>
              <a:t>the right information, for the right person, at the right time — and nobody </a:t>
            </a:r>
            <a:r>
              <a:rPr lang="en-US" dirty="0" smtClean="0"/>
              <a:t>else.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5099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Phone lock /</a:t>
            </a:r>
            <a:r>
              <a:rPr lang="en-US" b="1" dirty="0" err="1" smtClean="0"/>
              <a:t>fringerprint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     Locking a phone with fingerprint or password.</a:t>
            </a:r>
          </a:p>
          <a:p>
            <a:r>
              <a:rPr lang="en-US" b="1" dirty="0" smtClean="0"/>
              <a:t>ATM card +Pin</a:t>
            </a:r>
            <a:endParaRPr lang="en-AU" b="1" dirty="0" smtClean="0"/>
          </a:p>
          <a:p>
            <a:pPr marL="0" indent="0">
              <a:buNone/>
            </a:pPr>
            <a:r>
              <a:rPr lang="en-US" dirty="0" smtClean="0"/>
              <a:t>     Two things needed together — card and secret number.</a:t>
            </a:r>
          </a:p>
          <a:p>
            <a:r>
              <a:rPr lang="en-US" b="1" dirty="0" smtClean="0"/>
              <a:t>OTP code on </a:t>
            </a:r>
            <a:r>
              <a:rPr lang="en-US" b="1" dirty="0" err="1" smtClean="0"/>
              <a:t>sms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    The </a:t>
            </a:r>
            <a:r>
              <a:rPr lang="en-US" dirty="0"/>
              <a:t>bank checks that it is really you before the </a:t>
            </a:r>
            <a:r>
              <a:rPr lang="en-US" dirty="0" smtClean="0"/>
              <a:t>transfer.</a:t>
            </a:r>
          </a:p>
          <a:p>
            <a:r>
              <a:rPr lang="en-US" b="1" dirty="0" smtClean="0"/>
              <a:t>CCTV at the gate</a:t>
            </a:r>
          </a:p>
          <a:p>
            <a:pPr marL="0" indent="0">
              <a:buNone/>
            </a:pPr>
            <a:r>
              <a:rPr lang="en-US" dirty="0" smtClean="0"/>
              <a:t>     Physical </a:t>
            </a:r>
            <a:r>
              <a:rPr lang="en-US" dirty="0"/>
              <a:t>security — it also protects information </a:t>
            </a:r>
            <a:r>
              <a:rPr lang="en-US" dirty="0" smtClean="0"/>
              <a:t>rooms.</a:t>
            </a:r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2419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Need for information security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209" y="1853248"/>
            <a:ext cx="9507626" cy="4395152"/>
          </a:xfrm>
        </p:spPr>
        <p:txBody>
          <a:bodyPr/>
          <a:lstStyle/>
          <a:p>
            <a:r>
              <a:rPr lang="en-US" b="1" dirty="0" smtClean="0"/>
              <a:t>To protect confidential information</a:t>
            </a:r>
          </a:p>
          <a:p>
            <a:pPr marL="0" indent="0">
              <a:buNone/>
            </a:pPr>
            <a:r>
              <a:rPr lang="en-US" dirty="0" smtClean="0"/>
              <a:t>     Sensitive data like personal ,financial or business information must be                         kept secure from unauthorized access.</a:t>
            </a:r>
          </a:p>
          <a:p>
            <a:r>
              <a:rPr lang="en-US" b="1" dirty="0" smtClean="0"/>
              <a:t>To prevent data loss or theft</a:t>
            </a:r>
          </a:p>
          <a:p>
            <a:pPr marL="0" indent="0">
              <a:buNone/>
            </a:pPr>
            <a:r>
              <a:rPr lang="en-US" dirty="0" smtClean="0"/>
              <a:t>    Information security  helps in avoiding loss, leakage or stealing of     important data by hackers.</a:t>
            </a:r>
          </a:p>
          <a:p>
            <a:r>
              <a:rPr lang="en-US" b="1" dirty="0" smtClean="0"/>
              <a:t>To maintain trust and reputation</a:t>
            </a:r>
          </a:p>
          <a:p>
            <a:pPr marL="0" indent="0">
              <a:buNone/>
            </a:pPr>
            <a:r>
              <a:rPr lang="en-US" dirty="0" smtClean="0"/>
              <a:t>   A secure system builds trust among users , customers and employees      by showing that their data is safe.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7530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Three Layers of Protection</a:t>
            </a:r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67074"/>
            <a:ext cx="8946541" cy="48813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Good security never depends on one thing only. We combine three kinds of controls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Physical</a:t>
            </a:r>
          </a:p>
          <a:p>
            <a:pPr marL="0" indent="0">
              <a:buNone/>
            </a:pPr>
            <a:r>
              <a:rPr lang="en-US" dirty="0" smtClean="0"/>
              <a:t>    The </a:t>
            </a:r>
            <a:r>
              <a:rPr lang="en-US" dirty="0"/>
              <a:t>paper is kept in a locked cupboard.  </a:t>
            </a:r>
          </a:p>
          <a:p>
            <a:pPr marL="0" indent="0">
              <a:buNone/>
            </a:pPr>
            <a:r>
              <a:rPr lang="en-US" dirty="0" smtClean="0"/>
              <a:t>    Locks</a:t>
            </a:r>
            <a:r>
              <a:rPr lang="en-US" dirty="0"/>
              <a:t>, guards, CCTV, fire alarms, locked server room, visitor register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Technical</a:t>
            </a:r>
          </a:p>
          <a:p>
            <a:pPr marL="0" indent="0">
              <a:buNone/>
            </a:pPr>
            <a:r>
              <a:rPr lang="en-US" dirty="0" smtClean="0"/>
              <a:t>     The </a:t>
            </a:r>
            <a:r>
              <a:rPr lang="en-US" dirty="0"/>
              <a:t>soft copy is encrypted and password protected. 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    Passwords</a:t>
            </a:r>
            <a:r>
              <a:rPr lang="en-US" dirty="0"/>
              <a:t>, firewalls, antivirus, encryption, backups, access rights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Administrative</a:t>
            </a:r>
          </a:p>
          <a:p>
            <a:pPr marL="0" indent="0">
              <a:buNone/>
            </a:pPr>
            <a:r>
              <a:rPr lang="en-US" dirty="0" smtClean="0"/>
              <a:t>     only </a:t>
            </a:r>
            <a:r>
              <a:rPr lang="en-US" dirty="0"/>
              <a:t>two staff members are allowed to open it, and every access is </a:t>
            </a:r>
            <a:r>
              <a:rPr lang="en-US" dirty="0" smtClean="0"/>
              <a:t>                           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written </a:t>
            </a:r>
            <a:r>
              <a:rPr lang="en-US" dirty="0"/>
              <a:t>in a register.</a:t>
            </a:r>
          </a:p>
          <a:p>
            <a:pPr marL="0" indent="0">
              <a:buNone/>
            </a:pPr>
            <a:r>
              <a:rPr lang="en-US" dirty="0" smtClean="0"/>
              <a:t>     Policies</a:t>
            </a:r>
            <a:r>
              <a:rPr lang="en-US" dirty="0"/>
              <a:t>, rules, staff training, background checks, audits.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7744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15" y="2254314"/>
            <a:ext cx="9404723" cy="2815627"/>
          </a:xfrm>
        </p:spPr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4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CIA(</a:t>
            </a:r>
            <a:r>
              <a:rPr lang="en-AU" sz="4400" b="1" dirty="0" smtClean="0"/>
              <a:t>Confidentiality,</a:t>
            </a:r>
            <a:r>
              <a:rPr lang="en-US" sz="4400" b="1" dirty="0"/>
              <a:t> </a:t>
            </a:r>
            <a:r>
              <a:rPr lang="en-US" sz="4400" b="1" dirty="0" smtClean="0"/>
              <a:t>Integrity,</a:t>
            </a:r>
            <a:br>
              <a:rPr lang="en-US" sz="4400" b="1" dirty="0" smtClean="0"/>
            </a:br>
            <a:r>
              <a:rPr lang="en-US" sz="4400" b="1" dirty="0" smtClean="0"/>
              <a:t>Availability)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Triad</a:t>
            </a: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dirty="0"/>
              <a:t/>
            </a:r>
            <a:br>
              <a:rPr lang="en-US" sz="4400" dirty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4988459"/>
            <a:ext cx="8946541" cy="12599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three goals that every security control in the world is trying to achieve.</a:t>
            </a:r>
          </a:p>
        </p:txBody>
      </p:sp>
    </p:spTree>
    <p:extLst>
      <p:ext uri="{BB962C8B-B14F-4D97-AF65-F5344CB8AC3E}">
        <p14:creationId xmlns:p14="http://schemas.microsoft.com/office/powerpoint/2010/main" val="162746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The </a:t>
            </a:r>
            <a:r>
              <a:rPr lang="en-US" dirty="0"/>
              <a:t>Three Goals of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If </a:t>
            </a:r>
            <a:r>
              <a:rPr lang="en-US" dirty="0"/>
              <a:t>an attacker breaks even </a:t>
            </a:r>
            <a:r>
              <a:rPr lang="en-US" dirty="0" smtClean="0"/>
              <a:t>one </a:t>
            </a:r>
            <a:r>
              <a:rPr lang="en-US" dirty="0"/>
              <a:t>corner of this triangle, security has failed.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282" y="1381644"/>
            <a:ext cx="6214968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39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9938" y="289711"/>
            <a:ext cx="10530391" cy="588475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AU" b="1" dirty="0" smtClean="0"/>
              <a:t>Confidentiality</a:t>
            </a:r>
          </a:p>
          <a:p>
            <a:pPr marL="0" indent="0">
              <a:buNone/>
            </a:pPr>
            <a:r>
              <a:rPr lang="en-AU" dirty="0" smtClean="0"/>
              <a:t>( </a:t>
            </a:r>
            <a:r>
              <a:rPr lang="en-AU" dirty="0"/>
              <a:t>Keep it </a:t>
            </a:r>
            <a:r>
              <a:rPr lang="en-AU" dirty="0" smtClean="0"/>
              <a:t>secret)</a:t>
            </a:r>
            <a:endParaRPr lang="en-AU" dirty="0"/>
          </a:p>
          <a:p>
            <a:pPr marL="0" indent="0">
              <a:buNone/>
            </a:pPr>
            <a:r>
              <a:rPr lang="en-US" dirty="0" smtClean="0"/>
              <a:t>Confidentiality means that information should be kept secret and only accessible to authorized person.</a:t>
            </a:r>
          </a:p>
          <a:p>
            <a:pPr marL="0" indent="0">
              <a:buNone/>
            </a:pPr>
            <a:r>
              <a:rPr lang="en-US" dirty="0"/>
              <a:t>Only the right people can read the </a:t>
            </a:r>
            <a:r>
              <a:rPr lang="en-US" dirty="0" smtClean="0"/>
              <a:t>information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 A teacher emails the final marks sheet to the whole class by mistake instead of to the controller of exams. Nothing was hacked — but confidentiality is already lost.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lang="en-US" b="1" dirty="0" smtClean="0"/>
              <a:t>Integrity</a:t>
            </a:r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Keep it </a:t>
            </a:r>
            <a:r>
              <a:rPr lang="en-US" dirty="0" smtClean="0"/>
              <a:t>correct)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Integrity means that the information should remain correct, complete and unchanged unless modified by authorized  users.</a:t>
            </a:r>
          </a:p>
          <a:p>
            <a:pPr marL="0" indent="0">
              <a:buNone/>
            </a:pPr>
            <a:r>
              <a:rPr lang="en-US" dirty="0"/>
              <a:t>Nobody can change the information without </a:t>
            </a:r>
            <a:r>
              <a:rPr lang="en-US" dirty="0" smtClean="0"/>
              <a:t>permission.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 smtClean="0"/>
              <a:t>: A </a:t>
            </a:r>
            <a:r>
              <a:rPr lang="en-US" dirty="0"/>
              <a:t>bank transfer is sent as "</a:t>
            </a:r>
            <a:r>
              <a:rPr lang="en-US" dirty="0" err="1"/>
              <a:t>Rs</a:t>
            </a:r>
            <a:r>
              <a:rPr lang="en-US" dirty="0"/>
              <a:t>. 1,000" but arrives as "</a:t>
            </a:r>
            <a:r>
              <a:rPr lang="en-US" dirty="0" err="1"/>
              <a:t>Rs</a:t>
            </a:r>
            <a:r>
              <a:rPr lang="en-US" dirty="0"/>
              <a:t>. 100,000" because someone modified the message on the way. The data was available and secret — but it was no longer true.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5627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579422"/>
            <a:ext cx="8946541" cy="566897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Availability</a:t>
            </a:r>
          </a:p>
          <a:p>
            <a:pPr marL="0" indent="0">
              <a:buNone/>
            </a:pPr>
            <a:r>
              <a:rPr lang="en-US" dirty="0"/>
              <a:t>(Keep it working)</a:t>
            </a:r>
          </a:p>
          <a:p>
            <a:pPr marL="0" indent="0">
              <a:buNone/>
            </a:pPr>
            <a:r>
              <a:rPr lang="en-US" dirty="0"/>
              <a:t>Availability means that information  should be available to authorized users whenever it is needed.</a:t>
            </a:r>
          </a:p>
          <a:p>
            <a:pPr marL="0" indent="0">
              <a:buNone/>
            </a:pPr>
            <a:r>
              <a:rPr lang="en-US" dirty="0"/>
              <a:t>The information is there when we genuinely need </a:t>
            </a:r>
            <a:r>
              <a:rPr lang="en-US" dirty="0" smtClean="0"/>
              <a:t>it.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On result day, thousands of students open the portal at the same time and it crashes. The data is safe and correct — but useless, because nobody can reach 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9668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415</TotalTime>
  <Words>546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Cambria</vt:lpstr>
      <vt:lpstr>Century Gothic</vt:lpstr>
      <vt:lpstr>Wingdings</vt:lpstr>
      <vt:lpstr>Wingdings 3</vt:lpstr>
      <vt:lpstr>Ion</vt:lpstr>
      <vt:lpstr>Information Security Fundamentals</vt:lpstr>
      <vt:lpstr>What is Information Security?</vt:lpstr>
      <vt:lpstr>Examples</vt:lpstr>
      <vt:lpstr>Need for information security</vt:lpstr>
      <vt:lpstr>Three Layers of Protection </vt:lpstr>
      <vt:lpstr>The CIA(Confidentiality, Integrity, Availability) Triad   </vt:lpstr>
      <vt:lpstr>    The Three Goals of Security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Securi/</dc:title>
  <dc:creator>PMYLS</dc:creator>
  <cp:lastModifiedBy>PMYLS</cp:lastModifiedBy>
  <cp:revision>21</cp:revision>
  <dcterms:created xsi:type="dcterms:W3CDTF">2026-09-21T07:29:54Z</dcterms:created>
  <dcterms:modified xsi:type="dcterms:W3CDTF">2026-09-21T14:25:00Z</dcterms:modified>
</cp:coreProperties>
</file>