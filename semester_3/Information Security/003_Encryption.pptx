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3"/>
    <p:sldId id="257" r:id="rId4"/>
    <p:sldId id="258" r:id="rId5"/>
    <p:sldId id="259" r:id="rId7"/>
    <p:sldId id="260" r:id="rId8"/>
    <p:sldId id="261" r:id="rId9"/>
    <p:sldId id="262" r:id="rId10"/>
    <p:sldId id="263" r:id="rId11"/>
    <p:sldId id="265" r:id="rId12"/>
    <p:sldId id="266" r:id="rId13"/>
    <p:sldId id="267" r:id="rId14"/>
    <p:sldId id="268"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5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smtClean="0"/>
              <a:t>Encryption</a:t>
            </a:r>
            <a:endParaRPr lang="en-AU" sz="6600" dirty="0"/>
          </a:p>
        </p:txBody>
      </p:sp>
      <p:sp>
        <p:nvSpPr>
          <p:cNvPr id="3" name="Subtitle 2"/>
          <p:cNvSpPr>
            <a:spLocks noGrp="1"/>
          </p:cNvSpPr>
          <p:nvPr>
            <p:ph type="subTitle" idx="1"/>
          </p:nvPr>
        </p:nvSpPr>
        <p:spPr/>
        <p:txBody>
          <a:bodyPr/>
          <a:lstStyle/>
          <a:p>
            <a:r>
              <a:rPr lang="en-US" dirty="0" smtClean="0"/>
              <a:t>Written by : Aqsa Farooq</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705" y="1211580"/>
            <a:ext cx="8911590" cy="972185"/>
          </a:xfrm>
        </p:spPr>
        <p:txBody>
          <a:bodyPr/>
          <a:lstStyle/>
          <a:p>
            <a:r>
              <a:rPr lang="en-US" altLang="en-AU"/>
              <a:t>Encryption</a:t>
            </a:r>
            <a:endParaRPr lang="en-US" altLang="en-AU"/>
          </a:p>
        </p:txBody>
      </p:sp>
      <p:sp>
        <p:nvSpPr>
          <p:cNvPr id="3" name="Content Placeholder 2"/>
          <p:cNvSpPr>
            <a:spLocks noGrp="1"/>
          </p:cNvSpPr>
          <p:nvPr>
            <p:ph idx="1"/>
          </p:nvPr>
        </p:nvSpPr>
        <p:spPr>
          <a:xfrm>
            <a:off x="2588895" y="2104390"/>
            <a:ext cx="8915400" cy="4123690"/>
          </a:xfrm>
        </p:spPr>
        <p:txBody>
          <a:bodyPr>
            <a:normAutofit fontScale="95000"/>
          </a:bodyPr>
          <a:lstStyle/>
          <a:p>
            <a:pPr marL="0" indent="0">
              <a:buNone/>
            </a:pPr>
            <a:r>
              <a:rPr lang="en-US" altLang="en-US" b="1"/>
              <a:t>Definition</a:t>
            </a:r>
            <a:endParaRPr lang="en-US" altLang="en-US" b="1"/>
          </a:p>
          <a:p>
            <a:pPr marL="0" indent="0">
              <a:buNone/>
            </a:pPr>
            <a:r>
              <a:rPr lang="en-US" altLang="en-US"/>
              <a:t>Encryption is the process of converting readable information into a secret/unreadable form and safely turning it back again so that unauthorized people cannot understand it.</a:t>
            </a:r>
            <a:endParaRPr lang="en-US" altLang="en-US"/>
          </a:p>
          <a:p>
            <a:pPr marL="0" indent="0">
              <a:buNone/>
            </a:pPr>
            <a:r>
              <a:rPr lang="en-US" altLang="en-US" b="1"/>
              <a:t>Example:</a:t>
            </a:r>
            <a:endParaRPr lang="en-US" altLang="en-US" b="1"/>
          </a:p>
          <a:p>
            <a:pPr marL="0" indent="0">
              <a:buNone/>
            </a:pPr>
            <a:r>
              <a:rPr lang="en-US" altLang="en-US"/>
              <a:t>You send your friend</a:t>
            </a:r>
            <a:endParaRPr lang="en-US" altLang="en-US"/>
          </a:p>
          <a:p>
            <a:pPr marL="0" indent="0">
              <a:buNone/>
            </a:pPr>
            <a:r>
              <a:rPr lang="en-US" altLang="en-US"/>
              <a:t> “Hello”</a:t>
            </a:r>
            <a:endParaRPr lang="en-US" altLang="en-US"/>
          </a:p>
          <a:p>
            <a:pPr marL="0" indent="0">
              <a:buNone/>
            </a:pPr>
            <a:r>
              <a:rPr lang="en-US" altLang="en-US"/>
              <a:t>Encryption changes it into something like</a:t>
            </a:r>
            <a:endParaRPr lang="en-US" altLang="en-US"/>
          </a:p>
          <a:p>
            <a:pPr marL="0" indent="0">
              <a:buNone/>
            </a:pPr>
            <a:r>
              <a:rPr lang="en-US" altLang="en-US"/>
              <a:t> “X7@kP9#”</a:t>
            </a:r>
            <a:endParaRPr lang="en-US" altLang="en-US"/>
          </a:p>
          <a:p>
            <a:pPr marL="0" indent="0">
              <a:buNone/>
            </a:pPr>
            <a:r>
              <a:rPr lang="en-US" altLang="en-US"/>
              <a:t>Your friend’s device uses a key to decrypt it and convert it back to:</a:t>
            </a:r>
            <a:endParaRPr lang="en-US" altLang="en-US"/>
          </a:p>
          <a:p>
            <a:pPr marL="0" indent="0">
              <a:buNone/>
            </a:pPr>
            <a:r>
              <a:rPr lang="en-US" altLang="en-US"/>
              <a:t>“Hello”</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cryption"/>
          <p:cNvPicPr>
            <a:picLocks noChangeAspect="1"/>
          </p:cNvPicPr>
          <p:nvPr>
            <p:ph idx="1"/>
          </p:nvPr>
        </p:nvPicPr>
        <p:blipFill>
          <a:blip r:embed="rId1"/>
          <a:stretch>
            <a:fillRect/>
          </a:stretch>
        </p:blipFill>
        <p:spPr>
          <a:xfrm>
            <a:off x="1912620" y="926465"/>
            <a:ext cx="10050145" cy="45726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descr="cipher"/>
          <p:cNvPicPr>
            <a:picLocks noChangeAspect="1"/>
          </p:cNvPicPr>
          <p:nvPr>
            <p:ph idx="1"/>
          </p:nvPr>
        </p:nvPicPr>
        <p:blipFill>
          <a:blip r:embed="rId1"/>
          <a:stretch>
            <a:fillRect/>
          </a:stretch>
        </p:blipFill>
        <p:spPr>
          <a:xfrm>
            <a:off x="3204210" y="288290"/>
            <a:ext cx="6666865" cy="2704465"/>
          </a:xfrm>
          <a:prstGeom prst="rect">
            <a:avLst/>
          </a:prstGeom>
        </p:spPr>
      </p:pic>
      <p:sp>
        <p:nvSpPr>
          <p:cNvPr id="6" name="Text Box 5"/>
          <p:cNvSpPr txBox="1"/>
          <p:nvPr/>
        </p:nvSpPr>
        <p:spPr>
          <a:xfrm>
            <a:off x="3959860" y="3547745"/>
            <a:ext cx="5422265" cy="2323465"/>
          </a:xfrm>
          <a:prstGeom prst="rect">
            <a:avLst/>
          </a:prstGeom>
          <a:noFill/>
        </p:spPr>
        <p:txBody>
          <a:bodyPr wrap="square" rtlCol="0">
            <a:noAutofit/>
          </a:bodyPr>
          <a:p>
            <a:pPr marL="0" indent="0">
              <a:lnSpc>
                <a:spcPct val="112000"/>
              </a:lnSpc>
              <a:buNone/>
            </a:pPr>
            <a:r>
              <a:rPr lang="en-US" dirty="0">
                <a:solidFill>
                  <a:srgbClr val="1A202C"/>
                </a:solidFill>
                <a:latin typeface="Courier New" panose="02070309020205020404" pitchFamily="34" charset="0"/>
                <a:ea typeface="Courier New" panose="02070309020205020404" pitchFamily="34" charset="-122"/>
                <a:cs typeface="Courier New" panose="02070309020205020404" pitchFamily="34" charset="-120"/>
                <a:sym typeface="+mn-ea"/>
              </a:rPr>
              <a:t>OKARA  →  ?</a:t>
            </a:r>
            <a:endParaRPr lang="en-US" dirty="0"/>
          </a:p>
          <a:p>
            <a:pPr marL="0" indent="0">
              <a:lnSpc>
                <a:spcPct val="112000"/>
              </a:lnSpc>
              <a:buNone/>
            </a:pPr>
            <a:r>
              <a:rPr lang="en-US" dirty="0">
                <a:solidFill>
                  <a:srgbClr val="1A202C"/>
                </a:solidFill>
                <a:latin typeface="Courier New" panose="02070309020205020404" pitchFamily="34" charset="0"/>
                <a:ea typeface="Courier New" panose="02070309020205020404" pitchFamily="34" charset="-122"/>
                <a:cs typeface="Courier New" panose="02070309020205020404" pitchFamily="34" charset="-120"/>
                <a:sym typeface="+mn-ea"/>
              </a:rPr>
              <a:t>SECURE  →  ?</a:t>
            </a:r>
            <a:endParaRPr lang="en-US" dirty="0"/>
          </a:p>
          <a:p>
            <a:pPr marL="0" indent="0">
              <a:lnSpc>
                <a:spcPct val="112000"/>
              </a:lnSpc>
              <a:buNone/>
            </a:pPr>
            <a:endParaRPr lang="en-US" dirty="0"/>
          </a:p>
          <a:p>
            <a:pPr marL="0" indent="0">
              <a:lnSpc>
                <a:spcPct val="112000"/>
              </a:lnSpc>
              <a:buNone/>
            </a:pPr>
            <a:r>
              <a:rPr lang="en-US" dirty="0">
                <a:solidFill>
                  <a:srgbClr val="1A202C"/>
                </a:solidFill>
                <a:latin typeface="Courier New" panose="02070309020205020404" pitchFamily="34" charset="0"/>
                <a:ea typeface="Courier New" panose="02070309020205020404" pitchFamily="34" charset="-122"/>
                <a:cs typeface="Courier New" panose="02070309020205020404" pitchFamily="34" charset="-120"/>
                <a:sym typeface="+mn-ea"/>
              </a:rPr>
              <a:t>(Answer:  RNDUD   and   VHFXUH)</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92705" y="1334770"/>
            <a:ext cx="8911590" cy="570230"/>
          </a:xfrm>
        </p:spPr>
        <p:txBody>
          <a:bodyPr>
            <a:normAutofit fontScale="90000"/>
          </a:bodyPr>
          <a:p>
            <a:r>
              <a:rPr lang="en-US" b="1"/>
              <a:t>Types of encryption</a:t>
            </a:r>
            <a:r>
              <a:rPr lang="en-US"/>
              <a:t> </a:t>
            </a:r>
            <a:endParaRPr lang="en-US"/>
          </a:p>
        </p:txBody>
      </p:sp>
      <p:sp>
        <p:nvSpPr>
          <p:cNvPr id="3" name="Content Placeholder 2"/>
          <p:cNvSpPr>
            <a:spLocks noGrp="1"/>
          </p:cNvSpPr>
          <p:nvPr>
            <p:ph idx="1"/>
          </p:nvPr>
        </p:nvSpPr>
        <p:spPr>
          <a:xfrm>
            <a:off x="2588895" y="2133600"/>
            <a:ext cx="8915400" cy="2164715"/>
          </a:xfrm>
        </p:spPr>
        <p:txBody>
          <a:bodyPr/>
          <a:p>
            <a:r>
              <a:rPr lang="en-US" sz="2400" b="1"/>
              <a:t>Symmetric encryption</a:t>
            </a:r>
            <a:endParaRPr lang="en-US" sz="2400" b="1"/>
          </a:p>
          <a:p>
            <a:pPr marL="0" indent="0">
              <a:buNone/>
            </a:pPr>
            <a:r>
              <a:rPr lang="en-US" sz="2400"/>
              <a:t>     (same key = Private key)</a:t>
            </a:r>
            <a:endParaRPr lang="en-US" sz="2400"/>
          </a:p>
          <a:p>
            <a:r>
              <a:rPr lang="en-US" sz="2400" b="1"/>
              <a:t>ASymmetric encryption</a:t>
            </a:r>
            <a:endParaRPr lang="en-US" sz="2400" b="1"/>
          </a:p>
          <a:p>
            <a:pPr marL="0" indent="0">
              <a:buNone/>
            </a:pPr>
            <a:r>
              <a:rPr lang="en-US" sz="2400"/>
              <a:t>     (Different key =  Public key+Private key)</a:t>
            </a: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Symmetric encryption</a:t>
            </a:r>
            <a:endParaRPr lang="en-US"/>
          </a:p>
        </p:txBody>
      </p:sp>
      <p:sp>
        <p:nvSpPr>
          <p:cNvPr id="3" name="Content Placeholder 2"/>
          <p:cNvSpPr>
            <a:spLocks noGrp="1"/>
          </p:cNvSpPr>
          <p:nvPr>
            <p:ph idx="1"/>
          </p:nvPr>
        </p:nvSpPr>
        <p:spPr>
          <a:xfrm>
            <a:off x="2588895" y="1296035"/>
            <a:ext cx="8915400" cy="4615180"/>
          </a:xfrm>
        </p:spPr>
        <p:txBody>
          <a:bodyPr>
            <a:normAutofit fontScale="90000" lnSpcReduction="10000"/>
          </a:bodyPr>
          <a:p>
            <a:pPr marL="0" indent="0">
              <a:buNone/>
            </a:pPr>
            <a:r>
              <a:rPr lang="en-US" altLang="en-US" b="1"/>
              <a:t>   </a:t>
            </a:r>
            <a:r>
              <a:rPr lang="en-US" altLang="en-US"/>
              <a:t> (Same key for encrption and decryption)</a:t>
            </a:r>
            <a:endParaRPr lang="en-US" altLang="en-US" b="1"/>
          </a:p>
          <a:p>
            <a:pPr marL="0" indent="0">
              <a:buNone/>
            </a:pPr>
            <a:r>
              <a:rPr lang="en-US" altLang="en-US" b="1"/>
              <a:t>Definition:</a:t>
            </a:r>
            <a:endParaRPr lang="en-US" altLang="en-US" b="1"/>
          </a:p>
          <a:p>
            <a:pPr marL="0" indent="0">
              <a:buNone/>
            </a:pPr>
            <a:r>
              <a:rPr lang="en-US" altLang="en-US"/>
              <a:t>Symmetric encryption is an  encryption method where the same key is used                                        to  encrypt (lock)  </a:t>
            </a:r>
            <a:r>
              <a:rPr lang="en-US" altLang="en-US">
                <a:sym typeface="+mn-ea"/>
              </a:rPr>
              <a:t>and decrypt(unlock) the information.</a:t>
            </a:r>
            <a:r>
              <a:rPr lang="en-US" altLang="en-US"/>
              <a:t>          </a:t>
            </a:r>
            <a:endParaRPr lang="en-US" altLang="en-US"/>
          </a:p>
          <a:p>
            <a:pPr marL="0" indent="0">
              <a:buNone/>
            </a:pPr>
            <a:r>
              <a:rPr lang="en-US" altLang="en-US" b="1"/>
              <a:t> Example:</a:t>
            </a:r>
            <a:endParaRPr lang="en-US" altLang="en-US"/>
          </a:p>
          <a:p>
            <a:pPr marL="0" indent="0">
              <a:buNone/>
            </a:pPr>
            <a:r>
              <a:rPr lang="en-US" altLang="en-US"/>
              <a:t>    Like a box that is locked and unlocked using the same key.</a:t>
            </a:r>
            <a:endParaRPr lang="en-US" altLang="en-US"/>
          </a:p>
          <a:p>
            <a:pPr>
              <a:buFont typeface="Wingdings" panose="05000000000000000000" charset="0"/>
              <a:buChar char="q"/>
            </a:pPr>
            <a:r>
              <a:rPr lang="en-US" altLang="en-US"/>
              <a:t> It can encrypt and decrypt large amounts of data quickly.</a:t>
            </a:r>
            <a:endParaRPr lang="en-US" altLang="en-US"/>
          </a:p>
          <a:p>
            <a:pPr>
              <a:buFont typeface="Wingdings" panose="05000000000000000000" charset="0"/>
              <a:buChar char="q"/>
            </a:pPr>
            <a:r>
              <a:rPr lang="en-US" altLang="en-US"/>
              <a:t> Good for protecting large amounts of data.</a:t>
            </a:r>
            <a:endParaRPr lang="en-US" altLang="en-US"/>
          </a:p>
          <a:p>
            <a:pPr>
              <a:buFont typeface="Wingdings" panose="05000000000000000000" charset="0"/>
              <a:buChar char="q"/>
            </a:pPr>
            <a:r>
              <a:rPr lang="en-US" altLang="en-US"/>
              <a:t> Requires relatively less computing power than asymmetric encryption.</a:t>
            </a:r>
            <a:endParaRPr lang="en-US" altLang="en-US"/>
          </a:p>
          <a:p>
            <a:pPr marL="0" indent="0">
              <a:buFont typeface="Wingdings" panose="05000000000000000000" charset="0"/>
              <a:buNone/>
            </a:pPr>
            <a:r>
              <a:rPr lang="en-US" altLang="en-US" b="1"/>
              <a:t>Symmetric encryption Algorithms </a:t>
            </a:r>
            <a:endParaRPr lang="en-US" altLang="en-US" b="1"/>
          </a:p>
          <a:p>
            <a:pPr marL="0" indent="0">
              <a:buFont typeface="Wingdings" panose="05000000000000000000" charset="0"/>
              <a:buNone/>
            </a:pPr>
            <a:r>
              <a:rPr lang="en-US" altLang="en-US" b="1"/>
              <a:t>1. AES :</a:t>
            </a:r>
            <a:r>
              <a:rPr lang="en-US" altLang="en-US"/>
              <a:t>Advanced Encryption Standard</a:t>
            </a:r>
            <a:endParaRPr lang="en-US" altLang="en-US"/>
          </a:p>
          <a:p>
            <a:pPr marL="0" indent="0">
              <a:buFont typeface="Wingdings" panose="05000000000000000000" charset="0"/>
              <a:buNone/>
            </a:pPr>
            <a:r>
              <a:rPr lang="en-US" altLang="en-US" b="1"/>
              <a:t>2. DES :</a:t>
            </a:r>
            <a:r>
              <a:rPr lang="en-US" altLang="en-US"/>
              <a:t> Data Encryption Standard</a:t>
            </a:r>
            <a:endParaRPr lang="en-US" altLang="en-US"/>
          </a:p>
          <a:p>
            <a:pPr marL="0" indent="0">
              <a:buFont typeface="Wingdings" panose="05000000000000000000" charset="0"/>
              <a:buNone/>
            </a:pPr>
            <a:r>
              <a:rPr lang="en-US" altLang="en-US" b="1"/>
              <a:t>3. 3DES :</a:t>
            </a:r>
            <a:r>
              <a:rPr lang="en-US" altLang="en-US"/>
              <a:t>Triple Data Encryption Standard</a:t>
            </a:r>
            <a:endParaRPr lang="en-US" altLang="en-US"/>
          </a:p>
          <a:p>
            <a:pPr marL="0" indent="0">
              <a:buFont typeface="Wingdings" panose="05000000000000000000" charset="0"/>
              <a:buNone/>
            </a:pPr>
            <a:endParaRPr lang="en-US" altLang="en-US"/>
          </a:p>
          <a:p>
            <a:pPr>
              <a:buFont typeface="Wingdings" panose="05000000000000000000" charset="0"/>
              <a:buChar char="q"/>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ymmetric_encryption"/>
          <p:cNvPicPr>
            <a:picLocks noChangeAspect="1"/>
          </p:cNvPicPr>
          <p:nvPr>
            <p:ph idx="1"/>
          </p:nvPr>
        </p:nvPicPr>
        <p:blipFill>
          <a:blip r:embed="rId1"/>
          <a:stretch>
            <a:fillRect/>
          </a:stretch>
        </p:blipFill>
        <p:spPr>
          <a:xfrm>
            <a:off x="2005330" y="725805"/>
            <a:ext cx="9918065" cy="56394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92705" y="624205"/>
            <a:ext cx="8911590" cy="723265"/>
          </a:xfrm>
        </p:spPr>
        <p:txBody>
          <a:bodyPr/>
          <a:p>
            <a:r>
              <a:rPr lang="en-US" b="1">
                <a:sym typeface="+mn-ea"/>
              </a:rPr>
              <a:t>ASymmetric encryption</a:t>
            </a:r>
            <a:endParaRPr lang="en-US"/>
          </a:p>
        </p:txBody>
      </p:sp>
      <p:sp>
        <p:nvSpPr>
          <p:cNvPr id="3" name="Content Placeholder 2"/>
          <p:cNvSpPr>
            <a:spLocks noGrp="1"/>
          </p:cNvSpPr>
          <p:nvPr>
            <p:ph idx="1"/>
          </p:nvPr>
        </p:nvSpPr>
        <p:spPr>
          <a:xfrm>
            <a:off x="2050415" y="1348105"/>
            <a:ext cx="9453880" cy="5692140"/>
          </a:xfrm>
        </p:spPr>
        <p:txBody>
          <a:bodyPr/>
          <a:p>
            <a:pPr marL="0" indent="0">
              <a:buNone/>
            </a:pPr>
            <a:r>
              <a:rPr lang="en-US" altLang="en-US">
                <a:sym typeface="+mn-ea"/>
              </a:rPr>
              <a:t>       (Same key for encrption and decryption)</a:t>
            </a:r>
            <a:endParaRPr lang="en-US" altLang="en-US">
              <a:sym typeface="+mn-ea"/>
            </a:endParaRPr>
          </a:p>
          <a:p>
            <a:pPr marL="0" indent="0">
              <a:buNone/>
            </a:pPr>
            <a:r>
              <a:rPr lang="en-US" altLang="en-US" b="1">
                <a:sym typeface="+mn-ea"/>
              </a:rPr>
              <a:t>Definition:</a:t>
            </a:r>
            <a:endParaRPr lang="en-US" altLang="en-US" b="1">
              <a:sym typeface="+mn-ea"/>
            </a:endParaRPr>
          </a:p>
          <a:p>
            <a:pPr marL="0" indent="0">
              <a:buNone/>
            </a:pPr>
            <a:r>
              <a:rPr lang="en-US" altLang="en-US">
                <a:sym typeface="+mn-ea"/>
              </a:rPr>
              <a:t>Asymmetric encryption is a method where two different keys are used: a public key and a private key.</a:t>
            </a:r>
            <a:endParaRPr lang="en-US" altLang="en-US">
              <a:sym typeface="+mn-ea"/>
            </a:endParaRPr>
          </a:p>
          <a:p>
            <a:pPr marL="0" indent="0">
              <a:buNone/>
            </a:pPr>
            <a:r>
              <a:rPr lang="en-US" altLang="en-US" b="1">
                <a:sym typeface="+mn-ea"/>
              </a:rPr>
              <a:t>Example:</a:t>
            </a:r>
            <a:endParaRPr lang="en-US" altLang="en-US" b="1">
              <a:sym typeface="+mn-ea"/>
            </a:endParaRPr>
          </a:p>
          <a:p>
            <a:pPr marL="0" indent="0">
              <a:buNone/>
            </a:pPr>
            <a:r>
              <a:rPr lang="en-US" altLang="en-US">
                <a:sym typeface="+mn-ea"/>
              </a:rPr>
              <a:t>Think of a mailbox: anyone can put a letter inside (public key), but only the owner has the key to open it (private key).</a:t>
            </a:r>
            <a:endParaRPr lang="en-US" altLang="en-US">
              <a:sym typeface="+mn-ea"/>
            </a:endParaRPr>
          </a:p>
          <a:p>
            <a:pPr marL="0" indent="0">
              <a:buNone/>
            </a:pPr>
            <a:r>
              <a:rPr lang="en-US" altLang="en-US" b="1">
                <a:sym typeface="+mn-ea"/>
              </a:rPr>
              <a:t>1. Public Key </a:t>
            </a:r>
            <a:r>
              <a:rPr lang="en-US" altLang="en-US">
                <a:sym typeface="+mn-ea"/>
              </a:rPr>
              <a:t>:can be shared with everyone.</a:t>
            </a:r>
            <a:endParaRPr lang="en-US" altLang="en-US">
              <a:sym typeface="+mn-ea"/>
            </a:endParaRPr>
          </a:p>
          <a:p>
            <a:pPr marL="0" indent="0">
              <a:buNone/>
            </a:pPr>
            <a:r>
              <a:rPr lang="en-US" altLang="en-US" b="1">
                <a:sym typeface="+mn-ea"/>
              </a:rPr>
              <a:t>2. Private Key</a:t>
            </a:r>
            <a:r>
              <a:rPr lang="en-US" altLang="en-US">
                <a:sym typeface="+mn-ea"/>
              </a:rPr>
              <a:t> :</a:t>
            </a:r>
            <a:r>
              <a:rPr lang="zh-CN" altLang="en-US">
                <a:sym typeface="+mn-ea"/>
              </a:rPr>
              <a:t> </a:t>
            </a:r>
            <a:r>
              <a:rPr lang="en-US" altLang="en-US">
                <a:sym typeface="+mn-ea"/>
              </a:rPr>
              <a:t>kept secret by the owner.</a:t>
            </a:r>
            <a:endParaRPr lang="en-US" altLang="en-US">
              <a:sym typeface="+mn-ea"/>
            </a:endParaRPr>
          </a:p>
          <a:p>
            <a:pPr marL="0" indent="0">
              <a:buNone/>
            </a:pPr>
            <a:r>
              <a:rPr lang="en-US" altLang="en-US">
                <a:sym typeface="+mn-ea"/>
              </a:rPr>
              <a:t>It is especially useful when two people or systems need secure communication without already sharing a secret key.</a:t>
            </a:r>
            <a:endParaRPr lang="en-US" altLang="en-US">
              <a:sym typeface="+mn-ea"/>
            </a:endParaRPr>
          </a:p>
          <a:p>
            <a:pPr marL="0" indent="0">
              <a:buNone/>
            </a:pPr>
            <a:r>
              <a:rPr lang="en-US" altLang="en-US">
                <a:sym typeface="+mn-ea"/>
              </a:rPr>
              <a:t>Asymmetric encryption is generally slower than symmetric encryption, especially for encrypting large amounts of data. Therefore, real systems often use asymmetric cryptography to establish or protect a symmetric session key, and then use symmetric encryption for the actual bulk data.</a:t>
            </a:r>
            <a:endParaRPr lang="en-US" altLang="en-US">
              <a:sym typeface="+mn-ea"/>
            </a:endParaRPr>
          </a:p>
          <a:p>
            <a:pPr marL="0" indent="0">
              <a:buNone/>
            </a:pPr>
            <a:endParaRPr lang="en-US" altLang="en-US" b="1"/>
          </a:p>
          <a:p>
            <a:pPr marL="0" indent="0">
              <a:buNone/>
            </a:pPr>
            <a:endParaRPr lang="en-US" altLang="en-US">
              <a:sym typeface="+mn-ea"/>
            </a:endParaRPr>
          </a:p>
          <a:p>
            <a:pPr marL="0" indent="0">
              <a:buNone/>
            </a:pPr>
            <a:endParaRPr lang="en-US" altLang="en-US">
              <a:sym typeface="+mn-ea"/>
            </a:endParaRPr>
          </a:p>
          <a:p>
            <a:pPr marL="0" indent="0">
              <a:buNone/>
            </a:pPr>
            <a:endParaRPr lang="en-US" altLang="en-US">
              <a:sym typeface="+mn-ea"/>
            </a:endParaRPr>
          </a:p>
          <a:p>
            <a:pPr marL="0" indent="0">
              <a:buNone/>
            </a:pP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images"/>
          <p:cNvPicPr>
            <a:picLocks noChangeAspect="1"/>
          </p:cNvPicPr>
          <p:nvPr>
            <p:ph idx="1"/>
          </p:nvPr>
        </p:nvPicPr>
        <p:blipFill>
          <a:blip r:embed="rId1"/>
          <a:stretch>
            <a:fillRect/>
          </a:stretch>
        </p:blipFill>
        <p:spPr>
          <a:xfrm>
            <a:off x="2679065" y="1103630"/>
            <a:ext cx="7886700" cy="44697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difference"/>
          <p:cNvPicPr>
            <a:picLocks noChangeAspect="1"/>
          </p:cNvPicPr>
          <p:nvPr>
            <p:ph idx="1"/>
          </p:nvPr>
        </p:nvPicPr>
        <p:blipFill>
          <a:blip r:embed="rId1"/>
          <a:stretch>
            <a:fillRect/>
          </a:stretch>
        </p:blipFill>
        <p:spPr>
          <a:xfrm>
            <a:off x="2300605" y="1038860"/>
            <a:ext cx="9161145" cy="48539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Hash Functions</a:t>
            </a:r>
            <a:endParaRPr lang="en-US" b="1"/>
          </a:p>
        </p:txBody>
      </p:sp>
      <p:sp>
        <p:nvSpPr>
          <p:cNvPr id="3" name="Content Placeholder 2"/>
          <p:cNvSpPr>
            <a:spLocks noGrp="1"/>
          </p:cNvSpPr>
          <p:nvPr>
            <p:ph idx="1"/>
          </p:nvPr>
        </p:nvSpPr>
        <p:spPr>
          <a:xfrm>
            <a:off x="2588895" y="1546860"/>
            <a:ext cx="8915400" cy="4364355"/>
          </a:xfrm>
        </p:spPr>
        <p:txBody>
          <a:bodyPr>
            <a:normAutofit/>
          </a:bodyPr>
          <a:p>
            <a:pPr marL="0" indent="0">
              <a:buNone/>
            </a:pPr>
            <a:r>
              <a:rPr lang="en-US" altLang="en-US" b="1"/>
              <a:t>Definition</a:t>
            </a:r>
            <a:endParaRPr lang="en-US" altLang="en-US" b="1"/>
          </a:p>
          <a:p>
            <a:pPr marL="0" indent="0">
              <a:buNone/>
            </a:pPr>
            <a:r>
              <a:rPr lang="en-US" altLang="en-US"/>
              <a:t>A hash function is a mathematical algorithm that takes input data and produces a hash value.</a:t>
            </a:r>
            <a:endParaRPr lang="en-US" altLang="en-US"/>
          </a:p>
          <a:p>
            <a:pPr marL="0" indent="0">
              <a:buNone/>
            </a:pPr>
            <a:r>
              <a:rPr lang="en-US" altLang="en-US" b="1"/>
              <a:t>For example:</a:t>
            </a:r>
            <a:endParaRPr lang="en-US" altLang="en-US" b="1"/>
          </a:p>
          <a:p>
            <a:endParaRPr lang="en-US" altLang="en-US"/>
          </a:p>
          <a:p>
            <a:pPr marL="0" indent="0">
              <a:buNone/>
            </a:pPr>
            <a:r>
              <a:rPr lang="en-US" altLang="en-US"/>
              <a:t>   Input: "Hello"</a:t>
            </a:r>
            <a:endParaRPr lang="en-US" altLang="en-US"/>
          </a:p>
          <a:p>
            <a:pPr marL="0" indent="0">
              <a:buNone/>
            </a:pPr>
            <a:r>
              <a:rPr lang="en-US" altLang="en-US"/>
              <a:t>            ↓</a:t>
            </a:r>
            <a:endParaRPr lang="en-US" altLang="en-US"/>
          </a:p>
          <a:p>
            <a:pPr marL="0" indent="0">
              <a:buNone/>
            </a:pPr>
            <a:r>
              <a:rPr lang="en-US" altLang="en-US"/>
              <a:t>  Hash Function</a:t>
            </a:r>
            <a:endParaRPr lang="en-US" altLang="en-US"/>
          </a:p>
          <a:p>
            <a:pPr marL="0" indent="0">
              <a:buNone/>
            </a:pPr>
            <a:r>
              <a:rPr lang="en-US" altLang="en-US"/>
              <a:t>           ↓</a:t>
            </a:r>
            <a:endParaRPr lang="en-US" altLang="en-US"/>
          </a:p>
          <a:p>
            <a:pPr marL="0" indent="0">
              <a:buNone/>
            </a:pPr>
            <a:r>
              <a:rPr lang="en-US" altLang="en-US"/>
              <a:t> Output: 2cf24dba5fb0a30e..</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81555" y="379730"/>
            <a:ext cx="9222740" cy="5531485"/>
          </a:xfrm>
        </p:spPr>
        <p:txBody>
          <a:bodyPr>
            <a:normAutofit fontScale="90000"/>
          </a:bodyPr>
          <a:p>
            <a:pPr>
              <a:buFont typeface="Wingdings" panose="05000000000000000000" charset="0"/>
              <a:buChar char="v"/>
            </a:pPr>
            <a:r>
              <a:rPr lang="en-US" altLang="en-US"/>
              <a:t>Just as every person's fingerprint can help identify a person, a hash can help identify whether data is the same or has changed.</a:t>
            </a:r>
            <a:endParaRPr lang="en-US" altLang="en-US"/>
          </a:p>
          <a:p>
            <a:pPr>
              <a:buFont typeface="Wingdings" panose="05000000000000000000" charset="0"/>
              <a:buChar char="v"/>
            </a:pPr>
            <a:r>
              <a:rPr lang="en-US" altLang="en-US"/>
              <a:t>Hashing is designed to be one-way.</a:t>
            </a:r>
            <a:endParaRPr lang="en-US" altLang="en-US"/>
          </a:p>
          <a:p>
            <a:pPr>
              <a:buFont typeface="Wingdings" panose="05000000000000000000" charset="0"/>
              <a:buChar char="v"/>
            </a:pPr>
            <a:r>
              <a:rPr lang="en-US" altLang="en-US">
                <a:sym typeface="+mn-ea"/>
              </a:rPr>
              <a:t>A small change in the input usually produces a very different hash.</a:t>
            </a:r>
            <a:endParaRPr lang="en-US" altLang="en-US">
              <a:sym typeface="+mn-ea"/>
            </a:endParaRPr>
          </a:p>
          <a:p>
            <a:pPr marL="0" indent="0">
              <a:buFont typeface="Wingdings" panose="05000000000000000000" charset="0"/>
              <a:buNone/>
            </a:pPr>
            <a:r>
              <a:rPr lang="en-US" altLang="en-US"/>
              <a:t>    Hello → Hash A</a:t>
            </a:r>
            <a:endParaRPr lang="en-US" altLang="en-US"/>
          </a:p>
          <a:p>
            <a:pPr marL="0" indent="0">
              <a:buFont typeface="Wingdings" panose="05000000000000000000" charset="0"/>
              <a:buNone/>
            </a:pPr>
            <a:r>
              <a:rPr lang="en-US" altLang="en-US"/>
              <a:t>    hello → Hash B</a:t>
            </a:r>
            <a:endParaRPr lang="en-US" altLang="en-US"/>
          </a:p>
          <a:p>
            <a:pPr marL="0" indent="0">
              <a:buFont typeface="Wingdings" panose="05000000000000000000" charset="0"/>
              <a:buNone/>
            </a:pPr>
            <a:r>
              <a:rPr lang="en-US" altLang="en-US"/>
              <a:t>     Hash A ≠ Hash B</a:t>
            </a:r>
            <a:endParaRPr lang="en-US" altLang="en-US"/>
          </a:p>
          <a:p>
            <a:pPr marL="0" indent="0">
              <a:buFont typeface="Wingdings" panose="05000000000000000000" charset="0"/>
              <a:buNone/>
            </a:pPr>
            <a:r>
              <a:rPr lang="en-US" altLang="en-US" b="1"/>
              <a:t>Applications of Hash Functions</a:t>
            </a:r>
            <a:endParaRPr lang="en-US" altLang="en-US" b="1"/>
          </a:p>
          <a:p>
            <a:pPr marL="0" indent="0">
              <a:buFont typeface="Wingdings" panose="05000000000000000000" charset="0"/>
              <a:buNone/>
            </a:pPr>
            <a:r>
              <a:rPr lang="en-US" altLang="en-US" b="1"/>
              <a:t>Password Storage:</a:t>
            </a:r>
            <a:endParaRPr lang="en-US" altLang="en-US" b="1"/>
          </a:p>
          <a:p>
            <a:pPr marL="0" indent="0">
              <a:buFont typeface="Wingdings" panose="05000000000000000000" charset="0"/>
              <a:buNone/>
            </a:pPr>
            <a:r>
              <a:rPr lang="en-US" altLang="en-US"/>
              <a:t>Hash functions provide protection to password storage. Instead of storing passwords in clear, mostly all login processes store the hash values of passwords in the file.</a:t>
            </a:r>
            <a:endParaRPr lang="en-US" altLang="en-US"/>
          </a:p>
          <a:p>
            <a:pPr marL="0" indent="0">
              <a:buFont typeface="Wingdings" panose="05000000000000000000" charset="0"/>
              <a:buNone/>
            </a:pPr>
            <a:r>
              <a:rPr lang="en-US" altLang="en-US"/>
              <a:t>he password file is a table of pairs in the format (user id, h(P)).</a:t>
            </a:r>
            <a:endParaRPr lang="en-US" altLang="en-US"/>
          </a:p>
          <a:p>
            <a:pPr marL="0" indent="0">
              <a:buFont typeface="Wingdings" panose="05000000000000000000" charset="0"/>
              <a:buNone/>
            </a:pPr>
            <a:r>
              <a:rPr lang="en-US" altLang="en-US" b="1"/>
              <a:t>Data Integrity Check:</a:t>
            </a:r>
            <a:endParaRPr lang="en-US" altLang="en-US" b="1"/>
          </a:p>
          <a:p>
            <a:pPr marL="0" indent="0">
              <a:buFont typeface="Wingdings" panose="05000000000000000000" charset="0"/>
              <a:buNone/>
            </a:pPr>
            <a:r>
              <a:rPr lang="en-US" altLang="en-US"/>
              <a:t>Data integrity checks, commonly using hash functions, provide assurances about the accuracy of data files by creating checksums. This method allows users to detect any alterations made to the original file</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Digital Signaturre</a:t>
            </a:r>
            <a:endParaRPr lang="en-US"/>
          </a:p>
        </p:txBody>
      </p:sp>
      <p:sp>
        <p:nvSpPr>
          <p:cNvPr id="3" name="Content Placeholder 2"/>
          <p:cNvSpPr>
            <a:spLocks noGrp="1"/>
          </p:cNvSpPr>
          <p:nvPr>
            <p:ph idx="1"/>
          </p:nvPr>
        </p:nvSpPr>
        <p:spPr/>
        <p:txBody>
          <a:bodyPr>
            <a:normAutofit fontScale="90000" lnSpcReduction="20000"/>
          </a:bodyPr>
          <a:p>
            <a:pPr marL="0" indent="0">
              <a:buNone/>
            </a:pPr>
            <a:r>
              <a:rPr lang="en-US" b="1"/>
              <a:t>Definition :</a:t>
            </a:r>
            <a:endParaRPr lang="en-US" b="1"/>
          </a:p>
          <a:p>
            <a:pPr marL="0" indent="0">
              <a:buNone/>
            </a:pPr>
            <a:r>
              <a:rPr lang="en-US" altLang="en-US"/>
              <a:t>A digital signature is an electronic, encrypted stamp of authentication on digital information such as messages. The digital signature confirms the integrity of the message.</a:t>
            </a:r>
            <a:endParaRPr lang="en-US" altLang="en-US"/>
          </a:p>
          <a:p>
            <a:pPr marL="0" indent="0">
              <a:buNone/>
            </a:pPr>
            <a:r>
              <a:rPr lang="en-US" altLang="en-US" b="1"/>
              <a:t>Example:</a:t>
            </a:r>
            <a:endParaRPr lang="en-US" altLang="en-US" b="1"/>
          </a:p>
          <a:p>
            <a:pPr marL="0" indent="0">
              <a:buNone/>
            </a:pPr>
            <a:r>
              <a:rPr lang="en-US" altLang="en-US"/>
              <a:t>Suppose Ali wants to send an important PDF document to Sara.</a:t>
            </a:r>
            <a:endParaRPr lang="en-US" altLang="en-US"/>
          </a:p>
          <a:p>
            <a:pPr marL="0" indent="0">
              <a:buNone/>
            </a:pPr>
            <a:r>
              <a:rPr lang="en-US" altLang="en-US"/>
              <a:t>Ali creates the document.</a:t>
            </a:r>
            <a:endParaRPr lang="en-US" altLang="en-US"/>
          </a:p>
          <a:p>
            <a:pPr marL="0" indent="0">
              <a:buNone/>
            </a:pPr>
            <a:r>
              <a:rPr lang="en-US" altLang="en-US"/>
              <a:t>Ali uses his private key to create a digital signature for the document.</a:t>
            </a:r>
            <a:endParaRPr lang="en-US" altLang="en-US"/>
          </a:p>
          <a:p>
            <a:pPr marL="0" indent="0">
              <a:buNone/>
            </a:pPr>
            <a:r>
              <a:rPr lang="en-US" altLang="en-US"/>
              <a:t>He sends the document + digital signature to Sara.</a:t>
            </a:r>
            <a:endParaRPr lang="en-US" altLang="en-US"/>
          </a:p>
          <a:p>
            <a:pPr marL="0" indent="0">
              <a:buNone/>
            </a:pPr>
            <a:r>
              <a:rPr lang="en-US" altLang="en-US"/>
              <a:t>Sara uses Ali’s public key to verify the signature.</a:t>
            </a:r>
            <a:endParaRPr lang="en-US" altLang="en-US"/>
          </a:p>
          <a:p>
            <a:pPr marL="0" indent="0">
              <a:buNone/>
            </a:pPr>
            <a:r>
              <a:rPr lang="en-US" altLang="en-US"/>
              <a:t>If the signature is valid, Sara knows:</a:t>
            </a:r>
            <a:endParaRPr lang="en-US" altLang="en-US"/>
          </a:p>
          <a:p>
            <a:pPr marL="0" indent="0">
              <a:buNone/>
            </a:pPr>
            <a:r>
              <a:rPr lang="en-US" altLang="en-US"/>
              <a:t>The document really came from Ali (authentication).</a:t>
            </a:r>
            <a:endParaRPr lang="en-US" altLang="en-US"/>
          </a:p>
          <a:p>
            <a:pPr marL="0" indent="0">
              <a:buNone/>
            </a:pPr>
            <a:r>
              <a:rPr lang="en-US" altLang="en-US"/>
              <a:t>The document was not changed after Ali signed it (integrity).</a:t>
            </a:r>
            <a:endParaRPr lang="en-US" altLang="en-US" b="1"/>
          </a:p>
          <a:p>
            <a:pPr marL="0" indent="0">
              <a:buNone/>
            </a:pPr>
            <a:endParaRPr lang="en-US" altLang="en-US"/>
          </a:p>
          <a:p>
            <a:pPr marL="0" indent="0">
              <a:buNone/>
            </a:pPr>
            <a:endParaRPr lang="en-US" altLang="en-US" b="1"/>
          </a:p>
          <a:p>
            <a:pPr marL="0" indent="0">
              <a:buNone/>
            </a:pPr>
            <a:endParaRPr lang="en-US" altLang="en-US"/>
          </a:p>
          <a:p>
            <a:pPr marL="0" indent="0">
              <a:buNone/>
            </a:pP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92705" y="605155"/>
            <a:ext cx="8911590" cy="694690"/>
          </a:xfrm>
        </p:spPr>
        <p:txBody>
          <a:bodyPr>
            <a:normAutofit/>
          </a:bodyPr>
          <a:p>
            <a:r>
              <a:rPr lang="en-US" altLang="en-US">
                <a:sym typeface="+mn-ea"/>
              </a:rPr>
              <a:t>Features</a:t>
            </a:r>
            <a:endParaRPr lang="en-US"/>
          </a:p>
        </p:txBody>
      </p:sp>
      <p:sp>
        <p:nvSpPr>
          <p:cNvPr id="3" name="Content Placeholder 2"/>
          <p:cNvSpPr>
            <a:spLocks noGrp="1"/>
          </p:cNvSpPr>
          <p:nvPr>
            <p:ph idx="1"/>
          </p:nvPr>
        </p:nvSpPr>
        <p:spPr>
          <a:xfrm>
            <a:off x="2588895" y="1220470"/>
            <a:ext cx="8915400" cy="4690745"/>
          </a:xfrm>
        </p:spPr>
        <p:txBody>
          <a:bodyPr>
            <a:normAutofit/>
          </a:bodyPr>
          <a:p>
            <a:endParaRPr lang="en-US" altLang="en-US"/>
          </a:p>
          <a:p>
            <a:r>
              <a:rPr lang="en-US" altLang="en-US" b="1"/>
              <a:t>1. Authentication:</a:t>
            </a:r>
            <a:r>
              <a:rPr lang="en-US" altLang="en-US"/>
              <a:t> Digital signature verifies the identity of the sender. It confirms that the message came from a trusted source.</a:t>
            </a:r>
            <a:endParaRPr lang="en-US" altLang="en-US"/>
          </a:p>
          <a:p>
            <a:r>
              <a:rPr lang="en-US" altLang="en-US" b="1"/>
              <a:t>2. Integrity:</a:t>
            </a:r>
            <a:r>
              <a:rPr lang="en-US" altLang="en-US"/>
              <a:t> It ensures that the message or document has not been changed or tampered with after it was digitally signed.</a:t>
            </a:r>
            <a:endParaRPr lang="en-US" altLang="en-US"/>
          </a:p>
          <a:p>
            <a:r>
              <a:rPr lang="en-US" altLang="en-US" b="1"/>
              <a:t>3. Non-repudiation:</a:t>
            </a:r>
            <a:r>
              <a:rPr lang="en-US" altLang="en-US"/>
              <a:t> The sender cannot later deny sending the message or signing the document because the digital signature uniquely belongs to them.</a:t>
            </a:r>
            <a:endParaRPr lang="en-US" altLang="en-US"/>
          </a:p>
          <a:p>
            <a:r>
              <a:rPr lang="en-US" altLang="en-US" b="1"/>
              <a:t>4. Legal Validity:</a:t>
            </a:r>
            <a:r>
              <a:rPr lang="en-US" altLang="en-US"/>
              <a:t> In India, digital signatures are legally accepted and have the same value as physical signatures under IT laws.</a:t>
            </a:r>
            <a:endParaRPr lang="en-US" altLang="en-US"/>
          </a:p>
          <a:p>
            <a:r>
              <a:rPr lang="en-US" altLang="en-US" b="1"/>
              <a:t>5. Security:</a:t>
            </a:r>
            <a:r>
              <a:rPr lang="en-US" altLang="en-US"/>
              <a:t> Digital signatures use encryption technology, which makes them highly secure and reliable for online transactions.</a:t>
            </a:r>
            <a:endParaRPr lang="en-US" alt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4294</Words>
  <Application>WPS Presentation</Application>
  <PresentationFormat>Widescreen</PresentationFormat>
  <Paragraphs>113</Paragraphs>
  <Slides>14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14</vt:i4>
      </vt:variant>
    </vt:vector>
  </HeadingPairs>
  <TitlesOfParts>
    <vt:vector size="29" baseType="lpstr">
      <vt:lpstr>Arial</vt:lpstr>
      <vt:lpstr>SimSun</vt:lpstr>
      <vt:lpstr>Wingdings</vt:lpstr>
      <vt:lpstr>Wingdings 3</vt:lpstr>
      <vt:lpstr>Arial</vt:lpstr>
      <vt:lpstr>Courier New</vt:lpstr>
      <vt:lpstr>Courier New</vt:lpstr>
      <vt:lpstr>Courier New</vt:lpstr>
      <vt:lpstr>Wingdings</vt:lpstr>
      <vt:lpstr>Century Gothic</vt:lpstr>
      <vt:lpstr>Microsoft YaHei</vt:lpstr>
      <vt:lpstr>Arial Unicode MS</vt:lpstr>
      <vt:lpstr>Calibri</vt:lpstr>
      <vt:lpstr>幼圆</vt:lpstr>
      <vt:lpstr>Wisp</vt:lpstr>
      <vt:lpstr>Encryption</vt:lpstr>
      <vt:lpstr>Encryption</vt:lpstr>
      <vt:lpstr>PowerPoint 演示文稿</vt:lpstr>
      <vt:lpstr>PowerPoint 演示文稿</vt:lpstr>
      <vt:lpstr>Types of encryption </vt:lpstr>
      <vt:lpstr>Symmetric encryption</vt:lpstr>
      <vt:lpstr>PowerPoint 演示文稿</vt:lpstr>
      <vt:lpstr>ASymmetric encryption</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Encryption</dc:title>
  <dc:creator>PMYLS</dc:creator>
  <cp:lastModifiedBy>WPS_1777541724</cp:lastModifiedBy>
  <cp:revision>18</cp:revision>
  <dcterms:created xsi:type="dcterms:W3CDTF">2026-09-26T05:29:00Z</dcterms:created>
  <dcterms:modified xsi:type="dcterms:W3CDTF">2026-09-27T11:44:39Z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2BB9EF682CF946C0ABABED3063E9EAF4_12</vt:lpwstr>
  </property>
</Properties>
</file>