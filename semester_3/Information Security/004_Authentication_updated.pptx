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learn about Authentication, one of the main security measures. In simple words, authentication means checking that a person or system is really who they claim to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the guard at the gate. He does not just believe your name. He checks your card and photo. Computers do the same thing with passwords, OTPs and fingerprints.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you say your name (identification). Then you prove it (authentication). Then the system decides your permissions (authorization). Authentication always comes before 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authentication, anyone could pretend to be anyone. Then confidentiality, integrity and availability all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authentication methods fall into these groups: what you know, what you have, and what you are. Using more than one group makes security much stronger.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Hackers try common passwords first. A long passphrase made of random words is easy for you to remember but hard for a computer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passwords are NOT two-factor, because both are the same type. Real 2FA mixes different factors, like a password plus a phone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Passkeys are the future. They replace passwords with your phone or laptop lock, so there is nothing for a hacker to steal through a fake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authentication checks who you are, using what you know, have, or are. Use strong passwords, turn on MFA, and never share your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image" Target="../media/image4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image" Target="../media/image6.png"/><Relationship Id="rId3" Type="http://schemas.openxmlformats.org/officeDocument/2006/relationships/tags" Target="../tags/tag24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image" Target="../media/image9.png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3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image" Target="../media/image8.png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image" Target="../media/image7.png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Authentication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Proving "You are who you say you are"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2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Security  •  Security Measures: Encryption, Authentication &amp; Access Control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Authentication?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definition + a daily-life example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20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is the process of checking the identity of a user, device or system before giving access.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works: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gives a proof (password, OTP or fingerprint). The system compares it with the record saved at registration time. If both match, the identity is confirmed.</a:t>
            </a:r>
            <a:endParaRPr lang="en-US" sz="18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line:</a:t>
            </a:r>
            <a:endParaRPr lang="en-US" sz="18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27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"Are you really you?"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4173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164592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18059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60720" y="1737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Example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023485" y="2468880"/>
            <a:ext cx="35204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university gate, the guard asks for your student card. He matches the photo with your face. If it matches, you can enter.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do the same thing: when you log in to the LMS or your email, the system checks your password or OTP instead of a card.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checking step = Authentication.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Identify → Authenticate → Authorize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steps that are often confused</a:t>
            </a: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46304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>
            <p:custDataLst>
              <p:tags r:id="rId5"/>
            </p:custDataLst>
          </p:nvPr>
        </p:nvSpPr>
        <p:spPr>
          <a:xfrm>
            <a:off x="146304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 txBox="1"/>
          <p:nvPr>
            <p:custDataLst>
              <p:tags r:id="rId6"/>
            </p:custDataLst>
          </p:nvPr>
        </p:nvSpPr>
        <p:spPr>
          <a:xfrm>
            <a:off x="1463040" y="19933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</a:t>
            </a:r>
            <a:endParaRPr lang="en-US" sz="1600" dirty="0"/>
          </a:p>
        </p:txBody>
      </p:sp>
      <p:sp>
        <p:nvSpPr>
          <p:cNvPr id="9" name="Text 6"/>
          <p:cNvSpPr txBox="1"/>
          <p:nvPr>
            <p:custDataLst>
              <p:tags r:id="rId7"/>
            </p:custDataLst>
          </p:nvPr>
        </p:nvSpPr>
        <p:spPr>
          <a:xfrm>
            <a:off x="685800" y="2312670"/>
            <a:ext cx="2148840" cy="11804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tell who you are.</a:t>
            </a:r>
            <a:r>
              <a:rPr lang="en-US" altLang="en-US" sz="1500" dirty="0"/>
              <a:t>. Identification is the process of claiming or stating who you are. It's like saying, "This is me!" when you're about to enter a secure area or log in to a system.</a:t>
            </a:r>
            <a:endParaRPr lang="en-US" altLang="en-US" sz="1500" dirty="0"/>
          </a:p>
        </p:txBody>
      </p:sp>
      <p:sp>
        <p:nvSpPr>
          <p:cNvPr id="10" name="Text 7"/>
          <p:cNvSpPr txBox="1"/>
          <p:nvPr>
            <p:custDataLst>
              <p:tags r:id="rId8"/>
            </p:custDataLst>
          </p:nvPr>
        </p:nvSpPr>
        <p:spPr>
          <a:xfrm>
            <a:off x="463550" y="3956050"/>
            <a:ext cx="2397760" cy="570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Typing your username, email or roll number on the login page.</a:t>
            </a:r>
            <a:endParaRPr lang="en-US" sz="1300" dirty="0"/>
          </a:p>
        </p:txBody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3291840" y="146304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680460" y="18516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>
            <p:custDataLst>
              <p:tags r:id="rId13"/>
            </p:custDataLst>
          </p:nvPr>
        </p:nvSpPr>
        <p:spPr>
          <a:xfrm>
            <a:off x="429768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1"/>
          <p:cNvSpPr txBox="1"/>
          <p:nvPr>
            <p:custDataLst>
              <p:tags r:id="rId14"/>
            </p:custDataLst>
          </p:nvPr>
        </p:nvSpPr>
        <p:spPr>
          <a:xfrm>
            <a:off x="4297680" y="19933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6" name="Text 12"/>
          <p:cNvSpPr txBox="1"/>
          <p:nvPr>
            <p:custDataLst>
              <p:tags r:id="rId15"/>
            </p:custDataLst>
          </p:nvPr>
        </p:nvSpPr>
        <p:spPr>
          <a:xfrm>
            <a:off x="3520440" y="248716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prove it.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give proof that your claim is true, using a factor like a password, OTP or fingerprint.</a:t>
            </a:r>
            <a:endParaRPr lang="en-US" sz="1500" dirty="0"/>
          </a:p>
        </p:txBody>
      </p:sp>
      <p:sp>
        <p:nvSpPr>
          <p:cNvPr id="17" name="Text 13"/>
          <p:cNvSpPr txBox="1"/>
          <p:nvPr>
            <p:custDataLst>
              <p:tags r:id="rId16"/>
            </p:custDataLst>
          </p:nvPr>
        </p:nvSpPr>
        <p:spPr>
          <a:xfrm>
            <a:off x="3520440" y="3611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D5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Entering the correct password or scanning your fingerprint.</a:t>
            </a:r>
            <a:endParaRPr lang="en-US" sz="1300" dirty="0"/>
          </a:p>
        </p:txBody>
      </p:sp>
      <p:sp>
        <p:nvSpPr>
          <p:cNvPr id="18" name="Shape 14"/>
          <p:cNvSpPr/>
          <p:nvPr>
            <p:custDataLst>
              <p:tags r:id="rId17"/>
            </p:custDataLst>
          </p:nvPr>
        </p:nvSpPr>
        <p:spPr>
          <a:xfrm>
            <a:off x="6126480" y="1463040"/>
            <a:ext cx="2560320" cy="3063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>
            <p:custDataLst>
              <p:tags r:id="rId18"/>
            </p:custDataLst>
          </p:nvPr>
        </p:nvSpPr>
        <p:spPr>
          <a:xfrm>
            <a:off x="6355080" y="16916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515100" y="18516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>
            <p:custDataLst>
              <p:tags r:id="rId21"/>
            </p:custDataLst>
          </p:nvPr>
        </p:nvSpPr>
        <p:spPr>
          <a:xfrm>
            <a:off x="713232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17"/>
          <p:cNvSpPr txBox="1"/>
          <p:nvPr>
            <p:custDataLst>
              <p:tags r:id="rId22"/>
            </p:custDataLst>
          </p:nvPr>
        </p:nvSpPr>
        <p:spPr>
          <a:xfrm>
            <a:off x="7132320" y="199339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23" name="Text 18"/>
          <p:cNvSpPr txBox="1"/>
          <p:nvPr>
            <p:custDataLst>
              <p:tags r:id="rId23"/>
            </p:custDataLst>
          </p:nvPr>
        </p:nvSpPr>
        <p:spPr>
          <a:xfrm>
            <a:off x="6355080" y="248716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decides what you can do.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login, the system checks your role and gives only the permissions you are allowed.</a:t>
            </a:r>
            <a:endParaRPr lang="en-US" sz="1500" dirty="0"/>
          </a:p>
        </p:txBody>
      </p:sp>
      <p:sp>
        <p:nvSpPr>
          <p:cNvPr id="24" name="Text 19"/>
          <p:cNvSpPr txBox="1"/>
          <p:nvPr>
            <p:custDataLst>
              <p:tags r:id="rId24"/>
            </p:custDataLst>
          </p:nvPr>
        </p:nvSpPr>
        <p:spPr>
          <a:xfrm>
            <a:off x="6355080" y="3611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 student can view results, but only a teacher can edit marks.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is Authentication Important?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protects the CIA Triad (plus Accountability)</a:t>
            </a: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325880"/>
            <a:ext cx="402336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685800" y="1746504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8680" y="19293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>
            <p:custDataLst>
              <p:tags r:id="rId5"/>
            </p:custDataLst>
          </p:nvPr>
        </p:nvSpPr>
        <p:spPr>
          <a:xfrm>
            <a:off x="1600200" y="14630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700" dirty="0"/>
          </a:p>
        </p:txBody>
      </p:sp>
      <p:sp>
        <p:nvSpPr>
          <p:cNvPr id="8" name="Text 5"/>
          <p:cNvSpPr txBox="1"/>
          <p:nvPr>
            <p:custDataLst>
              <p:tags r:id="rId6"/>
            </p:custDataLst>
          </p:nvPr>
        </p:nvSpPr>
        <p:spPr>
          <a:xfrm>
            <a:off x="1600200" y="1828800"/>
            <a:ext cx="274320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data stays private. Only the verified owner can read marks, bank balance or emails. Without login checks, anyone could open anyone’s account.</a:t>
            </a:r>
            <a:endParaRPr lang="en-US" sz="130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663440" y="1325880"/>
            <a:ext cx="402336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4892040" y="1746504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074920" y="19293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>
            <p:custDataLst>
              <p:tags r:id="rId11"/>
            </p:custDataLst>
          </p:nvPr>
        </p:nvSpPr>
        <p:spPr>
          <a:xfrm>
            <a:off x="5806440" y="14630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13" name="Text 9"/>
          <p:cNvSpPr txBox="1"/>
          <p:nvPr>
            <p:custDataLst>
              <p:tags r:id="rId12"/>
            </p:custDataLst>
          </p:nvPr>
        </p:nvSpPr>
        <p:spPr>
          <a:xfrm>
            <a:off x="5806440" y="1828800"/>
            <a:ext cx="274320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stays correct and unchanged. Only verified, authorised users can edit records, so a hacker cannot change your grades or move your money.</a:t>
            </a:r>
            <a:endParaRPr lang="en-US" sz="130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457200" y="3063240"/>
            <a:ext cx="402336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685800" y="3483864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68680" y="36667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>
            <p:custDataLst>
              <p:tags r:id="rId17"/>
            </p:custDataLst>
          </p:nvPr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700" dirty="0"/>
          </a:p>
        </p:txBody>
      </p:sp>
      <p:sp>
        <p:nvSpPr>
          <p:cNvPr id="18" name="Text 13"/>
          <p:cNvSpPr txBox="1"/>
          <p:nvPr>
            <p:custDataLst>
              <p:tags r:id="rId18"/>
            </p:custDataLst>
          </p:nvPr>
        </p:nvSpPr>
        <p:spPr>
          <a:xfrm>
            <a:off x="1600200" y="3566160"/>
            <a:ext cx="274320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stays usable for real users. Fake accounts and bots are blocked, so they cannot misuse or overload the service.</a:t>
            </a:r>
            <a:endParaRPr lang="en-US" sz="1300" dirty="0"/>
          </a:p>
        </p:txBody>
      </p:sp>
      <p:sp>
        <p:nvSpPr>
          <p:cNvPr id="19" name="Shape 14"/>
          <p:cNvSpPr/>
          <p:nvPr>
            <p:custDataLst>
              <p:tags r:id="rId19"/>
            </p:custDataLst>
          </p:nvPr>
        </p:nvSpPr>
        <p:spPr>
          <a:xfrm>
            <a:off x="4663440" y="3063240"/>
            <a:ext cx="402336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>
            <p:custDataLst>
              <p:tags r:id="rId20"/>
            </p:custDataLst>
          </p:nvPr>
        </p:nvSpPr>
        <p:spPr>
          <a:xfrm>
            <a:off x="4892040" y="3483864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074920" y="36667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>
            <p:custDataLst>
              <p:tags r:id="rId23"/>
            </p:custDataLst>
          </p:nvPr>
        </p:nvSpPr>
        <p:spPr>
          <a:xfrm>
            <a:off x="5806440" y="3200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23" name="Text 17"/>
          <p:cNvSpPr txBox="1"/>
          <p:nvPr>
            <p:custDataLst>
              <p:tags r:id="rId24"/>
            </p:custDataLst>
          </p:nvPr>
        </p:nvSpPr>
        <p:spPr>
          <a:xfrm>
            <a:off x="5806440" y="3566160"/>
            <a:ext cx="274320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action is linked to a verified user in the logs, so we know who did what and when. This helps in audits and investigations.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3 Factors of Authentication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Ways to prove your identity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8803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481328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642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304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you KNOW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70048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secret stored in your memory, like a password, PIN or security question. Cheap and easy, but can be guessed or stolen.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3075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Your phone lock PIN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8803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481328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64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2304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you HAVE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670048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physical item you own, like a mobile phone, ATM card or security key. An attacker must steal the item itself.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73075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OTP sent to your phone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560320" cy="28803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1481328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642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3042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you ARE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670048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body feature unique to you, like fingerprint, face, iris or voice. Very hard to copy or share with others.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73075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7A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Face unlock on your phone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315968"/>
            <a:ext cx="7406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factors: </a:t>
            </a:r>
            <a:r>
              <a:rPr lang="en-US" sz="11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Somewhere you ARE (location / IP address) and Something you DO (typing speed, mouse movement). Banks use these to detect unusual logins.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Passwords &amp; PINs (Something You Know)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common method – and the weakest if used badly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578608"/>
          </a:xfrm>
          <a:prstGeom prst="roundRect">
            <a:avLst>
              <a:gd name="adj" fmla="val 4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916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Passwords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67712"/>
            <a:ext cx="3566160" cy="171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123456 or password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attackers try these common passwords first.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+ birth year (ali2004)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easy to guess from your social media.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password everywhere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one leak opens all your accounts.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(under 8 characters)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computers can crack it in minutes.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2578608"/>
          </a:xfrm>
          <a:prstGeom prst="roundRect">
            <a:avLst>
              <a:gd name="adj" fmla="val 4000"/>
            </a:avLst>
          </a:prstGeom>
          <a:solidFill>
            <a:srgbClr val="E4F4EC"/>
          </a:solidFill>
          <a:ln w="12700">
            <a:solidFill>
              <a:srgbClr val="E4F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6916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Passwords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267712"/>
            <a:ext cx="3566160" cy="171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Passphrase: Blue-Tea-Rain-Lahore!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random words, easy to remember, hard to guess.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least 12–15 characters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every extra character makes cracking much slower.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for each account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a leak on one site does not affect the others.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Letters, numbers &amp; symbols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mixing them adds more possible combinations.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4160520"/>
            <a:ext cx="8229600" cy="530352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password manager (e.g. Bitwarden) to create and save strong passwords. Never share your password or OTP with anyone – not even friends or people claiming to be bank staff.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Two-Factor &amp; Multi-Factor Authentication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2FA / MFA = using two or more different factors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868680" cy="8686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16802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password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you know – the first factor, typed on the login page.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600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114800" y="1463040"/>
            <a:ext cx="868680" cy="8686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168021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423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OTP on phone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7432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you have – a 6-digit code sent by SMS or an app.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6002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6949440" y="1463040"/>
            <a:ext cx="868680" cy="8686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16802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423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granted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7432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factors match, so the system lets you in.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310128"/>
            <a:ext cx="8229600" cy="1371600"/>
          </a:xfrm>
          <a:prstGeom prst="roundRect">
            <a:avLst>
              <a:gd name="adj" fmla="val 6897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364992"/>
            <a:ext cx="7772400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Example – ATM Machine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need your ATM card (have) + your PIN (know). If a thief steals only the card, he still cannot take money without the PIN. That is why MFA is so powerful.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Important: </a:t>
            </a: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passwords are NOT 2FA, because both are the same factor. Real MFA combines different factors – that is why it stops most automated account-takeover attacks.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Biometrics &amp; Modern Methods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Newer ways to log in safely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533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Biometrics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627632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your fingerprint or face to prove identity – e.g. phone unlock and NADRA thumb verification when buying a new SIM.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34315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1762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OTP &amp; Authenticator Apps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2450591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one-time code valid for about 30 seconds (TOTP), made by apps like Google or Microsoft Authenticator. Even if the password leaks, the code is still needed.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09295" y="30830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273551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77190" y="3082925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316611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2971165"/>
            <a:ext cx="3108960" cy="425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Passkeys &amp; Security Keys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3396615"/>
            <a:ext cx="3840480" cy="1211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passwords with your device lock (fingerprint, face or PIN).  so nothing reusable is sent – very hard to phish.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0" y="137160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715000" y="1554480"/>
            <a:ext cx="278892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Biometrics – Pros &amp; Cons</a:t>
            </a:r>
            <a:endParaRPr lang="en-US" sz="16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Good: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D5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nothing to remember, cannot be forgotten and hard to share.</a:t>
            </a:r>
            <a:endParaRPr lang="en-US" sz="16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D5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change a leaked password, but you cannot change your fingerprint. Weak sensors can also be fooled by fake prints or photos.</a:t>
            </a:r>
            <a:endParaRPr lang="en-US" sz="16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practice: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D5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biometrics together with a PIN (MFA), and keep biometric data stored only on the device, not on a server.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955280" y="47548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384048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= proving your identity</a:t>
            </a:r>
            <a:r>
              <a:rPr lang="en-US" sz="1300" dirty="0">
                <a:solidFill>
                  <a:srgbClr val="E6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the system checks you are really who you claim to be.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comes before authorization</a:t>
            </a:r>
            <a:r>
              <a:rPr lang="en-US" sz="1300" dirty="0">
                <a:solidFill>
                  <a:srgbClr val="E6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first verify who you are, then decide what you can access.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factors: know, have, are</a:t>
            </a:r>
            <a:r>
              <a:rPr lang="en-US" sz="1300" dirty="0">
                <a:solidFill>
                  <a:srgbClr val="E6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password, phone/card, fingerprint/face.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MFA makes accounts much safer</a:t>
            </a:r>
            <a:r>
              <a:rPr lang="en-US" sz="1300" dirty="0">
                <a:solidFill>
                  <a:srgbClr val="E6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a stolen password alone is not enough to log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share passwords or OTPs</a:t>
            </a:r>
            <a:r>
              <a:rPr lang="en-US" sz="1300" dirty="0">
                <a:solidFill>
                  <a:srgbClr val="E6EA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real banks and admins will never ask for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0" y="274320"/>
            <a:ext cx="4114800" cy="4526280"/>
          </a:xfrm>
          <a:prstGeom prst="roundRect">
            <a:avLst>
              <a:gd name="adj" fmla="val 2222"/>
            </a:avLst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4114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914400"/>
            <a:ext cx="370332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  Questions?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2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3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4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5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6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7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8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9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0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1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2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3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4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5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6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7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8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19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20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21.xml><?xml version="1.0" encoding="utf-8"?>
<p:tagLst xmlns:p="http://schemas.openxmlformats.org/presentationml/2006/main">
  <p:tag name="KSO_WM_DIAGRAM_VIRTUALLY_FRAME" val="{&quot;height&quot;:241.25,&quot;left&quot;:36,&quot;top&quot;:115.2,&quot;width&quot;:648}"/>
</p:tagLst>
</file>

<file path=ppt/tags/tag22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3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4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5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6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7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8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29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0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1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2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3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4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5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6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7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8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39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40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ags/tag41.xml><?xml version="1.0" encoding="utf-8"?>
<p:tagLst xmlns:p="http://schemas.openxmlformats.org/presentationml/2006/main">
  <p:tag name="KSO_WM_DIAGRAM_VIRTUALLY_FRAME" val="{&quot;height&quot;:260.64000000000004,&quot;left&quot;:36,&quot;top&quot;:104.4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5794</Words>
  <Application>WPS Presentation</Application>
  <PresentationFormat>On-screen Show (16:9)</PresentationFormat>
  <Paragraphs>196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– Information Security</dc:title>
  <dc:creator>PptxGenJS</dc:creator>
  <dc:subject>PptxGenJS Presentation</dc:subject>
  <cp:lastModifiedBy>cctv2</cp:lastModifiedBy>
  <cp:revision>5</cp:revision>
  <dcterms:created xsi:type="dcterms:W3CDTF">2026-09-29T10:01:00Z</dcterms:created>
  <dcterms:modified xsi:type="dcterms:W3CDTF">2026-10-11T18:01:00Z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FA98D133701E430C9F797747E3D0281B_12</vt:lpwstr>
  </property>
</Properties>
</file>