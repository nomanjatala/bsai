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2" r:id="rId6"/>
    <p:sldId id="262" r:id="rId7"/>
    <p:sldId id="263" r:id="rId8"/>
    <p:sldId id="264" r:id="rId9"/>
    <p:sldId id="265" r:id="rId10"/>
    <p:sldId id="273" r:id="rId11"/>
    <p:sldId id="266" r:id="rId12"/>
    <p:sldId id="267" r:id="rId13"/>
    <p:sldId id="271" r:id="rId14"/>
    <p:sldId id="268" r:id="rId15"/>
    <p:sldId id="269" r:id="rId16"/>
    <p:sldId id="270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access control as one of the main security measures in the Information Security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1005840" cy="10058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3487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4028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Access Control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063240"/>
            <a:ext cx="7772400" cy="932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7F3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can enter, what they can see, and what they can do</a:t>
            </a:r>
            <a:endParaRPr lang="en-US" sz="1800" i="1" dirty="0">
              <a:solidFill>
                <a:srgbClr val="A7F3D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800" i="1" dirty="0">
                <a:solidFill>
                  <a:srgbClr val="A7F3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Written by :  Aqsa Farooq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Information Security 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Access Control?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/>
              <a:t>Definition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937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448056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control is a security method that decides </a:t>
            </a:r>
            <a:r>
              <a:rPr lang="en-US" sz="16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</a:t>
            </a: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is allowed to use a system, </a:t>
            </a:r>
            <a:r>
              <a:rPr lang="en-US" sz="16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</a:t>
            </a: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they can use, and </a:t>
            </a:r>
            <a:r>
              <a:rPr lang="en-US" sz="16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</a:t>
            </a: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they can use it.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5B66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short: the right person gets the right access, and everyone else is stopped.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417320"/>
            <a:ext cx="1463040" cy="146304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783080"/>
            <a:ext cx="731520" cy="7315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0" y="30175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Like a key to a door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977640"/>
            <a:ext cx="79552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example: </a:t>
            </a: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house key. Family members have keys and can enter. A stranger has no key, so the door stays locked for them.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923290" y="596900"/>
            <a:ext cx="6984365" cy="38614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 Fundamental concept of security that reduces the risk to the system files, computer networks &amp; data of organization.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 Restricts system &amp; only accessible by authorized &amp; authentic user.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 Authentication control the resources &amp; limit what can be viewed &amp; grant access if verify the presence in the form of Login credentials, PIN, card, eye retina etc.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/>
          </a:p>
          <a:p>
            <a:pPr indent="0">
              <a:buFont typeface="Wingdings" panose="05000000000000000000" charset="0"/>
              <a:buNone/>
            </a:pPr>
            <a:r>
              <a:rPr lang="en-US" altLang="en-US" b="1"/>
              <a:t>  Example:</a:t>
            </a:r>
            <a:endParaRPr lang="en-US" altLang="en-US" b="1"/>
          </a:p>
          <a:p>
            <a:pPr indent="0">
              <a:buFont typeface="Wingdings" panose="05000000000000000000" charset="0"/>
              <a:buNone/>
            </a:pPr>
            <a:r>
              <a:rPr lang="en-US" altLang="en-US"/>
              <a:t>                  A student can view a file, but only a teacher can edit or delete                             </a:t>
            </a:r>
            <a:endParaRPr lang="en-US" altLang="en-US"/>
          </a:p>
          <a:p>
            <a:pPr indent="0">
              <a:buFont typeface="Wingdings" panose="05000000000000000000" charset="0"/>
              <a:buNone/>
            </a:pPr>
            <a:r>
              <a:rPr lang="en-US"/>
              <a:t>                  </a:t>
            </a:r>
            <a:r>
              <a:rPr lang="en-US" altLang="en-US">
                <a:sym typeface="+mn-ea"/>
              </a:rPr>
              <a:t>that  file.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Principle of Least Privilege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6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 only the access a person needs, nothing more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7548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SzPct val="100000"/>
              <a:buNone/>
            </a:pPr>
            <a:r>
              <a:rPr lang="en-US" sz="15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Least Privilege: </a:t>
            </a:r>
            <a:r>
              <a:rPr lang="en-US" sz="15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user gets the minimum access needed to do their job.</a:t>
            </a:r>
            <a:endParaRPr lang="en-US" sz="1500" dirty="0"/>
          </a:p>
          <a:p>
            <a:pPr marL="0" indent="0">
              <a:spcAft>
                <a:spcPts val="800"/>
              </a:spcAft>
              <a:buSzPct val="100000"/>
              <a:buNone/>
            </a:pPr>
            <a:r>
              <a:rPr lang="en-US" sz="15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 to Know: </a:t>
            </a:r>
            <a:r>
              <a:rPr lang="en-US" sz="15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see information only if your work requires it.</a:t>
            </a:r>
            <a:endParaRPr lang="en-US" sz="1500" dirty="0"/>
          </a:p>
          <a:p>
            <a:pPr marL="0" indent="0">
              <a:spcAft>
                <a:spcPts val="800"/>
              </a:spcAft>
              <a:buSzPct val="100000"/>
              <a:buNone/>
            </a:pPr>
            <a:r>
              <a:rPr lang="en-US" sz="15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Separation of Duties: </a:t>
            </a:r>
            <a:r>
              <a:rPr lang="en-US" sz="15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big task is split between two people so no one can cheat alone.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0" y="1371600"/>
            <a:ext cx="32004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0" y="1508760"/>
            <a:ext cx="822960" cy="82296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0860" y="17145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0" y="242316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 example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278892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cashier can handle deposits but cannot open the main vault. The vault needs two managers together.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40233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4023360"/>
            <a:ext cx="7955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example: </a:t>
            </a: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new intern at a company gets email access only, not access to the salary database or server room.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Types: Physical vs Logical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6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Protecting places and protecting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685800" cy="6858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6802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55448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Physical Access Control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286000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Controls entry to real places like buildings, rooms, and labs.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788920"/>
            <a:ext cx="35661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Locks and keys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guards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ID card gates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Biometric door scanners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93192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Office gate opens only when you tap your employee card.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160" y="1371600"/>
            <a:ext cx="397764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1508760"/>
            <a:ext cx="685800" cy="6858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210" y="168021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760720" y="155448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Logical Access Control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937760" y="2286000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Controls entry to computers, networks, files, and apps.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937760" y="2788920"/>
            <a:ext cx="35661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Usernames and passwords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OTP and MFA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permissions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Firewalls and VPN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937760" y="393192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Your university LMS opens only after you log in with your ID and password.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Access Control Models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6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main ways to decide who gets access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0020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DAC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60020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Discretionary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96596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owner decides who can access.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60020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60020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MAC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160020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Mandatory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196596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decides using security labels.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29184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9184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RBAC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32918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365760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depends on your job role.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306324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29184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329184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ABAC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080760" y="32918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Attribute-Based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080760" y="365760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depends on rules like time, place, device.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DAC: Discretionary Access Control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6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owner of the file is the boss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206240" cy="2468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SzPct val="100000"/>
              <a:buNone/>
            </a:pPr>
            <a:r>
              <a:rPr lang="en-US" altLang="en-US" sz="15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Definition:</a:t>
            </a:r>
            <a:endParaRPr lang="en-US" altLang="en-US" sz="1500" b="1" dirty="0">
              <a:solidFill>
                <a:srgbClr val="0F1B2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spcAft>
                <a:spcPts val="800"/>
              </a:spcAft>
              <a:buSzPct val="100000"/>
              <a:buNone/>
            </a:pPr>
            <a:r>
              <a:rPr lang="en-US" altLang="en-US" sz="15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DAC allows the owner of a resource to decide who can access it and what they can do with it.</a:t>
            </a:r>
            <a:endParaRPr lang="en-US" altLang="en-US" sz="1500" dirty="0">
              <a:solidFill>
                <a:srgbClr val="0F1B2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spcAft>
                <a:spcPts val="800"/>
              </a:spcAft>
              <a:buSzPct val="100000"/>
              <a:buNone/>
            </a:pPr>
            <a:r>
              <a:rPr lang="en-US" sz="15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decides? </a:t>
            </a:r>
            <a:r>
              <a:rPr lang="en-US" sz="15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owner of the data.</a:t>
            </a:r>
            <a:endParaRPr lang="en-US" sz="1500" dirty="0"/>
          </a:p>
          <a:p>
            <a:pPr marL="0" indent="0">
              <a:spcAft>
                <a:spcPts val="800"/>
              </a:spcAft>
              <a:buSzPct val="100000"/>
              <a:buNone/>
            </a:pPr>
            <a:r>
              <a:rPr lang="en-US" sz="15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How? </a:t>
            </a:r>
            <a:r>
              <a:rPr lang="en-US" sz="15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owner gives or removes access for other people.</a:t>
            </a:r>
            <a:endParaRPr lang="en-US" sz="1500" dirty="0"/>
          </a:p>
          <a:p>
            <a:pPr marL="0" indent="0">
              <a:spcAft>
                <a:spcPts val="800"/>
              </a:spcAft>
              <a:buSzPct val="100000"/>
              <a:buNone/>
            </a:pPr>
            <a:r>
              <a:rPr lang="en-US" sz="15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Good: </a:t>
            </a:r>
            <a:r>
              <a:rPr lang="en-US" sz="15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Very flexible and easy to use.</a:t>
            </a:r>
            <a:endParaRPr lang="en-US" sz="1500" dirty="0"/>
          </a:p>
          <a:p>
            <a:pPr marL="0" indent="0">
              <a:spcAft>
                <a:spcPts val="800"/>
              </a:spcAft>
              <a:buSzPct val="100000"/>
              <a:buNone/>
            </a:pPr>
            <a:r>
              <a:rPr lang="en-US" sz="15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Risk: </a:t>
            </a:r>
            <a:r>
              <a:rPr lang="en-US" sz="15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the owner shares carelessly, data can leak.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937760" y="1371600"/>
            <a:ext cx="37490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120640" y="14630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Sharing a cloud document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120640" y="1874520"/>
          <a:ext cx="3383280" cy="164592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Person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Access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You (owner)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Edit + Share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Ali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Can edit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Teacher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View only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Others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access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0233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4023360"/>
            <a:ext cx="7955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example: </a:t>
            </a: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make a group assignment file online and choose who can view or edit it. You are the owner, so you decide.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04800" y="363855"/>
            <a:ext cx="8500745" cy="43395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MAC: Mandatory Access Control</a:t>
            </a:r>
            <a:endParaRPr lang="en-US" altLang="en-US" sz="2000" dirty="0">
              <a:solidFill>
                <a:srgbClr val="0F1B2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altLang="en-US" sz="2000" b="1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Definition:</a:t>
            </a:r>
            <a:endParaRPr lang="en-US" altLang="en-US" sz="2000" b="1" dirty="0">
              <a:solidFill>
                <a:srgbClr val="0F1B2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Mandatory Access Control is a security system in which access to information is controlled by a central authority according to predefined security rules or labels. Users cannot change these permissions themselves.</a:t>
            </a:r>
            <a:endParaRPr lang="en-US" altLang="en-US" sz="2000" dirty="0">
              <a:solidFill>
                <a:srgbClr val="0F1B2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 </a:t>
            </a:r>
            <a:r>
              <a:rPr lang="en-US" altLang="en-US" sz="2000" b="1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Example:</a:t>
            </a:r>
            <a:endParaRPr lang="en-US" altLang="en-US" sz="2000" dirty="0">
              <a:solidFill>
                <a:srgbClr val="0F1B2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In a government organization:</a:t>
            </a:r>
            <a:endParaRPr lang="en-US" altLang="en-US" sz="2000" dirty="0">
              <a:solidFill>
                <a:srgbClr val="0F1B2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A document is labeled “Secret.”</a:t>
            </a:r>
            <a:endParaRPr lang="en-US" altLang="en-US" sz="2000" dirty="0">
              <a:solidFill>
                <a:srgbClr val="0F1B2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Only users with the required Secret security clearance can access it.</a:t>
            </a:r>
            <a:endParaRPr lang="en-US" altLang="en-US" sz="2000" dirty="0">
              <a:solidFill>
                <a:srgbClr val="0F1B2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Even if an employee wants to share the document, they cannot change the access permission themselves.</a:t>
            </a:r>
            <a:endParaRPr lang="en-US" altLang="en-US" sz="2000" dirty="0">
              <a:solidFill>
                <a:srgbClr val="0F1B2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 The system decides who can access what, based on fixed security rules.</a:t>
            </a:r>
            <a:endParaRPr lang="en-US" altLang="en-US" sz="2000" dirty="0">
              <a:solidFill>
                <a:srgbClr val="0F1B2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MAC: Mandatory Access Control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6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Strict rules set by the system, not by users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54480" y="1371600"/>
            <a:ext cx="1828800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54480" y="1371600"/>
            <a:ext cx="1828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Secret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88720" y="1993392"/>
            <a:ext cx="2560320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1993392"/>
            <a:ext cx="25603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Secret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615184"/>
            <a:ext cx="329184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615184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36976"/>
            <a:ext cx="4023360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236976"/>
            <a:ext cx="40233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371600"/>
            <a:ext cx="3931920" cy="2468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SzPct val="100000"/>
              <a:buNone/>
            </a:pPr>
            <a:r>
              <a:rPr lang="en-US" sz="14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Labels: 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file gets a level (e.g. Secret).</a:t>
            </a:r>
            <a:endParaRPr lang="en-US" sz="1400" dirty="0"/>
          </a:p>
          <a:p>
            <a:pPr marL="0" indent="0">
              <a:spcAft>
                <a:spcPts val="800"/>
              </a:spcAft>
              <a:buSzPct val="100000"/>
              <a:buNone/>
            </a:pPr>
            <a:r>
              <a:rPr lang="en-US" sz="14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Clearance: 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user gets a level too.</a:t>
            </a:r>
            <a:endParaRPr lang="en-US" sz="1400" dirty="0"/>
          </a:p>
          <a:p>
            <a:pPr marL="0" indent="0">
              <a:spcAft>
                <a:spcPts val="800"/>
              </a:spcAft>
              <a:buSzPct val="100000"/>
              <a:buNone/>
            </a:pPr>
            <a:r>
              <a:rPr lang="en-US" sz="14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Rule: 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can read a file only if your clearance is equal or higher.</a:t>
            </a:r>
            <a:endParaRPr lang="en-US" sz="1400" dirty="0"/>
          </a:p>
          <a:p>
            <a:pPr marL="0" indent="0">
              <a:spcAft>
                <a:spcPts val="800"/>
              </a:spcAft>
              <a:buSzPct val="100000"/>
              <a:buNone/>
            </a:pPr>
            <a:r>
              <a:rPr lang="en-US" sz="14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Owner cannot change it: 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the system/admin can.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4023360"/>
            <a:ext cx="7955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example: </a:t>
            </a: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the army, a soldier with "Confidential" clearance cannot open a "Top Secret" war plan, even if a friend wants to share it.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RBAC: Role-Based Access Control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i="1" dirty="0">
              <a:solidFill>
                <a:srgbClr val="5B667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altLang="en-US" sz="1400" b="1" i="1" dirty="0">
                <a:solidFill>
                  <a:srgbClr val="5B66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RBAC gives access to a resource based on the role/job of the user.</a:t>
            </a:r>
            <a:endParaRPr lang="en-US" altLang="en-US" sz="1400" b="1" i="1" dirty="0">
              <a:solidFill>
                <a:srgbClr val="5B667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6304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371600"/>
            <a:ext cx="1188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468880" y="137160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courses, submit assignments, see own result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24028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2331720"/>
            <a:ext cx="548640" cy="5486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688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2240280"/>
            <a:ext cx="1188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Teacher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468880" y="224028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lectures, mark assignments, enter grades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10896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94360" y="3200400"/>
            <a:ext cx="548640" cy="54864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375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3108960"/>
            <a:ext cx="1188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2468880" y="310896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users, manage courses, change settings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852160" y="137160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0F1B2D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6035040" y="146304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F3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companies like RBAC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035040" y="1920240"/>
            <a:ext cx="246888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Easy to manage many users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staff? Just assign a role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Fewer mistakes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457200" y="40233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94360" y="4023360"/>
            <a:ext cx="7955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example: </a:t>
            </a: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university portal. 5,000 students all get the "Student" role, so the admin does not set permissions one by one.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61035" y="455930"/>
            <a:ext cx="7729855" cy="41300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ABAC: Attribute-Based Access Control</a:t>
            </a:r>
            <a:endParaRPr lang="en-US" sz="3000" b="1" dirty="0">
              <a:solidFill>
                <a:srgbClr val="0F1B2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Definition:</a:t>
            </a:r>
            <a:endParaRPr lang="en-US" sz="2000" b="1" dirty="0">
              <a:solidFill>
                <a:srgbClr val="0F1B2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Attribute-Based Access Control grants or denies access to a resource based on attributtes of the user characteristics , device type, location, time and security level.</a:t>
            </a:r>
            <a:endParaRPr lang="en-US" altLang="en-US" dirty="0">
              <a:solidFill>
                <a:srgbClr val="0F1B2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altLang="en-US" b="1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Example:</a:t>
            </a:r>
            <a:endParaRPr lang="en-US" altLang="en-US" b="1" dirty="0">
              <a:solidFill>
                <a:srgbClr val="0F1B2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A teacher can access students' marks if:</a:t>
            </a:r>
            <a:endParaRPr lang="en-US" altLang="en-US" dirty="0">
              <a:solidFill>
                <a:srgbClr val="0F1B2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altLang="en-US" b="1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User</a:t>
            </a:r>
            <a:r>
              <a:rPr lang="en-US" altLang="en-US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: Teacher</a:t>
            </a:r>
            <a:endParaRPr lang="en-US" altLang="en-US" dirty="0">
              <a:solidFill>
                <a:srgbClr val="0F1B2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altLang="en-US" b="1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Device</a:t>
            </a:r>
            <a:r>
              <a:rPr lang="en-US" altLang="en-US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: University computer</a:t>
            </a:r>
            <a:endParaRPr lang="en-US" altLang="en-US" dirty="0">
              <a:solidFill>
                <a:srgbClr val="0F1B2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altLang="en-US" b="1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Location</a:t>
            </a:r>
            <a:r>
              <a:rPr lang="en-US" altLang="en-US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: University campus</a:t>
            </a:r>
            <a:endParaRPr lang="en-US" altLang="en-US" dirty="0">
              <a:solidFill>
                <a:srgbClr val="0F1B2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altLang="en-US" b="1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Time</a:t>
            </a:r>
            <a:r>
              <a:rPr lang="en-US" altLang="en-US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: Working hours</a:t>
            </a:r>
            <a:endParaRPr lang="en-US" altLang="en-US" dirty="0">
              <a:solidFill>
                <a:srgbClr val="0F1B2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All conditions met → Access Granted</a:t>
            </a:r>
            <a:endParaRPr lang="en-US" altLang="en-US" dirty="0">
              <a:solidFill>
                <a:srgbClr val="0F1B2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Conditions not met → Access Denied</a:t>
            </a:r>
            <a:endParaRPr lang="en-US" altLang="en-US" dirty="0">
              <a:solidFill>
                <a:srgbClr val="0F1B2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  <a:p>
            <a:pPr marL="0" indent="0">
              <a:buNone/>
            </a:pPr>
            <a:endParaRPr lang="en-US" altLang="en-US" b="1" dirty="0">
              <a:solidFill>
                <a:srgbClr val="0F1B2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  <a:p>
            <a:pPr marL="0" indent="0">
              <a:buNone/>
            </a:pPr>
            <a:endParaRPr lang="en-US" b="1" dirty="0">
              <a:solidFill>
                <a:srgbClr val="0F1B2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ABAC: Attribute-Based Access Control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6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rules using "who, where, when, and which device"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0876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50876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14884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Role, department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87752" y="13716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24912" y="150876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16459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64992" y="150876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724912" y="214884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Location / country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18304" y="13716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55464" y="150876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16459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495544" y="150876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855464" y="214884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 of day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848856" y="13716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86016" y="150876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176" y="16459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26096" y="150876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Device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986016" y="214884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Office PC or phone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29260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F1B2D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640080" y="292608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F3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 example: </a:t>
            </a: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role = Accountant AND time = 9am to 5pm AND device = office PC, THEN allow access to the salary system.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Access Control List (ACL)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6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simple list attached to a resource saying who can do what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457200" y="1371600"/>
          <a:ext cx="4754880" cy="219456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097280"/>
                <a:gridCol w="1097280"/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User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Read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Write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Delete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Manager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✔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✔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✔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Employee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✔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✔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✘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Intern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✔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✘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✘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Guest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✘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✘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✘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1371600"/>
            <a:ext cx="32004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0" y="1508760"/>
            <a:ext cx="594360" cy="5943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7870" y="1657350"/>
            <a:ext cx="297180" cy="2971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0" y="1508760"/>
            <a:ext cx="21945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Like a guest list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669280" y="224028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guard at a wedding checks the list. If your name is there you enter; if not, you are stopped.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40233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94360" y="4023360"/>
            <a:ext cx="7955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example: </a:t>
            </a: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a company shared folder "Sales Report", the ACL says the manager can delete, but an intern can only read it.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Summary &amp; Best Practices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94360" cy="5943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1291590"/>
            <a:ext cx="297180" cy="2971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14300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strong passwords + MFA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709160" y="1143000"/>
            <a:ext cx="594360" cy="5943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1291590"/>
            <a:ext cx="297180" cy="2971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0" y="114300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Follow least privilege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57200" y="1965960"/>
            <a:ext cx="594360" cy="5943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" y="2114550"/>
            <a:ext cx="297180" cy="2971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196596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access when people leave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4709160" y="1965960"/>
            <a:ext cx="594360" cy="5943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2114550"/>
            <a:ext cx="297180" cy="2971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486400" y="196596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permissions regularly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457200" y="2788920"/>
            <a:ext cx="594360" cy="5943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790" y="2937510"/>
            <a:ext cx="297180" cy="29718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34440" y="278892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logs and monitor activity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4709160" y="2788920"/>
            <a:ext cx="594360" cy="5943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2937510"/>
            <a:ext cx="297180" cy="29718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486400" y="278892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roles (RBAC) for many users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457200" y="37490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640080" y="3749040"/>
            <a:ext cx="7863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F3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Remember: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→ Authenticate → Authorize → Audit. Right person, right access, right time.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5783</Words>
  <Application>WPS Presentation</Application>
  <PresentationFormat>On-screen Show (16:9)</PresentationFormat>
  <Paragraphs>287</Paragraphs>
  <Slides>14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 Control</dc:title>
  <dc:creator>PptxGenJS</dc:creator>
  <dc:subject>PptxGenJS Presentation</dc:subject>
  <cp:lastModifiedBy>WPS_1777541724</cp:lastModifiedBy>
  <cp:revision>14</cp:revision>
  <dcterms:created xsi:type="dcterms:W3CDTF">2026-10-01T15:17:00Z</dcterms:created>
  <dcterms:modified xsi:type="dcterms:W3CDTF">2026-10-03T00:17:57Z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733EE7C4CD45432B987BB29C35225B02_12</vt:lpwstr>
  </property>
</Properties>
</file>